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slide" Target="slides/slide119.xml" /><Relationship Id="rId121" Type="http://schemas.openxmlformats.org/officeDocument/2006/relationships/slide" Target="slides/slide120.xml" /><Relationship Id="rId122" Type="http://schemas.openxmlformats.org/officeDocument/2006/relationships/slide" Target="slides/slide121.xml" /><Relationship Id="rId123" Type="http://schemas.openxmlformats.org/officeDocument/2006/relationships/slide" Target="slides/slide122.xml" /><Relationship Id="rId124" Type="http://schemas.openxmlformats.org/officeDocument/2006/relationships/slide" Target="slides/slide123.xml" /><Relationship Id="rId125" Type="http://schemas.openxmlformats.org/officeDocument/2006/relationships/slide" Target="slides/slide124.xml" /><Relationship Id="rId126" Type="http://schemas.openxmlformats.org/officeDocument/2006/relationships/slide" Target="slides/slide125.xml" /><Relationship Id="rId127" Type="http://schemas.openxmlformats.org/officeDocument/2006/relationships/slide" Target="slides/slide126.xml" /><Relationship Id="rId128" Type="http://schemas.openxmlformats.org/officeDocument/2006/relationships/slide" Target="slides/slide127.xml" /><Relationship Id="rId129" Type="http://schemas.openxmlformats.org/officeDocument/2006/relationships/slide" Target="slides/slide128.xml" /><Relationship Id="rId130" Type="http://schemas.openxmlformats.org/officeDocument/2006/relationships/slide" Target="slides/slide129.xml" /><Relationship Id="rId131" Type="http://schemas.openxmlformats.org/officeDocument/2006/relationships/slide" Target="slides/slide130.xml" /><Relationship Id="rId132" Type="http://schemas.openxmlformats.org/officeDocument/2006/relationships/slide" Target="slides/slide131.xml" /><Relationship Id="rId133" Type="http://schemas.openxmlformats.org/officeDocument/2006/relationships/slide" Target="slides/slide132.xml" /><Relationship Id="rId134" Type="http://schemas.openxmlformats.org/officeDocument/2006/relationships/slide" Target="slides/slide133.xml" /><Relationship Id="rId135" Type="http://schemas.openxmlformats.org/officeDocument/2006/relationships/slide" Target="slides/slide134.xml" /><Relationship Id="rId136" Type="http://schemas.openxmlformats.org/officeDocument/2006/relationships/slide" Target="slides/slide135.xml" /><Relationship Id="rId137" Type="http://schemas.openxmlformats.org/officeDocument/2006/relationships/slide" Target="slides/slide136.xml" /><Relationship Id="rId138" Type="http://schemas.openxmlformats.org/officeDocument/2006/relationships/slide" Target="slides/slide137.xml" /><Relationship Id="rId139" Type="http://schemas.openxmlformats.org/officeDocument/2006/relationships/slide" Target="slides/slide138.xml" /><Relationship Id="rId140" Type="http://schemas.openxmlformats.org/officeDocument/2006/relationships/slide" Target="slides/slide139.xml" /><Relationship Id="rId141" Type="http://schemas.openxmlformats.org/officeDocument/2006/relationships/slide" Target="slides/slide140.xml" /><Relationship Id="rId142" Type="http://schemas.openxmlformats.org/officeDocument/2006/relationships/slide" Target="slides/slide141.xml" /><Relationship Id="rId143" Type="http://schemas.openxmlformats.org/officeDocument/2006/relationships/slide" Target="slides/slide142.xml" /><Relationship Id="rId144" Type="http://schemas.openxmlformats.org/officeDocument/2006/relationships/slide" Target="slides/slide143.xml" /><Relationship Id="rId145" Type="http://schemas.openxmlformats.org/officeDocument/2006/relationships/slide" Target="slides/slide144.xml" /><Relationship Id="rId146" Type="http://schemas.openxmlformats.org/officeDocument/2006/relationships/slide" Target="slides/slide145.xml" /><Relationship Id="rId147" Type="http://schemas.openxmlformats.org/officeDocument/2006/relationships/slide" Target="slides/slide146.xml" /><Relationship Id="rId148" Type="http://schemas.openxmlformats.org/officeDocument/2006/relationships/slide" Target="slides/slide147.xml" /><Relationship Id="rId149" Type="http://schemas.openxmlformats.org/officeDocument/2006/relationships/slide" Target="slides/slide148.xml" /><Relationship Id="rId150" Type="http://schemas.openxmlformats.org/officeDocument/2006/relationships/slide" Target="slides/slide149.xml" /><Relationship Id="rId151" Type="http://schemas.openxmlformats.org/officeDocument/2006/relationships/slide" Target="slides/slide150.xml" /><Relationship Id="rId152" Type="http://schemas.openxmlformats.org/officeDocument/2006/relationships/slide" Target="slides/slide151.xml" /><Relationship Id="rId153" Type="http://schemas.openxmlformats.org/officeDocument/2006/relationships/slide" Target="slides/slide152.xml" /><Relationship Id="rId154" Type="http://schemas.openxmlformats.org/officeDocument/2006/relationships/slide" Target="slides/slide153.xml" /><Relationship Id="rId155" Type="http://schemas.openxmlformats.org/officeDocument/2006/relationships/slide" Target="slides/slide154.xml" /><Relationship Id="rId156" Type="http://schemas.openxmlformats.org/officeDocument/2006/relationships/slide" Target="slides/slide155.xml" /><Relationship Id="rId157" Type="http://schemas.openxmlformats.org/officeDocument/2006/relationships/slide" Target="slides/slide156.xml" /><Relationship Id="rId158" Type="http://schemas.openxmlformats.org/officeDocument/2006/relationships/slide" Target="slides/slide157.xml" /><Relationship Id="rId159" Type="http://schemas.openxmlformats.org/officeDocument/2006/relationships/slide" Target="slides/slide158.xml" /><Relationship Id="rId160" Type="http://schemas.openxmlformats.org/officeDocument/2006/relationships/slide" Target="slides/slide159.xml" /><Relationship Id="rId161" Type="http://schemas.openxmlformats.org/officeDocument/2006/relationships/slide" Target="slides/slide160.xml" /><Relationship Id="rId162" Type="http://schemas.openxmlformats.org/officeDocument/2006/relationships/slide" Target="slides/slide161.xml" /><Relationship Id="rId163" Type="http://schemas.openxmlformats.org/officeDocument/2006/relationships/slide" Target="slides/slide162.xml" /><Relationship Id="rId164" Type="http://schemas.openxmlformats.org/officeDocument/2006/relationships/slide" Target="slides/slide163.xml" /><Relationship Id="rId165" Type="http://schemas.openxmlformats.org/officeDocument/2006/relationships/slide" Target="slides/slide164.xml" /><Relationship Id="rId166" Type="http://schemas.openxmlformats.org/officeDocument/2006/relationships/slide" Target="slides/slide165.xml" /><Relationship Id="rId167" Type="http://schemas.openxmlformats.org/officeDocument/2006/relationships/slide" Target="slides/slide166.xml" /><Relationship Id="rId168" Type="http://schemas.openxmlformats.org/officeDocument/2006/relationships/slide" Target="slides/slide167.xml" /><Relationship Id="rId169" Type="http://schemas.openxmlformats.org/officeDocument/2006/relationships/slide" Target="slides/slide168.xml" /><Relationship Id="rId170" Type="http://schemas.openxmlformats.org/officeDocument/2006/relationships/slide" Target="slides/slide169.xml" /><Relationship Id="rId171" Type="http://schemas.openxmlformats.org/officeDocument/2006/relationships/slide" Target="slides/slide170.xml" /><Relationship Id="rId172" Type="http://schemas.openxmlformats.org/officeDocument/2006/relationships/slide" Target="slides/slide171.xml" /><Relationship Id="rId173" Type="http://schemas.openxmlformats.org/officeDocument/2006/relationships/slide" Target="slides/slide172.xml" /><Relationship Id="rId174" Type="http://schemas.openxmlformats.org/officeDocument/2006/relationships/slide" Target="slides/slide173.xml" /><Relationship Id="rId175" Type="http://schemas.openxmlformats.org/officeDocument/2006/relationships/slide" Target="slides/slide174.xml" /><Relationship Id="rId176" Type="http://schemas.openxmlformats.org/officeDocument/2006/relationships/slide" Target="slides/slide175.xml" /><Relationship Id="rId178" Type="http://schemas.openxmlformats.org/officeDocument/2006/relationships/viewProps" Target="viewProps.xml" /><Relationship Id="rId177" Type="http://schemas.openxmlformats.org/officeDocument/2006/relationships/presProps" Target="presProps.xml" /><Relationship Id="rId1" Type="http://schemas.openxmlformats.org/officeDocument/2006/relationships/slideMaster" Target="slideMasters/slideMaster1.xml" /><Relationship Id="rId180" Type="http://schemas.openxmlformats.org/officeDocument/2006/relationships/tableStyles" Target="tableStyles.xml" /><Relationship Id="rId17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ce204-week-3.en.md_doc.pdf" TargetMode="External" /><Relationship Id="rId3" Type="http://schemas.openxmlformats.org/officeDocument/2006/relationships/hyperlink" Target="ce204-week-3.en.md_word.docx" TargetMode="External" /><Relationship Id="rId4" Type="http://schemas.openxmlformats.org/officeDocument/2006/relationships/hyperlink" Target="ce204-week-3.en.md_slide.pdf"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2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1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btechsmartclass.com/java/java-defining-an-interface.html" TargetMode="External" /><Relationship Id="rId3" Type="http://schemas.openxmlformats.org/officeDocument/2006/relationships/hyperlink" Target="http://www.btechsmartclass.com/java/java-implementing-an-interface.html" TargetMode="External" /><Relationship Id="rId4" Type="http://schemas.openxmlformats.org/officeDocument/2006/relationships/hyperlink" Target="http://www.btechsmartclass.com/java/java-nested-interfaces.html" TargetMode="External" /><Relationship Id="rId5" Type="http://schemas.openxmlformats.org/officeDocument/2006/relationships/hyperlink" Target="http://www.btechsmartclass.com/java/java-variables-in-interfaces.html" TargetMode="External" /><Relationship Id="rId6" Type="http://schemas.openxmlformats.org/officeDocument/2006/relationships/hyperlink" Target="http://www.btechsmartclass.com/java/java-extending-an-interface.html" TargetMode="External" /><Relationship Id="rId7" Type="http://schemas.openxmlformats.org/officeDocument/2006/relationships/hyperlink" Target="https://www.programiz.com/java-programming/interfaces" TargetMode="External" /><Relationship Id="rId8" Type="http://schemas.openxmlformats.org/officeDocument/2006/relationships/hyperlink" Target="https://www.programiz.com/java-programming/reflection" TargetMode="External" /><Relationship Id="rId9" Type="http://schemas.openxmlformats.org/officeDocument/2006/relationships/hyperlink" Target="https://www.w3schools.com/java/java_wrapper_classes.asp" TargetMode="External" /><Relationship Id="rId10" Type="http://schemas.openxmlformats.org/officeDocument/2006/relationships/hyperlink" Target="https://www.w3schools.com/java/java_lambda.asp" TargetMode="External" /></Relationships>
</file>

<file path=ppt/slides/_rels/slide17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CEN206 Object-Oriented Programming</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Interfaces, Type System and Code Organization</a:t>
            </a:r>
            <a:br/>
            <a:br/>
            <a:r>
              <a:rPr/>
              <a:t>Author: Asst. Prof. Dr. Ugur CORUH</a:t>
            </a:r>
          </a:p>
        </p:txBody>
      </p:sp>
      <p:sp>
        <p:nvSpPr>
          <p:cNvPr id="4" name="Date Placeholder 3"/>
          <p:cNvSpPr>
            <a:spLocks noGrp="1"/>
          </p:cNvSpPr>
          <p:nvPr>
            <p:ph idx="10" sz="half" type="dt"/>
          </p:nvPr>
        </p:nvSpPr>
        <p:spPr/>
        <p:txBody>
          <a:bodyPr/>
          <a:lstStyle/>
          <a:p>
            <a:pPr lvl="0" indent="0" marL="0">
              <a:buNone/>
            </a:pPr>
            <a:r>
              <a:rPr/>
              <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CEN206 Object-Oriented Programming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Week-3 (Interfaces, Type System and Code Organization)</a:t>
            </a:r>
          </a:p>
        </p:txBody>
      </p:sp>
      <p:sp>
        <p:nvSpPr>
          <p:cNvPr id="3" name="Content Placeholder 2"/>
          <p:cNvSpPr>
            <a:spLocks noGrp="1"/>
          </p:cNvSpPr>
          <p:nvPr>
            <p:ph idx="1"/>
          </p:nvPr>
        </p:nvSpPr>
        <p:spPr/>
        <p:txBody>
          <a:bodyPr/>
          <a:lstStyle/>
          <a:p>
            <a:pPr lvl="0" indent="0" marL="0">
              <a:spcBef>
                <a:spcPts val="3000"/>
              </a:spcBef>
              <a:buNone/>
            </a:pPr>
            <a:r>
              <a:rPr b="1"/>
              <a:t>Spring Semester, 2025-2026</a:t>
            </a:r>
          </a:p>
          <a:p>
            <a:pPr lvl="0" indent="0" marL="0">
              <a:buNone/>
            </a:pPr>
            <a:r>
              <a:rPr/>
              <a:t>Download </a:t>
            </a:r>
            <a:r>
              <a:rPr>
                <a:hlinkClick r:id="rId2"/>
              </a:rPr>
              <a:t>DOC-PDF</a:t>
            </a:r>
            <a:r>
              <a:rPr/>
              <a:t>, </a:t>
            </a:r>
            <a:r>
              <a:rPr>
                <a:hlinkClick r:id="rId3"/>
              </a:rPr>
              <a:t>DOC-DOCX</a:t>
            </a:r>
            <a:r>
              <a:rPr/>
              <a:t>, </a:t>
            </a:r>
            <a:r>
              <a:rPr>
                <a:hlinkClick r:id="rId4"/>
              </a:rPr>
              <a:t>SLIDE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A: Defining and Implementing Interfaces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Defining an Interface in Java</a:t>
            </a:r>
          </a:p>
          <a:p>
            <a:pPr lvl="0"/>
            <a:r>
              <a:rPr/>
              <a:t>Implementing an Interface</a:t>
            </a:r>
          </a:p>
          <a:p>
            <a:pPr lvl="0"/>
            <a:r>
              <a:rPr/>
              <a:t>Implementing Multiple Interfaces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Defining an Interface in Java</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Defining an Interface in Java</a:t>
            </a:r>
          </a:p>
          <a:p>
            <a:pPr lvl="0"/>
            <a:r>
              <a:rPr/>
              <a:t>In java, an interface is similar to a class,</a:t>
            </a:r>
          </a:p>
          <a:p>
            <a:pPr lvl="1"/>
            <a:r>
              <a:rPr/>
              <a:t>but it contains abstract methods and static final variables only.</a:t>
            </a:r>
          </a:p>
          <a:p>
            <a:pPr lvl="1"/>
            <a:r>
              <a:rPr/>
              <a:t>The interface in Java is another mechanism to achieve abstraction.</a:t>
            </a:r>
          </a:p>
          <a:p>
            <a:pPr lvl="0"/>
            <a:r>
              <a:rPr/>
              <a:t>We may think of an interface as a completely abstract class.</a:t>
            </a:r>
          </a:p>
          <a:p>
            <a:pPr lvl="1"/>
            <a:r>
              <a:rPr/>
              <a:t>None of the methods in the interface has an implementation,</a:t>
            </a:r>
          </a:p>
          <a:p>
            <a:pPr lvl="1"/>
            <a:r>
              <a:rPr/>
              <a:t>and all the variables in the interface are constants.</a:t>
            </a:r>
          </a:p>
          <a:p>
            <a:pPr lvl="0"/>
            <a:r>
              <a:rPr/>
              <a:t>All the methods of an interface,</a:t>
            </a:r>
          </a:p>
          <a:p>
            <a:pPr lvl="1"/>
            <a:r>
              <a:rPr/>
              <a:t>implemented by the class that implements it.</a:t>
            </a:r>
          </a:p>
          <a:p>
            <a:pPr lvl="0"/>
            <a:r>
              <a:rPr/>
              <a:t>The interface in java enables java to support multiple-inheritance.</a:t>
            </a:r>
          </a:p>
          <a:p>
            <a:pPr lvl="1"/>
            <a:r>
              <a:rPr/>
              <a:t>An interface may extend only one interface,</a:t>
            </a:r>
          </a:p>
          <a:p>
            <a:pPr lvl="1"/>
            <a:r>
              <a:rPr/>
              <a:t>but a class may implement any number of interfaces.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Defining an Interface in Java</a:t>
            </a:r>
          </a:p>
          <a:p>
            <a:pPr lvl="0"/>
            <a:r>
              <a:rPr/>
              <a:t>An interface is a container of abstract methods and static final variables.</a:t>
            </a:r>
          </a:p>
          <a:p>
            <a:pPr lvl="0"/>
            <a:r>
              <a:rPr/>
              <a:t>An interface, implemented by a class. (class implements interface).</a:t>
            </a:r>
          </a:p>
          <a:p>
            <a:pPr lvl="0"/>
            <a:r>
              <a:rPr/>
              <a:t>An interface may extend another interface. (Interface extends Interface).</a:t>
            </a:r>
          </a:p>
          <a:p>
            <a:pPr lvl="0"/>
            <a:r>
              <a:rPr/>
              <a:t>An interface never implements another interface, or class.</a:t>
            </a:r>
          </a:p>
          <a:p>
            <a:pPr lvl="0"/>
            <a:r>
              <a:rPr/>
              <a:t>A class may implement any number of interfaces.</a:t>
            </a:r>
          </a:p>
          <a:p>
            <a:pPr lvl="0"/>
            <a:r>
              <a:rPr/>
              <a:t>We can not instantiate an interface.</a:t>
            </a:r>
          </a:p>
          <a:p>
            <a:pPr lvl="0"/>
            <a:r>
              <a:rPr/>
              <a:t>Specifying the keyword abstract for interface methods is optional, it automatically added.</a:t>
            </a:r>
          </a:p>
          <a:p>
            <a:pPr lvl="0"/>
            <a:r>
              <a:rPr/>
              <a:t>All the members of an interface are public by default.</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Defining an Interface in Java</a:t>
            </a:r>
          </a:p>
          <a:p>
            <a:pPr lvl="0"/>
            <a:r>
              <a:rPr/>
              <a:t>Defining an interface is similar to that of a class. We use the keyword interface to define an interface.</a:t>
            </a:r>
          </a:p>
          <a:p>
            <a:pPr lvl="0"/>
            <a:r>
              <a:rPr/>
              <a:t>All the members of an interface are public by default. The following is the syntax for defining an interface.</a:t>
            </a:r>
          </a:p>
          <a:p>
            <a:pPr lvl="0" indent="0" marL="0">
              <a:buNone/>
            </a:pPr>
            <a:r>
              <a:rPr>
                <a:latin typeface="Courier"/>
              </a:rPr>
              <a:t>Java linenums="1" interface InterfaceName{     ...     members declaration;     ... }</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Defining an Interface in Java</a:t>
            </a:r>
          </a:p>
          <a:p>
            <a:pPr lvl="0"/>
            <a:r>
              <a:rPr/>
              <a:t>In the example we defined an interface HumanInterfaceExample that contains two abstract methods learn(), work() and one constant duration.</a:t>
            </a:r>
          </a:p>
          <a:p>
            <a:pPr lvl="0" indent="0" marL="0">
              <a:buNone/>
            </a:pPr>
            <a:r>
              <a:rPr/>
              <a:t>``` Java linenums=“1” interface HumanInterfaceExample {</a:t>
            </a:r>
          </a:p>
          <a:p>
            <a:pPr lvl="0" indent="0">
              <a:buNone/>
            </a:pPr>
            <a:r>
              <a:rPr>
                <a:latin typeface="Courier"/>
              </a:rPr>
              <a:t>void learn(String str);
void work();
int duration = 10;</a:t>
            </a:r>
          </a:p>
          <a:p>
            <a:pPr lvl="0" indent="0" marL="0">
              <a:buNone/>
            </a:pPr>
            <a:r>
              <a:rPr/>
              <a:t>}</a:t>
            </a:r>
          </a:p>
          <a:p>
            <a:pPr lvl="0" indent="0">
              <a:buNone/>
            </a:pPr>
            <a:r>
              <a:rPr>
                <a:latin typeface="Courier"/>
              </a:rPr>
              <a:t>
---
### Defining an Interface in Java Example-1
- Every interface in Java is auto-completed by the compiler. For example, in the above example code, 
- no member is defined as public, but all are public automatically.
- The above code automatically converted as follows.
``` Java linenums="1"
interface HumanInterfaceExample {
    public abstract void learn(String str);
    public abstract void work();
    public static final int duration = 10;
}</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Implementing an Interface in Java</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Implementing an Interface in Java</a:t>
            </a:r>
          </a:p>
          <a:p>
            <a:pPr lvl="0"/>
            <a:r>
              <a:rPr/>
              <a:t>In java, an interface is implemented by a class.</a:t>
            </a:r>
          </a:p>
          <a:p>
            <a:pPr lvl="0"/>
            <a:r>
              <a:rPr/>
              <a:t>The class that implements an interface must provide code for all the methods defined in the interface, otherwise,</a:t>
            </a:r>
          </a:p>
          <a:p>
            <a:pPr lvl="1"/>
            <a:r>
              <a:rPr/>
              <a:t>it must be defined as an abstract class.</a:t>
            </a:r>
          </a:p>
          <a:p>
            <a:pPr lvl="0"/>
            <a:r>
              <a:rPr/>
              <a:t>The class uses a keyword </a:t>
            </a:r>
            <a:r>
              <a:rPr>
                <a:latin typeface="Courier"/>
              </a:rPr>
              <a:t>implements</a:t>
            </a:r>
            <a:r>
              <a:rPr/>
              <a:t> to implement an interface.</a:t>
            </a:r>
          </a:p>
          <a:p>
            <a:pPr lvl="0"/>
            <a:r>
              <a:rPr/>
              <a:t>A class can implement any number of interfaces.</a:t>
            </a:r>
          </a:p>
          <a:p>
            <a:pPr lvl="0"/>
            <a:r>
              <a:rPr/>
              <a:t>When a class wants to implement more than one interface,</a:t>
            </a:r>
          </a:p>
          <a:p>
            <a:pPr lvl="1"/>
            <a:r>
              <a:rPr/>
              <a:t>we use the implements keyword is followed by a comma-separated list of the interfaces implemented by the class.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Implementing an Interface in Java</a:t>
            </a:r>
          </a:p>
          <a:p>
            <a:pPr lvl="0"/>
            <a:r>
              <a:rPr/>
              <a:t>The following is the syntax for defineing a class that implements an interface.</a:t>
            </a:r>
          </a:p>
          <a:p>
            <a:pPr lvl="0" indent="0" marL="0">
              <a:buNone/>
            </a:pPr>
            <a:r>
              <a:rPr>
                <a:latin typeface="Courier"/>
              </a:rPr>
              <a:t>Java linenums="1" class className implements InterfaceName{     ...     boby-of-the-class     ... }</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Implementing an Interface in Java Example-1</a:t>
            </a:r>
          </a:p>
          <a:p>
            <a:pPr lvl="0" indent="0" marL="0">
              <a:buNone/>
            </a:pPr>
            <a:r>
              <a:rPr/>
              <a:t>``` Java linenums=“1” interface Human {</a:t>
            </a:r>
          </a:p>
          <a:p>
            <a:pPr lvl="0" indent="0">
              <a:buNone/>
            </a:pPr>
            <a:r>
              <a:rPr>
                <a:latin typeface="Courier"/>
              </a:rPr>
              <a:t>void learn(String str);
void work();
int duration = 10;</a:t>
            </a:r>
          </a:p>
          <a:p>
            <a:pPr lvl="0" indent="0" marL="0">
              <a:buNone/>
            </a:pPr>
            <a:r>
              <a:rPr/>
              <a:t>}</a:t>
            </a:r>
          </a:p>
          <a:p>
            <a:pPr lvl="0" indent="0">
              <a:buNone/>
            </a:pPr>
            <a:r>
              <a:rPr>
                <a:latin typeface="Courier"/>
              </a:rPr>
              <a:t>
---
### Implementing an Interface in Java Example-1
``` Java linenums="1"
class Programmer implements Human{
    public void learn(String str) {
        System.out.println("Learn using " + str);
    }
    public void work() {
        System.out.println("Develop applications");
    }
}</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Implementing an Interface in Java Example-1</a:t>
            </a:r>
          </a:p>
          <a:p>
            <a:pPr lvl="0" indent="0" marL="0">
              <a:buNone/>
            </a:pPr>
            <a:r>
              <a:rPr/>
              <a:t>``` Java linenums=“1” public class HumanTest {</a:t>
            </a:r>
          </a:p>
          <a:p>
            <a:pPr lvl="0" indent="0">
              <a:buNone/>
            </a:pPr>
            <a:r>
              <a:rPr>
                <a:latin typeface="Courier"/>
              </a:rPr>
              <a:t>public static void main(String[] args) {
    Programmer trainee = new Programmer();
    trainee.learn("coding");
    trainee.work();
}</a:t>
            </a:r>
          </a:p>
          <a:p>
            <a:pPr lvl="0" indent="0" marL="0">
              <a:buNone/>
            </a:pPr>
            <a:r>
              <a:rPr/>
              <a:t>}</a:t>
            </a:r>
          </a:p>
          <a:p>
            <a:pPr lvl="0" indent="0">
              <a:buNone/>
            </a:pPr>
            <a:r>
              <a:rPr>
                <a:latin typeface="Courier"/>
              </a:rPr>
              <a:t>
---
### Implementing an Interface in Java Example-1
- In the example we defined an interface 
  - Human that contains two abstract methods 
    - learn(), 
    - work() and one constant duration. 
- The class Programmer implements the interface. 
  - As it implementing the Human interface it must provide the body of all the methods those defined in the Human interface.
---
### Implementing an Interface in Java Example-2
``` Java linenums="1"
interface Polygon {
  void getArea(int length, int breadth);
}</a:t>
            </a:r>
          </a:p>
          <a:p>
            <a:pPr lvl="0" indent="0" marL="0">
              <a:buNone/>
            </a:pPr>
            <a:r>
              <a:rPr/>
              <a:t>``` Java linenums=“1” // implement the Polygon interface class Rectangle implements Polygon {</a:t>
            </a:r>
          </a:p>
          <a:p>
            <a:pPr lvl="0" indent="0" marL="0">
              <a:buNone/>
            </a:pPr>
            <a:r>
              <a:rPr/>
              <a:t>// implementation of abstract method public void getArea(int length, int breadth) { System.out.println(“The area of the rectangle is” + (length * breadth)); } }</a:t>
            </a:r>
          </a:p>
          <a:p>
            <a:pPr lvl="0" indent="0">
              <a:buNone/>
            </a:pPr>
            <a:r>
              <a:rPr>
                <a:latin typeface="Courier"/>
              </a:rPr>
              <a:t>
---
### Implementing an Interface in Java Example-2
``` Java linenums="1"
class Main {
  public static void main(String[] args) {
    Rectangle r1 = new Rectangle();
    r1.getArea(5, 6);
  }
}</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Implementing an Interface in Java Example-3</a:t>
            </a:r>
          </a:p>
          <a:p>
            <a:pPr lvl="0" indent="0" marL="0">
              <a:buNone/>
            </a:pPr>
            <a:r>
              <a:rPr>
                <a:latin typeface="Courier"/>
              </a:rPr>
              <a:t>Java linenums="1" // create an interface interface Language {   void getName(String name); }</a:t>
            </a:r>
          </a:p>
          <a:p>
            <a:pPr lvl="0" indent="0" marL="0">
              <a:buNone/>
            </a:pPr>
            <a:r>
              <a:rPr/>
              <a:t>``` Java linenums=“1” // class implements interface class ProgrammingLanguage implements Language {</a:t>
            </a:r>
          </a:p>
          <a:p>
            <a:pPr lvl="0" indent="0" marL="0">
              <a:buNone/>
            </a:pPr>
            <a:r>
              <a:rPr/>
              <a:t>// implementation of abstract method public void getName(String name) { System.out.println(“Programming Language:” + name); } }</a:t>
            </a:r>
          </a:p>
          <a:p>
            <a:pPr lvl="0" indent="0">
              <a:buNone/>
            </a:pPr>
            <a:r>
              <a:rPr>
                <a:latin typeface="Courier"/>
              </a:rPr>
              <a:t>
---
### Implementing an Interface in Java Example-3
``` Java linenums="1"
class Main {
  public static void main(String[] args) {
    ProgrammingLanguage language = new ProgrammingLanguage();
    language.getName("Java");
  }
}</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Implementing multiple Interfaces</a:t>
            </a:r>
          </a:p>
        </p:txBody>
      </p:sp>
      <p:sp>
        <p:nvSpPr>
          <p:cNvPr id="3" name="Content Placeholder 2"/>
          <p:cNvSpPr>
            <a:spLocks noGrp="1"/>
          </p:cNvSpPr>
          <p:nvPr>
            <p:ph idx="1"/>
          </p:nvPr>
        </p:nvSpPr>
        <p:spPr/>
        <p:txBody>
          <a:bodyPr/>
          <a:lstStyle/>
          <a:p>
            <a:pPr lvl="0"/>
            <a:r>
              <a:rPr/>
              <a:t>When a class wants to implement more than one interface,</a:t>
            </a:r>
          </a:p>
          <a:p>
            <a:pPr lvl="0"/>
            <a:r>
              <a:rPr/>
              <a:t>we use the implements keyword is followed by a comma-separated list of the interfaces implemented by the class.</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Implementing multiple Interfaces</a:t>
            </a:r>
          </a:p>
        </p:txBody>
      </p:sp>
      <p:sp>
        <p:nvSpPr>
          <p:cNvPr id="3" name="Content Placeholder 2"/>
          <p:cNvSpPr>
            <a:spLocks noGrp="1"/>
          </p:cNvSpPr>
          <p:nvPr>
            <p:ph idx="1"/>
          </p:nvPr>
        </p:nvSpPr>
        <p:spPr/>
        <p:txBody>
          <a:bodyPr/>
          <a:lstStyle/>
          <a:p>
            <a:pPr lvl="0"/>
            <a:r>
              <a:rPr/>
              <a:t>The following is the syntax for defineing a class that implements multiple interfaces.</a:t>
            </a:r>
          </a:p>
          <a:p>
            <a:pPr lvl="0" indent="0" marL="0">
              <a:buNone/>
            </a:pPr>
            <a:r>
              <a:rPr>
                <a:latin typeface="Courier"/>
              </a:rPr>
              <a:t>Java linenums="1" class className implements InterfaceName1, InterfaceName2, ...{     ...     boby-of-the-class     ... }</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Implementing multiple Interfaces Example-1</a:t>
            </a:r>
          </a:p>
        </p:txBody>
      </p:sp>
      <p:sp>
        <p:nvSpPr>
          <p:cNvPr id="3" name="Content Placeholder 2"/>
          <p:cNvSpPr>
            <a:spLocks noGrp="1"/>
          </p:cNvSpPr>
          <p:nvPr>
            <p:ph idx="1"/>
          </p:nvPr>
        </p:nvSpPr>
        <p:spPr/>
        <p:txBody>
          <a:bodyPr/>
          <a:lstStyle/>
          <a:p>
            <a:pPr lvl="0"/>
            <a:r>
              <a:rPr/>
              <a:t>In the example we defined a class that implements multiple interfaces.</a:t>
            </a:r>
          </a:p>
          <a:p>
            <a:pPr lvl="0" indent="0" marL="0">
              <a:buNone/>
            </a:pPr>
            <a:r>
              <a:rPr>
                <a:latin typeface="Courier"/>
              </a:rPr>
              <a:t>Java linenums="1" interface Human {        void learn(String str);     void work(); }</a:t>
            </a:r>
            <a:r>
              <a:rPr/>
              <a:t> </a:t>
            </a:r>
            <a:r>
              <a:rPr>
                <a:latin typeface="Courier"/>
              </a:rPr>
              <a:t>Java linenums="1" interface Recruitment {     boolean screening(int score);     boolean interview(boolean selected); }</a:t>
            </a:r>
            <a:r>
              <a:rPr/>
              <a:t> —</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Implementing multiple Interfaces Example-1</a:t>
            </a:r>
          </a:p>
        </p:txBody>
      </p:sp>
      <p:sp>
        <p:nvSpPr>
          <p:cNvPr id="3" name="Content Placeholder 2"/>
          <p:cNvSpPr>
            <a:spLocks noGrp="1"/>
          </p:cNvSpPr>
          <p:nvPr>
            <p:ph idx="1"/>
          </p:nvPr>
        </p:nvSpPr>
        <p:spPr/>
        <p:txBody>
          <a:bodyPr/>
          <a:lstStyle/>
          <a:p>
            <a:pPr lvl="0" indent="0" marL="0">
              <a:buNone/>
            </a:pPr>
            <a:r>
              <a:rPr>
                <a:latin typeface="Courier"/>
              </a:rPr>
              <a:t>Java linenums="1" class Programmer implements Human, Recruitment {     public void learn(String str) {         System.out.println("Learn using " + str);     }     public boolean screening(int score) {         System.out.println("Attend screening test");         int thresold = 20;         if(score &gt; thresold)             return true;         return false;     }     public boolean interview(boolean selected) {         System.out.println("Attend interview");         if(selected)             return true;         return false;     }      public void work() {         System.out.println("Develop applications");     } }</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Implementing multiple Interfaces Example-1</a:t>
            </a:r>
          </a:p>
        </p:txBody>
      </p:sp>
      <p:sp>
        <p:nvSpPr>
          <p:cNvPr id="3" name="Content Placeholder 2"/>
          <p:cNvSpPr>
            <a:spLocks noGrp="1"/>
          </p:cNvSpPr>
          <p:nvPr>
            <p:ph idx="1"/>
          </p:nvPr>
        </p:nvSpPr>
        <p:spPr/>
        <p:txBody>
          <a:bodyPr/>
          <a:lstStyle/>
          <a:p>
            <a:pPr lvl="0" indent="0" marL="0">
              <a:buNone/>
            </a:pPr>
            <a:r>
              <a:rPr>
                <a:latin typeface="Courier"/>
              </a:rPr>
              <a:t>Java linenums="1" public class HumanTest {     public static void main(String[] args) {         Programmer trainee = new Programmer();         trainee.learn("Coding");         trainee.screening(30);         trainee.interview(true);         trainee.work();     } }</a:t>
            </a:r>
          </a:p>
          <a:p>
            <a:pPr lvl="0"/>
            <a:r>
              <a:rPr/>
              <a:t>In the example, two interfaces </a:t>
            </a:r>
            <a:r>
              <a:rPr>
                <a:latin typeface="Courier"/>
              </a:rPr>
              <a:t>Human</a:t>
            </a:r>
            <a:r>
              <a:rPr/>
              <a:t> and </a:t>
            </a:r>
            <a:r>
              <a:rPr>
                <a:latin typeface="Courier"/>
              </a:rPr>
              <a:t>Recruitment</a:t>
            </a:r>
            <a:r>
              <a:rPr/>
              <a:t>, and a class </a:t>
            </a:r>
            <a:r>
              <a:rPr>
                <a:latin typeface="Courier"/>
              </a:rPr>
              <a:t>Programmer</a:t>
            </a:r>
            <a:r>
              <a:rPr/>
              <a:t> implements both the interfaces.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Implementing multiple Interfaces Example-2</a:t>
            </a:r>
          </a:p>
        </p:txBody>
      </p:sp>
      <p:sp>
        <p:nvSpPr>
          <p:cNvPr id="3" name="Content Placeholder 2"/>
          <p:cNvSpPr>
            <a:spLocks noGrp="1"/>
          </p:cNvSpPr>
          <p:nvPr>
            <p:ph idx="1"/>
          </p:nvPr>
        </p:nvSpPr>
        <p:spPr/>
        <p:txBody>
          <a:bodyPr/>
          <a:lstStyle/>
          <a:p>
            <a:pPr lvl="0" indent="0" marL="0">
              <a:buNone/>
            </a:pPr>
            <a:r>
              <a:rPr>
                <a:latin typeface="Courier"/>
              </a:rPr>
              <a:t>Java linenums="1" interface A {   // members of A }</a:t>
            </a:r>
          </a:p>
          <a:p>
            <a:pPr lvl="0" indent="0" marL="0">
              <a:buNone/>
            </a:pPr>
            <a:r>
              <a:rPr>
                <a:latin typeface="Courier"/>
              </a:rPr>
              <a:t>Java linenums="1" interface B {   // members of B }</a:t>
            </a:r>
          </a:p>
          <a:p>
            <a:pPr lvl="0" indent="0" marL="0">
              <a:buNone/>
            </a:pPr>
            <a:r>
              <a:rPr>
                <a:latin typeface="Courier"/>
              </a:rPr>
              <a:t>Java linenums="1" class C implements A, B {   // abstract members of A   // abstract members of B }</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Defining and Implementing Interfaces</a:t>
            </a:r>
          </a:p>
          <a:p>
            <a:pPr lvl="0"/>
            <a:r>
              <a:rPr/>
              <a:t>An interface is a contract - it defines WHAT a class must do, not HOW</a:t>
            </a:r>
          </a:p>
          <a:p>
            <a:pPr lvl="0"/>
            <a:r>
              <a:rPr/>
              <a:t>Interfaces contain abstract methods and static final variables</a:t>
            </a:r>
          </a:p>
          <a:p>
            <a:pPr lvl="0"/>
            <a:r>
              <a:rPr/>
              <a:t>A class implements an interface using the ‘implements’ keyword</a:t>
            </a:r>
          </a:p>
          <a:p>
            <a:pPr lvl="0"/>
            <a:r>
              <a:rPr/>
              <a:t>Java allows implementing multiple interfaces (multiple inheritance of type)</a:t>
            </a:r>
          </a:p>
          <a:p>
            <a:pPr lvl="0"/>
            <a:r>
              <a:rPr/>
              <a:t>All interface methods are implicitly public and abstract</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B: Nested Interfaces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Nested Interfaces in Java</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Nested Interfaces in Java</a:t>
            </a:r>
          </a:p>
          <a:p>
            <a:pPr lvl="0"/>
            <a:r>
              <a:rPr/>
              <a:t>In java, an interface may be defined inside another interface,</a:t>
            </a:r>
          </a:p>
          <a:p>
            <a:pPr lvl="1"/>
            <a:r>
              <a:rPr/>
              <a:t>and also inside a class.</a:t>
            </a:r>
          </a:p>
          <a:p>
            <a:pPr lvl="0"/>
            <a:r>
              <a:rPr/>
              <a:t>The interface that defined inside another interface or a class is konwn as nested interface.</a:t>
            </a:r>
          </a:p>
          <a:p>
            <a:pPr lvl="1"/>
            <a:r>
              <a:rPr/>
              <a:t>The nested interface is also refered as inner interface.</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Nested Interfaces in Java</a:t>
            </a:r>
          </a:p>
          <a:p>
            <a:pPr lvl="0"/>
            <a:r>
              <a:rPr/>
              <a:t>The nested interface declared within an interface is public by default.</a:t>
            </a:r>
          </a:p>
          <a:p>
            <a:pPr lvl="0"/>
            <a:r>
              <a:rPr/>
              <a:t>The nested interface declared within a class can be with any access modifier.</a:t>
            </a:r>
          </a:p>
          <a:p>
            <a:pPr lvl="0"/>
            <a:r>
              <a:rPr/>
              <a:t>Every nested interface is static by default.</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Nested Interfaces in Java</a:t>
            </a:r>
          </a:p>
          <a:p>
            <a:pPr lvl="0"/>
            <a:r>
              <a:rPr/>
              <a:t>The nested interface cannot be accessed directly.</a:t>
            </a:r>
          </a:p>
          <a:p>
            <a:pPr lvl="1"/>
            <a:r>
              <a:rPr/>
              <a:t>We can only access the nested interface by using outer interface or outer class name followed by dot( . ), followed by the nested interface name.</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Nested interface inside another interface Example</a:t>
            </a:r>
          </a:p>
          <a:p>
            <a:pPr lvl="0"/>
            <a:r>
              <a:rPr/>
              <a:t>The nested interface that defined inside another interface must be accessed as </a:t>
            </a:r>
            <a:r>
              <a:rPr>
                <a:latin typeface="Courier"/>
              </a:rPr>
              <a:t>OuterInterface.InnerInterface</a:t>
            </a:r>
            <a:r>
              <a:rPr/>
              <a:t>.</a:t>
            </a:r>
          </a:p>
          <a:p>
            <a:pPr lvl="0" indent="0" marL="0">
              <a:buNone/>
            </a:pPr>
            <a:r>
              <a:rPr/>
              <a:t>``` Java linenums=“1” interface OuterInterface{ void outerMethod();</a:t>
            </a:r>
          </a:p>
          <a:p>
            <a:pPr lvl="0" indent="0">
              <a:buNone/>
            </a:pPr>
            <a:r>
              <a:rPr>
                <a:latin typeface="Courier"/>
              </a:rPr>
              <a:t>interface InnerInterface{
    void innerMethod();
}</a:t>
            </a:r>
          </a:p>
          <a:p>
            <a:pPr lvl="0" indent="0" marL="0">
              <a:buNone/>
            </a:pPr>
            <a:r>
              <a:rPr/>
              <a:t>}</a:t>
            </a:r>
          </a:p>
          <a:p>
            <a:pPr lvl="0" indent="0">
              <a:buNone/>
            </a:pPr>
            <a:r>
              <a:rPr>
                <a:latin typeface="Courier"/>
              </a:rPr>
              <a:t>
---
### Nested interface inside another interface Example
``` Java linenums="1"
class OnlyOuter implements OuterInterface{
    public void outerMethod() {
        System.out.println("This is OuterInterface method");
    }
}</a:t>
            </a:r>
          </a:p>
          <a:p>
            <a:pPr lvl="0" indent="0" marL="0">
              <a:buNone/>
            </a:pPr>
            <a:r>
              <a:rPr>
                <a:latin typeface="Courier"/>
              </a:rPr>
              <a:t>Java linenums="1" class OnlyInner implements OuterInterface.InnerInterface{     public void innerMethod() {         System.out.println("This is InnerInterface method");     } }</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Nested interface inside another interface Example</a:t>
            </a:r>
          </a:p>
          <a:p>
            <a:pPr lvl="0" indent="0" marL="0">
              <a:buNone/>
            </a:pPr>
            <a:r>
              <a:rPr/>
              <a:t>``` Java linenums=“1” public class NestedInterfaceExample {</a:t>
            </a:r>
          </a:p>
          <a:p>
            <a:pPr lvl="0" indent="0">
              <a:buNone/>
            </a:pPr>
            <a:r>
              <a:rPr>
                <a:latin typeface="Courier"/>
              </a:rPr>
              <a:t>public static void main(String[] args) {
    OnlyOuter obj_1 = new OnlyOuter();
    OnlyInner obj_2 = new OnlyInner();
    obj_1.outerMethod();
    obj_2.innerMethod();
}</a:t>
            </a:r>
          </a:p>
          <a:p>
            <a:pPr lvl="0" indent="0" marL="0">
              <a:buNone/>
            </a:pPr>
            <a:r>
              <a:rPr/>
              <a:t>}</a:t>
            </a:r>
          </a:p>
          <a:p>
            <a:pPr lvl="0" indent="0">
              <a:buNone/>
            </a:pPr>
            <a:r>
              <a:rPr>
                <a:latin typeface="Courier"/>
              </a:rPr>
              <a:t>
---
## Nested interface inside a class Example
- The nested interface that defined inside a class must be accessed as `ClassName.InnerInterface`
``` Java linenums="1"
class OuterClass{
    interface InnerInterface{
        void innerMethod();
    }
}</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Nested interface inside a class Example</a:t>
            </a:r>
          </a:p>
        </p:txBody>
      </p:sp>
      <p:sp>
        <p:nvSpPr>
          <p:cNvPr id="3" name="Content Placeholder 2"/>
          <p:cNvSpPr>
            <a:spLocks noGrp="1"/>
          </p:cNvSpPr>
          <p:nvPr>
            <p:ph idx="1"/>
          </p:nvPr>
        </p:nvSpPr>
        <p:spPr/>
        <p:txBody>
          <a:bodyPr/>
          <a:lstStyle/>
          <a:p>
            <a:pPr lvl="0" indent="0" marL="0">
              <a:buNone/>
            </a:pPr>
            <a:r>
              <a:rPr>
                <a:latin typeface="Courier"/>
              </a:rPr>
              <a:t>Java linenums="1" class ImplementingClass implements OuterClass.InnerInterface{     public void innerMethod() {         System.out.println("This is InnerInterface method");     } }</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Nested interface inside a class Example</a:t>
            </a:r>
          </a:p>
        </p:txBody>
      </p:sp>
      <p:sp>
        <p:nvSpPr>
          <p:cNvPr id="3" name="Content Placeholder 2"/>
          <p:cNvSpPr>
            <a:spLocks noGrp="1"/>
          </p:cNvSpPr>
          <p:nvPr>
            <p:ph idx="1"/>
          </p:nvPr>
        </p:nvSpPr>
        <p:spPr/>
        <p:txBody>
          <a:bodyPr/>
          <a:lstStyle/>
          <a:p>
            <a:pPr lvl="0" indent="0" marL="0">
              <a:buNone/>
            </a:pPr>
            <a:r>
              <a:rPr/>
              <a:t>``` Java linenums=“1” public class NestedInterfaceExample {</a:t>
            </a:r>
          </a:p>
          <a:p>
            <a:pPr lvl="0" indent="0">
              <a:buNone/>
            </a:pPr>
            <a:r>
              <a:rPr>
                <a:latin typeface="Courier"/>
              </a:rPr>
              <a:t>public static void main(String[] args) {
    ImplementingClass obj = new ImplementingClass();
    obj.innerMethod();
}</a:t>
            </a:r>
          </a:p>
          <a:p>
            <a:pPr lvl="0" indent="0" marL="0">
              <a:buNone/>
            </a:pPr>
            <a:r>
              <a:rPr/>
              <a:t>}</a:t>
            </a:r>
          </a:p>
          <a:p>
            <a:pPr lvl="0" indent="0">
              <a:buNone/>
            </a:pPr>
            <a:r>
              <a:rPr>
                <a:latin typeface="Courier"/>
              </a:rPr>
              <a:t>
---
### Takeaway: Nested Interfaces
- Interfaces can be nested inside other interfaces or classes
- Nested interfaces help organize related contracts together
- A class implementing a nested interface uses OuterInterface.InnerInterface syntax
- Nested interfaces in classes can have any access modifier
---
## **Module C: Interface Variables and Extending Interfaces**
---
## **Variables in Java Interfaces**
---
### Variables in Java Interfaces
- In java, an interface is a completely abstract class. 
- An interface is a container of abstract methods and static final variables. 
- The interface contains the static final variables. 
- The variables defined in an interface can not be modified by the class that implements the interface,
  - but it may use as it defined in the interface.
---
### Variables in Java Interfaces
- The variable in an interface is public, static, and final by default.
- If any variable in an interface is defined without public, static, and final keywords then, the compiler automatically adds the same.
- No access modifier is allowed except the public for interface variables.
- Every variable of an interface must be initialized in the interface itself.
- The class that implements an interface can not modify the interface variable, but it may use as it defined in the interface.
---
### Variables in Java Interfaces Example-1
``` Java linenums="1"
interface SampleInterface{
    int UPPER_LIMIT = 100;
    //int LOWER_LIMIT; // Error - must be initialised
}</a:t>
            </a:r>
          </a:p>
          <a:p>
            <a:pPr lvl="0" indent="0" marL="0">
              <a:buNone/>
            </a:pPr>
            <a:r>
              <a:rPr/>
              <a:t>``` Java linenums=“1” public class InterfaceVariablesExample implements SampleInterface{</a:t>
            </a:r>
          </a:p>
          <a:p>
            <a:pPr lvl="0" indent="0">
              <a:buNone/>
            </a:pPr>
            <a:r>
              <a:rPr>
                <a:latin typeface="Courier"/>
              </a:rPr>
              <a:t>public static void main(String[] args) {
    System.out.println("UPPER LIMIT = " + UPPER_LIMIT);
    // UPPER_LIMIT = 150; // Can not be modified
}</a:t>
            </a:r>
          </a:p>
          <a:p>
            <a:pPr lvl="0" indent="0" marL="0">
              <a:buNone/>
            </a:pPr>
            <a:r>
              <a:rPr/>
              <a:t>}</a:t>
            </a:r>
          </a:p>
          <a:p>
            <a:pPr lvl="0" indent="0">
              <a:buNone/>
            </a:pPr>
            <a:r>
              <a:rPr>
                <a:latin typeface="Courier"/>
              </a:rPr>
              <a:t>
---
## **Extending an Interface in java**
---
### Extending an Interface in java
- In java, an interface can extend another interface.
  - When an interface wants to extend another interface,
    - it uses the keyword extends.
- The interface that extends another interface has its own members and all the members defined in its parent interface too.
- The class which implements a child interface needs to provide code for the methods defined in both child and parent interfaces,
  - otherwise, it needs to be defined as abstract class.
---
### Extending an Interface in Java
- An interface can extend another interface.
- An interface can not extend multiple interfaces.
- An interface can implement neither an interface nor a class.
- The class that implements child interface needs to provide code for all the methods defined in both child and parent interfaces.
![center h:500px](assets/interface-hierarchy.png)
---
### Extending an Interface in Java Example-1
``` Java linenums="1"
interface ParentInterface{
    void parentMethod();
}</a:t>
            </a:r>
          </a:p>
          <a:p>
            <a:pPr lvl="0" indent="0" marL="0">
              <a:buNone/>
            </a:pPr>
            <a:r>
              <a:rPr>
                <a:latin typeface="Courier"/>
              </a:rPr>
              <a:t>Java linenums="1" interface ChildInterface extends ParentInterface{     void childMethod(); }</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Extending an Interface in Java Example-1</a:t>
            </a:r>
          </a:p>
          <a:p>
            <a:pPr lvl="0" indent="0" marL="0">
              <a:buNone/>
            </a:pPr>
            <a:r>
              <a:rPr/>
              <a:t>``` Java linenums=“1” class ImplementingClass implements ChildInterface{</a:t>
            </a:r>
          </a:p>
          <a:p>
            <a:pPr lvl="0" indent="0">
              <a:buNone/>
            </a:pPr>
            <a:r>
              <a:rPr>
                <a:latin typeface="Courier"/>
              </a:rPr>
              <a:t>public void childMethod() {
    System.out.println("Child Interface method!!");
}
public void parentMethod() {
    System.out.println("Parent Interface mehtod!");
}</a:t>
            </a:r>
          </a:p>
          <a:p>
            <a:pPr lvl="0" indent="0" marL="0">
              <a:buNone/>
            </a:pPr>
            <a:r>
              <a:rPr/>
              <a:t>}</a:t>
            </a:r>
          </a:p>
          <a:p>
            <a:pPr lvl="0" indent="0">
              <a:buNone/>
            </a:pPr>
            <a:r>
              <a:rPr>
                <a:latin typeface="Courier"/>
              </a:rPr>
              <a:t>
---
### Extending an Interface in Java Example-1
``` Java linenums="1"
public class ExtendingAnInterface {
    public static void main(String[] args) {
        ImplementingClass obj = new ImplementingClass();
        obj.childMethod();
        obj.parentMethod();
    }
}</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Extending an Interface in Java Example-2</a:t>
            </a:r>
          </a:p>
          <a:p>
            <a:pPr lvl="0"/>
            <a:r>
              <a:rPr/>
              <a:t>Here, the Polygon interface extends the Line interface. Now, if any class implements Polygon, it should provide implementations for all the abstract methods of both Line and Polygon</a:t>
            </a:r>
          </a:p>
          <a:p>
            <a:pPr lvl="0" indent="0" marL="0">
              <a:buNone/>
            </a:pPr>
            <a:r>
              <a:rPr/>
              <a:t>``` Java linenums=“1” interface Line { // members of Line interface }</a:t>
            </a:r>
          </a:p>
          <a:p>
            <a:pPr lvl="0" indent="0" marL="0">
              <a:buNone/>
            </a:pPr>
            <a:r>
              <a:rPr/>
              <a:t>// extending interface interface Polygon extends Line { // members of Polygon interface // members of Line interface }</a:t>
            </a:r>
          </a:p>
          <a:p>
            <a:pPr lvl="0" indent="0">
              <a:buNone/>
            </a:pPr>
            <a:r>
              <a:rPr>
                <a:latin typeface="Courier"/>
              </a:rPr>
              <a:t>
---
### Extending Multiple Interfaces in Java Example
``` Java linenums="1"
interface A {
   ...
}</a:t>
            </a:r>
          </a:p>
          <a:p>
            <a:pPr lvl="0" indent="0" marL="0">
              <a:buNone/>
            </a:pPr>
            <a:r>
              <a:rPr>
                <a:latin typeface="Courier"/>
              </a:rPr>
              <a:t>Java linenums="1" interface B {    ...  }</a:t>
            </a:r>
          </a:p>
          <a:p>
            <a:pPr lvl="0" indent="0" marL="0">
              <a:buNone/>
            </a:pPr>
            <a:r>
              <a:rPr>
                <a:latin typeface="Courier"/>
              </a:rPr>
              <a:t>Java linenums="1" interface C extends A, B {    ... }</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Interface Variables and Extending</a:t>
            </a:r>
          </a:p>
          <a:p>
            <a:pPr lvl="0"/>
            <a:r>
              <a:rPr/>
              <a:t>Interface variables are implicitly public, static, and final (constants)</a:t>
            </a:r>
          </a:p>
          <a:p>
            <a:pPr lvl="0"/>
            <a:r>
              <a:rPr/>
              <a:t>Interfaces can extend other interfaces using the ‘extends’ keyword</a:t>
            </a:r>
          </a:p>
          <a:p>
            <a:pPr lvl="0"/>
            <a:r>
              <a:rPr/>
              <a:t>A class implementing a child interface must implement ALL methods from the entire hierarchy</a:t>
            </a:r>
          </a:p>
          <a:p>
            <a:pPr lvl="0"/>
            <a:r>
              <a:rPr/>
              <a:t>An interface can extend multiple interfaces (unlike classes)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D: Modern Interface Features and Advantages</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Advantages of Interface in Java</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Advantages of Interface in Java</a:t>
            </a:r>
          </a:p>
          <a:p>
            <a:pPr lvl="0"/>
            <a:r>
              <a:rPr b="1"/>
              <a:t>Similar to abstract classes, interfaces help us to achieve abstraction in Java</a:t>
            </a:r>
          </a:p>
          <a:p>
            <a:pPr lvl="1"/>
            <a:r>
              <a:rPr/>
              <a:t>Here, we know getArea() calculates the area of polygons but the way area is calculated is different for different polygons. Hence, the implementation of getArea() is independent of one another.</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Advantages of Interface in Java</a:t>
            </a:r>
          </a:p>
          <a:p>
            <a:pPr lvl="0"/>
            <a:r>
              <a:rPr b="1"/>
              <a:t>Interfaces provide specifications that a class (which implements it) must follow.</a:t>
            </a:r>
          </a:p>
          <a:p>
            <a:pPr lvl="1"/>
            <a:r>
              <a:rPr/>
              <a:t>In our previous example, we have used getArea() as a specification inside the interface Polygon. This is like setting a rule that we should be able to get the area of every polygon.</a:t>
            </a:r>
          </a:p>
          <a:p>
            <a:pPr lvl="0"/>
            <a:r>
              <a:rPr/>
              <a:t>Now any class that implements the Polygon interface must provide an implementation for the getArea() method.</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Advantages of Interface in Java</a:t>
            </a:r>
          </a:p>
          <a:p>
            <a:pPr lvl="0"/>
            <a:r>
              <a:rPr/>
              <a:t>Interfaces are also used to achieve multiple inheritance in Java</a:t>
            </a:r>
          </a:p>
          <a:p>
            <a:pPr lvl="1"/>
            <a:r>
              <a:rPr/>
              <a:t>In the example, the class Rectangle is implementing two different interfaces. This is how we achieve multiple inheritance in Java.</a:t>
            </a:r>
          </a:p>
          <a:p>
            <a:pPr lvl="0" indent="0" marL="0">
              <a:buNone/>
            </a:pPr>
            <a:r>
              <a:rPr/>
              <a:t>``` Java linenums=“1” interface Line { … }</a:t>
            </a:r>
          </a:p>
          <a:p>
            <a:pPr lvl="0" indent="0" marL="0">
              <a:buNone/>
            </a:pPr>
            <a:r>
              <a:rPr/>
              <a:t>interface Polygon { … }</a:t>
            </a:r>
          </a:p>
          <a:p>
            <a:pPr lvl="0" indent="0" marL="0">
              <a:buNone/>
            </a:pPr>
            <a:r>
              <a:rPr/>
              <a:t>class Rectangle implements Line, Polygon { … }</a:t>
            </a:r>
          </a:p>
          <a:p>
            <a:pPr lvl="0" indent="0">
              <a:buNone/>
            </a:pPr>
            <a:r>
              <a:rPr>
                <a:latin typeface="Courier"/>
              </a:rPr>
              <a:t>
---
### Advantages of Interface in Java
- All the methods inside an interface are implicitly public and all fields are implicitly public static final. For example,
``` Java linenums="1"
interface Language {
  // by default public static final
  String type = "programming language";
  // by default public
  void getName();
}</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default methods in Java Interfaces</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default methods in Java Interfaces</a:t>
            </a:r>
          </a:p>
          <a:p>
            <a:pPr lvl="0"/>
            <a:r>
              <a:rPr/>
              <a:t>With the release of Java 8, we can now add methods with implementation inside an interface.</a:t>
            </a:r>
          </a:p>
          <a:p>
            <a:pPr lvl="1"/>
            <a:r>
              <a:rPr/>
              <a:t>These methods are called default methods.</a:t>
            </a:r>
          </a:p>
          <a:p>
            <a:pPr lvl="0"/>
            <a:r>
              <a:rPr/>
              <a:t>To declare default methods inside interfaces, we use the default keyword. For example,</a:t>
            </a:r>
          </a:p>
          <a:p>
            <a:pPr lvl="0" indent="0" marL="0">
              <a:buNone/>
            </a:pPr>
            <a:r>
              <a:rPr>
                <a:latin typeface="Courier"/>
              </a:rPr>
              <a:t>Java linenums="1" public default void getSides() {    // body of getSides() }</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default methods in Java Interfaces</a:t>
            </a:r>
          </a:p>
          <a:p>
            <a:pPr lvl="0"/>
            <a:r>
              <a:rPr/>
              <a:t>Let’s take a scenario to understand why default methods are introduced in Java.</a:t>
            </a:r>
          </a:p>
          <a:p>
            <a:pPr lvl="0"/>
            <a:r>
              <a:rPr/>
              <a:t>Suppose, we need to add a new method in an interface.</a:t>
            </a:r>
          </a:p>
          <a:p>
            <a:pPr lvl="0"/>
            <a:r>
              <a:rPr/>
              <a:t>We can add the method in our interface easily without implementation. However, that’s not the end of the story. All our classes that implement that interface must provide an implementation for the method.</a:t>
            </a:r>
          </a:p>
          <a:p>
            <a:pPr lvl="0"/>
            <a:r>
              <a:rPr/>
              <a:t>If a large number of classes were implementing this interface, we need to track all these classes and make changes to them. This is not only tedious but error-prone as well.</a:t>
            </a:r>
          </a:p>
          <a:p>
            <a:pPr lvl="0"/>
            <a:r>
              <a:rPr/>
              <a:t>To resolve this, Java introduced default methods. Default methods are inherited like ordinary methods.</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Default Method in Java Interface Example</a:t>
            </a:r>
          </a:p>
          <a:p>
            <a:pPr lvl="0" indent="0" marL="0">
              <a:buNone/>
            </a:pPr>
            <a:r>
              <a:rPr/>
              <a:t>``` Java linenums=“1” interface Polygon { void getArea();</a:t>
            </a:r>
          </a:p>
          <a:p>
            <a:pPr lvl="0" indent="0" marL="0">
              <a:buNone/>
            </a:pPr>
            <a:r>
              <a:rPr/>
              <a:t>// default method default void getSides() { System.out.println(“I can get sides of a polygon.”); } }</a:t>
            </a:r>
          </a:p>
          <a:p>
            <a:pPr lvl="0" indent="0">
              <a:buNone/>
            </a:pPr>
            <a:r>
              <a:rPr>
                <a:latin typeface="Courier"/>
              </a:rPr>
              <a:t>
---
### Default Method in Java Interface Example
``` Java linenums="1"
// implements the interface
class Rectangle implements Polygon {
  public void getArea() {
    int length = 6;
    int breadth = 5;
    int area = length * breadth;
    System.out.println("The area of the rectangle is " + area);
  }
  // overrides the getSides()
  public void getSides() {
    System.out.println("I have 4 sides.");
  }
}</a:t>
            </a:r>
          </a:p>
        </p:txBody>
      </p:sp>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Default Method in Java Interface Example</a:t>
            </a:r>
          </a:p>
          <a:p>
            <a:pPr lvl="0" indent="0" marL="0">
              <a:buNone/>
            </a:pPr>
            <a:r>
              <a:rPr>
                <a:latin typeface="Courier"/>
              </a:rPr>
              <a:t>Java linenums="1" // implements the interface class Square implements Polygon {   public void getArea() {     int length = 5;     int area = length * length;     System.out.println("The area of the square is " + area);   } }</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Default Method in Java Interface Example</a:t>
            </a:r>
          </a:p>
          <a:p>
            <a:pPr lvl="0" indent="0" marL="0">
              <a:buNone/>
            </a:pPr>
            <a:r>
              <a:rPr/>
              <a:t>``` Java linenums=“1” class Main { public static void main(String[] args) {</a:t>
            </a:r>
          </a:p>
          <a:p>
            <a:pPr lvl="0" indent="0">
              <a:buNone/>
            </a:pPr>
            <a:r>
              <a:rPr>
                <a:latin typeface="Courier"/>
              </a:rPr>
              <a:t>// create an object of Rectangle
Rectangle r1 = new Rectangle();
r1.getArea();
r1.getSides();
// create an object of Square
Square s1 = new Square();
s1.getArea();
s1.getSides();</a:t>
            </a:r>
          </a:p>
          <a:p>
            <a:pPr lvl="0" indent="0" marL="0">
              <a:buNone/>
            </a:pPr>
            <a:r>
              <a:rPr/>
              <a:t>} }</a:t>
            </a:r>
          </a:p>
          <a:p>
            <a:pPr lvl="0" indent="0">
              <a:buNone/>
            </a:pPr>
            <a:r>
              <a:rPr>
                <a:latin typeface="Courier"/>
              </a:rPr>
              <a:t>
---
### Default Method in Java Interface Example
- In the example, we have created an interface named Polygon. It has a default method getSides() and an abstract method getArea().
- Here, we have created two classes Rectangle and Square that implement Polygon.
- The Rectangle class provides the implementation of the getArea() method and overrides the getSides() method. However, the Square class only provides the implementation of the getArea() method.
- Now, while calling the getSides() method using the Rectangle object, the overridden method is called. However, in the case of the Square object, the default method is called.
---
## **private and static Methods in Interface**
---
### private and static Methods in Interface
- The Java 8 also added another feature to include static methods inside an interface.
- Similar to a class, we can access static methods of an interface using its references. For example,
``` Java linenums="1"
// create an interface
interface Polygon {
  staticMethod(){..}
}
// access static method
Polygon.staticMethod();</a:t>
            </a:r>
          </a:p>
        </p:txBody>
      </p:sp>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private and static Methods in Interface</a:t>
            </a:r>
          </a:p>
          <a:p>
            <a:pPr lvl="0"/>
            <a:r>
              <a:rPr/>
              <a:t>Note: With the release of Java 9, private methods are also supported in interfaces.</a:t>
            </a:r>
          </a:p>
          <a:p>
            <a:pPr lvl="0"/>
            <a:r>
              <a:rPr/>
              <a:t>We cannot create objects of an interface.</a:t>
            </a:r>
          </a:p>
          <a:p>
            <a:pPr lvl="1"/>
            <a:r>
              <a:rPr/>
              <a:t>Hence, private methods are used as helper methods that provide support to other methods in interfaces.</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Interface Practical Example</a:t>
            </a:r>
          </a:p>
          <a:p>
            <a:pPr lvl="0" indent="0" marL="0">
              <a:buNone/>
            </a:pPr>
            <a:r>
              <a:rPr/>
              <a:t>``` Java linenums=“1” // To use the sqrt function import java.lang.Math;</a:t>
            </a:r>
          </a:p>
          <a:p>
            <a:pPr lvl="0" indent="0" marL="0">
              <a:buNone/>
            </a:pPr>
            <a:r>
              <a:rPr/>
              <a:t>interface Polygon { void getArea();</a:t>
            </a:r>
          </a:p>
          <a:p>
            <a:pPr lvl="0" indent="0" marL="0">
              <a:buNone/>
            </a:pPr>
            <a:r>
              <a:rPr/>
              <a:t>// calculate the perimeter of a Polygon default void getPerimeter(int… sides) { int perimeter = 0; for (int side: sides) { perimeter += side; }</a:t>
            </a:r>
          </a:p>
          <a:p>
            <a:pPr lvl="0" indent="0" marL="0">
              <a:buNone/>
            </a:pPr>
            <a:r>
              <a:rPr/>
              <a:t>System.out.println(“Perimeter:” + perimeter); } }</a:t>
            </a:r>
          </a:p>
          <a:p>
            <a:pPr lvl="0" indent="0">
              <a:buNone/>
            </a:pPr>
            <a:r>
              <a:rPr>
                <a:latin typeface="Courier"/>
              </a:rPr>
              <a:t>
---
### Java Interface Practical Example
``` Java linenums="1"
class Triangle implements Polygon {
   private int a, b, c;
   private double s, area;
// initializing sides of a triangle
   Triangle(int a, int b, int c) {
      this.a = a;
      this.b = b;
      this.c = c;
      s = 0;
   }
// calculate the area of a triangle
   public void getArea() {
      s = (double) (a + b + c)/2;
      area = Math.sqrt(s*(s-a)*(s-b)*(s-c));
      System.out.println("Area: " + area);
   }
}</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Interface Practical Example</a:t>
            </a:r>
          </a:p>
          <a:p>
            <a:pPr lvl="0" indent="0" marL="0">
              <a:buNone/>
            </a:pPr>
            <a:r>
              <a:rPr/>
              <a:t>``` Java linenums=“1” class Main { public static void main(String[] args) { Triangle t1 = new Triangle(2, 3, 4);</a:t>
            </a:r>
          </a:p>
          <a:p>
            <a:pPr lvl="0" indent="0" marL="0">
              <a:buNone/>
            </a:pPr>
            <a:r>
              <a:rPr/>
              <a:t>// calls the method of the Triangle class t1.getArea();</a:t>
            </a:r>
          </a:p>
          <a:p>
            <a:pPr lvl="0" indent="0" marL="0">
              <a:buNone/>
            </a:pPr>
            <a:r>
              <a:rPr/>
              <a:t>// calls the method of Polygon t1.getPerimeter(2, 3, 4); } }</a:t>
            </a:r>
          </a:p>
          <a:p>
            <a:pPr lvl="0" indent="0">
              <a:buNone/>
            </a:pPr>
            <a:r>
              <a:rPr>
                <a:latin typeface="Courier"/>
              </a:rPr>
              <a:t>
---
### Java Interface Practical Example
- In the example, we have created an interface named Polygon. 
  - It includes a default method getPerimeter() and an abstract method getArea().
- We can calculate the perimeter of all polygons in the same manner so we implemented the body of getPerimeter() in Polygon.
- Now, all polygons that implement Polygon can use getPerimeter() to calculate perimeter.
- However, the rule for calculating the area is different for different polygons. 
  - Hence, getArea() is included without implementation.
- Any class that implements Polygon must provide an implementation of getArea().
---
### Takeaway: Modern Interface Features
- Interfaces enable polymorphism, loose coupling, and multiple inheritance of type
- Java 8+ default methods: provide implementation in interfaces for backward compatibility
- Java 9+ private methods in interfaces: share code between default methods
- Static methods in interfaces: utility methods that belong to the interface
- Interfaces evolved from pure contracts to powerful abstractions
---
## **Module E: Abstract Class vs Interface - When to Use Which?**
---
### Abstract Class vs Interface: Comparison
| Feature | Abstract Class | Interface |
|---------|---------------|-----------|
| Methods | Abstract + concrete | Abstract + default + static + private |
| Fields | Any type | Only public static final |
| Constructor | Yes | No |
| Access Modifiers | Any | Public (methods), public static final (fields) |
| Multiple Inheritance | No (single extends) | Yes (multiple implements) |
| When to Use | Related classes sharing code | Unrelated classes sharing contract |
---
### Abstract Class vs Interface: Visual Comparison
![center h:500px](assets/interface-vs-abstract-class.png)
---
### Abstract Class vs Interface: Relationship Types
- **Abstract Class** expresses **is-a** relationship
  - "A Dog **is-a** Animal" -&gt; abstract class Animal
  - Share common state and behavior among family of classes
- **Interface** expresses **can-do** capability
  - "A Dog **can** Swim" -&gt; interface Swimmable
  - Define a contract that any class can fulfill
---
### Abstract Class vs Interface: The Diamond Problem
- Java does NOT allow multiple class inheritance (no diamond problem with classes)
- Interfaces CAN have the diamond problem with default methods
- Java resolves this by requiring the implementing class to override the conflicting method
``` Java linenums="1"
interface A { default void hello() { System.out.println("A"); } }
interface B { default void hello() { System.out.println("B"); } }
class C implements A, B {
    // MUST override hello() to resolve conflict
    public void hello() {
        A.super.hello(); // explicitly choose A's version
    }
}</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Abstract Class vs Interface: Decision Flowchart</a:t>
            </a:r>
          </a:p>
          <a:p>
            <a:pPr lvl="0"/>
            <a:r>
              <a:rPr b="1"/>
              <a:t>Need to share code among closely related classes?</a:t>
            </a:r>
            <a:r>
              <a:rPr/>
              <a:t> -&gt; Abstract Class</a:t>
            </a:r>
          </a:p>
          <a:p>
            <a:pPr lvl="0"/>
            <a:r>
              <a:rPr b="1"/>
              <a:t>Need to define a contract for unrelated classes?</a:t>
            </a:r>
            <a:r>
              <a:rPr/>
              <a:t> -&gt; Interface</a:t>
            </a:r>
          </a:p>
          <a:p>
            <a:pPr lvl="0"/>
            <a:r>
              <a:rPr b="1"/>
              <a:t>Need multiple inheritance of type?</a:t>
            </a:r>
            <a:r>
              <a:rPr/>
              <a:t> -&gt; Interface</a:t>
            </a:r>
          </a:p>
          <a:p>
            <a:pPr lvl="0"/>
            <a:r>
              <a:rPr b="1"/>
              <a:t>Need to define constants?</a:t>
            </a:r>
            <a:r>
              <a:rPr/>
              <a:t> -&gt; Interface (public static final)</a:t>
            </a:r>
          </a:p>
          <a:p>
            <a:pPr lvl="0"/>
            <a:r>
              <a:rPr b="1"/>
              <a:t>Need non-public members?</a:t>
            </a:r>
            <a:r>
              <a:rPr/>
              <a:t> -&gt; Abstract Class</a:t>
            </a:r>
          </a:p>
          <a:p>
            <a:pPr lvl="0"/>
            <a:r>
              <a:rPr b="1"/>
              <a:t>Need to maintain state?</a:t>
            </a:r>
            <a:r>
              <a:rPr/>
              <a:t> -&gt; Abstract Class</a:t>
            </a:r>
          </a:p>
          <a:p>
            <a:pPr lvl="0"/>
            <a:r>
              <a:rPr b="1"/>
              <a:t>Need backward-compatible API extension?</a:t>
            </a:r>
            <a:r>
              <a:rPr/>
              <a:t> -&gt; Interface (default methods)</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Abstract Class vs Interface</a:t>
            </a:r>
          </a:p>
          <a:p>
            <a:pPr lvl="0"/>
            <a:r>
              <a:rPr/>
              <a:t>Abstract Class = ‘is-a’ relationship, Interface = ‘can-do’ capability</a:t>
            </a:r>
          </a:p>
          <a:p>
            <a:pPr lvl="0"/>
            <a:r>
              <a:rPr/>
              <a:t>Use abstract class when classes are closely related and share state/behavior</a:t>
            </a:r>
          </a:p>
          <a:p>
            <a:pPr lvl="0"/>
            <a:r>
              <a:rPr/>
              <a:t>Use interfaces when unrelated classes need to fulfill the same contract</a:t>
            </a:r>
          </a:p>
          <a:p>
            <a:pPr lvl="0"/>
            <a:r>
              <a:rPr/>
              <a:t>Java resolves diamond problem by requiring explicit override of conflicting default methods</a:t>
            </a:r>
          </a:p>
          <a:p>
            <a:pPr lvl="0"/>
            <a:r>
              <a:rPr/>
              <a:t>Modern Java: interfaces are more powerful than ever with default, static, and private methods</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F: Nested, Static and Anonymous Classes</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Non-Static Nested Class (Inner Class)</a:t>
            </a:r>
          </a:p>
          <a:p>
            <a:pPr lvl="0"/>
            <a:r>
              <a:rPr/>
              <a:t>Accessing Members of Outer Class within Inner Class</a:t>
            </a:r>
          </a:p>
          <a:p>
            <a:pPr lvl="0"/>
            <a:r>
              <a:rPr/>
              <a:t>Static Nested Class</a:t>
            </a:r>
          </a:p>
          <a:p>
            <a:pPr lvl="0"/>
            <a:r>
              <a:rPr/>
              <a:t>Java Anonymous Class</a:t>
            </a:r>
          </a:p>
          <a:p>
            <a:pPr lvl="0"/>
            <a:r>
              <a:rPr/>
              <a:t>Advantages of Anonymous Classes</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Nested and Inner Class</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Nested and Inner Class</a:t>
            </a:r>
          </a:p>
          <a:p>
            <a:pPr lvl="0"/>
            <a:r>
              <a:rPr/>
              <a:t>In Java, you can define a class within another class.</a:t>
            </a:r>
          </a:p>
          <a:p>
            <a:pPr lvl="1"/>
            <a:r>
              <a:rPr/>
              <a:t>Such class is known as nested class</a:t>
            </a:r>
          </a:p>
          <a:p>
            <a:pPr lvl="0" indent="0" marL="0">
              <a:buNone/>
            </a:pPr>
            <a:r>
              <a:rPr>
                <a:latin typeface="Courier"/>
              </a:rPr>
              <a:t>Java linenums="1" class OuterClass {   // ...   class NestedClass {       // ...   } }</a:t>
            </a:r>
          </a:p>
        </p:txBody>
      </p:sp>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Nested and Inner Class</a:t>
            </a:r>
          </a:p>
          <a:p>
            <a:pPr lvl="0"/>
            <a:r>
              <a:rPr/>
              <a:t>There are two types of nested classes you can create in Java.</a:t>
            </a:r>
          </a:p>
          <a:p>
            <a:pPr lvl="1"/>
            <a:r>
              <a:rPr/>
              <a:t>Non-static nested class (inner class)</a:t>
            </a:r>
          </a:p>
          <a:p>
            <a:pPr lvl="1"/>
            <a:r>
              <a:rPr/>
              <a:t>Static nested class</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Java Nested Class Types Overview</a:t>
            </a:r>
          </a:p>
        </p:txBody>
      </p:sp>
      <p:pic>
        <p:nvPicPr>
          <p:cNvPr descr="assets/nested-class-types.png" id="0" name="Picture 1"/>
          <p:cNvPicPr>
            <a:picLocks noGrp="1" noChangeAspect="1"/>
          </p:cNvPicPr>
          <p:nvPr/>
        </p:nvPicPr>
        <p:blipFill>
          <a:blip r:embed="rId2"/>
          <a:stretch>
            <a:fillRect/>
          </a:stretch>
        </p:blipFill>
        <p:spPr bwMode="auto">
          <a:xfrm>
            <a:off x="3568700" y="1003300"/>
            <a:ext cx="5105400" cy="22733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Non-Static Nested Class (Inner Class)</a:t>
            </a:r>
          </a:p>
          <a:p>
            <a:pPr lvl="0"/>
            <a:r>
              <a:rPr/>
              <a:t>A non-static nested class is a class within another class.</a:t>
            </a:r>
          </a:p>
          <a:p>
            <a:pPr lvl="1"/>
            <a:r>
              <a:rPr/>
              <a:t>It has access to members of the enclosing class (outer class).</a:t>
            </a:r>
          </a:p>
          <a:p>
            <a:pPr lvl="2"/>
            <a:r>
              <a:rPr/>
              <a:t>It is commonly known as inner class.</a:t>
            </a:r>
          </a:p>
          <a:p>
            <a:pPr lvl="0"/>
            <a:r>
              <a:rPr/>
              <a:t>Since the inner class exists within the outer class,</a:t>
            </a:r>
          </a:p>
          <a:p>
            <a:pPr lvl="1"/>
            <a:r>
              <a:rPr/>
              <a:t>you must instantiate the outer class first,</a:t>
            </a:r>
          </a:p>
          <a:p>
            <a:pPr lvl="2"/>
            <a:r>
              <a:rPr/>
              <a:t>in order to instantiate the inner class.</a:t>
            </a:r>
          </a:p>
        </p:txBody>
      </p:sp>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Non-Static Nested Class (Inner Class) Example</a:t>
            </a:r>
          </a:p>
          <a:p>
            <a:pPr lvl="0" indent="0" marL="0">
              <a:buNone/>
            </a:pPr>
            <a:r>
              <a:rPr/>
              <a:t>``` Java linenums=“1” class CPU { double price; // nested class class Processor{</a:t>
            </a:r>
          </a:p>
          <a:p>
            <a:pPr lvl="0" indent="0">
              <a:buNone/>
            </a:pPr>
            <a:r>
              <a:rPr>
                <a:latin typeface="Courier"/>
              </a:rPr>
              <a:t>    // members of nested class
    double cores;
    String manufacturer;
    double getCache(){
        return 4.3;
    }
}
// nested protected class
protected class RAM{
    // members of protected nested class
    double memory;
    String manufacturer;
    double getClockSpeed(){
        return 5.5;
    }
}</a:t>
            </a:r>
          </a:p>
          <a:p>
            <a:pPr lvl="0" indent="0" marL="0">
              <a:buNone/>
            </a:pPr>
            <a:r>
              <a:rPr/>
              <a:t>}</a:t>
            </a:r>
          </a:p>
          <a:p>
            <a:pPr lvl="0" indent="0">
              <a:buNone/>
            </a:pPr>
            <a:r>
              <a:rPr>
                <a:latin typeface="Courier"/>
              </a:rPr>
              <a:t>
---
### Non-Static Nested Class (Inner Class) Example
``` Java linenums="1"
public class Main {
    public static void main(String[] args) {
        // create object of Outer class CPU
        CPU cpu = new CPU();
       // create an object of inner class Processor using outer class
        CPU.Processor processor = cpu.new Processor();
        // create an object of inner class RAM using outer class CPU
        CPU.RAM ram = cpu.new RAM();
        System.out.println("Processor Cache = " + processor.getCache());
        System.out.println("Ram Clock speed = " + ram.getClockSpeed());
    }
}</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Non-Static Nested Class (Inner Class) Example</a:t>
            </a:r>
          </a:p>
          <a:p>
            <a:pPr lvl="0"/>
            <a:r>
              <a:rPr/>
              <a:t>In the example program, there are two nested classes:</a:t>
            </a:r>
          </a:p>
          <a:p>
            <a:pPr lvl="1"/>
            <a:r>
              <a:rPr/>
              <a:t>Processor and RAM inside the outer class:</a:t>
            </a:r>
          </a:p>
          <a:p>
            <a:pPr lvl="2"/>
            <a:r>
              <a:rPr/>
              <a:t>CPU.</a:t>
            </a:r>
          </a:p>
          <a:p>
            <a:pPr lvl="0"/>
            <a:r>
              <a:rPr/>
              <a:t>We can declare the inner class as protected.</a:t>
            </a:r>
          </a:p>
          <a:p>
            <a:pPr lvl="0"/>
            <a:r>
              <a:rPr/>
              <a:t>Hence, we have declared the RAM class as protected.</a:t>
            </a:r>
          </a:p>
          <a:p>
            <a:pPr lvl="0"/>
            <a:r>
              <a:rPr/>
              <a:t>Inside the Main class,</a:t>
            </a:r>
          </a:p>
          <a:p>
            <a:pPr lvl="1"/>
            <a:r>
              <a:rPr/>
              <a:t>we first created an instance of an outer class CPU named cpu.</a:t>
            </a:r>
          </a:p>
          <a:p>
            <a:pPr lvl="1"/>
            <a:r>
              <a:rPr/>
              <a:t>Using the instance of the outer class, we then created objects of inner classes</a:t>
            </a:r>
          </a:p>
          <a:p>
            <a:pPr lvl="1" indent="0" marL="342900">
              <a:buNone/>
            </a:pPr>
            <a:r>
              <a:rPr>
                <a:latin typeface="Courier"/>
              </a:rPr>
              <a:t>Java linenums="1" CPU.Processor processor = cpu.new Processor; CPU.RAM ram = cpu.new RAM();</a:t>
            </a:r>
          </a:p>
          <a:p>
            <a:pPr lvl="0"/>
            <a:r>
              <a:rPr/>
              <a:t>We use the dot (.) operator to create an instance of the inner class using the outer class.</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Accessing Members of Outer Class within Inner Class</a:t>
            </a:r>
          </a:p>
          <a:p>
            <a:pPr lvl="0"/>
            <a:r>
              <a:rPr/>
              <a:t>We can access the members of the outer class by using this keyword</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Accessing Members of Outer Class within Inner Class Example</a:t>
            </a:r>
          </a:p>
          <a:p>
            <a:pPr lvl="0" indent="0" marL="0">
              <a:buNone/>
            </a:pPr>
            <a:r>
              <a:rPr/>
              <a:t>``` Java linenums=“1” class Car { String carName; String carType;</a:t>
            </a:r>
          </a:p>
          <a:p>
            <a:pPr lvl="0" indent="0">
              <a:buNone/>
            </a:pPr>
            <a:r>
              <a:rPr>
                <a:latin typeface="Courier"/>
              </a:rPr>
              <a:t>// assign values using constructor
public Car(String name, String type) {
    this.carName = name;
    this.carType = type;
}
// private method
private String getCarName() {
    return this.carName;
}</a:t>
            </a:r>
          </a:p>
          <a:p>
            <a:pPr lvl="0" indent="0" marL="0">
              <a:buNone/>
            </a:pPr>
            <a:r>
              <a:rPr/>
              <a:t>…</a:t>
            </a:r>
          </a:p>
          <a:p>
            <a:pPr lvl="0" indent="0">
              <a:buNone/>
            </a:pPr>
            <a:r>
              <a:rPr>
                <a:latin typeface="Courier"/>
              </a:rPr>
              <a:t>
---
### Accessing Members of Outer Class within Inner Class Example
``` Java linenums="1"
...
// inner class
    class Engine {
        String engineType;
        void setEngine() {
           // Accessing the carType property of Car
            if(Car.this.carType.equals("4WD")){
                // Invoking method getCarName() of Car
                if(Car.this.getCarName().equals("Crysler")) {
                    this.engineType = "Smaller";
                } else {
                    this.engineType = "Bigger";
                }
            }else{
                this.engineType = "Bigger";
            }
        }
        String getEngineType(){
            return this.engineType;
        }
    }
}</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Accessing Members of Outer Class within Inner Class Example</a:t>
            </a:r>
          </a:p>
          <a:p>
            <a:pPr lvl="0" indent="0" marL="0">
              <a:buNone/>
            </a:pPr>
            <a:r>
              <a:rPr/>
              <a:t>``` Java linenums=“1” public class Main { public static void main(String[] args) {</a:t>
            </a:r>
          </a:p>
          <a:p>
            <a:pPr lvl="0" indent="0" marL="0">
              <a:buNone/>
            </a:pPr>
            <a:r>
              <a:rPr/>
              <a:t>// create an object of the outer class Car Car car1 = new Car(“Mazda”, “8WD”);</a:t>
            </a:r>
          </a:p>
          <a:p>
            <a:pPr lvl="0" indent="0">
              <a:buNone/>
            </a:pPr>
            <a:r>
              <a:rPr>
                <a:latin typeface="Courier"/>
              </a:rPr>
              <a:t>    // create an object of inner class using the outer class
    Car.Engine engine = car1.new Engine();
    engine.setEngine();
    System.out.println("Engine Type for 8WD= " + engine.getEngineType());
    Car car2 = new Car("Crysler", "4WD");
    Car.Engine c2engine = car2.new Engine();
    c2engine.setEngine();
    System.out.println("Engine Type for 4WD = " + c2engine.getEngineType());
}</a:t>
            </a:r>
          </a:p>
          <a:p>
            <a:pPr lvl="0" indent="0" marL="0">
              <a:buNone/>
            </a:pPr>
            <a:r>
              <a:rPr/>
              <a:t>}</a:t>
            </a:r>
          </a:p>
          <a:p>
            <a:pPr lvl="0" indent="0">
              <a:buNone/>
            </a:pPr>
            <a:r>
              <a:rPr>
                <a:latin typeface="Courier"/>
              </a:rPr>
              <a:t>
---
&lt;style scoped&gt;section{ font-size: 30px; }&lt;/style&gt;
### Accessing Members of Outer Class within Inner Class Example
- In the example program, we have the inner class named 
  - Engine inside the outer class Car. Here, notice the line,
``` Java linenums="1"
if(Car.this.carType.equals("4WD")) {...}</a:t>
            </a:r>
          </a:p>
          <a:p>
            <a:pPr lvl="0"/>
            <a:r>
              <a:rPr/>
              <a:t>We are using </a:t>
            </a:r>
            <a:r>
              <a:rPr>
                <a:latin typeface="Courier"/>
              </a:rPr>
              <a:t>this</a:t>
            </a:r>
            <a:r>
              <a:rPr/>
              <a:t> keyword to access the </a:t>
            </a:r>
            <a:r>
              <a:rPr>
                <a:latin typeface="Courier"/>
              </a:rPr>
              <a:t>carType</a:t>
            </a:r>
            <a:r>
              <a:rPr/>
              <a:t> variable of the outer class.</a:t>
            </a:r>
          </a:p>
          <a:p>
            <a:pPr lvl="0"/>
            <a:r>
              <a:rPr/>
              <a:t>You may have noticed that instead of using </a:t>
            </a:r>
            <a:r>
              <a:rPr>
                <a:latin typeface="Courier"/>
              </a:rPr>
              <a:t>this.carType</a:t>
            </a:r>
            <a:r>
              <a:rPr/>
              <a:t> we have used </a:t>
            </a:r>
            <a:r>
              <a:rPr>
                <a:latin typeface="Courier"/>
              </a:rPr>
              <a:t>Car.this.carType</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Accessing Members of Outer Class within Inner Class Example</a:t>
            </a:r>
          </a:p>
          <a:p>
            <a:pPr lvl="0"/>
            <a:r>
              <a:rPr/>
              <a:t>It is because if we had not mentioned the name of the outer class Car,</a:t>
            </a:r>
          </a:p>
          <a:p>
            <a:pPr lvl="1"/>
            <a:r>
              <a:rPr/>
              <a:t>then this keyword will represent the member inside the inner class.</a:t>
            </a:r>
          </a:p>
          <a:p>
            <a:pPr lvl="0"/>
            <a:r>
              <a:rPr/>
              <a:t>Similarly, we are also accessing the method of the outer class from the inner class.</a:t>
            </a:r>
          </a:p>
          <a:p>
            <a:pPr lvl="0" indent="0" marL="0">
              <a:buNone/>
            </a:pPr>
            <a:r>
              <a:rPr>
                <a:latin typeface="Courier"/>
              </a:rPr>
              <a:t>Java linenums="1" if (Car.this.getCarName().equals("Crysler") {...}</a:t>
            </a:r>
          </a:p>
          <a:p>
            <a:pPr lvl="0"/>
            <a:r>
              <a:rPr/>
              <a:t>It is important to note that, although the </a:t>
            </a:r>
            <a:r>
              <a:rPr>
                <a:latin typeface="Courier"/>
              </a:rPr>
              <a:t>getCarName()</a:t>
            </a:r>
            <a:r>
              <a:rPr/>
              <a:t> is a </a:t>
            </a:r>
            <a:r>
              <a:rPr>
                <a:latin typeface="Courier"/>
              </a:rPr>
              <a:t>private</a:t>
            </a:r>
            <a:r>
              <a:rPr/>
              <a:t> method, we are able to access it from the inner class.</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Static Nested Class</a:t>
            </a:r>
          </a:p>
          <a:p>
            <a:pPr lvl="0"/>
            <a:r>
              <a:rPr/>
              <a:t>In Java, we can also define a static class inside another class.</a:t>
            </a:r>
          </a:p>
          <a:p>
            <a:pPr lvl="1"/>
            <a:r>
              <a:rPr/>
              <a:t>Such class is known as static nested class.</a:t>
            </a:r>
          </a:p>
          <a:p>
            <a:pPr lvl="1"/>
            <a:r>
              <a:rPr/>
              <a:t>Static nested classes are not called static inner classes.</a:t>
            </a:r>
          </a:p>
          <a:p>
            <a:pPr lvl="0"/>
            <a:r>
              <a:rPr/>
              <a:t>Unlike inner class, a static nested class cannot access the member variables of the outer class.</a:t>
            </a:r>
          </a:p>
          <a:p>
            <a:pPr lvl="1"/>
            <a:r>
              <a:rPr/>
              <a:t>It is because the static nested class doesn’t require you to create an instance of the outer class.</a:t>
            </a:r>
          </a:p>
          <a:p>
            <a:pPr lvl="0" indent="0" marL="0">
              <a:buNone/>
            </a:pPr>
            <a:r>
              <a:rPr>
                <a:latin typeface="Courier"/>
              </a:rPr>
              <a:t>Java linenums="1" OuterClass.NestedClass obj = new OuterClass.NestedClass();</a:t>
            </a:r>
          </a:p>
          <a:p>
            <a:pPr lvl="0"/>
            <a:r>
              <a:rPr/>
              <a:t>Here, we are creating an object of the static nested class by simply using the class name of the outer class.</a:t>
            </a:r>
          </a:p>
          <a:p>
            <a:pPr lvl="0"/>
            <a:r>
              <a:rPr/>
              <a:t>Hence, the outer class cannot be referenced using </a:t>
            </a:r>
            <a:r>
              <a:rPr>
                <a:latin typeface="Courier"/>
              </a:rPr>
              <a:t>OuterClass.this</a:t>
            </a:r>
            <a:r>
              <a:rPr/>
              <a:t>.</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Static Inner Class Example</a:t>
            </a:r>
          </a:p>
          <a:p>
            <a:pPr lvl="0" indent="0" marL="0">
              <a:buNone/>
            </a:pPr>
            <a:r>
              <a:rPr/>
              <a:t>``` Java linenums=“1” class MotherBoard {</a:t>
            </a:r>
          </a:p>
          <a:p>
            <a:pPr lvl="0" indent="0" marL="0">
              <a:buNone/>
            </a:pPr>
            <a:r>
              <a:rPr/>
              <a:t>// static nested class static class USB{ int usb2 = 2; int usb3 = 1; int getTotalPorts(){ return usb2 + usb3; } }</a:t>
            </a:r>
          </a:p>
          <a:p>
            <a:pPr lvl="0" indent="0" marL="0">
              <a:buNone/>
            </a:pPr>
            <a:r>
              <a:rPr/>
              <a:t>}</a:t>
            </a:r>
          </a:p>
          <a:p>
            <a:pPr lvl="0" indent="0">
              <a:buNone/>
            </a:pPr>
            <a:r>
              <a:rPr>
                <a:latin typeface="Courier"/>
              </a:rPr>
              <a:t>
``` Java linenums="1"
public class Main {
   public static void main(String[] args) {
       // create an object of the static nested class
       // using the name of the outer class
       MotherBoard.USB usb = new MotherBoard.USB();
       System.out.println("Total Ports = " + usb.getTotalPorts());
   }
}</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Static Inner Class Example</a:t>
            </a:r>
          </a:p>
          <a:p>
            <a:pPr lvl="0"/>
            <a:r>
              <a:rPr/>
              <a:t>In the above program, we have created a static class named USB inside the class MotherBoard. Notice the line,</a:t>
            </a:r>
          </a:p>
          <a:p>
            <a:pPr lvl="0" indent="0" marL="0">
              <a:buNone/>
            </a:pPr>
            <a:r>
              <a:rPr>
                <a:latin typeface="Courier"/>
              </a:rPr>
              <a:t>Java linenums="1" MotherBoard.USB usb = new MotherBoard.USB();</a:t>
            </a:r>
          </a:p>
          <a:p>
            <a:pPr lvl="0"/>
            <a:r>
              <a:rPr/>
              <a:t>Here, we are creating an object of USB using the name of the outer class.</a:t>
            </a:r>
          </a:p>
          <a:p>
            <a:pPr lvl="0"/>
            <a:r>
              <a:rPr/>
              <a:t>Now, let’s see what would happen if you try to access the members of the outer class:</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Accessing members of Outer class inside Static Inner Class Example</a:t>
            </a:r>
          </a:p>
          <a:p>
            <a:pPr lvl="0" indent="0" marL="0">
              <a:buNone/>
            </a:pPr>
            <a:r>
              <a:rPr/>
              <a:t>``` Java linenums=“1” class MotherBoard { String model; public MotherBoard(String model) { this.model = model; }</a:t>
            </a:r>
          </a:p>
          <a:p>
            <a:pPr lvl="0" indent="0" marL="0">
              <a:buNone/>
            </a:pPr>
            <a:r>
              <a:rPr/>
              <a:t>// static nested class static class USB{ int usb2 = 2; int usb3 = 1; int getTotalPorts(){ // accessing the variable model of the outer classs if(MotherBoard.this.model.equals(“MSI”)) { return 4; } else { return usb2 + usb3; } } } }</a:t>
            </a:r>
          </a:p>
          <a:p>
            <a:pPr lvl="0" indent="0">
              <a:buNone/>
            </a:pPr>
            <a:r>
              <a:rPr>
                <a:latin typeface="Courier"/>
              </a:rPr>
              <a:t>
---
### Accessing members of Outer class inside Static Inner Class Example
``` Java linenums="1"
public class Main {
   public static void main(String[] args) {
       // create an object of the static nested class
       MotherBoard.USB usb = new MotherBoard.USB();
       System.out.println("Total Ports = " + usb.getTotalPorts());
   }
}</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Accessing members of Outer class inside Static Inner Class Example</a:t>
            </a:r>
          </a:p>
          <a:p>
            <a:pPr lvl="0"/>
            <a:r>
              <a:rPr/>
              <a:t>When we try to run the program, we will get an error:</a:t>
            </a:r>
          </a:p>
          <a:p>
            <a:pPr lvl="0" indent="0" marL="0">
              <a:buNone/>
            </a:pPr>
            <a:r>
              <a:rPr>
                <a:latin typeface="Courier"/>
              </a:rPr>
              <a:t>Bash linenums="1" error: non-static variable this cannot be referenced from a static context</a:t>
            </a:r>
            <a:r>
              <a:rPr/>
              <a:t> - This is because we are not using the object of the outer class to create an object of the inner class. - Hence, there is no reference to the outer class </a:t>
            </a:r>
            <a:r>
              <a:rPr>
                <a:latin typeface="Courier"/>
              </a:rPr>
              <a:t>Motherboard</a:t>
            </a:r>
            <a:r>
              <a:rPr/>
              <a:t> stored in </a:t>
            </a:r>
            <a:r>
              <a:rPr>
                <a:latin typeface="Courier"/>
              </a:rPr>
              <a:t>Motherboard.this</a:t>
            </a:r>
            <a:r>
              <a:rPr/>
              <a:t>.</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Key Points to Remember</a:t>
            </a:r>
          </a:p>
          <a:p>
            <a:pPr lvl="0"/>
            <a:r>
              <a:rPr/>
              <a:t>Java treats the inner class as a regular member of a class. They are just like methods and variables declared inside a class.</a:t>
            </a:r>
          </a:p>
          <a:p>
            <a:pPr lvl="0"/>
            <a:r>
              <a:rPr/>
              <a:t>Since inner classes are members of the outer class, you can apply any access modifiers like private, protected to your inner class which is not possible in normal classes.</a:t>
            </a:r>
          </a:p>
          <a:p>
            <a:pPr lvl="0"/>
            <a:r>
              <a:rPr/>
              <a:t>Since the nested class is a member of its enclosing outer class, you can use the dot (.) notation to access the nested class and its members.</a:t>
            </a:r>
          </a:p>
          <a:p>
            <a:pPr lvl="0"/>
            <a:r>
              <a:rPr/>
              <a:t>Using the nested class will make your code more readable and provide better encapsulation.</a:t>
            </a:r>
          </a:p>
          <a:p>
            <a:pPr lvl="0"/>
            <a:r>
              <a:rPr/>
              <a:t>Non-static nested classes (inner classes) have access to other members of the outer/enclosing class, even if they are declared private.</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Nested Static Class</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Nested Static Class</a:t>
            </a:r>
          </a:p>
          <a:p>
            <a:pPr lvl="0"/>
            <a:r>
              <a:rPr/>
              <a:t>we can have a class inside another class in Java. Such classes are known as nested classes. In Java, nested classes are of two types:</a:t>
            </a:r>
          </a:p>
          <a:p>
            <a:pPr lvl="1"/>
            <a:r>
              <a:rPr/>
              <a:t>Nested non-static class (Inner class)</a:t>
            </a:r>
          </a:p>
          <a:p>
            <a:pPr lvl="1"/>
            <a:r>
              <a:rPr/>
              <a:t>Nested static class.</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Nested Static Class</a:t>
            </a:r>
          </a:p>
          <a:p>
            <a:pPr lvl="0"/>
            <a:r>
              <a:rPr/>
              <a:t>We use the keyword static to make our nested class static.</a:t>
            </a:r>
          </a:p>
          <a:p>
            <a:pPr lvl="1"/>
            <a:r>
              <a:rPr/>
              <a:t>Note: In Java, only nested classes are allowed to be static.</a:t>
            </a:r>
          </a:p>
          <a:p>
            <a:pPr lvl="0"/>
            <a:r>
              <a:rPr/>
              <a:t>Like regular classes, static nested classes can include both static and non-static fields and methods. For example,</a:t>
            </a:r>
          </a:p>
          <a:p>
            <a:pPr lvl="0" indent="0" marL="0">
              <a:buNone/>
            </a:pPr>
            <a:r>
              <a:rPr>
                <a:latin typeface="Courier"/>
              </a:rPr>
              <a:t>Java linenums="1" Class Animal {    static class Mammal {       // static and non-static members of Mammal    }    // members of Animal }</a:t>
            </a:r>
            <a:r>
              <a:rPr/>
              <a:t> - Static nested classes are associated with the outer class. - To access the static nested class, we don’t need objects of the outer class.</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Static Nested Class Example</a:t>
            </a:r>
          </a:p>
          <a:p>
            <a:pPr lvl="0" indent="0" marL="0">
              <a:buNone/>
            </a:pPr>
            <a:r>
              <a:rPr/>
              <a:t>``` Java linenums=“1” class Animal {</a:t>
            </a:r>
          </a:p>
          <a:p>
            <a:pPr lvl="0" indent="0" marL="0">
              <a:buNone/>
            </a:pPr>
            <a:r>
              <a:rPr/>
              <a:t>// inner class class Reptile { public void displayInfo() { System.out.println(“I am a reptile.”); } }</a:t>
            </a:r>
          </a:p>
          <a:p>
            <a:pPr lvl="0" indent="0" marL="0">
              <a:buNone/>
            </a:pPr>
            <a:r>
              <a:rPr/>
              <a:t>// static class static class Mammal { public void displayInfo() { System.out.println(“I am a mammal.”); } } }</a:t>
            </a:r>
          </a:p>
          <a:p>
            <a:pPr lvl="0" indent="0">
              <a:buNone/>
            </a:pPr>
            <a:r>
              <a:rPr>
                <a:latin typeface="Courier"/>
              </a:rPr>
              <a:t>
---
### Static Nested Class Example
``` Java linenums="1"
class Main {
   public static void main(String[] args) {
      // object creation of the outer class
      Animal animal = new Animal();
      // object creation of the non-static class
      Animal.Reptile reptile = animal.new Reptile();
      reptile.displayInfo();
      // object creation of the static nested class
      Animal.Mammal mammal = new Animal.Mammal();
      mammal.displayInfo();
   }
}</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Static Nested Class Example</a:t>
            </a:r>
          </a:p>
          <a:p>
            <a:pPr lvl="0"/>
            <a:r>
              <a:rPr/>
              <a:t>In the example program, we have two nested class </a:t>
            </a:r>
            <a:r>
              <a:rPr>
                <a:latin typeface="Courier"/>
              </a:rPr>
              <a:t>Mammal</a:t>
            </a:r>
            <a:r>
              <a:rPr/>
              <a:t> and </a:t>
            </a:r>
            <a:r>
              <a:rPr>
                <a:latin typeface="Courier"/>
              </a:rPr>
              <a:t>Reptile</a:t>
            </a:r>
            <a:r>
              <a:rPr/>
              <a:t> inside a class </a:t>
            </a:r>
            <a:r>
              <a:rPr>
                <a:latin typeface="Courier"/>
              </a:rPr>
              <a:t>Animal</a:t>
            </a:r>
            <a:r>
              <a:rPr/>
              <a:t>.</a:t>
            </a:r>
          </a:p>
          <a:p>
            <a:pPr lvl="1"/>
            <a:r>
              <a:rPr/>
              <a:t>To create an object of the non-static class Reptile, we have used</a:t>
            </a:r>
          </a:p>
          <a:p>
            <a:pPr lvl="1" indent="0" marL="342900">
              <a:buNone/>
            </a:pPr>
            <a:r>
              <a:rPr>
                <a:latin typeface="Courier"/>
              </a:rPr>
              <a:t>Java linenums="1" Animal.Reptile reptile = animal.new Reptile()</a:t>
            </a:r>
          </a:p>
          <a:p>
            <a:pPr lvl="1"/>
            <a:r>
              <a:rPr/>
              <a:t>To create an object of the static class Mammal, we have used</a:t>
            </a:r>
          </a:p>
          <a:p>
            <a:pPr lvl="1" indent="0" marL="342900">
              <a:buNone/>
            </a:pPr>
            <a:r>
              <a:rPr>
                <a:latin typeface="Courier"/>
              </a:rPr>
              <a:t>Java linenums="1" Animal.Mammal mammal = new Animal.Mammal()</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Accessing Members of Outer Class</a:t>
            </a:r>
          </a:p>
          <a:p>
            <a:pPr lvl="0"/>
            <a:r>
              <a:rPr/>
              <a:t>In Java, static nested classes are associated with the outer class.</a:t>
            </a:r>
          </a:p>
          <a:p>
            <a:pPr lvl="0"/>
            <a:r>
              <a:rPr/>
              <a:t>This is why static nested classes can only access the class members (static fields and methods) of the outer class.</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Accessing Non-static members Example</a:t>
            </a:r>
          </a:p>
          <a:p>
            <a:pPr lvl="0" indent="0" marL="0">
              <a:buNone/>
            </a:pPr>
            <a:r>
              <a:rPr/>
              <a:t>``` Java linenums=“1” class Animal { static class Mammal { public void displayInfo() { System.out.println(“I am a mammal.”); } }</a:t>
            </a:r>
          </a:p>
          <a:p>
            <a:pPr lvl="0" indent="0" marL="0">
              <a:buNone/>
            </a:pPr>
            <a:r>
              <a:rPr/>
              <a:t>class Reptile { public void displayInfo() { System.out.println(“I am a reptile.”); } }</a:t>
            </a:r>
          </a:p>
          <a:p>
            <a:pPr lvl="0" indent="0" marL="0">
              <a:buNone/>
            </a:pPr>
            <a:r>
              <a:rPr/>
              <a:t>public void eat() { System.out.println(“I eat food.”); } }</a:t>
            </a:r>
          </a:p>
          <a:p>
            <a:pPr lvl="0" indent="0">
              <a:buNone/>
            </a:pPr>
            <a:r>
              <a:rPr>
                <a:latin typeface="Courier"/>
              </a:rPr>
              <a:t>
---
### Accessing Non-static members Example
``` Java linenums="1"
class Main {
 public static void main(String[] args) {
   Animal animal = new Animal();
   Animal.Reptile reptile = animal.new Reptile();
   reptile.displayInfo();
   Animal.Mammal mammal = new Animal.Mammal();
   mammal.displayInfo();
   mammal.eat();
 }
}</a:t>
            </a:r>
          </a:p>
        </p:txBody>
      </p:sp>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Accessing Non-static members Example</a:t>
            </a:r>
          </a:p>
          <a:p>
            <a:pPr lvl="0"/>
            <a:r>
              <a:rPr/>
              <a:t>In the example, we have created a non-static method </a:t>
            </a:r>
            <a:r>
              <a:rPr>
                <a:latin typeface="Courier"/>
              </a:rPr>
              <a:t>eat()</a:t>
            </a:r>
            <a:r>
              <a:rPr/>
              <a:t> inside the class Animal.</a:t>
            </a:r>
          </a:p>
          <a:p>
            <a:pPr lvl="0"/>
            <a:r>
              <a:rPr/>
              <a:t>Now, if we try to access </a:t>
            </a:r>
            <a:r>
              <a:rPr>
                <a:latin typeface="Courier"/>
              </a:rPr>
              <a:t>eat()</a:t>
            </a:r>
            <a:r>
              <a:rPr/>
              <a:t> using the object </a:t>
            </a:r>
            <a:r>
              <a:rPr>
                <a:latin typeface="Courier"/>
              </a:rPr>
              <a:t>mammal</a:t>
            </a:r>
            <a:r>
              <a:rPr/>
              <a:t>, the compiler shows an error.</a:t>
            </a:r>
          </a:p>
          <a:p>
            <a:pPr lvl="0"/>
            <a:r>
              <a:rPr/>
              <a:t>It is because </a:t>
            </a:r>
            <a:r>
              <a:rPr>
                <a:latin typeface="Courier"/>
              </a:rPr>
              <a:t>mammal</a:t>
            </a:r>
            <a:r>
              <a:rPr/>
              <a:t> is an object of a static class and we cannot access non-static methods from static classes.</a:t>
            </a:r>
          </a:p>
        </p:txBody>
      </p:sp>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Static Top-level Class</a:t>
            </a:r>
          </a:p>
          <a:p>
            <a:pPr lvl="0"/>
            <a:r>
              <a:rPr/>
              <a:t>only nested classes can be static.</a:t>
            </a:r>
          </a:p>
          <a:p>
            <a:pPr lvl="0"/>
            <a:r>
              <a:rPr/>
              <a:t>We cannot have static top-level classes.</a:t>
            </a:r>
          </a:p>
        </p:txBody>
      </p:sp>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Static Top-level Class</a:t>
            </a:r>
          </a:p>
          <a:p>
            <a:pPr lvl="0"/>
            <a:r>
              <a:rPr/>
              <a:t>if we try to make a top-level class static.</a:t>
            </a:r>
          </a:p>
          <a:p>
            <a:pPr lvl="0" indent="0" marL="0">
              <a:buNone/>
            </a:pPr>
            <a:r>
              <a:rPr>
                <a:latin typeface="Courier"/>
              </a:rPr>
              <a:t>Java linenums="1" static class Animal {  public static void displayInfo() {    System.out.println("I am an animal");  } }</a:t>
            </a:r>
          </a:p>
          <a:p>
            <a:pPr lvl="0" indent="0" marL="0">
              <a:buNone/>
            </a:pPr>
            <a:r>
              <a:rPr>
                <a:latin typeface="Courier"/>
              </a:rPr>
              <a:t>Java linenums="1" class Main {  public static void main(String[] args) {    Animal.displayInfo();  } }</a:t>
            </a:r>
          </a:p>
        </p:txBody>
      </p:sp>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Static Top-level Class</a:t>
            </a:r>
          </a:p>
          <a:p>
            <a:pPr lvl="0" indent="0">
              <a:buNone/>
            </a:pPr>
            <a:r>
              <a:rPr>
                <a:latin typeface="Courier"/>
              </a:rPr>
              <a:t>Main.java:1: error: modifier static not allowed here</a:t>
            </a:r>
            <a:br/>
            <a:r>
              <a:rPr>
                <a:latin typeface="Courier"/>
              </a:rPr>
              <a:t>static class Animal {</a:t>
            </a:r>
            <a:br/>
            <a:r>
              <a:rPr>
                <a:latin typeface="Courier"/>
              </a:rPr>
              <a:t>       ^</a:t>
            </a:r>
            <a:br/>
            <a:r>
              <a:rPr>
                <a:latin typeface="Courier"/>
              </a:rPr>
              <a:t>1 error</a:t>
            </a:r>
            <a:br/>
            <a:r>
              <a:rPr>
                <a:latin typeface="Courier"/>
              </a:rPr>
              <a:t>compiler exit status 1</a:t>
            </a:r>
          </a:p>
          <a:p>
            <a:pPr lvl="0"/>
            <a:r>
              <a:rPr/>
              <a:t>In the example, we have tried to create a static class Animal.</a:t>
            </a:r>
          </a:p>
          <a:p>
            <a:pPr lvl="0"/>
            <a:r>
              <a:rPr/>
              <a:t>Since Java doesn’t allow static top-level class,</a:t>
            </a:r>
          </a:p>
          <a:p>
            <a:pPr lvl="1"/>
            <a:r>
              <a:rPr/>
              <a:t>we will get an error.</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Anonymous Class</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Anonymous Class</a:t>
            </a:r>
          </a:p>
          <a:p>
            <a:pPr lvl="0"/>
            <a:r>
              <a:rPr/>
              <a:t>In Java, a class can contain another class known as nested class. It’s possible to create a nested class without giving any name.</a:t>
            </a:r>
          </a:p>
          <a:p>
            <a:pPr lvl="0"/>
            <a:r>
              <a:rPr/>
              <a:t>A nested class that doesn’t have any name is known as an anonymous class.</a:t>
            </a:r>
          </a:p>
          <a:p>
            <a:pPr lvl="0"/>
            <a:r>
              <a:rPr/>
              <a:t>An anonymous class must be defined inside another class. Hence, it is also known as an anonymous inner class. Its syntax is:</a:t>
            </a:r>
          </a:p>
          <a:p>
            <a:pPr lvl="0" indent="0" marL="0">
              <a:buNone/>
            </a:pPr>
            <a:r>
              <a:rPr/>
              <a:t>``` Java linenums=“1” class outerClass {</a:t>
            </a:r>
          </a:p>
          <a:p>
            <a:pPr lvl="0" indent="0">
              <a:buNone/>
            </a:pPr>
            <a:r>
              <a:rPr>
                <a:latin typeface="Courier"/>
              </a:rPr>
              <a:t>// defining anonymous class
object1 = new Type(parameterList) {
     // body of the anonymous class
};</a:t>
            </a:r>
          </a:p>
          <a:p>
            <a:pPr lvl="0" indent="0" marL="0">
              <a:buNone/>
            </a:pPr>
            <a:r>
              <a:rPr/>
              <a:t>}</a:t>
            </a:r>
          </a:p>
          <a:p>
            <a:pPr lvl="0" indent="0">
              <a:buNone/>
            </a:pPr>
            <a:r>
              <a:rPr>
                <a:latin typeface="Courier"/>
              </a:rPr>
              <a:t>
---
### Java Anonymous Class
- Anonymous classes usually extend subclasses or implement interfaces.
- Here, Type can be
  - a superclass that an anonymous class extends
  - an interface that an anonymous class implements
- The above code creates an object, object1, of an anonymous class at runtime.
- **Note**: Anonymous classes are defined inside an expression. So, the semicolon is used at the end of anonymous classes to indicate the end of the expression.
---
### Anonymous Class Extending a Class Example
``` Java linenums="1"
class Polygon {
   public void display() {
      System.out.println("Inside the Polygon class");
   }
}</a:t>
            </a:r>
          </a:p>
          <a:p>
            <a:pPr lvl="0" indent="0" marL="0">
              <a:buNone/>
            </a:pPr>
            <a:r>
              <a:rPr/>
              <a:t>``` Java linenums=“1” class AnonymousDemo { public void createClass() {</a:t>
            </a:r>
          </a:p>
          <a:p>
            <a:pPr lvl="0" indent="0">
              <a:buNone/>
            </a:pPr>
            <a:r>
              <a:rPr>
                <a:latin typeface="Courier"/>
              </a:rPr>
              <a:t>  // creation of anonymous class extending class Polygon
  Polygon p1 = new Polygon() {
     public void display() {
        System.out.println("Inside an anonymous class.");
     }
  };
  p1.display();</a:t>
            </a:r>
          </a:p>
          <a:p>
            <a:pPr lvl="0" indent="0" marL="0">
              <a:buNone/>
            </a:pPr>
            <a:r>
              <a:rPr/>
              <a:t>} }</a:t>
            </a:r>
          </a:p>
          <a:p>
            <a:pPr lvl="0" indent="0">
              <a:buNone/>
            </a:pPr>
            <a:r>
              <a:rPr>
                <a:latin typeface="Courier"/>
              </a:rPr>
              <a:t>
---
### Anonymous Class Extending a Class Example
``` Java linenums="1"
class Main {
   public static void main(String[] args) {
       AnonymousDemo an = new AnonymousDemo();
       an.createClass();
   }
}</a:t>
            </a:r>
          </a:p>
        </p:txBody>
      </p:sp>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Anonymous Class Extending a Class Example</a:t>
            </a:r>
          </a:p>
          <a:p>
            <a:pPr lvl="0"/>
            <a:r>
              <a:rPr/>
              <a:t>In the example, we have created a class </a:t>
            </a:r>
            <a:r>
              <a:rPr>
                <a:latin typeface="Courier"/>
              </a:rPr>
              <a:t>Polygon</a:t>
            </a:r>
            <a:r>
              <a:rPr/>
              <a:t>. It has a single method </a:t>
            </a:r>
            <a:r>
              <a:rPr>
                <a:latin typeface="Courier"/>
              </a:rPr>
              <a:t>display()</a:t>
            </a:r>
            <a:r>
              <a:rPr/>
              <a:t>.</a:t>
            </a:r>
          </a:p>
          <a:p>
            <a:pPr lvl="0"/>
            <a:r>
              <a:rPr/>
              <a:t>We then created an anonymous class that extends the class Polygon and overrides the </a:t>
            </a:r>
            <a:r>
              <a:rPr>
                <a:latin typeface="Courier"/>
              </a:rPr>
              <a:t>display()</a:t>
            </a:r>
            <a:r>
              <a:rPr/>
              <a:t> method.</a:t>
            </a:r>
          </a:p>
          <a:p>
            <a:pPr lvl="0"/>
            <a:r>
              <a:rPr/>
              <a:t>When we run the program, an object </a:t>
            </a:r>
            <a:r>
              <a:rPr>
                <a:latin typeface="Courier"/>
              </a:rPr>
              <a:t>p1</a:t>
            </a:r>
            <a:r>
              <a:rPr/>
              <a:t> of the anonymous class is created.</a:t>
            </a:r>
          </a:p>
          <a:p>
            <a:pPr lvl="1"/>
            <a:r>
              <a:rPr/>
              <a:t>The object then calls the </a:t>
            </a:r>
            <a:r>
              <a:rPr>
                <a:latin typeface="Courier"/>
              </a:rPr>
              <a:t>display()</a:t>
            </a:r>
            <a:r>
              <a:rPr/>
              <a:t> method of the anonymous class.</a:t>
            </a:r>
          </a:p>
        </p:txBody>
      </p:sp>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Anonymous Class Implementing an Interface Example</a:t>
            </a:r>
          </a:p>
          <a:p>
            <a:pPr lvl="0" indent="0" marL="0">
              <a:buNone/>
            </a:pPr>
            <a:r>
              <a:rPr>
                <a:latin typeface="Courier"/>
              </a:rPr>
              <a:t>Java linenums="1" interface Polygon {    public void display(); }</a:t>
            </a:r>
          </a:p>
          <a:p>
            <a:pPr lvl="0" indent="0" marL="0">
              <a:buNone/>
            </a:pPr>
            <a:r>
              <a:rPr/>
              <a:t>``` Java linenums=“1” class AnonymousDemo { public void createClass() {</a:t>
            </a:r>
          </a:p>
          <a:p>
            <a:pPr lvl="0" indent="0">
              <a:buNone/>
            </a:pPr>
            <a:r>
              <a:rPr>
                <a:latin typeface="Courier"/>
              </a:rPr>
              <a:t>  // anonymous class implementing interface
  Polygon p1 = new Polygon() {
     public void display() {
        System.out.println("Inside an anonymous class.");
     }
  };
  p1.display();</a:t>
            </a:r>
          </a:p>
          <a:p>
            <a:pPr lvl="0" indent="0" marL="0">
              <a:buNone/>
            </a:pPr>
            <a:r>
              <a:rPr/>
              <a:t>} }</a:t>
            </a:r>
          </a:p>
          <a:p>
            <a:pPr lvl="0" indent="0">
              <a:buNone/>
            </a:pPr>
            <a:r>
              <a:rPr>
                <a:latin typeface="Courier"/>
              </a:rPr>
              <a:t>
---
### Anonymous Class Implementing an Interface Example
``` Java linenums="1"
class Main {
   public static void main(String[] args) {
      AnonymousDemo an = new AnonymousDemo();
      an.createClass();
   }
}</a:t>
            </a:r>
          </a:p>
          <a:p>
            <a:pPr lvl="0"/>
            <a:r>
              <a:rPr/>
              <a:t>In the example, we have created an anonymous class that implements the Polygon interface.</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Advantages of Anonymous Classes</a:t>
            </a:r>
          </a:p>
          <a:p>
            <a:pPr lvl="0"/>
            <a:r>
              <a:rPr/>
              <a:t>In anonymous classes, objects are created whenever they are required.</a:t>
            </a:r>
          </a:p>
          <a:p>
            <a:pPr lvl="0"/>
            <a:r>
              <a:rPr/>
              <a:t>That is, objects are created to perform some specific tasks. For example,</a:t>
            </a:r>
          </a:p>
          <a:p>
            <a:pPr lvl="0" indent="0" marL="0">
              <a:buNone/>
            </a:pPr>
            <a:r>
              <a:rPr>
                <a:latin typeface="Courier"/>
              </a:rPr>
              <a:t>Java linenums="1" Object = new Example() {    public void display() {       System.out.println("Anonymous class overrides the method display().");    } };</a:t>
            </a:r>
          </a:p>
          <a:p>
            <a:pPr lvl="0"/>
            <a:r>
              <a:rPr/>
              <a:t>Here, an object of the anonymous class is created dynamically when we need to override the display() method.</a:t>
            </a:r>
          </a:p>
          <a:p>
            <a:pPr lvl="0"/>
            <a:r>
              <a:rPr/>
              <a:t>Anonymous classes also help us to make our code concise.</a:t>
            </a:r>
          </a:p>
        </p:txBody>
      </p:sp>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Nested, Static and Anonymous Classes</a:t>
            </a:r>
          </a:p>
          <a:p>
            <a:pPr lvl="0"/>
            <a:r>
              <a:rPr/>
              <a:t>Inner class (non-static nested): has access to ALL members of the outer class, including private</a:t>
            </a:r>
          </a:p>
          <a:p>
            <a:pPr lvl="0"/>
            <a:r>
              <a:rPr/>
              <a:t>Static nested class: does NOT have access to non-static members of outer class</a:t>
            </a:r>
          </a:p>
          <a:p>
            <a:pPr lvl="0"/>
            <a:r>
              <a:rPr/>
              <a:t>Anonymous class: a class without a name, defined and instantiated in one expression</a:t>
            </a:r>
          </a:p>
          <a:p>
            <a:pPr lvl="0"/>
            <a:r>
              <a:rPr/>
              <a:t>Use inner classes for tightly coupled helper classes</a:t>
            </a:r>
          </a:p>
          <a:p>
            <a:pPr lvl="0"/>
            <a:r>
              <a:rPr/>
              <a:t>Use anonymous classes for one-time implementations (event handlers, callbacks)</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G: Java Enums</a:t>
            </a:r>
          </a:p>
        </p:txBody>
      </p:sp>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Java Enum Basics and Switch Statement</a:t>
            </a:r>
          </a:p>
          <a:p>
            <a:pPr lvl="0"/>
            <a:r>
              <a:rPr/>
              <a:t>Enum as a Class: Fields, Methods, and the Enum Class</a:t>
            </a:r>
          </a:p>
          <a:p>
            <a:pPr lvl="0"/>
            <a:r>
              <a:rPr/>
              <a:t>Enum Methods: ordinal, compareTo, toString, name, valueOf, values</a:t>
            </a:r>
          </a:p>
          <a:p>
            <a:pPr lvl="0"/>
            <a:r>
              <a:rPr/>
              <a:t>Why Java Enums?</a:t>
            </a:r>
          </a:p>
          <a:p>
            <a:pPr lvl="0"/>
            <a:r>
              <a:rPr/>
              <a:t>Enum Constructors and Custom Strings</a:t>
            </a:r>
          </a:p>
        </p:txBody>
      </p:sp>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enums</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enums</a:t>
            </a:r>
          </a:p>
          <a:p>
            <a:pPr lvl="0"/>
            <a:r>
              <a:rPr/>
              <a:t>In Java, an enum (short for enumeration) is a type that has a fixed set of constant values. We use the </a:t>
            </a:r>
            <a:r>
              <a:rPr>
                <a:latin typeface="Courier"/>
              </a:rPr>
              <a:t>enum</a:t>
            </a:r>
            <a:r>
              <a:rPr/>
              <a:t> keyword to declare enums. For example,</a:t>
            </a:r>
          </a:p>
          <a:p>
            <a:pPr lvl="0" indent="0" marL="0">
              <a:buNone/>
            </a:pPr>
            <a:r>
              <a:rPr>
                <a:latin typeface="Courier"/>
              </a:rPr>
              <a:t>Java linenums="1" enum Size {     SMALL, MEDIUM, LARGE, EXTRALARGE  }</a:t>
            </a:r>
            <a:r>
              <a:rPr/>
              <a:t> - Here, we have created an enum named Size. It contains fixed values </a:t>
            </a:r>
            <a:r>
              <a:rPr>
                <a:latin typeface="Courier"/>
              </a:rPr>
              <a:t>SMALL</a:t>
            </a:r>
            <a:r>
              <a:rPr/>
              <a:t>, </a:t>
            </a:r>
            <a:r>
              <a:rPr>
                <a:latin typeface="Courier"/>
              </a:rPr>
              <a:t>MEDIUM</a:t>
            </a:r>
            <a:r>
              <a:rPr/>
              <a:t>, </a:t>
            </a:r>
            <a:r>
              <a:rPr>
                <a:latin typeface="Courier"/>
              </a:rPr>
              <a:t>LARGE</a:t>
            </a:r>
            <a:r>
              <a:rPr/>
              <a:t>, and </a:t>
            </a:r>
            <a:r>
              <a:rPr>
                <a:latin typeface="Courier"/>
              </a:rPr>
              <a:t>EXTRALARGE</a:t>
            </a:r>
            <a:r>
              <a:rPr/>
              <a:t>. - These values inside the braces are called enum constants (values). - </a:t>
            </a:r>
            <a:r>
              <a:rPr b="1"/>
              <a:t>Note:</a:t>
            </a:r>
            <a:r>
              <a:rPr/>
              <a:t> The enum constants are usually represented in uppercase.</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Enum Example</a:t>
            </a:r>
          </a:p>
          <a:p>
            <a:pPr lvl="0" indent="0" marL="0">
              <a:buNone/>
            </a:pPr>
            <a:r>
              <a:rPr/>
              <a:t>``` Java linenums=“1” enum Size { SMALL, MEDIUM, LARGE, EXTRALARGE }</a:t>
            </a:r>
          </a:p>
          <a:p>
            <a:pPr lvl="0" indent="0" marL="0">
              <a:buNone/>
            </a:pPr>
            <a:r>
              <a:rPr/>
              <a:t>class Main { public static void main(String[] args) { System.out.println(Size.SMALL); System.out.println(Size.MEDIUM); } }</a:t>
            </a:r>
          </a:p>
          <a:p>
            <a:pPr lvl="0" indent="0">
              <a:buNone/>
            </a:pPr>
            <a:r>
              <a:rPr>
                <a:latin typeface="Courier"/>
              </a:rPr>
              <a:t>
---
### Java Enum Example
we use the enum name to access the constant values.
Also, we can create variables of enum types. For example
``` Java linenums="1"
Size pizzaSize;</a:t>
            </a:r>
          </a:p>
          <a:p>
            <a:pPr lvl="0"/>
            <a:r>
              <a:rPr/>
              <a:t>Here, pizzaSize is a variable of the Size type. It can only be assigned with 4 values.</a:t>
            </a:r>
          </a:p>
          <a:p>
            <a:pPr lvl="0" indent="0" marL="0">
              <a:buNone/>
            </a:pPr>
            <a:r>
              <a:rPr>
                <a:latin typeface="Courier"/>
              </a:rPr>
              <a:t>Java linenums="1" pizzaSize = Size.SMALL; pizzaSize = Size.MEDIUM; pizzaSize = Size.LARGE; pizzaSize = Size.EXTRALARGE;</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Enum with the switch statement example</a:t>
            </a:r>
          </a:p>
          <a:p>
            <a:pPr lvl="0" indent="0" marL="0">
              <a:buNone/>
            </a:pPr>
            <a:r>
              <a:rPr>
                <a:latin typeface="Courier"/>
              </a:rPr>
              <a:t>Java linenums="1" enum Size {  SMALL, MEDIUM, LARGE, EXTRALARGE }</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Enum with the switch statement example</a:t>
            </a:r>
          </a:p>
          <a:p>
            <a:pPr lvl="0" indent="0" marL="0">
              <a:buNone/>
            </a:pPr>
            <a:r>
              <a:rPr>
                <a:latin typeface="Courier"/>
              </a:rPr>
              <a:t>Java linenums="1" class Test {  Size pizzaSize;  public Test(Size pizzaSize) {    this.pizzaSize = pizzaSize;  }  public void orderPizza() {    switch(pizzaSize) {      case SMALL:        System.out.println("I ordered a small size pizza.");        break;      case MEDIUM:        System.out.println("I ordered a medium size pizza.");        break;      default:        System.out.println("I don't know which one to order.");        break;    }  } }</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Enum with the switch statement example</a:t>
            </a:r>
          </a:p>
          <a:p>
            <a:pPr lvl="0" indent="0" marL="0">
              <a:buNone/>
            </a:pPr>
            <a:r>
              <a:rPr>
                <a:latin typeface="Courier"/>
              </a:rPr>
              <a:t>Java linenums="1" class Main {  public static void main(String[] args) {    Test t1 = new Test(Size.MEDIUM);    t1.orderPizza();  } }</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Enum with the switch statement example</a:t>
            </a:r>
          </a:p>
          <a:p>
            <a:pPr lvl="0"/>
            <a:r>
              <a:rPr/>
              <a:t>In the example, we have created an enum type </a:t>
            </a:r>
            <a:r>
              <a:rPr>
                <a:latin typeface="Courier"/>
              </a:rPr>
              <a:t>Size</a:t>
            </a:r>
            <a:r>
              <a:rPr/>
              <a:t>. - We then declared a variable </a:t>
            </a:r>
            <a:r>
              <a:rPr>
                <a:latin typeface="Courier"/>
              </a:rPr>
              <a:t>pizzaSize</a:t>
            </a:r>
            <a:r>
              <a:rPr/>
              <a:t> of the </a:t>
            </a:r>
            <a:r>
              <a:rPr>
                <a:latin typeface="Courier"/>
              </a:rPr>
              <a:t>Size</a:t>
            </a:r>
            <a:r>
              <a:rPr/>
              <a:t> type.</a:t>
            </a:r>
          </a:p>
          <a:p>
            <a:pPr lvl="0"/>
            <a:r>
              <a:rPr/>
              <a:t>Here, the variable </a:t>
            </a:r>
            <a:r>
              <a:rPr>
                <a:latin typeface="Courier"/>
              </a:rPr>
              <a:t>pizzaSize</a:t>
            </a:r>
            <a:r>
              <a:rPr/>
              <a:t> can only be assigned with 4 values (</a:t>
            </a:r>
            <a:r>
              <a:rPr>
                <a:latin typeface="Courier"/>
              </a:rPr>
              <a:t>SMALL, MEDIUM, LARGE, EXTRALARGE</a:t>
            </a:r>
            <a:r>
              <a:rPr/>
              <a:t>).</a:t>
            </a:r>
          </a:p>
          <a:p>
            <a:pPr lvl="0"/>
            <a:r>
              <a:rPr/>
              <a:t>Notice the statement, </a:t>
            </a:r>
            <a:r>
              <a:rPr>
                <a:latin typeface="Courier"/>
              </a:rPr>
              <a:t>Java linenums="1" Test t1 = new Test(Size.MEDIUM);</a:t>
            </a:r>
          </a:p>
          <a:p>
            <a:pPr lvl="0"/>
            <a:r>
              <a:rPr/>
              <a:t>It will call the </a:t>
            </a:r>
            <a:r>
              <a:rPr>
                <a:latin typeface="Courier"/>
              </a:rPr>
              <a:t>Test()</a:t>
            </a:r>
            <a:r>
              <a:rPr/>
              <a:t> constructor inside the </a:t>
            </a:r>
            <a:r>
              <a:rPr>
                <a:latin typeface="Courier"/>
              </a:rPr>
              <a:t>Test</a:t>
            </a:r>
            <a:r>
              <a:rPr/>
              <a:t> class. Now, the variable pizzaSize is assigned with the </a:t>
            </a:r>
            <a:r>
              <a:rPr>
                <a:latin typeface="Courier"/>
              </a:rPr>
              <a:t>MEDIUM</a:t>
            </a:r>
            <a:r>
              <a:rPr/>
              <a:t> constant.</a:t>
            </a:r>
          </a:p>
          <a:p>
            <a:pPr lvl="0"/>
            <a:r>
              <a:rPr/>
              <a:t>Based on the value, one of the cases of the switch case statement is executed.</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Enum Class in Java</a:t>
            </a:r>
          </a:p>
          <a:p>
            <a:pPr lvl="0"/>
            <a:r>
              <a:rPr/>
              <a:t>In Java, enum types are considered to be a special type of class.</a:t>
            </a:r>
          </a:p>
          <a:p>
            <a:pPr lvl="1"/>
            <a:r>
              <a:rPr/>
              <a:t>It was introduced with the release of Java 5.</a:t>
            </a:r>
          </a:p>
          <a:p>
            <a:pPr lvl="0"/>
            <a:r>
              <a:rPr/>
              <a:t>An enum class can include methods and fields just like regular classes. ``` Java linenums=“1” enum Size { constant1, constant2, …, constantN;</a:t>
            </a:r>
          </a:p>
          <a:p>
            <a:pPr lvl="1" indent="0" marL="342900">
              <a:buNone/>
            </a:pPr>
            <a:r>
              <a:rPr/>
              <a:t>// methods and fields</a:t>
            </a:r>
            <a:br/>
            <a:r>
              <a:rPr/>
              <a:t>} ```</a:t>
            </a:r>
          </a:p>
          <a:p>
            <a:pPr lvl="0"/>
            <a:r>
              <a:rPr/>
              <a:t>When we create an enum class, the compiler will create instances (objects) of each enum constants.</a:t>
            </a:r>
          </a:p>
          <a:p>
            <a:pPr lvl="1"/>
            <a:r>
              <a:rPr/>
              <a:t>Also, all enum constant is always public static final by default.</a:t>
            </a:r>
          </a:p>
        </p:txBody>
      </p:sp>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Enum Class Example</a:t>
            </a:r>
          </a:p>
          <a:p>
            <a:pPr lvl="0" indent="0" marL="0">
              <a:buNone/>
            </a:pPr>
            <a:r>
              <a:rPr/>
              <a:t>``` Java linenums=“1” enum Size{ SMALL, MEDIUM, LARGE, EXTRALARGE;</a:t>
            </a:r>
          </a:p>
          <a:p>
            <a:pPr lvl="0" indent="0" marL="0">
              <a:buNone/>
            </a:pPr>
            <a:r>
              <a:rPr/>
              <a:t>public String getSize() {</a:t>
            </a:r>
          </a:p>
          <a:p>
            <a:pPr lvl="0" indent="0">
              <a:buNone/>
            </a:pPr>
            <a:r>
              <a:rPr>
                <a:latin typeface="Courier"/>
              </a:rPr>
              <a:t>// this will refer to the object SMALL
switch(this) {
  case SMALL:
    return "small";
  case MEDIUM:
    return "medium";
  case LARGE:
    return "large";
  case EXTRALARGE:
    return "extra large";
  default:
    return null;
  }</a:t>
            </a:r>
          </a:p>
          <a:p>
            <a:pPr lvl="0" indent="0" marL="0">
              <a:buNone/>
            </a:pPr>
            <a:r>
              <a:rPr/>
              <a:t>} …</a:t>
            </a:r>
          </a:p>
          <a:p>
            <a:pPr lvl="0" indent="0">
              <a:buNone/>
            </a:pPr>
            <a:r>
              <a:rPr>
                <a:latin typeface="Courier"/>
              </a:rPr>
              <a:t>
---
### Java Enum Class Example
``` Java linenums="1"
...
  public static void main(String[] args) {
    // call getSize()
    // using the object SMALL
    System.out.println("The size of the pizza is " + Size.SMALL.getSize());
  }
}</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Enum Class Example</a:t>
            </a:r>
          </a:p>
          <a:p>
            <a:pPr lvl="0"/>
            <a:r>
              <a:rPr/>
              <a:t>In the example, we have created an enum class Size. It has four constants SMALL, MEDIUM, LARGE and EXTRALARGE.</a:t>
            </a:r>
          </a:p>
          <a:p>
            <a:pPr lvl="0"/>
            <a:r>
              <a:rPr/>
              <a:t>Since Size is an enum class, the compiler automatically creates instances for each enum constants.</a:t>
            </a:r>
          </a:p>
          <a:p>
            <a:pPr lvl="0"/>
            <a:r>
              <a:rPr/>
              <a:t>Here inside the main() method, we have used the instance SMALL to call the getSize() method.</a:t>
            </a:r>
          </a:p>
          <a:p>
            <a:pPr lvl="0"/>
            <a:r>
              <a:rPr b="1"/>
              <a:t>Note</a:t>
            </a:r>
            <a:r>
              <a:rPr/>
              <a:t>: Like regular classes, an enum class also may include constructors</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of Java Enum Class</a:t>
            </a:r>
          </a:p>
          <a:p>
            <a:pPr lvl="0"/>
            <a:r>
              <a:rPr/>
              <a:t>There are some predefined methods in enum classes that are readily available for use.</a:t>
            </a:r>
          </a:p>
        </p:txBody>
      </p:sp>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of Java Enum Class</a:t>
            </a:r>
          </a:p>
          <a:p>
            <a:pPr lvl="0" indent="0" marL="0">
              <a:spcBef>
                <a:spcPts val="3000"/>
              </a:spcBef>
              <a:buNone/>
            </a:pPr>
            <a:r>
              <a:rPr b="1"/>
              <a:t>Java Enum ordinal()</a:t>
            </a:r>
          </a:p>
          <a:p>
            <a:pPr lvl="0"/>
            <a:r>
              <a:rPr/>
              <a:t>The ordinal() method returns the position of an enum constant. For example,</a:t>
            </a:r>
          </a:p>
          <a:p>
            <a:pPr lvl="0" indent="0" marL="0">
              <a:buNone/>
            </a:pPr>
            <a:r>
              <a:rPr>
                <a:latin typeface="Courier"/>
              </a:rPr>
              <a:t>Java linenums="1" ordinal(SMALL)  // returns 0</a:t>
            </a:r>
          </a:p>
        </p:txBody>
      </p:sp>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of Java Enum Class</a:t>
            </a:r>
          </a:p>
          <a:p>
            <a:pPr lvl="0" indent="0" marL="0">
              <a:spcBef>
                <a:spcPts val="3000"/>
              </a:spcBef>
              <a:buNone/>
            </a:pPr>
            <a:r>
              <a:rPr b="1"/>
              <a:t>Enum compareTo()</a:t>
            </a:r>
          </a:p>
          <a:p>
            <a:pPr lvl="0"/>
            <a:r>
              <a:rPr/>
              <a:t>The compareTo() method compares the enum constants based on their ordinal value. For example,</a:t>
            </a:r>
          </a:p>
          <a:p>
            <a:pPr lvl="0" indent="0" marL="0">
              <a:buNone/>
            </a:pPr>
            <a:r>
              <a:rPr>
                <a:latin typeface="Courier"/>
              </a:rPr>
              <a:t>Java linenums="1" Size.SMALL.compareTo(Size.MEDIUM)  // returns ordinal(SMALL) - ordinal(MEDIUM)</a:t>
            </a:r>
          </a:p>
        </p:txBody>
      </p:sp>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of Java Enum Class</a:t>
            </a:r>
          </a:p>
          <a:p>
            <a:pPr lvl="0" indent="0" marL="0">
              <a:spcBef>
                <a:spcPts val="3000"/>
              </a:spcBef>
              <a:buNone/>
            </a:pPr>
            <a:r>
              <a:rPr b="1"/>
              <a:t>Enum toString()</a:t>
            </a:r>
          </a:p>
          <a:p>
            <a:pPr lvl="0"/>
            <a:r>
              <a:rPr/>
              <a:t>The toString() method returns the string representation of the enum constants. For example,</a:t>
            </a:r>
          </a:p>
          <a:p>
            <a:pPr lvl="0" indent="0" marL="0">
              <a:buNone/>
            </a:pPr>
            <a:r>
              <a:rPr>
                <a:latin typeface="Courier"/>
              </a:rPr>
              <a:t>Java linenums="1" SMALL.toString() // returns "SMALL"</a:t>
            </a:r>
          </a:p>
        </p:txBody>
      </p:sp>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of Java Enum Class</a:t>
            </a:r>
          </a:p>
          <a:p>
            <a:pPr lvl="0" indent="0" marL="0">
              <a:spcBef>
                <a:spcPts val="3000"/>
              </a:spcBef>
              <a:buNone/>
            </a:pPr>
            <a:r>
              <a:rPr b="1"/>
              <a:t>Enum name()</a:t>
            </a:r>
          </a:p>
          <a:p>
            <a:pPr lvl="0"/>
            <a:r>
              <a:rPr/>
              <a:t>The name() method returns the defined name of an enum constant in string form. The returned value from the name() method is final. For example,</a:t>
            </a:r>
          </a:p>
          <a:p>
            <a:pPr lvl="0" indent="0" marL="0">
              <a:buNone/>
            </a:pPr>
            <a:r>
              <a:rPr>
                <a:latin typeface="Courier"/>
              </a:rPr>
              <a:t>Java linenums="1" name(SMALL) // returns "SMALL"</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of Java Enum Class</a:t>
            </a:r>
          </a:p>
          <a:p>
            <a:pPr lvl="0" indent="0" marL="0">
              <a:spcBef>
                <a:spcPts val="3000"/>
              </a:spcBef>
              <a:buNone/>
            </a:pPr>
            <a:r>
              <a:rPr b="1"/>
              <a:t>Java Enum valueOf()</a:t>
            </a:r>
          </a:p>
          <a:p>
            <a:pPr lvl="0"/>
            <a:r>
              <a:rPr/>
              <a:t>The </a:t>
            </a:r>
            <a:r>
              <a:rPr>
                <a:latin typeface="Courier"/>
              </a:rPr>
              <a:t>valueOf()</a:t>
            </a:r>
            <a:r>
              <a:rPr/>
              <a:t> method takes a string and returns an enum constant having the same string name. For example,</a:t>
            </a:r>
          </a:p>
          <a:p>
            <a:pPr lvl="0" indent="0" marL="0">
              <a:buNone/>
            </a:pPr>
            <a:r>
              <a:rPr>
                <a:latin typeface="Courier"/>
              </a:rPr>
              <a:t>Java linenums="1" Size.valueOf("SMALL") // returns constant SMALL.</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Methods of Java Enum Class</a:t>
            </a:r>
          </a:p>
          <a:p>
            <a:pPr lvl="0" indent="0" marL="0">
              <a:spcBef>
                <a:spcPts val="3000"/>
              </a:spcBef>
              <a:buNone/>
            </a:pPr>
            <a:r>
              <a:rPr b="1"/>
              <a:t>Enum values()</a:t>
            </a:r>
          </a:p>
          <a:p>
            <a:pPr lvl="0"/>
            <a:r>
              <a:rPr/>
              <a:t>The </a:t>
            </a:r>
            <a:r>
              <a:rPr>
                <a:latin typeface="Courier"/>
              </a:rPr>
              <a:t>values()</a:t>
            </a:r>
            <a:r>
              <a:rPr/>
              <a:t> method returns an array of enum type containing all the enum constants. For example,</a:t>
            </a:r>
          </a:p>
          <a:p>
            <a:pPr lvl="0" indent="0" marL="0">
              <a:buNone/>
            </a:pPr>
            <a:r>
              <a:rPr>
                <a:latin typeface="Courier"/>
              </a:rPr>
              <a:t>Java linenums="1" Size[] enumArray = Size.value();</a:t>
            </a:r>
          </a:p>
        </p:txBody>
      </p:sp>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Java Enums?</a:t>
            </a:r>
          </a:p>
          <a:p>
            <a:pPr lvl="0"/>
            <a:r>
              <a:rPr/>
              <a:t>In Java, enum was introduced to replace the use of int constants.</a:t>
            </a:r>
          </a:p>
          <a:p>
            <a:pPr lvl="0"/>
            <a:r>
              <a:rPr/>
              <a:t>Suppose we have used a collection of int constants.</a:t>
            </a:r>
          </a:p>
          <a:p>
            <a:pPr lvl="0" indent="0" marL="0">
              <a:buNone/>
            </a:pPr>
            <a:r>
              <a:rPr>
                <a:latin typeface="Courier"/>
              </a:rPr>
              <a:t>Java linenums="1" class Size {    public final static int SMALL = 1;    public final static int MEDIUM = 2;    public final static int LARGE = 3;    public final static int EXTRALARGE = 4; }</a:t>
            </a:r>
          </a:p>
          <a:p>
            <a:pPr lvl="0"/>
            <a:r>
              <a:rPr/>
              <a:t>Here, the problem arises if we print the constants.</a:t>
            </a:r>
          </a:p>
          <a:p>
            <a:pPr lvl="1"/>
            <a:r>
              <a:rPr/>
              <a:t>It is because only the number is printed which might not be helpful.</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Java Enums?</a:t>
            </a:r>
          </a:p>
          <a:p>
            <a:pPr lvl="0"/>
            <a:r>
              <a:rPr/>
              <a:t>So, instead of using int constants, we can simply use enums. For example,</a:t>
            </a:r>
          </a:p>
          <a:p>
            <a:pPr lvl="0" indent="0" marL="0">
              <a:buNone/>
            </a:pPr>
            <a:r>
              <a:rPr>
                <a:latin typeface="Courier"/>
              </a:rPr>
              <a:t>Java linenums="1" enum Size {    SMALL, MEDIUM, LARGE, EXTRALARGE }</a:t>
            </a:r>
          </a:p>
          <a:p>
            <a:pPr lvl="0"/>
            <a:r>
              <a:rPr/>
              <a:t>This makes our code more intuitive.</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Why Java Enums?</a:t>
            </a:r>
          </a:p>
          <a:p>
            <a:pPr lvl="0"/>
            <a:r>
              <a:rPr/>
              <a:t>Also, enum provides compile-time type safety.</a:t>
            </a:r>
          </a:p>
          <a:p>
            <a:pPr lvl="0"/>
            <a:r>
              <a:rPr/>
              <a:t>If we declare a variable of the Size type. For example,</a:t>
            </a:r>
          </a:p>
          <a:p>
            <a:pPr lvl="0" indent="0" marL="0">
              <a:buNone/>
            </a:pPr>
            <a:r>
              <a:rPr>
                <a:latin typeface="Courier"/>
              </a:rPr>
              <a:t>Java linenums="1" Size size;</a:t>
            </a:r>
          </a:p>
          <a:p>
            <a:pPr lvl="0"/>
            <a:r>
              <a:rPr/>
              <a:t>Here, it is guaranteed that the variable will hold one of the four values.</a:t>
            </a:r>
          </a:p>
          <a:p>
            <a:pPr lvl="0"/>
            <a:r>
              <a:rPr/>
              <a:t>Now, If we try to pass values other than those four values,</a:t>
            </a:r>
          </a:p>
          <a:p>
            <a:pPr lvl="1"/>
            <a:r>
              <a:rPr/>
              <a:t>the compiler will generate an error.</a:t>
            </a:r>
          </a:p>
        </p:txBody>
      </p:sp>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enum Constructor</a:t>
            </a:r>
          </a:p>
          <a:p>
            <a:pPr lvl="0"/>
            <a:r>
              <a:rPr/>
              <a:t>In Java, an enum class may include a constructor like a regular class. These enum constructors are either</a:t>
            </a:r>
          </a:p>
          <a:p>
            <a:pPr lvl="1"/>
            <a:r>
              <a:rPr b="1"/>
              <a:t>private</a:t>
            </a:r>
            <a:r>
              <a:rPr/>
              <a:t> - accessible within the class or</a:t>
            </a:r>
          </a:p>
          <a:p>
            <a:pPr lvl="1"/>
            <a:r>
              <a:rPr b="1"/>
              <a:t>package-private</a:t>
            </a:r>
            <a:r>
              <a:rPr/>
              <a:t> - accessible within the package</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enum Constructor Example</a:t>
            </a:r>
          </a:p>
          <a:p>
            <a:pPr lvl="0" indent="0" marL="0">
              <a:buNone/>
            </a:pPr>
            <a:r>
              <a:rPr/>
              <a:t>``` Java linenums=“1” enum Size {</a:t>
            </a:r>
          </a:p>
          <a:p>
            <a:pPr lvl="0" indent="0" marL="0">
              <a:buNone/>
            </a:pPr>
            <a:r>
              <a:rPr/>
              <a:t>// enum constants calling the enum constructors SMALL(“The size is small.”), MEDIUM(“The size is medium.”), LARGE(“The size is large.”), EXTRALARGE(“The size is extra large.”);</a:t>
            </a:r>
          </a:p>
          <a:p>
            <a:pPr lvl="0" indent="0" marL="0">
              <a:buNone/>
            </a:pPr>
            <a:r>
              <a:rPr/>
              <a:t>private final String pizzaSize;</a:t>
            </a:r>
          </a:p>
          <a:p>
            <a:pPr lvl="0" indent="0" marL="0">
              <a:buNone/>
            </a:pPr>
            <a:r>
              <a:rPr/>
              <a:t>// private enum constructor private Size(String pizzaSize) { this.pizzaSize = pizzaSize; }</a:t>
            </a:r>
          </a:p>
          <a:p>
            <a:pPr lvl="0" indent="0" marL="0">
              <a:buNone/>
            </a:pPr>
            <a:r>
              <a:rPr/>
              <a:t>public String getSize() { return pizzaSize; } }</a:t>
            </a:r>
          </a:p>
          <a:p>
            <a:pPr lvl="0" indent="0">
              <a:buNone/>
            </a:pPr>
            <a:r>
              <a:rPr>
                <a:latin typeface="Courier"/>
              </a:rPr>
              <a:t>
---
### enum Constructor Example
``` Java linenums="1"
class Main {
   public static void main(String[] args) {
      Size size = Size.SMALL;
      System.out.println(size.getSize());
   }
}</a:t>
            </a:r>
          </a:p>
        </p:txBody>
      </p:sp>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enum Constructor Example</a:t>
            </a:r>
          </a:p>
          <a:p>
            <a:pPr lvl="0"/>
            <a:r>
              <a:rPr/>
              <a:t>In the example, we have created an enum Size.</a:t>
            </a:r>
          </a:p>
          <a:p>
            <a:pPr lvl="1"/>
            <a:r>
              <a:rPr/>
              <a:t>It includes a private enum constructor.</a:t>
            </a:r>
          </a:p>
          <a:p>
            <a:pPr lvl="1"/>
            <a:r>
              <a:rPr/>
              <a:t>The constructor takes a string value as a parameter and assigns value to the variable pizzaSize.</a:t>
            </a:r>
          </a:p>
          <a:p>
            <a:pPr lvl="0"/>
            <a:r>
              <a:rPr/>
              <a:t>Since the constructor is private,</a:t>
            </a:r>
          </a:p>
          <a:p>
            <a:pPr lvl="1"/>
            <a:r>
              <a:rPr/>
              <a:t>we cannot access it from outside the class. However,</a:t>
            </a:r>
          </a:p>
          <a:p>
            <a:pPr lvl="1"/>
            <a:r>
              <a:rPr/>
              <a:t>we can use enum constants to call the constructor.</a:t>
            </a:r>
          </a:p>
          <a:p>
            <a:pPr lvl="0"/>
            <a:r>
              <a:rPr/>
              <a:t>In the Main class, we assigned SMALL to an enum variable size.</a:t>
            </a:r>
          </a:p>
          <a:p>
            <a:pPr lvl="1"/>
            <a:r>
              <a:rPr/>
              <a:t>The constant SMALL then calls the constructor Size with string as an argument.</a:t>
            </a:r>
          </a:p>
          <a:p>
            <a:pPr lvl="0"/>
            <a:r>
              <a:rPr/>
              <a:t>Finally, we called getSize() using size.</a:t>
            </a:r>
          </a:p>
        </p:txBody>
      </p:sp>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enum Strings</a:t>
            </a:r>
          </a:p>
        </p:txBody>
      </p:sp>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enum Strings</a:t>
            </a:r>
          </a:p>
          <a:p>
            <a:pPr lvl="0" indent="0" marL="0">
              <a:buNone/>
            </a:pPr>
            <a:r>
              <a:rPr/>
              <a:t>In Java, we can get the string representation of enum constants using the toString() method or the name() method. For example,</a:t>
            </a:r>
          </a:p>
          <a:p>
            <a:pPr lvl="0" indent="0" marL="0">
              <a:buNone/>
            </a:pPr>
            <a:r>
              <a:rPr/>
              <a:t>``` Java linenums=“1” enum Size { SMALL, MEDIUM, LARGE, EXTRALARGE }</a:t>
            </a:r>
          </a:p>
          <a:p>
            <a:pPr lvl="0" indent="0" marL="0">
              <a:buNone/>
            </a:pPr>
            <a:r>
              <a:rPr/>
              <a:t>class Main { public static void main(String[] args) {</a:t>
            </a:r>
          </a:p>
          <a:p>
            <a:pPr lvl="0" indent="0">
              <a:buNone/>
            </a:pPr>
            <a:r>
              <a:rPr>
                <a:latin typeface="Courier"/>
              </a:rPr>
              <a:t>  System.out.println("string value of SMALL is " + Size.SMALL.toString());
  System.out.println("string value of MEDIUM is " + Size.MEDIUM.name());</a:t>
            </a:r>
          </a:p>
          <a:p>
            <a:pPr lvl="0" indent="0" marL="0">
              <a:buNone/>
            </a:pPr>
            <a:r>
              <a:rPr/>
              <a:t>} }</a:t>
            </a:r>
          </a:p>
          <a:p>
            <a:pPr lvl="0" indent="0">
              <a:buNone/>
            </a:pPr>
            <a:r>
              <a:rPr>
                <a:latin typeface="Courier"/>
              </a:rPr>
              <a:t>- we have seen the default string representation of an enum constant is the name of the same constant.
---
### Change Default String Value of enums
- We can change the default string representation of enum constants by overriding the toString() method. For example,
``` Java linenums="1"
enum Size {
   SMALL {
      // overriding toString() for SMALL
      public String toString() {
        return "The size is small.";
      }
   },
   MEDIUM {
     // overriding toString() for MEDIUM
      public String toString() {
        return "The size is medium.";
      }
   };
}
...</a:t>
            </a:r>
          </a:p>
        </p:txBody>
      </p:sp>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Change Default String Value of enums</a:t>
            </a:r>
          </a:p>
          <a:p>
            <a:pPr lvl="0" indent="0" marL="0">
              <a:buNone/>
            </a:pPr>
            <a:r>
              <a:rPr>
                <a:latin typeface="Courier"/>
              </a:rPr>
              <a:t>Java linenums="1" ... class Main {    public static void main(String[] args) {       System.out.println(Size.MEDIUM.toString());    } }</a:t>
            </a:r>
          </a:p>
          <a:p>
            <a:pPr lvl="0"/>
            <a:r>
              <a:rPr/>
              <a:t>In the above program, we have created an enum Size. And we have overridden the </a:t>
            </a:r>
            <a:r>
              <a:rPr>
                <a:latin typeface="Courier"/>
              </a:rPr>
              <a:t>toString()</a:t>
            </a:r>
            <a:r>
              <a:rPr/>
              <a:t> method for enum constants </a:t>
            </a:r>
            <a:r>
              <a:rPr>
                <a:latin typeface="Courier"/>
              </a:rPr>
              <a:t>SMALL</a:t>
            </a:r>
            <a:r>
              <a:rPr/>
              <a:t> and </a:t>
            </a:r>
            <a:r>
              <a:rPr>
                <a:latin typeface="Courier"/>
              </a:rPr>
              <a:t>MEDIUM</a:t>
            </a:r>
            <a:r>
              <a:rPr/>
              <a:t>.</a:t>
            </a:r>
          </a:p>
          <a:p>
            <a:pPr lvl="0"/>
            <a:r>
              <a:rPr b="1"/>
              <a:t>Note:</a:t>
            </a:r>
            <a:r>
              <a:rPr/>
              <a:t> We cannot override the </a:t>
            </a:r>
            <a:r>
              <a:rPr>
                <a:latin typeface="Courier"/>
              </a:rPr>
              <a:t>name()</a:t>
            </a:r>
            <a:r>
              <a:rPr/>
              <a:t> method. It is because the </a:t>
            </a:r>
            <a:r>
              <a:rPr>
                <a:latin typeface="Courier"/>
              </a:rPr>
              <a:t>name()</a:t>
            </a:r>
            <a:r>
              <a:rPr/>
              <a:t> method is </a:t>
            </a:r>
            <a:r>
              <a:rPr>
                <a:latin typeface="Courier"/>
              </a:rPr>
              <a:t>final</a:t>
            </a:r>
            <a:r>
              <a:rPr/>
              <a:t>.</a:t>
            </a:r>
          </a:p>
        </p:txBody>
      </p:sp>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Java Enums</a:t>
            </a:r>
          </a:p>
          <a:p>
            <a:pPr lvl="0"/>
            <a:r>
              <a:rPr/>
              <a:t>Enums define a fixed set of type-safe constants (no more magic numbers or strings)</a:t>
            </a:r>
          </a:p>
          <a:p>
            <a:pPr lvl="0"/>
            <a:r>
              <a:rPr/>
              <a:t>Enums are implicitly final classes that extend java.lang.Enum</a:t>
            </a:r>
          </a:p>
          <a:p>
            <a:pPr lvl="0"/>
            <a:r>
              <a:rPr/>
              <a:t>Enums can have fields, methods, and constructors (constructor is always private)</a:t>
            </a:r>
          </a:p>
          <a:p>
            <a:pPr lvl="0"/>
            <a:r>
              <a:rPr/>
              <a:t>Key methods: ordinal() (position), name() (string name), values() (all constants)</a:t>
            </a:r>
          </a:p>
          <a:p>
            <a:pPr lvl="0"/>
            <a:r>
              <a:rPr/>
              <a:t>Use enums for: days of week, directions, states, status codes, etc.</a:t>
            </a:r>
          </a:p>
        </p:txBody>
      </p:sp>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H: Java Packages</a:t>
            </a:r>
          </a:p>
        </p:txBody>
      </p:sp>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Outline</a:t>
            </a:r>
          </a:p>
          <a:p>
            <a:pPr lvl="0"/>
            <a:r>
              <a:rPr/>
              <a:t>Defining Packages in Java</a:t>
            </a:r>
          </a:p>
          <a:p>
            <a:pPr lvl="0"/>
            <a:r>
              <a:rPr/>
              <a:t>Built-in vs User-defined Packages</a:t>
            </a:r>
          </a:p>
          <a:p>
            <a:pPr lvl="0"/>
            <a:r>
              <a:rPr/>
              <a:t>Access Protection in Java Packages</a:t>
            </a:r>
          </a:p>
          <a:p>
            <a:pPr lvl="0"/>
            <a:r>
              <a:rPr/>
              <a:t>Importing Packages: Specific Class vs All Classes</a:t>
            </a:r>
          </a:p>
        </p:txBody>
      </p:sp>
    </p:spTree>
  </p:cSl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Defining Packages in java</a:t>
            </a:r>
          </a:p>
        </p:txBody>
      </p:sp>
    </p:spTree>
  </p:cSl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Defining Packages in java</a:t>
            </a:r>
          </a:p>
          <a:p>
            <a:pPr lvl="0"/>
            <a:r>
              <a:rPr/>
              <a:t>In java, a package is a container of classes,</a:t>
            </a:r>
          </a:p>
          <a:p>
            <a:pPr lvl="1"/>
            <a:r>
              <a:rPr/>
              <a:t>interfaces, and</a:t>
            </a:r>
          </a:p>
          <a:p>
            <a:pPr lvl="1"/>
            <a:r>
              <a:rPr/>
              <a:t>sub-packages.</a:t>
            </a:r>
          </a:p>
          <a:p>
            <a:pPr lvl="0"/>
            <a:r>
              <a:rPr/>
              <a:t>We may think of it as a folder in a file directory.</a:t>
            </a:r>
          </a:p>
          <a:p>
            <a:pPr lvl="0"/>
            <a:r>
              <a:rPr/>
              <a:t>We use the packages to</a:t>
            </a:r>
          </a:p>
          <a:p>
            <a:pPr lvl="1"/>
            <a:r>
              <a:rPr/>
              <a:t>avoid naming conflicts and</a:t>
            </a:r>
          </a:p>
          <a:p>
            <a:pPr lvl="1"/>
            <a:r>
              <a:rPr/>
              <a:t>to organize</a:t>
            </a:r>
          </a:p>
          <a:p>
            <a:pPr lvl="2"/>
            <a:r>
              <a:rPr/>
              <a:t>project-related</a:t>
            </a:r>
          </a:p>
          <a:p>
            <a:pPr lvl="3"/>
            <a:r>
              <a:rPr/>
              <a:t>classes,</a:t>
            </a:r>
          </a:p>
          <a:p>
            <a:pPr lvl="3"/>
            <a:r>
              <a:rPr/>
              <a:t>interfaces, and</a:t>
            </a:r>
          </a:p>
          <a:p>
            <a:pPr lvl="3"/>
            <a:r>
              <a:rPr/>
              <a:t>sub-packages into a bundle.</a:t>
            </a:r>
          </a:p>
        </p:txBody>
      </p:sp>
    </p:spTree>
  </p:cSl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Defining Packages in java</a:t>
            </a:r>
          </a:p>
          <a:p>
            <a:pPr lvl="0"/>
            <a:r>
              <a:rPr/>
              <a:t>In java, the packages have divided into two types.</a:t>
            </a:r>
          </a:p>
          <a:p>
            <a:pPr lvl="1"/>
            <a:r>
              <a:rPr/>
              <a:t>Built-in Packages</a:t>
            </a:r>
          </a:p>
          <a:p>
            <a:pPr lvl="1"/>
            <a:r>
              <a:rPr/>
              <a:t>User-defined Packages</a:t>
            </a:r>
          </a:p>
        </p:txBody>
      </p:sp>
    </p:spTree>
  </p:cSl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Built-in Packages</a:t>
            </a:r>
          </a:p>
          <a:p>
            <a:pPr lvl="0"/>
            <a:r>
              <a:rPr/>
              <a:t>The built-in packages are the packages from java API. The Java API is a library of pre-defined classes, interfaces, and sub-packages.</a:t>
            </a:r>
          </a:p>
          <a:p>
            <a:pPr lvl="1"/>
            <a:r>
              <a:rPr/>
              <a:t>The built-in packages were included in the JDK.</a:t>
            </a:r>
          </a:p>
          <a:p>
            <a:pPr lvl="0"/>
            <a:r>
              <a:rPr/>
              <a:t>There are many built-in packages in java, few of them are as </a:t>
            </a:r>
            <a:r>
              <a:rPr>
                <a:latin typeface="Courier"/>
              </a:rPr>
              <a:t>java, lang, io, util, awt, javax, swing, net, sql</a:t>
            </a:r>
            <a:r>
              <a:rPr/>
              <a:t>, etc.</a:t>
            </a:r>
          </a:p>
          <a:p>
            <a:pPr lvl="0"/>
            <a:r>
              <a:rPr/>
              <a:t>We need to import the built-in packages to use them in our program.</a:t>
            </a:r>
          </a:p>
          <a:p>
            <a:pPr lvl="1"/>
            <a:r>
              <a:rPr/>
              <a:t>To import a package, we use the </a:t>
            </a:r>
            <a:r>
              <a:rPr>
                <a:latin typeface="Courier"/>
              </a:rPr>
              <a:t>import</a:t>
            </a:r>
            <a:r>
              <a:rPr/>
              <a:t> statement.</a:t>
            </a:r>
          </a:p>
        </p:txBody>
      </p:sp>
    </p:spTree>
  </p:cSl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User-defined Packages</a:t>
            </a:r>
          </a:p>
          <a:p>
            <a:pPr lvl="0"/>
            <a:r>
              <a:rPr/>
              <a:t>The user-defined packages are the packages created by the user.</a:t>
            </a:r>
          </a:p>
          <a:p>
            <a:pPr lvl="0"/>
            <a:r>
              <a:rPr/>
              <a:t>User is free to create their own packages.</a:t>
            </a:r>
          </a:p>
        </p:txBody>
      </p:sp>
    </p:spTree>
  </p:cSl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Definig a Package in java</a:t>
            </a:r>
          </a:p>
          <a:p>
            <a:pPr lvl="0"/>
            <a:r>
              <a:rPr/>
              <a:t>We use the package keyword to create or define a package in java programming language.</a:t>
            </a:r>
          </a:p>
          <a:p>
            <a:pPr lvl="0" indent="0" marL="0">
              <a:buNone/>
            </a:pPr>
            <a:r>
              <a:rPr>
                <a:latin typeface="Courier"/>
              </a:rPr>
              <a:t>Java linenums="1" package packageName;</a:t>
            </a:r>
          </a:p>
        </p:txBody>
      </p:sp>
    </p:spTree>
  </p:cSld>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Definig a Package in java</a:t>
            </a:r>
          </a:p>
          <a:p>
            <a:pPr lvl="0"/>
            <a:r>
              <a:rPr/>
              <a:t>The package statement must be the first statement in the program.</a:t>
            </a:r>
          </a:p>
          <a:p>
            <a:pPr lvl="0"/>
            <a:r>
              <a:rPr/>
              <a:t>The package name must be a single word.</a:t>
            </a:r>
          </a:p>
          <a:p>
            <a:pPr lvl="0"/>
            <a:r>
              <a:rPr/>
              <a:t>The package name must use Camel case notation.</a:t>
            </a:r>
          </a:p>
        </p:txBody>
      </p:sp>
    </p:spTree>
  </p:cSl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Definig a Package in java</a:t>
            </a:r>
          </a:p>
          <a:p>
            <a:pPr lvl="0"/>
            <a:r>
              <a:rPr/>
              <a:t>create a user-defined package myPackage</a:t>
            </a:r>
          </a:p>
          <a:p>
            <a:pPr lvl="0" indent="0" marL="0">
              <a:buNone/>
            </a:pPr>
            <a:r>
              <a:rPr/>
              <a:t>``` Java linenums=“1” package myPackage;</a:t>
            </a:r>
          </a:p>
          <a:p>
            <a:pPr lvl="0" indent="0" marL="0">
              <a:buNone/>
            </a:pPr>
            <a:r>
              <a:rPr/>
              <a:t>public class DefiningPackage {</a:t>
            </a:r>
          </a:p>
          <a:p>
            <a:pPr lvl="0" indent="0">
              <a:buNone/>
            </a:pPr>
            <a:r>
              <a:rPr>
                <a:latin typeface="Courier"/>
              </a:rPr>
              <a:t>public static void main(String[] args) {
    System.out.println("This class belongs to myPackage.");
}</a:t>
            </a:r>
          </a:p>
          <a:p>
            <a:pPr lvl="0" indent="0" marL="0">
              <a:buNone/>
            </a:pPr>
            <a:r>
              <a:rPr/>
              <a:t>}</a:t>
            </a:r>
          </a:p>
          <a:p>
            <a:pPr lvl="0" indent="0">
              <a:buNone/>
            </a:pPr>
            <a:r>
              <a:rPr>
                <a:latin typeface="Courier"/>
              </a:rPr>
              <a:t>
---
### Definig a Package in java
- Now, save the example code in a file `DefiningPackage.java`, and compile it using the following command.
``` Bash
javac -d . DefiningPackage.java</a:t>
            </a:r>
          </a:p>
          <a:p>
            <a:pPr lvl="0"/>
            <a:r>
              <a:rPr/>
              <a:t>The above command creates a directory with the package name myPackage, and the </a:t>
            </a:r>
            <a:r>
              <a:rPr>
                <a:latin typeface="Courier"/>
              </a:rPr>
              <a:t>DefiningPackage.class</a:t>
            </a:r>
            <a:r>
              <a:rPr/>
              <a:t> is saved into it.</a:t>
            </a:r>
          </a:p>
          <a:p>
            <a:pPr lvl="0"/>
            <a:r>
              <a:rPr/>
              <a:t>Run the program use the following command.</a:t>
            </a:r>
          </a:p>
          <a:p>
            <a:pPr lvl="0" indent="0">
              <a:buNone/>
            </a:pPr>
            <a:r>
              <a:rPr>
                <a:latin typeface="Courier"/>
              </a:rPr>
              <a:t>java myPackage.DefiningPackage</a:t>
            </a:r>
          </a:p>
          <a:p>
            <a:pPr lvl="0"/>
            <a:r>
              <a:rPr/>
              <a:t>When we use IDE like Eclipse, Netbeans, etc. the package structure is created automatically.</a:t>
            </a:r>
          </a:p>
        </p:txBody>
      </p:sp>
    </p:spTree>
  </p:cSl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 protection in java packages</a:t>
            </a:r>
          </a:p>
          <a:p>
            <a:pPr lvl="0"/>
            <a:r>
              <a:rPr/>
              <a:t>In java, the access modifiers define the accessibility of the class and its members.</a:t>
            </a:r>
          </a:p>
          <a:p>
            <a:pPr lvl="1"/>
            <a:r>
              <a:rPr/>
              <a:t>For example, private members are accessible within the same class members only. Java has four access modifiers, and they are default, private, protected, and public.</a:t>
            </a:r>
          </a:p>
          <a:p>
            <a:pPr lvl="0"/>
            <a:r>
              <a:rPr/>
              <a:t>In java, the package is a container of classes, sub-classes, interfaces, and sub-packages. The class acts as a container of data and methods. So, the access modifier decides the accessibility of class members across the different packages.</a:t>
            </a:r>
          </a:p>
          <a:p>
            <a:pPr lvl="0"/>
            <a:r>
              <a:rPr/>
              <a:t>In java, the accessibility of the members of a class or interface depends on its access specifiers.</a:t>
            </a:r>
          </a:p>
        </p:txBody>
      </p:sp>
    </p:spTree>
  </p:cSl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Access protection in java packages</a:t>
            </a:r>
          </a:p>
        </p:txBody>
      </p:sp>
      <p:pic>
        <p:nvPicPr>
          <p:cNvPr descr="assets/java-access-modifiers.png" id="0" name="Picture 1"/>
          <p:cNvPicPr>
            <a:picLocks noGrp="1" noChangeAspect="1"/>
          </p:cNvPicPr>
          <p:nvPr/>
        </p:nvPicPr>
        <p:blipFill>
          <a:blip r:embed="rId2"/>
          <a:stretch>
            <a:fillRect/>
          </a:stretch>
        </p:blipFill>
        <p:spPr bwMode="auto">
          <a:xfrm>
            <a:off x="3568700" y="889000"/>
            <a:ext cx="5105400" cy="24892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 protection in java packages</a:t>
            </a:r>
          </a:p>
          <a:p>
            <a:pPr lvl="0"/>
            <a:r>
              <a:rPr/>
              <a:t>The </a:t>
            </a:r>
            <a:r>
              <a:rPr b="1"/>
              <a:t>public</a:t>
            </a:r>
            <a:r>
              <a:rPr/>
              <a:t> members can be accessed everywhere.</a:t>
            </a:r>
          </a:p>
          <a:p>
            <a:pPr lvl="0"/>
            <a:r>
              <a:rPr/>
              <a:t>The </a:t>
            </a:r>
            <a:r>
              <a:rPr b="1"/>
              <a:t>private</a:t>
            </a:r>
            <a:r>
              <a:rPr/>
              <a:t> members can be accessed only inside the same class.</a:t>
            </a:r>
          </a:p>
          <a:p>
            <a:pPr lvl="0"/>
            <a:r>
              <a:rPr/>
              <a:t>The </a:t>
            </a:r>
            <a:r>
              <a:rPr b="1"/>
              <a:t>protected</a:t>
            </a:r>
            <a:r>
              <a:rPr/>
              <a:t> members are accessible to every child class (same package or other packages).</a:t>
            </a:r>
          </a:p>
          <a:p>
            <a:pPr lvl="0"/>
            <a:r>
              <a:rPr/>
              <a:t>The </a:t>
            </a:r>
            <a:r>
              <a:rPr b="1"/>
              <a:t>default</a:t>
            </a:r>
            <a:r>
              <a:rPr/>
              <a:t> members are accessible within the same package but not outside the package.</a:t>
            </a:r>
          </a:p>
        </p:txBody>
      </p:sp>
    </p:spTree>
  </p:cSld>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Access Modifiers: Cross-Package Visibility</a:t>
            </a:r>
          </a:p>
        </p:txBody>
      </p:sp>
      <p:pic>
        <p:nvPicPr>
          <p:cNvPr descr="assets/access-modifiers-visibility.png" id="0" name="Picture 1"/>
          <p:cNvPicPr>
            <a:picLocks noGrp="1" noChangeAspect="1"/>
          </p:cNvPicPr>
          <p:nvPr/>
        </p:nvPicPr>
        <p:blipFill>
          <a:blip r:embed="rId2"/>
          <a:stretch>
            <a:fillRect/>
          </a:stretch>
        </p:blipFill>
        <p:spPr bwMode="auto">
          <a:xfrm>
            <a:off x="3568700" y="838200"/>
            <a:ext cx="5105400" cy="25908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 protection in java packages example</a:t>
            </a:r>
          </a:p>
          <a:p>
            <a:pPr lvl="0" indent="0" marL="0">
              <a:buNone/>
            </a:pPr>
            <a:r>
              <a:rPr/>
              <a:t>``` Java linenums=“1” class ParentClass{ int a = 10; public int b = 20; protected int c = 30; private int d = 40;</a:t>
            </a:r>
          </a:p>
          <a:p>
            <a:pPr lvl="0" indent="0">
              <a:buNone/>
            </a:pPr>
            <a:r>
              <a:rPr>
                <a:latin typeface="Courier"/>
              </a:rPr>
              <a:t>void showData() {
    System.out.println("Inside ParentClass");
    System.out.println("a = " + a);
    System.out.println("b = " + b);
    System.out.println("c = " + c);
    System.out.println("d = " + d);
}</a:t>
            </a:r>
          </a:p>
          <a:p>
            <a:pPr lvl="0" indent="0" marL="0">
              <a:buNone/>
            </a:pPr>
            <a:r>
              <a:rPr/>
              <a:t>}</a:t>
            </a:r>
          </a:p>
          <a:p>
            <a:pPr lvl="0" indent="0">
              <a:buNone/>
            </a:pPr>
            <a:r>
              <a:rPr>
                <a:latin typeface="Courier"/>
              </a:rPr>
              <a:t>
---
### Access protection in java packages example
``` Java linenums="1"
class ChildClass extends ParentClass {
    void accessData() {
        System.out.println("Inside ChildClass");
        System.out.println("a = " + a);
        System.out.println("b = " + b);
        System.out.println("c = " + c);
        //System.out.println("d = " + d);   // private member can't be accessed
    }
}</a:t>
            </a:r>
          </a:p>
        </p:txBody>
      </p:sp>
    </p:spTree>
  </p:cSld>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Access protection in java packages example</a:t>
            </a:r>
          </a:p>
          <a:p>
            <a:pPr lvl="0" indent="0" marL="0">
              <a:buNone/>
            </a:pPr>
            <a:r>
              <a:rPr/>
              <a:t>``` Java linenums=“1” public class AccessModifiersExample {</a:t>
            </a:r>
          </a:p>
          <a:p>
            <a:pPr lvl="0" indent="0">
              <a:buNone/>
            </a:pPr>
            <a:r>
              <a:rPr>
                <a:latin typeface="Courier"/>
              </a:rPr>
              <a:t>public static void main(String[] args) {
    ChildClass obj = new ChildClass();
    obj.showData();
    obj.accessData();
}</a:t>
            </a:r>
          </a:p>
          <a:p>
            <a:pPr lvl="0" indent="0" marL="0">
              <a:buNone/>
            </a:pPr>
            <a:r>
              <a:rPr/>
              <a:t>}</a:t>
            </a:r>
          </a:p>
          <a:p>
            <a:pPr lvl="0" indent="0">
              <a:buNone/>
            </a:pPr>
            <a:r>
              <a:rPr>
                <a:latin typeface="Courier"/>
              </a:rPr>
              <a:t>
---
### Importing Packages in java
- In java, the import keyword used to import built-in and user-defined packages. When a package has imported, we can refer to all the classes of that package using their name directly.
- The import statement must be after the package statement, and before any other statement.
- Using an import statement, we may import a specific class or all the classes from a package.
---
### Importing Packages in java
- Using one import statement, we may import only one package or a class.
- Using an import statement, we can not import a class directly, but it must be a part of a package.
- A program may contain any number of import statements.
---
### Importing specific class
``` Java linenums="1"
import packageName.ClassName;</a:t>
            </a:r>
          </a:p>
        </p:txBody>
      </p:sp>
    </p:spTree>
  </p:cSld>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Importing specific class</a:t>
            </a:r>
          </a:p>
          <a:p>
            <a:pPr lvl="0"/>
            <a:r>
              <a:rPr/>
              <a:t>import a built-in package and Scanner class.</a:t>
            </a:r>
          </a:p>
          <a:p>
            <a:pPr lvl="0" indent="0" marL="0">
              <a:buNone/>
            </a:pPr>
            <a:r>
              <a:rPr/>
              <a:t>``` Java linenums=“1” package myPackage;</a:t>
            </a:r>
          </a:p>
          <a:p>
            <a:pPr lvl="0" indent="0" marL="0">
              <a:buNone/>
            </a:pPr>
            <a:r>
              <a:rPr/>
              <a:t>import java.util.Scanner;</a:t>
            </a:r>
          </a:p>
          <a:p>
            <a:pPr lvl="0" indent="0" marL="0">
              <a:buNone/>
            </a:pPr>
            <a:r>
              <a:rPr/>
              <a:t>public class ImportingExample {</a:t>
            </a:r>
          </a:p>
          <a:p>
            <a:pPr lvl="0" indent="0">
              <a:buNone/>
            </a:pPr>
            <a:r>
              <a:rPr>
                <a:latin typeface="Courier"/>
              </a:rPr>
              <a:t>public static void main(String[] args) {
    Scanner read = new Scanner(System.in);
    int i = read.nextInt();
    System.out.println("You have entered a number " + i);
}</a:t>
            </a:r>
          </a:p>
          <a:p>
            <a:pPr lvl="0" indent="0" marL="0">
              <a:buNone/>
            </a:pPr>
            <a:r>
              <a:rPr/>
              <a:t>}</a:t>
            </a:r>
          </a:p>
          <a:p>
            <a:pPr lvl="0" indent="0">
              <a:buNone/>
            </a:pPr>
            <a:r>
              <a:rPr>
                <a:latin typeface="Courier"/>
              </a:rPr>
              <a:t>
---
### Importing all the classes
- Using an importing statement, we can import all the classes of a package. To import all the classes of the package, we use * symbol. 
- The following syntax is employed to import all the classes of a package.
``` Java linenums="1"
import packageName.*;</a:t>
            </a:r>
          </a:p>
        </p:txBody>
      </p:sp>
    </p:spTree>
  </p:cSld>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Importing all the classes</a:t>
            </a:r>
          </a:p>
          <a:p>
            <a:pPr lvl="0"/>
            <a:r>
              <a:rPr/>
              <a:t>import a built-in package.</a:t>
            </a:r>
          </a:p>
          <a:p>
            <a:pPr lvl="0" indent="0" marL="0">
              <a:buNone/>
            </a:pPr>
            <a:r>
              <a:rPr/>
              <a:t>``` Java linenums=“1” package myPackage;</a:t>
            </a:r>
          </a:p>
          <a:p>
            <a:pPr lvl="0" indent="0" marL="0">
              <a:buNone/>
            </a:pPr>
            <a:r>
              <a:rPr/>
              <a:t>import java.util.*;</a:t>
            </a:r>
          </a:p>
          <a:p>
            <a:pPr lvl="0" indent="0" marL="0">
              <a:buNone/>
            </a:pPr>
            <a:r>
              <a:rPr/>
              <a:t>public class ImportingExample {</a:t>
            </a:r>
          </a:p>
          <a:p>
            <a:pPr lvl="0" indent="0">
              <a:buNone/>
            </a:pPr>
            <a:r>
              <a:rPr>
                <a:latin typeface="Courier"/>
              </a:rPr>
              <a:t>public static void main(String[] args) {
    Scanner read = new Scanner(System.in);
    int i = read.nextInt();
    System.out.println("You have entered a number " + i);
    Random rand = new Random();
    int num = rand.nextInt(100);
    System.out.println("Randomly generated number " + num);
}</a:t>
            </a:r>
          </a:p>
          <a:p>
            <a:pPr lvl="0" indent="0" marL="0">
              <a:buNone/>
            </a:pPr>
            <a:r>
              <a:rPr/>
              <a:t>}</a:t>
            </a:r>
          </a:p>
          <a:p>
            <a:pPr lvl="0" indent="0">
              <a:buNone/>
            </a:pPr>
            <a:r>
              <a:rPr>
                <a:latin typeface="Courier"/>
              </a:rPr>
              <a:t>
---
### Importing all the classes
- The import statement imports only classes of the package, but not sub-packages and its classes.
- We may also import sub-packages by using a symbol '.' (dot) to separate parent package and sub-package.
---
### Takeaway: Java Packages
- Packages organize related classes and interfaces into namespaces
- Built-in packages: java.lang (auto-imported), java.util, java.io, etc.
- User-defined packages: use 'package' statement as the first line of the file
- Access protection in packages: default (package-private) limits visibility to same package
- Import: specific class (import pkg.Class) or all classes (import pkg.*)
---
## **Module I: Java Reflection**
---
### Module Outline
- What is Reflection?
- Reflecting Java Classes (4 Ways to Get Class Object)
- Reflecting Methods, Fields, and Constructors
- Accessing Private Members via Reflection
---
## **Java Reflection**
---
### Java Reflection
- In Java, reflection allows us to inspect and manipulate classes, interfaces, constructors, methods, and fields at run time.
- There is a class in Java named `Class` that keeps all the information about objects and classes at runtime. The object of `Class` can be used to perform reflection.
---
### Reflection of Java Classes
- In order to reflect a Java class, we first need to create an object of Class.
- And, using the object we can call various methods to get information about methods, fields, and constructors present in a class.
- There exists three ways to create objects of Class:
---
### Reflection of Java Classes
- Using forName() method
``` Java linenums="1"
class Dog {...}
// create object of Class
// to reflect the Dog class
Class a = Class.forName("Dog");</a:t>
            </a:r>
          </a:p>
          <a:p>
            <a:pPr lvl="0"/>
            <a:r>
              <a:rPr/>
              <a:t>Here, the forName() method takes the name of the class to be reflected as its argument.</a:t>
            </a:r>
          </a:p>
        </p:txBody>
      </p:sp>
    </p:spTree>
  </p:cSld>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Classes</a:t>
            </a:r>
          </a:p>
          <a:p>
            <a:pPr lvl="0"/>
            <a:r>
              <a:rPr/>
              <a:t>Using getClass() method</a:t>
            </a:r>
          </a:p>
          <a:p>
            <a:pPr lvl="0" indent="0" marL="0">
              <a:buNone/>
            </a:pPr>
            <a:r>
              <a:rPr/>
              <a:t>``` Java linenums=“1” // create an object of Dog class Dog d1 = new Dog();</a:t>
            </a:r>
          </a:p>
          <a:p>
            <a:pPr lvl="0" indent="0" marL="0">
              <a:buNone/>
            </a:pPr>
            <a:r>
              <a:rPr/>
              <a:t>// create an object of Class // to reflect Dog Class b = d1.getClass();</a:t>
            </a:r>
          </a:p>
          <a:p>
            <a:pPr lvl="0" indent="0">
              <a:buNone/>
            </a:pPr>
            <a:r>
              <a:rPr>
                <a:latin typeface="Courier"/>
              </a:rPr>
              <a:t>- Here, we are using the object of the Dog class to create an object of Class.
---
### Reflection of Java Classes
- Using .class extension
``` Java linenums="1"
// create an object of Class
// to reflect the Dog class
Class c = Dog.class;</a:t>
            </a:r>
          </a:p>
          <a:p>
            <a:pPr lvl="0"/>
            <a:r>
              <a:rPr/>
              <a:t>Now that we know how we can create objects of the Class.</a:t>
            </a:r>
          </a:p>
          <a:p>
            <a:pPr lvl="1"/>
            <a:r>
              <a:rPr/>
              <a:t>We can use this object to get information about the corresponding class at runtime.</a:t>
            </a:r>
          </a:p>
        </p:txBody>
      </p:sp>
    </p:spTree>
  </p:cSld>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Class Reflection Example</a:t>
            </a:r>
          </a:p>
          <a:p>
            <a:pPr lvl="0" indent="0" marL="0">
              <a:buNone/>
            </a:pPr>
            <a:r>
              <a:rPr/>
              <a:t>``` Java linenums=“1” import java.lang.Class; import java.lang.reflect.*;</a:t>
            </a:r>
          </a:p>
          <a:p>
            <a:pPr lvl="0" indent="0" marL="0">
              <a:buNone/>
            </a:pPr>
            <a:r>
              <a:rPr/>
              <a:t>class Animal { }</a:t>
            </a:r>
          </a:p>
          <a:p>
            <a:pPr lvl="0" indent="0" marL="0">
              <a:buNone/>
            </a:pPr>
            <a:r>
              <a:rPr/>
              <a:t>// put this class in different Dog.java file public class Dog extends Animal { public void display() { System.out.println(“I am a dog.”); } }</a:t>
            </a:r>
          </a:p>
          <a:p>
            <a:pPr lvl="0" indent="0">
              <a:buNone/>
            </a:pPr>
            <a:r>
              <a:rPr>
                <a:latin typeface="Courier"/>
              </a:rPr>
              <a:t>
---
### Java Class Reflection Example
``` Java linenums="1"
// put this in Main.java file
class Main {
  public static void main(String[] args) {
    try {
      // create an object of Dog
      Dog d1 = new Dog();
      // create an object of Class
      // using getClass()
      Class obj = d1.getClass();
      // get name of the class
      String name = obj.getName();
      System.out.println("Name: " + name);
      // get the access modifier of the class
      int modifier = obj.getModifiers();
      // convert the access modifier to string
      String mod = Modifier.toString(modifier);
      System.out.println("Modifier: " + mod);
      // get the superclass of Dog
      Class superClass = obj.getSuperclass();
      System.out.println("Superclass: " + superClass.getName());
    }catch (Exception e) { e.printStackTrace();}
  }
}</a:t>
            </a:r>
          </a:p>
        </p:txBody>
      </p:sp>
    </p:spTree>
  </p:cSld>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Class Reflection Example</a:t>
            </a:r>
          </a:p>
          <a:p>
            <a:pPr lvl="0"/>
            <a:r>
              <a:rPr/>
              <a:t>In the example, we have created a superclass: Animal and a subclass: Dog. Here, we are trying to inspect the class Dog.</a:t>
            </a:r>
          </a:p>
          <a:p>
            <a:pPr lvl="0"/>
            <a:r>
              <a:rPr/>
              <a:t>Notice the statement,</a:t>
            </a:r>
          </a:p>
          <a:p>
            <a:pPr lvl="0" indent="0" marL="0">
              <a:buNone/>
            </a:pPr>
            <a:r>
              <a:rPr>
                <a:latin typeface="Courier"/>
              </a:rPr>
              <a:t>Java linenums="1" Class obj = d1.getClass();</a:t>
            </a:r>
          </a:p>
          <a:p>
            <a:pPr lvl="0"/>
            <a:r>
              <a:rPr/>
              <a:t>Here, we are creating an object obj of Class using the getClass() method. Using the object, we are calling different methods of Class.</a:t>
            </a:r>
          </a:p>
          <a:p>
            <a:pPr lvl="1"/>
            <a:r>
              <a:rPr b="1"/>
              <a:t>obj.getName()</a:t>
            </a:r>
            <a:r>
              <a:rPr/>
              <a:t> - returns the name of the class</a:t>
            </a:r>
          </a:p>
          <a:p>
            <a:pPr lvl="1"/>
            <a:r>
              <a:rPr b="1"/>
              <a:t>obj.getModifiers()</a:t>
            </a:r>
            <a:r>
              <a:rPr/>
              <a:t> - returns the access modifier of the class</a:t>
            </a:r>
          </a:p>
          <a:p>
            <a:pPr lvl="1"/>
            <a:r>
              <a:rPr b="1"/>
              <a:t>obj.getSuperclass()</a:t>
            </a:r>
            <a:r>
              <a:rPr/>
              <a:t> - returns the super class of the class</a:t>
            </a:r>
          </a:p>
          <a:p>
            <a:pPr lvl="0"/>
            <a:r>
              <a:rPr b="1"/>
              <a:t>Note:</a:t>
            </a:r>
            <a:r>
              <a:rPr/>
              <a:t> We are using the Modifier class to convert the integer access modifier to a string.</a:t>
            </a:r>
          </a:p>
        </p:txBody>
      </p:sp>
    </p:spTree>
  </p:cSld>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Reflecting Fields, Methods, and Constructors</a:t>
            </a:r>
          </a:p>
          <a:p>
            <a:pPr lvl="0"/>
            <a:r>
              <a:rPr/>
              <a:t>The package java.lang.reflect provides classes that can be used for manipulating class members. For example,</a:t>
            </a:r>
          </a:p>
          <a:p>
            <a:pPr lvl="0"/>
            <a:r>
              <a:rPr b="1"/>
              <a:t>Method class</a:t>
            </a:r>
            <a:r>
              <a:rPr/>
              <a:t> - provides information about methods in a class</a:t>
            </a:r>
          </a:p>
          <a:p>
            <a:pPr lvl="0"/>
            <a:r>
              <a:rPr b="1"/>
              <a:t>Field class</a:t>
            </a:r>
            <a:r>
              <a:rPr/>
              <a:t> - provides information about fields in a class</a:t>
            </a:r>
          </a:p>
          <a:p>
            <a:pPr lvl="0"/>
            <a:r>
              <a:rPr b="1"/>
              <a:t>Constructor class</a:t>
            </a:r>
            <a:r>
              <a:rPr/>
              <a:t> - provides information about constructors in a class</a:t>
            </a:r>
          </a:p>
        </p:txBody>
      </p:sp>
    </p:spTree>
  </p:cSld>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Methods</a:t>
            </a:r>
          </a:p>
          <a:p>
            <a:pPr lvl="0"/>
            <a:r>
              <a:rPr/>
              <a:t>The Method class provides various methods that can be used to get information about the methods present in a class.</a:t>
            </a:r>
          </a:p>
        </p:txBody>
      </p:sp>
    </p:spTree>
  </p:cSld>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Methods Example</a:t>
            </a:r>
          </a:p>
          <a:p>
            <a:pPr lvl="0" indent="0" marL="0">
              <a:buNone/>
            </a:pPr>
            <a:r>
              <a:rPr/>
              <a:t>``` Java linenums=“1” import java.lang.Class; import java.lang.reflect.*;</a:t>
            </a:r>
          </a:p>
          <a:p>
            <a:pPr lvl="0" indent="0" marL="0">
              <a:buNone/>
            </a:pPr>
            <a:r>
              <a:rPr/>
              <a:t>class Dog {</a:t>
            </a:r>
          </a:p>
          <a:p>
            <a:pPr lvl="0" indent="0" marL="0">
              <a:buNone/>
            </a:pPr>
            <a:r>
              <a:rPr/>
              <a:t>// methods of the class public void display() { System.out.println(“I am a dog.”); }</a:t>
            </a:r>
          </a:p>
          <a:p>
            <a:pPr lvl="0" indent="0" marL="0">
              <a:buNone/>
            </a:pPr>
            <a:r>
              <a:rPr/>
              <a:t>private void makeSound() { System.out.println(“Bark Bark”); } }</a:t>
            </a:r>
          </a:p>
          <a:p>
            <a:pPr lvl="0" indent="0">
              <a:buNone/>
            </a:pPr>
            <a:r>
              <a:rPr>
                <a:latin typeface="Courier"/>
              </a:rPr>
              <a:t>
---
#### Reflection of Java Methods Example
``` Java linenums="1"
class Main {
  public static void main(String[] args) {
    try {
      // create an object of Dog
      Dog d1 = new Dog();
      // create an object of Class
      // using getClass()
      Class obj = d1.getClass();
      // using object of Class to
      // get all the declared methods of Dog
      Method[] methods = obj.getDeclaredMethods();
...</a:t>
            </a:r>
          </a:p>
        </p:txBody>
      </p:sp>
    </p:spTree>
  </p:cSld>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Methods Example</a:t>
            </a:r>
          </a:p>
          <a:p>
            <a:pPr lvl="0" indent="0" marL="0">
              <a:buNone/>
            </a:pPr>
            <a:r>
              <a:rPr/>
              <a:t>``` Java linenums=“1” … // create an object of the Method class for (Method m : methods) {</a:t>
            </a:r>
          </a:p>
          <a:p>
            <a:pPr lvl="0" indent="0">
              <a:buNone/>
            </a:pPr>
            <a:r>
              <a:rPr>
                <a:latin typeface="Courier"/>
              </a:rPr>
              <a:t>    // get names of methods
    System.out.println("Method Name: " + m.getName());
    // get the access modifier of methods
    int modifier = m.getModifiers();
    System.out.println("Modifier: " + Modifier.toString(modifier));
    // get the return types of method
    System.out.println("Return Types: " + m.getReturnType());
    System.out.println(" ");
  }
}
catch (Exception e) {
  e.printStackTrace();
}</a:t>
            </a:r>
          </a:p>
          <a:p>
            <a:pPr lvl="0" indent="0" marL="0">
              <a:buNone/>
            </a:pPr>
            <a:r>
              <a:rPr/>
              <a:t>} }</a:t>
            </a:r>
          </a:p>
          <a:p>
            <a:pPr lvl="0" indent="0">
              <a:buNone/>
            </a:pPr>
            <a:r>
              <a:rPr>
                <a:latin typeface="Courier"/>
              </a:rPr>
              <a:t>
---
#### Reflection of Java Methods Example
- In the example, we are trying to get information about the methods present in the Dog class. 
- As mentioned earlier, we have first created an object obj of Class using the getClass() method.
- Notice the expression,
``` Java linenums="1"
Method[] methods = obj.getDeclaredMethod();</a:t>
            </a:r>
          </a:p>
          <a:p>
            <a:pPr lvl="0"/>
            <a:r>
              <a:rPr/>
              <a:t>Here, the getDeclaredMethod() returns all the methods present inside the class.</a:t>
            </a:r>
          </a:p>
        </p:txBody>
      </p:sp>
    </p:spTree>
  </p:cSld>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Methods Example</a:t>
            </a:r>
          </a:p>
          <a:p>
            <a:pPr lvl="0"/>
            <a:r>
              <a:rPr/>
              <a:t>Also, we have created an object m of the Method class. Here,</a:t>
            </a:r>
          </a:p>
          <a:p>
            <a:pPr lvl="1"/>
            <a:r>
              <a:rPr>
                <a:latin typeface="Courier"/>
              </a:rPr>
              <a:t>m.getName()</a:t>
            </a:r>
            <a:r>
              <a:rPr/>
              <a:t> - returns the name of a method</a:t>
            </a:r>
          </a:p>
          <a:p>
            <a:pPr lvl="1"/>
            <a:r>
              <a:rPr>
                <a:latin typeface="Courier"/>
              </a:rPr>
              <a:t>m.getModifiers()</a:t>
            </a:r>
            <a:r>
              <a:rPr/>
              <a:t> - returns the access modifier of methods in integer form</a:t>
            </a:r>
          </a:p>
          <a:p>
            <a:pPr lvl="1"/>
            <a:r>
              <a:rPr>
                <a:latin typeface="Courier"/>
              </a:rPr>
              <a:t>m.getReturnType()</a:t>
            </a:r>
            <a:r>
              <a:rPr/>
              <a:t> - returns the return type of methods</a:t>
            </a:r>
          </a:p>
          <a:p>
            <a:pPr lvl="0"/>
            <a:r>
              <a:rPr/>
              <a:t>The Method class also provides various other methods that can be used to inspect methods at run time.</a:t>
            </a:r>
          </a:p>
        </p:txBody>
      </p:sp>
    </p:spTree>
  </p:cSld>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Fields</a:t>
            </a:r>
          </a:p>
          <a:p>
            <a:pPr lvl="0"/>
            <a:r>
              <a:rPr/>
              <a:t>Like methods, we can also inspect and modify different fields of a class using the methods of the Field class.</a:t>
            </a:r>
          </a:p>
        </p:txBody>
      </p:sp>
    </p:spTree>
  </p:cSld>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Public Fields Example</a:t>
            </a:r>
          </a:p>
          <a:p>
            <a:pPr lvl="0" indent="0" marL="0">
              <a:buNone/>
            </a:pPr>
            <a:r>
              <a:rPr/>
              <a:t>``` Java linenums=“1” import java.lang.Class; import java.lang.reflect.*;</a:t>
            </a:r>
          </a:p>
          <a:p>
            <a:pPr lvl="0" indent="0" marL="0">
              <a:buNone/>
            </a:pPr>
            <a:r>
              <a:rPr/>
              <a:t>class Dog { public String type; }</a:t>
            </a:r>
          </a:p>
          <a:p>
            <a:pPr lvl="0" indent="0">
              <a:buNone/>
            </a:pPr>
            <a:r>
              <a:rPr>
                <a:latin typeface="Courier"/>
              </a:rPr>
              <a:t>
---
#### Reflection of Java Public Fields Example
``` Java linenums="1"
class Main {
  public static void main(String[] args) {
    try {
      // create an object of Dog
      Dog d1 = new Dog();
      // create an object of Class
      // using getClass()
      Class obj = d1.getClass();
      // access and set the type field
      Field field1 = obj.getField("type");
      field1.set(d1, "labrador");
...
</a:t>
            </a:r>
          </a:p>
        </p:txBody>
      </p:sp>
    </p:spTree>
  </p:cSld>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Public Fields Example</a:t>
            </a:r>
          </a:p>
          <a:p>
            <a:pPr lvl="0" indent="0" marL="0">
              <a:buNone/>
            </a:pPr>
            <a:r>
              <a:rPr/>
              <a:t>``` Java linenums=“1” … // get the value of the field type String typeValue = (String) field1.get(d1); System.out.println(“Value:” + typeValue);</a:t>
            </a:r>
          </a:p>
          <a:p>
            <a:pPr lvl="0" indent="0">
              <a:buNone/>
            </a:pPr>
            <a:r>
              <a:rPr>
                <a:latin typeface="Courier"/>
              </a:rPr>
              <a:t>  // get the access modifier of the field type
  int mod = field1.getModifiers();
  // convert the modifier to String form
  String modifier1 = Modifier.toString(mod);
  System.out.println("Modifier: " + modifier1);
  System.out.println(" ");
}
catch (Exception e) {
  e.printStackTrace();
}</a:t>
            </a:r>
          </a:p>
          <a:p>
            <a:pPr lvl="0" indent="0" marL="0">
              <a:buNone/>
            </a:pPr>
            <a:r>
              <a:rPr/>
              <a:t>} }</a:t>
            </a:r>
          </a:p>
          <a:p>
            <a:pPr lvl="0" indent="0">
              <a:buNone/>
            </a:pPr>
            <a:r>
              <a:rPr>
                <a:latin typeface="Courier"/>
              </a:rPr>
              <a:t>
---
#### Reflection of Java Public Fields Example
- In the example, we have created a class named Dog.    
  - It includes a public field named type. Notice the statement,
``` Java linenums="1"
Field field1 = obj.getField("type");</a:t>
            </a:r>
          </a:p>
          <a:p>
            <a:pPr lvl="0"/>
            <a:r>
              <a:rPr/>
              <a:t>Here, we are accessing the public field of the Dog class and assigning it to the object field1 of the Field class.</a:t>
            </a:r>
          </a:p>
          <a:p>
            <a:pPr lvl="0"/>
            <a:r>
              <a:rPr/>
              <a:t>We then used various methods of the Field class:</a:t>
            </a:r>
          </a:p>
          <a:p>
            <a:pPr lvl="1"/>
            <a:r>
              <a:rPr>
                <a:latin typeface="Courier"/>
              </a:rPr>
              <a:t>field1.set()</a:t>
            </a:r>
            <a:r>
              <a:rPr/>
              <a:t> - sets the value of the field</a:t>
            </a:r>
          </a:p>
          <a:p>
            <a:pPr lvl="1"/>
            <a:r>
              <a:rPr>
                <a:latin typeface="Courier"/>
              </a:rPr>
              <a:t>field1.get()</a:t>
            </a:r>
            <a:r>
              <a:rPr/>
              <a:t> - returns the value of field</a:t>
            </a:r>
          </a:p>
          <a:p>
            <a:pPr lvl="1"/>
            <a:r>
              <a:rPr>
                <a:latin typeface="Courier"/>
              </a:rPr>
              <a:t>field1.getModifiers()</a:t>
            </a:r>
            <a:r>
              <a:rPr/>
              <a:t> - returns the value of the field in integer form</a:t>
            </a:r>
          </a:p>
        </p:txBody>
      </p:sp>
    </p:spTree>
  </p:cSld>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Private Fields Example</a:t>
            </a:r>
          </a:p>
          <a:p>
            <a:pPr lvl="0"/>
            <a:r>
              <a:rPr/>
              <a:t>Similarly, we can also access and modify private fields as well. However, the reflection of private field is little bit different than the public field</a:t>
            </a:r>
          </a:p>
        </p:txBody>
      </p:sp>
    </p:spTree>
  </p:cSld>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Private Fields Example</a:t>
            </a:r>
          </a:p>
          <a:p>
            <a:pPr lvl="0" indent="0" marL="0">
              <a:buNone/>
            </a:pPr>
            <a:r>
              <a:rPr/>
              <a:t>``` Java linenums=“1” import java.lang.Class; import java.lang.reflect.*;</a:t>
            </a:r>
          </a:p>
          <a:p>
            <a:pPr lvl="0" indent="0" marL="0">
              <a:buNone/>
            </a:pPr>
            <a:r>
              <a:rPr/>
              <a:t>class Dog { private String color; }</a:t>
            </a:r>
          </a:p>
          <a:p>
            <a:pPr lvl="0" indent="0">
              <a:buNone/>
            </a:pPr>
            <a:r>
              <a:rPr>
                <a:latin typeface="Courier"/>
              </a:rPr>
              <a:t>
---
#### Reflection of Java Private Fields Example
``` Java linenums="1"
class Main {
  public static void main(String[] args) {
    try {
      // create an object of Dog
      Dog d1 = new Dog();
      // create an object of Class
      // using getClass()
      Class obj = d1.getClass();
      // access the private field color
      Field field1 = obj.getDeclaredField("color");
      // allow modification of the private field
      field1.setAccessible(true);
...
</a:t>
            </a:r>
          </a:p>
        </p:txBody>
      </p:sp>
    </p:spTree>
  </p:cSld>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Private Fields Example</a:t>
            </a:r>
          </a:p>
          <a:p>
            <a:pPr lvl="0" indent="0" marL="0">
              <a:buNone/>
            </a:pPr>
            <a:r>
              <a:rPr/>
              <a:t>``` Java linenums=“1” … // set the value of color field1.set(d1, “brown”);</a:t>
            </a:r>
          </a:p>
          <a:p>
            <a:pPr lvl="0" indent="0">
              <a:buNone/>
            </a:pPr>
            <a:r>
              <a:rPr>
                <a:latin typeface="Courier"/>
              </a:rPr>
              <a:t>  // get the value of field color
  String colorValue = (String) field1.get(d1);
  System.out.println("Value: " + colorValue);
  // get the access modifier of color
  int mod2 = field1.getModifiers();
  // convert the access modifier to string
  String modifier2 = Modifier.toString(mod2);
  System.out.println("Modifier: " + modifier2);
}
catch (Exception e) {
  e.printStackTrace();
}</a:t>
            </a:r>
          </a:p>
          <a:p>
            <a:pPr lvl="0" indent="0" marL="0">
              <a:buNone/>
            </a:pPr>
            <a:r>
              <a:rPr/>
              <a:t>} }</a:t>
            </a:r>
          </a:p>
          <a:p>
            <a:pPr lvl="0" indent="0">
              <a:buNone/>
            </a:pPr>
            <a:r>
              <a:rPr>
                <a:latin typeface="Courier"/>
              </a:rPr>
              <a:t>
---
#### Reflection of Java Private Fields Example
- In the example, we have created a class named `Dog`. 
- The class contains a private field named `color`. Notice the statement.
``` Java linenums="1"
Field field1 = obj.getDeclaredField("color");
field1.setAccessible(true);</a:t>
            </a:r>
          </a:p>
          <a:p>
            <a:pPr lvl="0"/>
            <a:r>
              <a:rPr/>
              <a:t>Here, we are accessing color and assigning it to the object </a:t>
            </a:r>
            <a:r>
              <a:rPr>
                <a:latin typeface="Courier"/>
              </a:rPr>
              <a:t>field1</a:t>
            </a:r>
            <a:r>
              <a:rPr/>
              <a:t> of the Field class.</a:t>
            </a:r>
          </a:p>
          <a:p>
            <a:pPr lvl="0"/>
            <a:r>
              <a:rPr/>
              <a:t>We then used </a:t>
            </a:r>
            <a:r>
              <a:rPr>
                <a:latin typeface="Courier"/>
              </a:rPr>
              <a:t>field1</a:t>
            </a:r>
            <a:r>
              <a:rPr/>
              <a:t> to modify the accessibility of color and allows us to make changes to it.</a:t>
            </a:r>
          </a:p>
          <a:p>
            <a:pPr lvl="0"/>
            <a:r>
              <a:rPr/>
              <a:t>We then used </a:t>
            </a:r>
            <a:r>
              <a:rPr>
                <a:latin typeface="Courier"/>
              </a:rPr>
              <a:t>field1</a:t>
            </a:r>
            <a:r>
              <a:rPr/>
              <a:t> to perform various operations on the private field color.</a:t>
            </a:r>
          </a:p>
        </p:txBody>
      </p:sp>
    </p:spTree>
  </p:cSld>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Constructor</a:t>
            </a:r>
          </a:p>
          <a:p>
            <a:pPr lvl="0"/>
            <a:r>
              <a:rPr/>
              <a:t>We can also inspect different constructors of a class using various methods provided by the Constructor class</a:t>
            </a:r>
          </a:p>
        </p:txBody>
      </p:sp>
    </p:spTree>
  </p:cSld>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Constructor Example</a:t>
            </a:r>
          </a:p>
          <a:p>
            <a:pPr lvl="0" indent="0" marL="0">
              <a:buNone/>
            </a:pPr>
            <a:r>
              <a:rPr/>
              <a:t>``` Java linenums=“1” import java.lang.Class; import java.lang.reflect.*;</a:t>
            </a:r>
          </a:p>
          <a:p>
            <a:pPr lvl="0" indent="0" marL="0">
              <a:buNone/>
            </a:pPr>
            <a:r>
              <a:rPr/>
              <a:t>class Dog {</a:t>
            </a:r>
          </a:p>
          <a:p>
            <a:pPr lvl="0" indent="0" marL="0">
              <a:buNone/>
            </a:pPr>
            <a:r>
              <a:rPr/>
              <a:t>// public constructor without parameter public Dog() {</a:t>
            </a:r>
          </a:p>
          <a:p>
            <a:pPr lvl="0" indent="0" marL="0">
              <a:buNone/>
            </a:pPr>
            <a:r>
              <a:rPr/>
              <a:t>}</a:t>
            </a:r>
          </a:p>
          <a:p>
            <a:pPr lvl="0" indent="0" marL="0">
              <a:buNone/>
            </a:pPr>
            <a:r>
              <a:rPr/>
              <a:t>// private constructor with a single parameter private Dog(int age) {</a:t>
            </a:r>
          </a:p>
          <a:p>
            <a:pPr lvl="0" indent="0" marL="0">
              <a:buNone/>
            </a:pPr>
            <a:r>
              <a:rPr/>
              <a:t>}</a:t>
            </a:r>
          </a:p>
          <a:p>
            <a:pPr lvl="0" indent="0" marL="0">
              <a:buNone/>
            </a:pPr>
            <a:r>
              <a:rPr/>
              <a:t>}</a:t>
            </a:r>
          </a:p>
          <a:p>
            <a:pPr lvl="0" indent="0">
              <a:buNone/>
            </a:pPr>
            <a:r>
              <a:rPr>
                <a:latin typeface="Courier"/>
              </a:rPr>
              <a:t>
---
#### Reflection of Java Constructor Example
``` Java linenums="1"
class Main {
  public static void main(String[] args) {
    try {
      // create an object of Dog
      Dog d1 = new Dog();
      // create an object of Class
      // using getClass()
      Class obj = d1.getClass();
      // get all constructors of Dog
      Constructor[] constructors = obj.getDeclaredConstructors();
... 
</a:t>
            </a:r>
          </a:p>
        </p:txBody>
      </p:sp>
    </p:spTree>
  </p:cSld>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Constructor Example</a:t>
            </a:r>
          </a:p>
          <a:p>
            <a:pPr lvl="0" indent="0" marL="0">
              <a:buNone/>
            </a:pPr>
            <a:r>
              <a:rPr/>
              <a:t>``` Java linenums=“1” … for (Constructor c : constructors) {</a:t>
            </a:r>
          </a:p>
          <a:p>
            <a:pPr lvl="0" indent="0">
              <a:buNone/>
            </a:pPr>
            <a:r>
              <a:rPr>
                <a:latin typeface="Courier"/>
              </a:rPr>
              <a:t>    // get the name of constructors
    System.out.println("Constructor Name: " + c.getName());
    // get the access modifier of constructors
    // convert it into string form
    int modifier = c.getModifiers();
    String mod = Modifier.toString(modifier);
    System.out.println("Modifier: " + mod);
    // get the number of parameters in constructors
    System.out.println("Parameters: " + c.getParameterCount());
    System.out.println("");
  }
}
catch (Exception e) {
  e.printStackTrace();
}</a:t>
            </a:r>
          </a:p>
          <a:p>
            <a:pPr lvl="0" indent="0" marL="0">
              <a:buNone/>
            </a:pPr>
            <a:r>
              <a:rPr/>
              <a:t>} }</a:t>
            </a:r>
          </a:p>
          <a:p>
            <a:pPr lvl="0" indent="0">
              <a:buNone/>
            </a:pPr>
            <a:r>
              <a:rPr>
                <a:latin typeface="Courier"/>
              </a:rPr>
              <a:t>
---
#### Reflection of Java Constructor Example
- In the example, we have created a class named Dog. The class includes two constructors.
- We are using reflection to find the information about the constructors of the class. Notice the statement,
``` Java linenums="1"
Constructor[] constructors = obj.getDeclaredConstructor();</a:t>
            </a:r>
          </a:p>
          <a:p>
            <a:pPr lvl="0"/>
            <a:r>
              <a:rPr/>
              <a:t>Here, the we are accessing all the constructors present in Dog and assigning them to an array constructors of the Constructor type.</a:t>
            </a:r>
          </a:p>
        </p:txBody>
      </p:sp>
    </p:spTree>
  </p:cSld>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Reflection of Java Constructor Example</a:t>
            </a:r>
          </a:p>
          <a:p>
            <a:pPr lvl="0"/>
            <a:r>
              <a:rPr/>
              <a:t>We then used object c to get different informations about the constructor.</a:t>
            </a:r>
          </a:p>
          <a:p>
            <a:pPr lvl="1"/>
            <a:r>
              <a:rPr>
                <a:latin typeface="Courier"/>
              </a:rPr>
              <a:t>c.getName()</a:t>
            </a:r>
            <a:r>
              <a:rPr/>
              <a:t> - returns the name of the constructor</a:t>
            </a:r>
          </a:p>
          <a:p>
            <a:pPr lvl="1"/>
            <a:r>
              <a:rPr>
                <a:latin typeface="Courier"/>
              </a:rPr>
              <a:t>c.getModifiers()</a:t>
            </a:r>
            <a:r>
              <a:rPr/>
              <a:t> - returns the access modifiers of the constructor in integer form</a:t>
            </a:r>
          </a:p>
          <a:p>
            <a:pPr lvl="1"/>
            <a:r>
              <a:rPr>
                <a:latin typeface="Courier"/>
              </a:rPr>
              <a:t>c.getParameterCount()</a:t>
            </a:r>
            <a:r>
              <a:rPr/>
              <a:t> - returns the number of parameters present in each constructor</a:t>
            </a:r>
          </a:p>
        </p:txBody>
      </p:sp>
    </p:spTree>
  </p:cSld>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Java Reflection</a:t>
            </a:r>
          </a:p>
          <a:p>
            <a:pPr lvl="0"/>
            <a:r>
              <a:rPr/>
              <a:t>Reflection allows inspecting and manipulating classes, methods, fields at runtime</a:t>
            </a:r>
          </a:p>
          <a:p>
            <a:pPr lvl="0"/>
            <a:r>
              <a:rPr/>
              <a:t>Get Class object: Class.forName(), obj.getClass(), ClassName.class, Type.TYPE</a:t>
            </a:r>
          </a:p>
          <a:p>
            <a:pPr lvl="0"/>
            <a:r>
              <a:rPr/>
              <a:t>Reflect methods: getMethods(), getDeclaredMethods(), invoke()</a:t>
            </a:r>
          </a:p>
          <a:p>
            <a:pPr lvl="0"/>
            <a:r>
              <a:rPr/>
              <a:t>Reflect fields: getFields(), getDeclaredFields(), get(), set()</a:t>
            </a:r>
          </a:p>
          <a:p>
            <a:pPr lvl="0"/>
            <a:r>
              <a:rPr/>
              <a:t>Reflection can access private members using setAccessible(true) - use with caution</a:t>
            </a:r>
          </a:p>
        </p:txBody>
      </p:sp>
    </p:spTree>
  </p:cSld>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J: Java Wrapper Classes</a:t>
            </a:r>
          </a:p>
        </p:txBody>
      </p:sp>
    </p:spTree>
  </p:cSld>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Wrapper Classes</a:t>
            </a:r>
          </a:p>
        </p:txBody>
      </p:sp>
    </p:spTree>
  </p:cSld>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Java Wrapper Classes</a:t>
                </a:r>
              </a:p>
              <a:p>
                <a:pPr lvl="0"/>
                <a:r>
                  <a:rPr/>
                  <a:t>Wrapper classes provide a way to use primitive data types (int, boolean, etc..) as objects</a:t>
                </a:r>
              </a:p>
              <a:p>
                <a:pPr lvl="0" indent="0" marL="0">
                  <a:buNone/>
                </a:pPr>
                <a:r>
                  <a:rPr/>
                  <a:t>Primitive Data Type </a:t>
                </a:r>
                <a14:m>
                  <m:oMath xmlns:m="http://schemas.openxmlformats.org/officeDocument/2006/math">
                    <m:r>
                      <m:rPr>
                        <m:sty m:val="p"/>
                      </m:rPr>
                      <m:t>⇒</m:t>
                    </m:r>
                  </m:oMath>
                </a14:m>
                <a:r>
                  <a:rPr/>
                  <a:t> Wrapper Class byte </a:t>
                </a:r>
                <a14:m>
                  <m:oMath xmlns:m="http://schemas.openxmlformats.org/officeDocument/2006/math">
                    <m:r>
                      <m:rPr>
                        <m:sty m:val="p"/>
                      </m:rPr>
                      <m:t>⇒</m:t>
                    </m:r>
                  </m:oMath>
                </a14:m>
                <a:r>
                  <a:rPr/>
                  <a:t> Byte short </a:t>
                </a:r>
                <a14:m>
                  <m:oMath xmlns:m="http://schemas.openxmlformats.org/officeDocument/2006/math">
                    <m:r>
                      <m:rPr>
                        <m:sty m:val="p"/>
                      </m:rPr>
                      <m:t>⇒</m:t>
                    </m:r>
                  </m:oMath>
                </a14:m>
                <a:r>
                  <a:rPr/>
                  <a:t> Short int </a:t>
                </a:r>
                <a14:m>
                  <m:oMath xmlns:m="http://schemas.openxmlformats.org/officeDocument/2006/math">
                    <m:r>
                      <m:rPr>
                        <m:sty m:val="p"/>
                      </m:rPr>
                      <m:t>⇒</m:t>
                    </m:r>
                  </m:oMath>
                </a14:m>
                <a:r>
                  <a:rPr/>
                  <a:t> Integer long </a:t>
                </a:r>
                <a14:m>
                  <m:oMath xmlns:m="http://schemas.openxmlformats.org/officeDocument/2006/math">
                    <m:r>
                      <m:rPr>
                        <m:sty m:val="p"/>
                      </m:rPr>
                      <m:t>⇒</m:t>
                    </m:r>
                  </m:oMath>
                </a14:m>
                <a:r>
                  <a:rPr/>
                  <a:t> Long float </a:t>
                </a:r>
                <a14:m>
                  <m:oMath xmlns:m="http://schemas.openxmlformats.org/officeDocument/2006/math">
                    <m:r>
                      <m:rPr>
                        <m:sty m:val="p"/>
                      </m:rPr>
                      <m:t>⇒</m:t>
                    </m:r>
                  </m:oMath>
                </a14:m>
                <a:r>
                  <a:rPr/>
                  <a:t> Float double </a:t>
                </a:r>
                <a14:m>
                  <m:oMath xmlns:m="http://schemas.openxmlformats.org/officeDocument/2006/math">
                    <m:r>
                      <m:rPr>
                        <m:sty m:val="p"/>
                      </m:rPr>
                      <m:t>⇒</m:t>
                    </m:r>
                  </m:oMath>
                </a14:m>
                <a:r>
                  <a:rPr/>
                  <a:t> Double boolean </a:t>
                </a:r>
                <a14:m>
                  <m:oMath xmlns:m="http://schemas.openxmlformats.org/officeDocument/2006/math">
                    <m:r>
                      <m:rPr>
                        <m:sty m:val="p"/>
                      </m:rPr>
                      <m:t>⇒</m:t>
                    </m:r>
                  </m:oMath>
                </a14:m>
                <a:r>
                  <a:rPr/>
                  <a:t> Boolean char </a:t>
                </a:r>
                <a14:m>
                  <m:oMath xmlns:m="http://schemas.openxmlformats.org/officeDocument/2006/math">
                    <m:r>
                      <m:rPr>
                        <m:sty m:val="p"/>
                      </m:rPr>
                      <m:t>⇒</m:t>
                    </m:r>
                  </m:oMath>
                </a14:m>
                <a:r>
                  <a:rPr/>
                  <a:t> Character</a:t>
                </a:r>
              </a:p>
            </p:txBody>
          </p:sp>
        </mc:Choice>
      </mc:AlternateContent>
    </p:spTree>
  </p:cSld>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Wrapper Classes</a:t>
            </a:r>
          </a:p>
          <a:p>
            <a:pPr lvl="0"/>
            <a:r>
              <a:rPr/>
              <a:t>Sometimes you must use wrapper classes, for example when working with Collection objects, such as ArrayList, where primitive types cannot be used (the list can only store objects)</a:t>
            </a:r>
          </a:p>
          <a:p>
            <a:pPr lvl="0" indent="0" marL="0">
              <a:buNone/>
            </a:pPr>
            <a:r>
              <a:rPr>
                <a:latin typeface="Courier"/>
              </a:rPr>
              <a:t>Java linenums="1" ArrayList&lt;int&gt; myNumbers = new ArrayList&lt;int&gt;(); // Invalid</a:t>
            </a:r>
          </a:p>
          <a:p>
            <a:pPr lvl="0" indent="0" marL="0">
              <a:buNone/>
            </a:pPr>
            <a:r>
              <a:rPr>
                <a:latin typeface="Courier"/>
              </a:rPr>
              <a:t>Java linenums="1" ArrayList&lt;Integer&gt; myNumbers = new ArrayList&lt;Integer&gt;(); // Valid</a:t>
            </a:r>
          </a:p>
        </p:txBody>
      </p:sp>
    </p:spTree>
  </p:cSld>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Wrapper Objects</a:t>
            </a:r>
          </a:p>
          <a:p>
            <a:pPr lvl="0"/>
            <a:r>
              <a:rPr/>
              <a:t>To create a wrapper object, use the wrapper class instead of the primitive type. To get the value, you can just print the object</a:t>
            </a:r>
          </a:p>
          <a:p>
            <a:pPr lvl="0" indent="0" marL="0">
              <a:buNone/>
            </a:pPr>
            <a:r>
              <a:rPr>
                <a:latin typeface="Courier"/>
              </a:rPr>
              <a:t>Java linenums="1" public class Main {   public static void main(String[] args) {     Integer myInt = 5;     Double myDouble = 5.99;     Character myChar = 'A';     System.out.println(myInt);     System.out.println(myDouble);     System.out.println(myChar);   } }</a:t>
            </a:r>
          </a:p>
        </p:txBody>
      </p:sp>
    </p:spTree>
  </p:cSld>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Wrapper Objects</a:t>
            </a:r>
          </a:p>
          <a:p>
            <a:pPr lvl="0"/>
            <a:r>
              <a:rPr/>
              <a:t>Since you’re now working with objects, you can use certain methods to get information about the specific object.</a:t>
            </a:r>
          </a:p>
          <a:p>
            <a:pPr lvl="0"/>
            <a:r>
              <a:rPr/>
              <a:t>For example, the following methods are used to get the value associated with the corresponding wrapper object: </a:t>
            </a:r>
            <a:r>
              <a:rPr>
                <a:latin typeface="Courier"/>
              </a:rPr>
              <a:t>intValue()</a:t>
            </a:r>
            <a:r>
              <a:rPr/>
              <a:t>, </a:t>
            </a:r>
            <a:r>
              <a:rPr>
                <a:latin typeface="Courier"/>
              </a:rPr>
              <a:t>byteValue()</a:t>
            </a:r>
            <a:r>
              <a:rPr/>
              <a:t>, </a:t>
            </a:r>
            <a:r>
              <a:rPr>
                <a:latin typeface="Courier"/>
              </a:rPr>
              <a:t>shortValue()</a:t>
            </a:r>
            <a:r>
              <a:rPr/>
              <a:t>, </a:t>
            </a:r>
            <a:r>
              <a:rPr>
                <a:latin typeface="Courier"/>
              </a:rPr>
              <a:t>longValue()</a:t>
            </a:r>
            <a:r>
              <a:rPr/>
              <a:t>, </a:t>
            </a:r>
            <a:r>
              <a:rPr>
                <a:latin typeface="Courier"/>
              </a:rPr>
              <a:t>floatValue()</a:t>
            </a:r>
            <a:r>
              <a:rPr/>
              <a:t>, </a:t>
            </a:r>
            <a:r>
              <a:rPr>
                <a:latin typeface="Courier"/>
              </a:rPr>
              <a:t>doubleValue()</a:t>
            </a:r>
            <a:r>
              <a:rPr/>
              <a:t>, </a:t>
            </a:r>
            <a:r>
              <a:rPr>
                <a:latin typeface="Courier"/>
              </a:rPr>
              <a:t>charValue()</a:t>
            </a:r>
            <a:r>
              <a:rPr/>
              <a:t>, </a:t>
            </a:r>
            <a:r>
              <a:rPr>
                <a:latin typeface="Courier"/>
              </a:rPr>
              <a:t>booleanValue()</a:t>
            </a:r>
            <a:r>
              <a:rPr/>
              <a:t>.</a:t>
            </a:r>
          </a:p>
        </p:txBody>
      </p:sp>
    </p:spTree>
  </p:cSld>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Wrapper Objects</a:t>
            </a:r>
          </a:p>
          <a:p>
            <a:pPr lvl="0" indent="0" marL="0">
              <a:buNone/>
            </a:pPr>
            <a:r>
              <a:rPr>
                <a:latin typeface="Courier"/>
              </a:rPr>
              <a:t>Java linenums="1" public class Main {   public static void main(String[] args) {     Integer myInt = 5;     Double myDouble = 5.99;     Character myChar = 'A';     System.out.println(myInt.intValue());     System.out.println(myDouble.doubleValue());     System.out.println(myChar.charValue());   } }</a:t>
            </a:r>
          </a:p>
        </p:txBody>
      </p:sp>
    </p:spTree>
  </p:cSld>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Wrapper Objects</a:t>
            </a:r>
          </a:p>
          <a:p>
            <a:pPr lvl="0"/>
            <a:r>
              <a:rPr/>
              <a:t>Another useful method is the toString() method, which is used to convert wrapper objects to strings.</a:t>
            </a:r>
          </a:p>
          <a:p>
            <a:pPr lvl="0"/>
            <a:r>
              <a:rPr/>
              <a:t>In the following example, we convert an Integer to a String, and use the length() method of the String class to output the length of the “string”:</a:t>
            </a:r>
          </a:p>
          <a:p>
            <a:pPr lvl="0" indent="0" marL="0">
              <a:buNone/>
            </a:pPr>
            <a:r>
              <a:rPr>
                <a:latin typeface="Courier"/>
              </a:rPr>
              <a:t>Java linenums="1" public class Main {   public static void main(String[] args) {     Integer myInt = 100;     String myString = myInt.toString();     System.out.println(myString.length());   } }</a:t>
            </a:r>
          </a:p>
        </p:txBody>
      </p:sp>
    </p:spTree>
  </p:cSld>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Java Wrapper Classes</a:t>
            </a:r>
          </a:p>
          <a:p>
            <a:pPr lvl="0"/>
            <a:r>
              <a:rPr/>
              <a:t>Every primitive type has a corresponding wrapper class (int-&gt;Integer, char-&gt;Character, etc.)</a:t>
            </a:r>
          </a:p>
          <a:p>
            <a:pPr lvl="0"/>
            <a:r>
              <a:rPr/>
              <a:t>Autoboxing: automatic conversion from primitive to wrapper (int -&gt; Integer)</a:t>
            </a:r>
          </a:p>
          <a:p>
            <a:pPr lvl="0"/>
            <a:r>
              <a:rPr/>
              <a:t>Unboxing: automatic conversion from wrapper to primitive (Integer -&gt; int)</a:t>
            </a:r>
          </a:p>
          <a:p>
            <a:pPr lvl="0"/>
            <a:r>
              <a:rPr/>
              <a:t>Wrapper classes are needed for: Collections, generics, null values, utility methods</a:t>
            </a:r>
          </a:p>
          <a:p>
            <a:pPr lvl="0"/>
            <a:r>
              <a:rPr/>
              <a:t>Wrapper classes are immutable and final</a:t>
            </a:r>
          </a:p>
        </p:txBody>
      </p:sp>
    </p:spTree>
  </p:cSld>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Module K: Java Lambda Expressions</a:t>
            </a:r>
          </a:p>
        </p:txBody>
      </p:sp>
    </p:spTree>
  </p:cSld>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Java Lambda Expressions</a:t>
            </a:r>
          </a:p>
        </p:txBody>
      </p:sp>
    </p:spTree>
  </p:cSld>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Lambda Expressions</a:t>
            </a:r>
          </a:p>
          <a:p>
            <a:pPr lvl="0"/>
            <a:r>
              <a:rPr/>
              <a:t>Lambda Expressions were added in Java 8.</a:t>
            </a:r>
          </a:p>
          <a:p>
            <a:pPr lvl="0"/>
            <a:r>
              <a:rPr/>
              <a:t>A lambda expression is a short block of code which takes in parameters and returns a value. Lambda expressions are similar to methods, but they do not need a name and they can be implemented right in the body of a method.</a:t>
            </a:r>
          </a:p>
        </p:txBody>
      </p:sp>
    </p:spTree>
  </p:cSld>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Java Lambda Expressions and Functional Interfaces</a:t>
            </a:r>
          </a:p>
        </p:txBody>
      </p:sp>
      <p:pic>
        <p:nvPicPr>
          <p:cNvPr descr="assets/lambda-functional-interface.png" id="0" name="Picture 1"/>
          <p:cNvPicPr>
            <a:picLocks noGrp="1" noChangeAspect="1"/>
          </p:cNvPicPr>
          <p:nvPr/>
        </p:nvPicPr>
        <p:blipFill>
          <a:blip r:embed="rId2"/>
          <a:stretch>
            <a:fillRect/>
          </a:stretch>
        </p:blipFill>
        <p:spPr bwMode="auto">
          <a:xfrm>
            <a:off x="3568700" y="1358900"/>
            <a:ext cx="5105400" cy="1549400"/>
          </a:xfrm>
          <a:prstGeom prst="rect">
            <a:avLst/>
          </a:prstGeom>
          <a:noFill/>
          <a:ln w="9525">
            <a:noFill/>
            <a:headEnd/>
            <a:tailEnd/>
          </a:ln>
        </p:spPr>
      </p:pic>
      <p:sp>
        <p:nvSpPr>
          <p:cNvPr id="1" name="TextBox 3"/>
          <p:cNvSpPr txBox="1"/>
          <p:nvPr/>
        </p:nvSpPr>
        <p:spPr>
          <a:xfrm>
            <a:off x="3568700" y="4076700"/>
            <a:ext cx="5105400" cy="508000"/>
          </a:xfrm>
          <a:prstGeom prst="rect">
            <a:avLst/>
          </a:prstGeom>
          <a:noFill/>
        </p:spPr>
        <p:txBody>
          <a:bodyPr/>
          <a:lstStyle/>
          <a:p>
            <a:pPr lvl="0" indent="0" marL="0" algn="ctr">
              <a:buNone/>
            </a:pPr>
            <a:r>
              <a:rPr/>
              <a:t>center h:500px</a:t>
            </a:r>
          </a:p>
        </p:txBody>
      </p:sp>
    </p:spTree>
  </p:cSld>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Lambda Expressions Syntax</a:t>
            </a:r>
          </a:p>
          <a:p>
            <a:pPr lvl="0"/>
            <a:r>
              <a:rPr/>
              <a:t>The simplest lambda expression contains a single parameter and an expression:</a:t>
            </a:r>
          </a:p>
          <a:p>
            <a:pPr lvl="0" indent="0" marL="0">
              <a:buNone/>
            </a:pPr>
            <a:r>
              <a:rPr>
                <a:latin typeface="Courier"/>
              </a:rPr>
              <a:t>Java linenums="1" parameter -&gt; expression</a:t>
            </a:r>
          </a:p>
          <a:p>
            <a:pPr lvl="0"/>
            <a:r>
              <a:rPr/>
              <a:t>To use more than one parameter, wrap them in parentheses:</a:t>
            </a:r>
          </a:p>
          <a:p>
            <a:pPr lvl="0" indent="0" marL="0">
              <a:buNone/>
            </a:pPr>
            <a:r>
              <a:rPr>
                <a:latin typeface="Courier"/>
              </a:rPr>
              <a:t>Java linenums="1" (parameter1, parameter2) -&gt; expression</a:t>
            </a:r>
          </a:p>
        </p:txBody>
      </p:sp>
    </p:spTree>
  </p:cSld>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Java Lambda Expressions Syntax</a:t>
            </a:r>
          </a:p>
          <a:p>
            <a:pPr lvl="0"/>
            <a:r>
              <a:rPr/>
              <a:t>Expressions are limited. They have to immediately return a value, and they cannot contain variables, assignments or statements such as if or for. In order to do more complex operations, a code block can be used with curly braces. If the lambda expression needs to return a value, then the code block should have a return statement.</a:t>
            </a:r>
          </a:p>
          <a:p>
            <a:pPr lvl="0" indent="0" marL="0">
              <a:buNone/>
            </a:pPr>
            <a:r>
              <a:rPr>
                <a:latin typeface="Courier"/>
              </a:rPr>
              <a:t>Java linenums="1" (parameter1, parameter2) -&gt; { code block }</a:t>
            </a:r>
          </a:p>
        </p:txBody>
      </p:sp>
    </p:spTree>
  </p:cSld>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Lambda expressions are usually passed as parameters to a function</a:t>
            </a:r>
          </a:p>
        </p:txBody>
      </p:sp>
    </p:spTree>
  </p:cSld>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Using Lambda Expressions</a:t>
            </a:r>
          </a:p>
          <a:p>
            <a:pPr lvl="0"/>
            <a:r>
              <a:rPr/>
              <a:t>Use a lamba expression in the ArrayList’s forEach() method to print every item in the list</a:t>
            </a:r>
          </a:p>
          <a:p>
            <a:pPr lvl="0" indent="0" marL="0">
              <a:buNone/>
            </a:pPr>
            <a:r>
              <a:rPr/>
              <a:t>``` Java linenums=“1” import java.util.ArrayList;</a:t>
            </a:r>
          </a:p>
          <a:p>
            <a:pPr lvl="0" indent="0" marL="0">
              <a:buNone/>
            </a:pPr>
            <a:r>
              <a:rPr/>
              <a:t>public class Main { public static void main(String[] args) { ArrayList numbers = new ArrayList(); numbers.add(5); numbers.add(9); numbers.add(8); numbers.add(1); numbers.forEach( (n) -&gt; { System.out.println(n); } ); } }</a:t>
            </a:r>
          </a:p>
          <a:p>
            <a:pPr lvl="0" indent="0">
              <a:buNone/>
            </a:pPr>
            <a:r>
              <a:rPr>
                <a:latin typeface="Courier"/>
              </a:rPr>
              <a:t>
---
- **Lambda expressions can be stored in variables if the variable's type is an interface which has only one method.** 
- **The lambda expression should have the same number of parameters and the same return type as that method.** 
- **Java has many of these kinds of interfaces built in, such as the Consumer interface (found in the java.util package) used by lists.**
---
### Using Lambda Expressions
- Use Java's Consumer interface to store a lambda expression in a variable:
``` Java linenums="1"
import java.util.ArrayList;
import java.util.function.Consumer;
public class Main {
  public static void main(String[] args) {
    ArrayList&lt;Integer&gt; numbers = new ArrayList&lt;Integer&gt;();
    numbers.add(5);
    numbers.add(9);
    numbers.add(8);
    numbers.add(1);
    Consumer&lt;Integer&gt; method = (n) -&gt; { System.out.println(n); };
    numbers.forEach( method );
  }
}</a:t>
            </a:r>
          </a:p>
        </p:txBody>
      </p:sp>
    </p:spTree>
  </p:cSld>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b="1"/>
              <a:t>To use a lambda expression in a method, the method should have a parameter with a single-method interface as its type.</a:t>
            </a:r>
          </a:p>
          <a:p>
            <a:pPr lvl="0"/>
            <a:r>
              <a:rPr b="1"/>
              <a:t>Calling the interface’s method will run the lambda expression:</a:t>
            </a:r>
          </a:p>
        </p:txBody>
      </p:sp>
    </p:spTree>
  </p:cSld>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Using Lambda Expressions</a:t>
            </a:r>
          </a:p>
          <a:p>
            <a:pPr lvl="0"/>
            <a:r>
              <a:rPr/>
              <a:t>Create a method which takes a lambda expression as a parameter:</a:t>
            </a:r>
          </a:p>
          <a:p>
            <a:pPr lvl="0" indent="0" marL="0">
              <a:buNone/>
            </a:pPr>
            <a:r>
              <a:rPr/>
              <a:t>``` Java linenums=“1” interface StringFunction { String run(String str); }</a:t>
            </a:r>
          </a:p>
          <a:p>
            <a:pPr lvl="0" indent="0" marL="0">
              <a:buNone/>
            </a:pPr>
            <a:r>
              <a:rPr/>
              <a:t>public class Main { public static void main(String[] args) { StringFunction exclaim = (s) -&gt; s + “!”; StringFunction ask = (s) -&gt; s + “?”; printFormatted(“Hello”, exclaim); printFormatted(“Hello”, ask); } public static void printFormatted(String str, StringFunction format) { String result = format.run(str); System.out.println(result); } } ```</a:t>
            </a:r>
          </a:p>
        </p:txBody>
      </p:sp>
    </p:spTree>
  </p:cSld>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Takeaway: Java Lambda Expressions</a:t>
            </a:r>
          </a:p>
          <a:p>
            <a:pPr lvl="0"/>
            <a:r>
              <a:rPr/>
              <a:t>Lambda: concise way to represent an anonymous function (functional interface implementation)</a:t>
            </a:r>
          </a:p>
          <a:p>
            <a:pPr lvl="0"/>
            <a:r>
              <a:rPr/>
              <a:t>Syntax: (parameters) -&gt; expression OR (parameters) -&gt; { statements; }</a:t>
            </a:r>
          </a:p>
          <a:p>
            <a:pPr lvl="0"/>
            <a:r>
              <a:rPr/>
              <a:t>Lambdas work with functional interfaces (interfaces with exactly one abstract method)</a:t>
            </a:r>
          </a:p>
          <a:p>
            <a:pPr lvl="0"/>
            <a:r>
              <a:rPr/>
              <a:t>Common functional interfaces: Runnable, Comparator, Predicate, Function</a:t>
            </a:r>
          </a:p>
          <a:p>
            <a:pPr lvl="0"/>
            <a:r>
              <a:rPr/>
              <a:t>Lambdas enable functional programming style in Java</a:t>
            </a:r>
          </a:p>
        </p:txBody>
      </p:sp>
    </p:spTree>
  </p:cSld>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a:r>
              <a:rPr>
                <a:hlinkClick r:id="rId2"/>
              </a:rPr>
              <a:t>BTechSmartClass-Defining an Interface in Java</a:t>
            </a:r>
          </a:p>
          <a:p>
            <a:pPr lvl="0"/>
            <a:r>
              <a:rPr>
                <a:hlinkClick r:id="rId3"/>
              </a:rPr>
              <a:t>BTechSmartClass-Implementing an Interface in Java</a:t>
            </a:r>
          </a:p>
          <a:p>
            <a:pPr lvl="0"/>
            <a:r>
              <a:rPr>
                <a:hlinkClick r:id="rId4"/>
              </a:rPr>
              <a:t>BTechSmartClass-Nested Interfaces in java</a:t>
            </a:r>
          </a:p>
          <a:p>
            <a:pPr lvl="0"/>
            <a:r>
              <a:rPr>
                <a:hlinkClick r:id="rId5"/>
              </a:rPr>
              <a:t>BTechSmartClass-Variables in Java Interfaces</a:t>
            </a:r>
          </a:p>
          <a:p>
            <a:pPr lvl="0"/>
            <a:r>
              <a:rPr>
                <a:hlinkClick r:id="rId6"/>
              </a:rPr>
              <a:t>BTechSmartClass-Extending an Interface in java</a:t>
            </a:r>
          </a:p>
          <a:p>
            <a:pPr lvl="0"/>
            <a:r>
              <a:rPr>
                <a:hlinkClick r:id="rId7"/>
              </a:rPr>
              <a:t>Programiz-Java Interface</a:t>
            </a:r>
          </a:p>
          <a:p>
            <a:pPr lvl="0"/>
            <a:r>
              <a:rPr>
                <a:hlinkClick r:id="rId8"/>
              </a:rPr>
              <a:t>Programiz-Java Reflection</a:t>
            </a:r>
          </a:p>
          <a:p>
            <a:pPr lvl="0"/>
            <a:r>
              <a:rPr>
                <a:hlinkClick r:id="rId9"/>
              </a:rPr>
              <a:t>W3schools-Java Wrapper Classes</a:t>
            </a:r>
          </a:p>
          <a:p>
            <a:pPr lvl="0"/>
            <a:r>
              <a:rPr>
                <a:hlinkClick r:id="rId10"/>
              </a:rPr>
              <a:t>W3schools-Java Lambda Expressions</a:t>
            </a:r>
          </a:p>
        </p:txBody>
      </p:sp>
    </p:spTree>
  </p:cSld>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14:m>
                  <m:oMath xmlns:m="http://schemas.openxmlformats.org/officeDocument/2006/math">
                    <m:r>
                      <m:t>E</m:t>
                    </m:r>
                    <m:r>
                      <m:t>n</m:t>
                    </m:r>
                    <m:r>
                      <m:t>d</m:t>
                    </m:r>
                    <m:r>
                      <m:rPr>
                        <m:sty m:val="p"/>
                      </m:rPr>
                      <m:t>−</m:t>
                    </m:r>
                    <m:r>
                      <m:t>O</m:t>
                    </m:r>
                    <m:r>
                      <m:t>f</m:t>
                    </m:r>
                    <m:r>
                      <m:rPr>
                        <m:sty m:val="p"/>
                      </m:rPr>
                      <m:t>−</m:t>
                    </m:r>
                    <m:r>
                      <m:t>W</m:t>
                    </m:r>
                    <m:r>
                      <m:t>e</m:t>
                    </m:r>
                    <m:r>
                      <m:t>e</m:t>
                    </m:r>
                    <m:r>
                      <m:t>k</m:t>
                    </m:r>
                    <m:r>
                      <m:rPr>
                        <m:sty m:val="p"/>
                      </m:rPr>
                      <m:t>−</m:t>
                    </m:r>
                    <m:r>
                      <m:t>3</m:t>
                    </m:r>
                    <m:r>
                      <m:rPr>
                        <m:sty m:val="p"/>
                      </m:rPr>
                      <m:t>−</m:t>
                    </m:r>
                    <m:r>
                      <m:t>M</m:t>
                    </m:r>
                    <m:r>
                      <m:t>o</m:t>
                    </m:r>
                    <m:r>
                      <m:t>d</m:t>
                    </m:r>
                    <m:r>
                      <m:t>u</m:t>
                    </m:r>
                    <m:r>
                      <m:t>l</m:t>
                    </m:r>
                    <m:r>
                      <m:t>e</m:t>
                    </m:r>
                  </m:oMath>
                </a14:m>
              </a:p>
            </p:txBody>
          </p:sp>
        </mc:Choice>
      </mc:AlternateContent>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CEN206 Object-Oriented Programming</dc:title>
  <dc:creator>Author: Asst. Prof. Dr. Ugur CORUH</dc:creator>
  <cp:keywords/>
  <dcterms:created xsi:type="dcterms:W3CDTF">2026-03-03T13:31:11Z</dcterms:created>
  <dcterms:modified xsi:type="dcterms:W3CDTF">2026-03-03T13:31:11Z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
  </property>
  <property fmtid="{D5CDD505-2E9C-101B-9397-08002B2CF9AE}" pid="4" name="backgroundImage">
    <vt:lpwstr>url(‘assets/hero-background.svg’)</vt:lpwstr>
  </property>
  <property fmtid="{D5CDD505-2E9C-101B-9397-08002B2CF9AE}" pid="5" name="date">
    <vt:lpwstr/>
  </property>
  <property fmtid="{D5CDD505-2E9C-101B-9397-08002B2CF9AE}" pid="6" name="disable-header-and-footer">
    <vt:lpwstr>False</vt:lpwstr>
  </property>
  <property fmtid="{D5CDD505-2E9C-101B-9397-08002B2CF9AE}" pid="7" name="footer">
    <vt:lpwstr>height:50px RTEU CEN206 Week-3</vt:lpwstr>
  </property>
  <property fmtid="{D5CDD505-2E9C-101B-9397-08002B2CF9AE}" pid="8" name="footer-center">
    <vt:lpwstr>© Copyright 2025-2026</vt:lpwstr>
  </property>
  <property fmtid="{D5CDD505-2E9C-101B-9397-08002B2CF9AE}" pid="9" name="footer-left">
    <vt:lpwstr>© Copyright 2025-2026 Asst. Prof. Dr. Ugur CORUH</vt:lpwstr>
  </property>
  <property fmtid="{D5CDD505-2E9C-101B-9397-08002B2CF9AE}" pid="10" name="footer-right">
    <vt:lpwstr/>
  </property>
  <property fmtid="{D5CDD505-2E9C-101B-9397-08002B2CF9AE}" pid="11" name="geometry">
    <vt:lpwstr>left=2.54cm,right=2.54cm,top=1.91cm,bottom=1.91cm</vt:lpwstr>
  </property>
  <property fmtid="{D5CDD505-2E9C-101B-9397-08002B2CF9AE}" pid="12" name="header">
    <vt:lpwstr>CEN206 Object-Oriented Programming</vt:lpwstr>
  </property>
  <property fmtid="{D5CDD505-2E9C-101B-9397-08002B2CF9AE}" pid="13" name="header-center">
    <vt:lpwstr/>
  </property>
  <property fmtid="{D5CDD505-2E9C-101B-9397-08002B2CF9AE}" pid="14" name="header-left">
    <vt:lpwstr/>
  </property>
  <property fmtid="{D5CDD505-2E9C-101B-9397-08002B2CF9AE}" pid="15" name="header-right">
    <vt:lpwstr/>
  </property>
  <property fmtid="{D5CDD505-2E9C-101B-9397-08002B2CF9AE}" pid="16" name="links-as-notes">
    <vt:lpwstr>True</vt:lpwstr>
  </property>
  <property fmtid="{D5CDD505-2E9C-101B-9397-08002B2CF9AE}" pid="17" name="listings-disable-line-numbers">
    <vt:lpwstr>True</vt:lpwstr>
  </property>
  <property fmtid="{D5CDD505-2E9C-101B-9397-08002B2CF9AE}" pid="18" name="listings-no-page-break">
    <vt:lpwstr>False</vt:lpwstr>
  </property>
  <property fmtid="{D5CDD505-2E9C-101B-9397-08002B2CF9AE}" pid="19" name="lof">
    <vt:lpwstr>True</vt:lpwstr>
  </property>
  <property fmtid="{D5CDD505-2E9C-101B-9397-08002B2CF9AE}" pid="20" name="logo">
    <vt:lpwstr>assets/2021-10-19-15-01-36-image.png</vt:lpwstr>
  </property>
  <property fmtid="{D5CDD505-2E9C-101B-9397-08002B2CF9AE}" pid="21" name="logo-width">
    <vt:lpwstr>100</vt:lpwstr>
  </property>
  <property fmtid="{D5CDD505-2E9C-101B-9397-08002B2CF9AE}" pid="22" name="lot">
    <vt:lpwstr>True</vt:lpwstr>
  </property>
  <property fmtid="{D5CDD505-2E9C-101B-9397-08002B2CF9AE}" pid="23" name="marp">
    <vt:lpwstr>True</vt:lpwstr>
  </property>
  <property fmtid="{D5CDD505-2E9C-101B-9397-08002B2CF9AE}" pid="24" name="math">
    <vt:lpwstr>katex</vt:lpwstr>
  </property>
  <property fmtid="{D5CDD505-2E9C-101B-9397-08002B2CF9AE}" pid="25" name="page-background">
    <vt:lpwstr/>
  </property>
  <property fmtid="{D5CDD505-2E9C-101B-9397-08002B2CF9AE}" pid="26" name="page-background-opacity">
    <vt:lpwstr/>
  </property>
  <property fmtid="{D5CDD505-2E9C-101B-9397-08002B2CF9AE}" pid="27" name="paginate">
    <vt:lpwstr>True</vt:lpwstr>
  </property>
  <property fmtid="{D5CDD505-2E9C-101B-9397-08002B2CF9AE}" pid="28" name="style">
    <vt:lpwstr>img[alt~=“center”] { display: block; margin: 0 auto; }</vt:lpwstr>
  </property>
  <property fmtid="{D5CDD505-2E9C-101B-9397-08002B2CF9AE}" pid="29" name="subparagraph">
    <vt:lpwstr>True</vt:lpwstr>
  </property>
  <property fmtid="{D5CDD505-2E9C-101B-9397-08002B2CF9AE}" pid="30" name="subtitle">
    <vt:lpwstr>Interfaces, Type System and Code Organization</vt:lpwstr>
  </property>
  <property fmtid="{D5CDD505-2E9C-101B-9397-08002B2CF9AE}" pid="31" name="theme">
    <vt:lpwstr>default</vt:lpwstr>
  </property>
  <property fmtid="{D5CDD505-2E9C-101B-9397-08002B2CF9AE}" pid="32" name="titlepage">
    <vt:lpwstr>True</vt:lpwstr>
  </property>
  <property fmtid="{D5CDD505-2E9C-101B-9397-08002B2CF9AE}" pid="33" name="titlepage-color">
    <vt:lpwstr>FFFFFF</vt:lpwstr>
  </property>
  <property fmtid="{D5CDD505-2E9C-101B-9397-08002B2CF9AE}" pid="34" name="titlepage-rule-color">
    <vt:lpwstr>CCCCCC</vt:lpwstr>
  </property>
  <property fmtid="{D5CDD505-2E9C-101B-9397-08002B2CF9AE}" pid="35" name="titlepage-rule-height">
    <vt:lpwstr>4</vt:lpwstr>
  </property>
  <property fmtid="{D5CDD505-2E9C-101B-9397-08002B2CF9AE}" pid="36" name="titlepage-text-color">
    <vt:lpwstr>000000</vt:lpwstr>
  </property>
</Properties>
</file>