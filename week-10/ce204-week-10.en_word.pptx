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 id="368" r:id="rId114"/>
    <p:sldId id="369" r:id="rId115"/>
    <p:sldId id="370" r:id="rId116"/>
    <p:sldId id="371" r:id="rId117"/>
    <p:sldId id="372" r:id="rId118"/>
    <p:sldId id="373" r:id="rId119"/>
    <p:sldId id="374" r:id="rId120"/>
    <p:sldId id="375" r:id="rId121"/>
    <p:sldId id="376" r:id="rId122"/>
    <p:sldId id="377" r:id="rId123"/>
    <p:sldId id="378" r:id="rId124"/>
    <p:sldId id="379" r:id="rId125"/>
    <p:sldId id="380" r:id="rId126"/>
    <p:sldId id="381" r:id="rId127"/>
    <p:sldId id="382" r:id="rId128"/>
    <p:sldId id="383" r:id="rId129"/>
    <p:sldId id="384" r:id="rId130"/>
    <p:sldId id="385" r:id="rId131"/>
    <p:sldId id="386" r:id="rId132"/>
    <p:sldId id="387" r:id="rId133"/>
    <p:sldId id="388" r:id="rId134"/>
    <p:sldId id="389" r:id="rId135"/>
    <p:sldId id="390" r:id="rId136"/>
    <p:sldId id="391" r:id="rId137"/>
    <p:sldId id="392" r:id="rId138"/>
    <p:sldId id="393" r:id="rId139"/>
    <p:sldId id="394" r:id="rId140"/>
    <p:sldId id="395" r:id="rId141"/>
    <p:sldId id="396" r:id="rId142"/>
    <p:sldId id="397" r:id="rId143"/>
    <p:sldId id="398" r:id="rId144"/>
    <p:sldId id="399" r:id="rId145"/>
    <p:sldId id="400" r:id="rId146"/>
    <p:sldId id="401" r:id="rId147"/>
    <p:sldId id="402" r:id="rId148"/>
    <p:sldId id="403" r:id="rId149"/>
    <p:sldId id="404" r:id="rId150"/>
    <p:sldId id="405" r:id="rId151"/>
    <p:sldId id="406" r:id="rId152"/>
    <p:sldId id="407" r:id="rId153"/>
    <p:sldId id="408" r:id="rId154"/>
    <p:sldId id="409" r:id="rId155"/>
    <p:sldId id="410" r:id="rId156"/>
    <p:sldId id="411" r:id="rId157"/>
    <p:sldId id="412" r:id="rId158"/>
    <p:sldId id="413" r:id="rId159"/>
    <p:sldId id="414" r:id="rId160"/>
    <p:sldId id="415" r:id="rId161"/>
    <p:sldId id="416" r:id="rId162"/>
    <p:sldId id="417" r:id="rId163"/>
    <p:sldId id="418" r:id="rId164"/>
    <p:sldId id="419" r:id="rId165"/>
    <p:sldId id="420" r:id="rId166"/>
    <p:sldId id="421" r:id="rId167"/>
    <p:sldId id="422" r:id="rId168"/>
    <p:sldId id="423" r:id="rId169"/>
    <p:sldId id="424" r:id="rId170"/>
    <p:sldId id="425" r:id="rId171"/>
    <p:sldId id="426" r:id="rId172"/>
    <p:sldId id="427" r:id="rId173"/>
    <p:sldId id="428" r:id="rId174"/>
    <p:sldId id="429" r:id="rId175"/>
    <p:sldId id="430" r:id="rId176"/>
    <p:sldId id="431" r:id="rId177"/>
    <p:sldId id="432" r:id="rId178"/>
    <p:sldId id="433" r:id="rId179"/>
    <p:sldId id="434" r:id="rId180"/>
    <p:sldId id="435" r:id="rId181"/>
    <p:sldId id="436" r:id="rId182"/>
    <p:sldId id="437" r:id="rId183"/>
    <p:sldId id="438" r:id="rId184"/>
    <p:sldId id="439" r:id="rId185"/>
    <p:sldId id="440" r:id="rId186"/>
    <p:sldId id="441" r:id="rId187"/>
    <p:sldId id="442" r:id="rId188"/>
    <p:sldId id="443" r:id="rId189"/>
    <p:sldId id="444" r:id="rId190"/>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3" Type="http://schemas.openxmlformats.org/officeDocument/2006/relationships/slide" Target="slides/slide22.xml" /><Relationship Id="rId24" Type="http://schemas.openxmlformats.org/officeDocument/2006/relationships/slide" Target="slides/slide23.xml" /><Relationship Id="rId25" Type="http://schemas.openxmlformats.org/officeDocument/2006/relationships/slide" Target="slides/slide24.xml" /><Relationship Id="rId26" Type="http://schemas.openxmlformats.org/officeDocument/2006/relationships/slide" Target="slides/slide25.xml" /><Relationship Id="rId27" Type="http://schemas.openxmlformats.org/officeDocument/2006/relationships/slide" Target="slides/slide26.xml" /><Relationship Id="rId28" Type="http://schemas.openxmlformats.org/officeDocument/2006/relationships/slide" Target="slides/slide27.xml" /><Relationship Id="rId29" Type="http://schemas.openxmlformats.org/officeDocument/2006/relationships/slide" Target="slides/slide28.xml" /><Relationship Id="rId30" Type="http://schemas.openxmlformats.org/officeDocument/2006/relationships/slide" Target="slides/slide29.xml" /><Relationship Id="rId31" Type="http://schemas.openxmlformats.org/officeDocument/2006/relationships/slide" Target="slides/slide30.xml" /><Relationship Id="rId32" Type="http://schemas.openxmlformats.org/officeDocument/2006/relationships/slide" Target="slides/slide31.xml" /><Relationship Id="rId33" Type="http://schemas.openxmlformats.org/officeDocument/2006/relationships/slide" Target="slides/slide32.xml" /><Relationship Id="rId34" Type="http://schemas.openxmlformats.org/officeDocument/2006/relationships/slide" Target="slides/slide33.xml" /><Relationship Id="rId35" Type="http://schemas.openxmlformats.org/officeDocument/2006/relationships/slide" Target="slides/slide34.xml" /><Relationship Id="rId36" Type="http://schemas.openxmlformats.org/officeDocument/2006/relationships/slide" Target="slides/slide35.xml" /><Relationship Id="rId37" Type="http://schemas.openxmlformats.org/officeDocument/2006/relationships/slide" Target="slides/slide36.xml" /><Relationship Id="rId38" Type="http://schemas.openxmlformats.org/officeDocument/2006/relationships/slide" Target="slides/slide37.xml" /><Relationship Id="rId39" Type="http://schemas.openxmlformats.org/officeDocument/2006/relationships/slide" Target="slides/slide38.xml" /><Relationship Id="rId40" Type="http://schemas.openxmlformats.org/officeDocument/2006/relationships/slide" Target="slides/slide39.xml" /><Relationship Id="rId41" Type="http://schemas.openxmlformats.org/officeDocument/2006/relationships/slide" Target="slides/slide40.xml" /><Relationship Id="rId42" Type="http://schemas.openxmlformats.org/officeDocument/2006/relationships/slide" Target="slides/slide41.xml" /><Relationship Id="rId43" Type="http://schemas.openxmlformats.org/officeDocument/2006/relationships/slide" Target="slides/slide42.xml" /><Relationship Id="rId44" Type="http://schemas.openxmlformats.org/officeDocument/2006/relationships/slide" Target="slides/slide43.xml" /><Relationship Id="rId45" Type="http://schemas.openxmlformats.org/officeDocument/2006/relationships/slide" Target="slides/slide44.xml" /><Relationship Id="rId46" Type="http://schemas.openxmlformats.org/officeDocument/2006/relationships/slide" Target="slides/slide45.xml" /><Relationship Id="rId47" Type="http://schemas.openxmlformats.org/officeDocument/2006/relationships/slide" Target="slides/slide46.xml" /><Relationship Id="rId48" Type="http://schemas.openxmlformats.org/officeDocument/2006/relationships/slide" Target="slides/slide47.xml" /><Relationship Id="rId49" Type="http://schemas.openxmlformats.org/officeDocument/2006/relationships/slide" Target="slides/slide48.xml" /><Relationship Id="rId50" Type="http://schemas.openxmlformats.org/officeDocument/2006/relationships/slide" Target="slides/slide49.xml" /><Relationship Id="rId51" Type="http://schemas.openxmlformats.org/officeDocument/2006/relationships/slide" Target="slides/slide50.xml" /><Relationship Id="rId52" Type="http://schemas.openxmlformats.org/officeDocument/2006/relationships/slide" Target="slides/slide51.xml" /><Relationship Id="rId53" Type="http://schemas.openxmlformats.org/officeDocument/2006/relationships/slide" Target="slides/slide52.xml" /><Relationship Id="rId54" Type="http://schemas.openxmlformats.org/officeDocument/2006/relationships/slide" Target="slides/slide53.xml" /><Relationship Id="rId55" Type="http://schemas.openxmlformats.org/officeDocument/2006/relationships/slide" Target="slides/slide54.xml" /><Relationship Id="rId56" Type="http://schemas.openxmlformats.org/officeDocument/2006/relationships/slide" Target="slides/slide55.xml" /><Relationship Id="rId57" Type="http://schemas.openxmlformats.org/officeDocument/2006/relationships/slide" Target="slides/slide56.xml" /><Relationship Id="rId58" Type="http://schemas.openxmlformats.org/officeDocument/2006/relationships/slide" Target="slides/slide57.xml" /><Relationship Id="rId59" Type="http://schemas.openxmlformats.org/officeDocument/2006/relationships/slide" Target="slides/slide58.xml" /><Relationship Id="rId60" Type="http://schemas.openxmlformats.org/officeDocument/2006/relationships/slide" Target="slides/slide59.xml" /><Relationship Id="rId61" Type="http://schemas.openxmlformats.org/officeDocument/2006/relationships/slide" Target="slides/slide60.xml" /><Relationship Id="rId62" Type="http://schemas.openxmlformats.org/officeDocument/2006/relationships/slide" Target="slides/slide61.xml" /><Relationship Id="rId63" Type="http://schemas.openxmlformats.org/officeDocument/2006/relationships/slide" Target="slides/slide62.xml" /><Relationship Id="rId64" Type="http://schemas.openxmlformats.org/officeDocument/2006/relationships/slide" Target="slides/slide63.xml" /><Relationship Id="rId65" Type="http://schemas.openxmlformats.org/officeDocument/2006/relationships/slide" Target="slides/slide64.xml" /><Relationship Id="rId66" Type="http://schemas.openxmlformats.org/officeDocument/2006/relationships/slide" Target="slides/slide65.xml" /><Relationship Id="rId67" Type="http://schemas.openxmlformats.org/officeDocument/2006/relationships/slide" Target="slides/slide66.xml" /><Relationship Id="rId68" Type="http://schemas.openxmlformats.org/officeDocument/2006/relationships/slide" Target="slides/slide67.xml" /><Relationship Id="rId69" Type="http://schemas.openxmlformats.org/officeDocument/2006/relationships/slide" Target="slides/slide68.xml" /><Relationship Id="rId70" Type="http://schemas.openxmlformats.org/officeDocument/2006/relationships/slide" Target="slides/slide69.xml" /><Relationship Id="rId71" Type="http://schemas.openxmlformats.org/officeDocument/2006/relationships/slide" Target="slides/slide70.xml" /><Relationship Id="rId72" Type="http://schemas.openxmlformats.org/officeDocument/2006/relationships/slide" Target="slides/slide71.xml" /><Relationship Id="rId73" Type="http://schemas.openxmlformats.org/officeDocument/2006/relationships/slide" Target="slides/slide72.xml" /><Relationship Id="rId74" Type="http://schemas.openxmlformats.org/officeDocument/2006/relationships/slide" Target="slides/slide73.xml" /><Relationship Id="rId75" Type="http://schemas.openxmlformats.org/officeDocument/2006/relationships/slide" Target="slides/slide74.xml" /><Relationship Id="rId76" Type="http://schemas.openxmlformats.org/officeDocument/2006/relationships/slide" Target="slides/slide75.xml" /><Relationship Id="rId77" Type="http://schemas.openxmlformats.org/officeDocument/2006/relationships/slide" Target="slides/slide76.xml" /><Relationship Id="rId78" Type="http://schemas.openxmlformats.org/officeDocument/2006/relationships/slide" Target="slides/slide77.xml" /><Relationship Id="rId79" Type="http://schemas.openxmlformats.org/officeDocument/2006/relationships/slide" Target="slides/slide78.xml" /><Relationship Id="rId80" Type="http://schemas.openxmlformats.org/officeDocument/2006/relationships/slide" Target="slides/slide79.xml" /><Relationship Id="rId81" Type="http://schemas.openxmlformats.org/officeDocument/2006/relationships/slide" Target="slides/slide80.xml" /><Relationship Id="rId82" Type="http://schemas.openxmlformats.org/officeDocument/2006/relationships/slide" Target="slides/slide81.xml" /><Relationship Id="rId83" Type="http://schemas.openxmlformats.org/officeDocument/2006/relationships/slide" Target="slides/slide82.xml" /><Relationship Id="rId84" Type="http://schemas.openxmlformats.org/officeDocument/2006/relationships/slide" Target="slides/slide83.xml" /><Relationship Id="rId85" Type="http://schemas.openxmlformats.org/officeDocument/2006/relationships/slide" Target="slides/slide84.xml" /><Relationship Id="rId86" Type="http://schemas.openxmlformats.org/officeDocument/2006/relationships/slide" Target="slides/slide85.xml" /><Relationship Id="rId87" Type="http://schemas.openxmlformats.org/officeDocument/2006/relationships/slide" Target="slides/slide86.xml" /><Relationship Id="rId88" Type="http://schemas.openxmlformats.org/officeDocument/2006/relationships/slide" Target="slides/slide87.xml" /><Relationship Id="rId89" Type="http://schemas.openxmlformats.org/officeDocument/2006/relationships/slide" Target="slides/slide88.xml" /><Relationship Id="rId90" Type="http://schemas.openxmlformats.org/officeDocument/2006/relationships/slide" Target="slides/slide89.xml" /><Relationship Id="rId91" Type="http://schemas.openxmlformats.org/officeDocument/2006/relationships/slide" Target="slides/slide90.xml" /><Relationship Id="rId92" Type="http://schemas.openxmlformats.org/officeDocument/2006/relationships/slide" Target="slides/slide91.xml" /><Relationship Id="rId93" Type="http://schemas.openxmlformats.org/officeDocument/2006/relationships/slide" Target="slides/slide92.xml" /><Relationship Id="rId94" Type="http://schemas.openxmlformats.org/officeDocument/2006/relationships/slide" Target="slides/slide93.xml" /><Relationship Id="rId95" Type="http://schemas.openxmlformats.org/officeDocument/2006/relationships/slide" Target="slides/slide94.xml" /><Relationship Id="rId96" Type="http://schemas.openxmlformats.org/officeDocument/2006/relationships/slide" Target="slides/slide95.xml" /><Relationship Id="rId97" Type="http://schemas.openxmlformats.org/officeDocument/2006/relationships/slide" Target="slides/slide96.xml" /><Relationship Id="rId98" Type="http://schemas.openxmlformats.org/officeDocument/2006/relationships/slide" Target="slides/slide97.xml" /><Relationship Id="rId99" Type="http://schemas.openxmlformats.org/officeDocument/2006/relationships/slide" Target="slides/slide98.xml" /><Relationship Id="rId100" Type="http://schemas.openxmlformats.org/officeDocument/2006/relationships/slide" Target="slides/slide99.xml" /><Relationship Id="rId101" Type="http://schemas.openxmlformats.org/officeDocument/2006/relationships/slide" Target="slides/slide100.xml" /><Relationship Id="rId102" Type="http://schemas.openxmlformats.org/officeDocument/2006/relationships/slide" Target="slides/slide101.xml" /><Relationship Id="rId103" Type="http://schemas.openxmlformats.org/officeDocument/2006/relationships/slide" Target="slides/slide102.xml" /><Relationship Id="rId104" Type="http://schemas.openxmlformats.org/officeDocument/2006/relationships/slide" Target="slides/slide103.xml" /><Relationship Id="rId105" Type="http://schemas.openxmlformats.org/officeDocument/2006/relationships/slide" Target="slides/slide104.xml" /><Relationship Id="rId106" Type="http://schemas.openxmlformats.org/officeDocument/2006/relationships/slide" Target="slides/slide105.xml" /><Relationship Id="rId107" Type="http://schemas.openxmlformats.org/officeDocument/2006/relationships/slide" Target="slides/slide106.xml" /><Relationship Id="rId108" Type="http://schemas.openxmlformats.org/officeDocument/2006/relationships/slide" Target="slides/slide107.xml" /><Relationship Id="rId109" Type="http://schemas.openxmlformats.org/officeDocument/2006/relationships/slide" Target="slides/slide108.xml" /><Relationship Id="rId110" Type="http://schemas.openxmlformats.org/officeDocument/2006/relationships/slide" Target="slides/slide109.xml" /><Relationship Id="rId111" Type="http://schemas.openxmlformats.org/officeDocument/2006/relationships/slide" Target="slides/slide110.xml" /><Relationship Id="rId112" Type="http://schemas.openxmlformats.org/officeDocument/2006/relationships/slide" Target="slides/slide111.xml" /><Relationship Id="rId113" Type="http://schemas.openxmlformats.org/officeDocument/2006/relationships/slide" Target="slides/slide112.xml" /><Relationship Id="rId114" Type="http://schemas.openxmlformats.org/officeDocument/2006/relationships/slide" Target="slides/slide113.xml" /><Relationship Id="rId115" Type="http://schemas.openxmlformats.org/officeDocument/2006/relationships/slide" Target="slides/slide114.xml" /><Relationship Id="rId116" Type="http://schemas.openxmlformats.org/officeDocument/2006/relationships/slide" Target="slides/slide115.xml" /><Relationship Id="rId117" Type="http://schemas.openxmlformats.org/officeDocument/2006/relationships/slide" Target="slides/slide116.xml" /><Relationship Id="rId118" Type="http://schemas.openxmlformats.org/officeDocument/2006/relationships/slide" Target="slides/slide117.xml" /><Relationship Id="rId119" Type="http://schemas.openxmlformats.org/officeDocument/2006/relationships/slide" Target="slides/slide118.xml" /><Relationship Id="rId120" Type="http://schemas.openxmlformats.org/officeDocument/2006/relationships/slide" Target="slides/slide119.xml" /><Relationship Id="rId121" Type="http://schemas.openxmlformats.org/officeDocument/2006/relationships/slide" Target="slides/slide120.xml" /><Relationship Id="rId122" Type="http://schemas.openxmlformats.org/officeDocument/2006/relationships/slide" Target="slides/slide121.xml" /><Relationship Id="rId123" Type="http://schemas.openxmlformats.org/officeDocument/2006/relationships/slide" Target="slides/slide122.xml" /><Relationship Id="rId124" Type="http://schemas.openxmlformats.org/officeDocument/2006/relationships/slide" Target="slides/slide123.xml" /><Relationship Id="rId125" Type="http://schemas.openxmlformats.org/officeDocument/2006/relationships/slide" Target="slides/slide124.xml" /><Relationship Id="rId126" Type="http://schemas.openxmlformats.org/officeDocument/2006/relationships/slide" Target="slides/slide125.xml" /><Relationship Id="rId127" Type="http://schemas.openxmlformats.org/officeDocument/2006/relationships/slide" Target="slides/slide126.xml" /><Relationship Id="rId128" Type="http://schemas.openxmlformats.org/officeDocument/2006/relationships/slide" Target="slides/slide127.xml" /><Relationship Id="rId129" Type="http://schemas.openxmlformats.org/officeDocument/2006/relationships/slide" Target="slides/slide128.xml" /><Relationship Id="rId130" Type="http://schemas.openxmlformats.org/officeDocument/2006/relationships/slide" Target="slides/slide129.xml" /><Relationship Id="rId131" Type="http://schemas.openxmlformats.org/officeDocument/2006/relationships/slide" Target="slides/slide130.xml" /><Relationship Id="rId132" Type="http://schemas.openxmlformats.org/officeDocument/2006/relationships/slide" Target="slides/slide131.xml" /><Relationship Id="rId133" Type="http://schemas.openxmlformats.org/officeDocument/2006/relationships/slide" Target="slides/slide132.xml" /><Relationship Id="rId134" Type="http://schemas.openxmlformats.org/officeDocument/2006/relationships/slide" Target="slides/slide133.xml" /><Relationship Id="rId135" Type="http://schemas.openxmlformats.org/officeDocument/2006/relationships/slide" Target="slides/slide134.xml" /><Relationship Id="rId136" Type="http://schemas.openxmlformats.org/officeDocument/2006/relationships/slide" Target="slides/slide135.xml" /><Relationship Id="rId137" Type="http://schemas.openxmlformats.org/officeDocument/2006/relationships/slide" Target="slides/slide136.xml" /><Relationship Id="rId138" Type="http://schemas.openxmlformats.org/officeDocument/2006/relationships/slide" Target="slides/slide137.xml" /><Relationship Id="rId139" Type="http://schemas.openxmlformats.org/officeDocument/2006/relationships/slide" Target="slides/slide138.xml" /><Relationship Id="rId140" Type="http://schemas.openxmlformats.org/officeDocument/2006/relationships/slide" Target="slides/slide139.xml" /><Relationship Id="rId141" Type="http://schemas.openxmlformats.org/officeDocument/2006/relationships/slide" Target="slides/slide140.xml" /><Relationship Id="rId142" Type="http://schemas.openxmlformats.org/officeDocument/2006/relationships/slide" Target="slides/slide141.xml" /><Relationship Id="rId143" Type="http://schemas.openxmlformats.org/officeDocument/2006/relationships/slide" Target="slides/slide142.xml" /><Relationship Id="rId144" Type="http://schemas.openxmlformats.org/officeDocument/2006/relationships/slide" Target="slides/slide143.xml" /><Relationship Id="rId145" Type="http://schemas.openxmlformats.org/officeDocument/2006/relationships/slide" Target="slides/slide144.xml" /><Relationship Id="rId146" Type="http://schemas.openxmlformats.org/officeDocument/2006/relationships/slide" Target="slides/slide145.xml" /><Relationship Id="rId147" Type="http://schemas.openxmlformats.org/officeDocument/2006/relationships/slide" Target="slides/slide146.xml" /><Relationship Id="rId148" Type="http://schemas.openxmlformats.org/officeDocument/2006/relationships/slide" Target="slides/slide147.xml" /><Relationship Id="rId149" Type="http://schemas.openxmlformats.org/officeDocument/2006/relationships/slide" Target="slides/slide148.xml" /><Relationship Id="rId150" Type="http://schemas.openxmlformats.org/officeDocument/2006/relationships/slide" Target="slides/slide149.xml" /><Relationship Id="rId151" Type="http://schemas.openxmlformats.org/officeDocument/2006/relationships/slide" Target="slides/slide150.xml" /><Relationship Id="rId152" Type="http://schemas.openxmlformats.org/officeDocument/2006/relationships/slide" Target="slides/slide151.xml" /><Relationship Id="rId153" Type="http://schemas.openxmlformats.org/officeDocument/2006/relationships/slide" Target="slides/slide152.xml" /><Relationship Id="rId154" Type="http://schemas.openxmlformats.org/officeDocument/2006/relationships/slide" Target="slides/slide153.xml" /><Relationship Id="rId155" Type="http://schemas.openxmlformats.org/officeDocument/2006/relationships/slide" Target="slides/slide154.xml" /><Relationship Id="rId156" Type="http://schemas.openxmlformats.org/officeDocument/2006/relationships/slide" Target="slides/slide155.xml" /><Relationship Id="rId157" Type="http://schemas.openxmlformats.org/officeDocument/2006/relationships/slide" Target="slides/slide156.xml" /><Relationship Id="rId158" Type="http://schemas.openxmlformats.org/officeDocument/2006/relationships/slide" Target="slides/slide157.xml" /><Relationship Id="rId159" Type="http://schemas.openxmlformats.org/officeDocument/2006/relationships/slide" Target="slides/slide158.xml" /><Relationship Id="rId160" Type="http://schemas.openxmlformats.org/officeDocument/2006/relationships/slide" Target="slides/slide159.xml" /><Relationship Id="rId161" Type="http://schemas.openxmlformats.org/officeDocument/2006/relationships/slide" Target="slides/slide160.xml" /><Relationship Id="rId162" Type="http://schemas.openxmlformats.org/officeDocument/2006/relationships/slide" Target="slides/slide161.xml" /><Relationship Id="rId163" Type="http://schemas.openxmlformats.org/officeDocument/2006/relationships/slide" Target="slides/slide162.xml" /><Relationship Id="rId164" Type="http://schemas.openxmlformats.org/officeDocument/2006/relationships/slide" Target="slides/slide163.xml" /><Relationship Id="rId165" Type="http://schemas.openxmlformats.org/officeDocument/2006/relationships/slide" Target="slides/slide164.xml" /><Relationship Id="rId166" Type="http://schemas.openxmlformats.org/officeDocument/2006/relationships/slide" Target="slides/slide165.xml" /><Relationship Id="rId167" Type="http://schemas.openxmlformats.org/officeDocument/2006/relationships/slide" Target="slides/slide166.xml" /><Relationship Id="rId168" Type="http://schemas.openxmlformats.org/officeDocument/2006/relationships/slide" Target="slides/slide167.xml" /><Relationship Id="rId169" Type="http://schemas.openxmlformats.org/officeDocument/2006/relationships/slide" Target="slides/slide168.xml" /><Relationship Id="rId170" Type="http://schemas.openxmlformats.org/officeDocument/2006/relationships/slide" Target="slides/slide169.xml" /><Relationship Id="rId171" Type="http://schemas.openxmlformats.org/officeDocument/2006/relationships/slide" Target="slides/slide170.xml" /><Relationship Id="rId172" Type="http://schemas.openxmlformats.org/officeDocument/2006/relationships/slide" Target="slides/slide171.xml" /><Relationship Id="rId173" Type="http://schemas.openxmlformats.org/officeDocument/2006/relationships/slide" Target="slides/slide172.xml" /><Relationship Id="rId174" Type="http://schemas.openxmlformats.org/officeDocument/2006/relationships/slide" Target="slides/slide173.xml" /><Relationship Id="rId175" Type="http://schemas.openxmlformats.org/officeDocument/2006/relationships/slide" Target="slides/slide174.xml" /><Relationship Id="rId176" Type="http://schemas.openxmlformats.org/officeDocument/2006/relationships/slide" Target="slides/slide175.xml" /><Relationship Id="rId177" Type="http://schemas.openxmlformats.org/officeDocument/2006/relationships/slide" Target="slides/slide176.xml" /><Relationship Id="rId178" Type="http://schemas.openxmlformats.org/officeDocument/2006/relationships/slide" Target="slides/slide177.xml" /><Relationship Id="rId179" Type="http://schemas.openxmlformats.org/officeDocument/2006/relationships/slide" Target="slides/slide178.xml" /><Relationship Id="rId180" Type="http://schemas.openxmlformats.org/officeDocument/2006/relationships/slide" Target="slides/slide179.xml" /><Relationship Id="rId181" Type="http://schemas.openxmlformats.org/officeDocument/2006/relationships/slide" Target="slides/slide180.xml" /><Relationship Id="rId182" Type="http://schemas.openxmlformats.org/officeDocument/2006/relationships/slide" Target="slides/slide181.xml" /><Relationship Id="rId183" Type="http://schemas.openxmlformats.org/officeDocument/2006/relationships/slide" Target="slides/slide182.xml" /><Relationship Id="rId184" Type="http://schemas.openxmlformats.org/officeDocument/2006/relationships/slide" Target="slides/slide183.xml" /><Relationship Id="rId185" Type="http://schemas.openxmlformats.org/officeDocument/2006/relationships/slide" Target="slides/slide184.xml" /><Relationship Id="rId186" Type="http://schemas.openxmlformats.org/officeDocument/2006/relationships/slide" Target="slides/slide185.xml" /><Relationship Id="rId187" Type="http://schemas.openxmlformats.org/officeDocument/2006/relationships/slide" Target="slides/slide186.xml" /><Relationship Id="rId188" Type="http://schemas.openxmlformats.org/officeDocument/2006/relationships/slide" Target="slides/slide187.xml" /><Relationship Id="rId189" Type="http://schemas.openxmlformats.org/officeDocument/2006/relationships/slide" Target="slides/slide188.xml" /><Relationship Id="rId190" Type="http://schemas.openxmlformats.org/officeDocument/2006/relationships/slide" Target="slides/slide189.xml" /><Relationship Id="rId192" Type="http://schemas.openxmlformats.org/officeDocument/2006/relationships/viewProps" Target="viewProps.xml" /><Relationship Id="rId191" Type="http://schemas.openxmlformats.org/officeDocument/2006/relationships/presProps" Target="presProps.xml" /><Relationship Id="rId1" Type="http://schemas.openxmlformats.org/officeDocument/2006/relationships/slideMaster" Target="slideMasters/slideMaster1.xml" /><Relationship Id="rId194" Type="http://schemas.openxmlformats.org/officeDocument/2006/relationships/tableStyles" Target="tableStyles.xml" /><Relationship Id="rId193"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ce204-week-10.en.md_doc.pdf" TargetMode="External" /><Relationship Id="rId3" Type="http://schemas.openxmlformats.org/officeDocument/2006/relationships/hyperlink" Target="ce204-week-10.en.md_word.docx" TargetMode="External" /><Relationship Id="rId4" Type="http://schemas.openxmlformats.org/officeDocument/2006/relationships/hyperlink" Target="ce204-week-10.en.md_slide.pdf" TargetMode="Externa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refactoring.guru/design-patterns/structural-patterns" TargetMode="Externa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1.png"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3.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1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refactoring.guru/design-patterns/adapter" TargetMode="External" /></Relationships>
</file>

<file path=ppt/slides/_rels/slide1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3.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2.png" /></Relationships>
</file>

<file path=ppt/slides/_rels/slide2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9.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3.png" /></Relationships>
</file>

<file path=ppt/slides/_rels/slide3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8.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3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refactoring.guru/design-patterns/bridge" TargetMode="External" /></Relationships>
</file>

<file path=ppt/slides/_rels/slide4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8.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4.png" /></Relationships>
</file>

<file path=ppt/slides/_rels/slide4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5.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5.png" /></Relationships>
</file>

<file path=ppt/slides/_rels/slide5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3.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6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refactoring.guru/design-patterns/composite" TargetMode="External" /></Relationships>
</file>

<file path=ppt/slides/_rels/slide6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2.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6.png" /></Relationships>
</file>

<file path=ppt/slides/_rels/slide7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8.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7.png" /></Relationships>
</file>

<file path=ppt/slides/_rels/slide7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6.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8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refactoring.guru/design-patterns/decorator" TargetMode="External" /></Relationships>
</file>

<file path=ppt/slides/_rels/slide8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7.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8.png" /></Relationships>
</file>

<file path=ppt/slides/_rels/slide9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4.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9.png" /></Relationships>
</file>

<file path=ppt/slides/_rels/slide10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3.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11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refactoring.guru/design-patterns/facade" TargetMode="External" /></Relationships>
</file>

<file path=ppt/slides/_rels/slide11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2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21.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10.png" /></Relationships>
</file>

<file path=ppt/slides/_rels/slide12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2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2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2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26.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11.png" /></Relationships>
</file>

<file path=ppt/slides/_rels/slide12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2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2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3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3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3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3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3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35.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13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3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refactoring.guru/design-patterns/flyweight" TargetMode="External" /></Relationships>
</file>

<file path=ppt/slides/_rels/slide13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3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4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4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4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4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4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45.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12.png" /></Relationships>
</file>

<file path=ppt/slides/_rels/slide14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4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4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4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50.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13.png" /></Relationships>
</file>

<file path=ppt/slides/_rels/slide15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5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5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5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5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5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5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58.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15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6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refactoring.guru/design-patterns/proxy" TargetMode="External" /></Relationships>
</file>

<file path=ppt/slides/_rels/slide16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6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6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6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6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6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67.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14.png" /></Relationships>
</file>

<file path=ppt/slides/_rels/slide16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6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7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7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7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7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7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75.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15.png" /></Relationships>
</file>

<file path=ppt/slides/_rels/slide17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7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7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7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8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8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8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8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8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8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8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refactoring.guru/design-patterns/structural-patterns" TargetMode="External" /><Relationship Id="rId3" Type="http://schemas.openxmlformats.org/officeDocument/2006/relationships/hyperlink" Target="https://refactoring.guru/design-patterns/adapter" TargetMode="External" /><Relationship Id="rId4" Type="http://schemas.openxmlformats.org/officeDocument/2006/relationships/hyperlink" Target="https://refactoring.guru/design-patterns/bridge" TargetMode="External" /><Relationship Id="rId5" Type="http://schemas.openxmlformats.org/officeDocument/2006/relationships/hyperlink" Target="https://refactoring.guru/design-patterns/composite" TargetMode="External" /></Relationships>
</file>

<file path=ppt/slides/_rels/slide18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refactoring.guru/design-patterns/decorator" TargetMode="External" /><Relationship Id="rId3" Type="http://schemas.openxmlformats.org/officeDocument/2006/relationships/hyperlink" Target="https://refactoring.guru/design-patterns/facade" TargetMode="External" /><Relationship Id="rId4" Type="http://schemas.openxmlformats.org/officeDocument/2006/relationships/hyperlink" Target="https://refactoring.guru/design-patterns/flyweight" TargetMode="External" /><Relationship Id="rId5" Type="http://schemas.openxmlformats.org/officeDocument/2006/relationships/hyperlink" Target="https://refactoring.guru/design-patterns/proxy" TargetMode="External" /></Relationships>
</file>

<file path=ppt/slides/_rels/slide18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89.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lvl="0" indent="0" marL="0">
              <a:buNone/>
            </a:pPr>
            <a:r>
              <a:rPr/>
              <a:t>CEN206 Object-Oriented Programming</a:t>
            </a:r>
          </a:p>
        </p:txBody>
      </p:sp>
      <p:sp>
        <p:nvSpPr>
          <p:cNvPr id="3" name="Subtitle 2"/>
          <p:cNvSpPr>
            <a:spLocks noGrp="1"/>
          </p:cNvSpPr>
          <p:nvPr>
            <p:ph idx="1" type="subTitle"/>
          </p:nvPr>
        </p:nvSpPr>
        <p:spPr>
          <a:xfrm>
            <a:off x="1371600" y="2914650"/>
            <a:ext cx="6400800" cy="1314450"/>
          </a:xfrm>
        </p:spPr>
        <p:txBody>
          <a:bodyPr/>
          <a:lstStyle/>
          <a:p>
            <a:pPr lvl="0" indent="0" marL="0">
              <a:buNone/>
            </a:pPr>
            <a:r>
              <a:rPr/>
              <a:t>Structural Design Patterns</a:t>
            </a:r>
            <a:br/>
            <a:br/>
            <a:r>
              <a:rPr/>
              <a:t>Author: Asst. Prof. Dr. Ugur CORUH</a:t>
            </a:r>
          </a:p>
        </p:txBody>
      </p:sp>
      <p:sp>
        <p:nvSpPr>
          <p:cNvPr id="4" name="Date Placeholder 3"/>
          <p:cNvSpPr>
            <a:spLocks noGrp="1"/>
          </p:cNvSpPr>
          <p:nvPr>
            <p:ph idx="10" sz="half" type="dt"/>
          </p:nvPr>
        </p:nvSpPr>
        <p:spPr/>
        <p:txBody>
          <a:bodyPr/>
          <a:lstStyle/>
          <a:p>
            <a:pPr lvl="0" indent="0" marL="0">
              <a:buNone/>
            </a:pPr>
            <a:r>
              <a:rPr/>
              <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CEN206 Object-Oriented Programming</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Week-10 (Structural Design Patterns)</a:t>
            </a:r>
          </a:p>
        </p:txBody>
      </p:sp>
      <p:sp>
        <p:nvSpPr>
          <p:cNvPr id="3" name="Content Placeholder 2"/>
          <p:cNvSpPr>
            <a:spLocks noGrp="1"/>
          </p:cNvSpPr>
          <p:nvPr>
            <p:ph idx="1"/>
          </p:nvPr>
        </p:nvSpPr>
        <p:spPr/>
        <p:txBody>
          <a:bodyPr/>
          <a:lstStyle/>
          <a:p>
            <a:pPr lvl="0" indent="0" marL="0">
              <a:spcBef>
                <a:spcPts val="3000"/>
              </a:spcBef>
              <a:buNone/>
            </a:pPr>
            <a:r>
              <a:rPr b="1"/>
              <a:t>Spring Semester, 2025-2026</a:t>
            </a:r>
          </a:p>
          <a:p>
            <a:pPr lvl="0" indent="0" marL="0">
              <a:buNone/>
            </a:pPr>
            <a:r>
              <a:rPr/>
              <a:t>Download </a:t>
            </a:r>
            <a:r>
              <a:rPr>
                <a:hlinkClick r:id="rId2"/>
              </a:rPr>
              <a:t>DOC-PDF</a:t>
            </a:r>
            <a:r>
              <a:rPr/>
              <a:t>, </a:t>
            </a:r>
            <a:r>
              <a:rPr>
                <a:hlinkClick r:id="rId3"/>
              </a:rPr>
              <a:t>DOC-DOCX</a:t>
            </a:r>
            <a:r>
              <a:rPr/>
              <a:t>, </a:t>
            </a:r>
            <a:r>
              <a:rPr>
                <a:hlinkClick r:id="rId4"/>
              </a:rPr>
              <a:t>SLIDE</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Structural Design Patterns</a:t>
            </a:r>
          </a:p>
        </p:txBody>
      </p:sp>
      <p:sp>
        <p:nvSpPr>
          <p:cNvPr id="3" name="Content Placeholder 2"/>
          <p:cNvSpPr>
            <a:spLocks noGrp="1"/>
          </p:cNvSpPr>
          <p:nvPr>
            <p:ph idx="1"/>
          </p:nvPr>
        </p:nvSpPr>
        <p:spPr/>
        <p:txBody>
          <a:bodyPr/>
          <a:lstStyle/>
          <a:p>
            <a:pPr lvl="0" indent="0" marL="0">
              <a:spcBef>
                <a:spcPts val="3000"/>
              </a:spcBef>
              <a:buNone/>
            </a:pPr>
            <a:r>
              <a:rPr b="1"/>
              <a:t>Weekly Outline</a:t>
            </a:r>
          </a:p>
          <a:p>
            <a:pPr lvl="0"/>
            <a:r>
              <a:rPr b="1"/>
              <a:t>Module A:</a:t>
            </a:r>
            <a:r>
              <a:rPr/>
              <a:t> Introduction to Structural Patterns</a:t>
            </a:r>
          </a:p>
          <a:p>
            <a:pPr lvl="0"/>
            <a:r>
              <a:rPr b="1"/>
              <a:t>Module B:</a:t>
            </a:r>
            <a:r>
              <a:rPr/>
              <a:t> Adapter Pattern</a:t>
            </a:r>
          </a:p>
          <a:p>
            <a:pPr lvl="0"/>
            <a:r>
              <a:rPr b="1"/>
              <a:t>Module C:</a:t>
            </a:r>
            <a:r>
              <a:rPr/>
              <a:t> Bridge Pattern</a:t>
            </a:r>
          </a:p>
          <a:p>
            <a:pPr lvl="0"/>
            <a:r>
              <a:rPr b="1"/>
              <a:t>Module D:</a:t>
            </a:r>
            <a:r>
              <a:rPr/>
              <a:t> Composite Pattern</a:t>
            </a:r>
          </a:p>
          <a:p>
            <a:pPr lvl="0"/>
            <a:r>
              <a:rPr b="1"/>
              <a:t>Module E:</a:t>
            </a:r>
            <a:r>
              <a:rPr/>
              <a:t> Decorator Pattern</a:t>
            </a:r>
          </a:p>
          <a:p>
            <a:pPr lvl="0"/>
            <a:r>
              <a:rPr b="1"/>
              <a:t>Module F:</a:t>
            </a:r>
            <a:r>
              <a:rPr/>
              <a:t> Facade Pattern</a:t>
            </a:r>
          </a:p>
          <a:p>
            <a:pPr lvl="0"/>
            <a:r>
              <a:rPr b="1"/>
              <a:t>Module G:</a:t>
            </a:r>
            <a:r>
              <a:rPr/>
              <a:t> Flyweight Pattern</a:t>
            </a:r>
          </a:p>
          <a:p>
            <a:pPr lvl="0"/>
            <a:r>
              <a:rPr b="1"/>
              <a:t>Module H:</a:t>
            </a:r>
            <a:r>
              <a:rPr/>
              <a:t> Proxy Pattern</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b="1"/>
              <a:t>Module A: Introduction to Structural Patterns</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Module A: Outline</a:t>
            </a:r>
          </a:p>
        </p:txBody>
      </p:sp>
      <p:sp>
        <p:nvSpPr>
          <p:cNvPr id="3" name="Content Placeholder 2"/>
          <p:cNvSpPr>
            <a:spLocks noGrp="1"/>
          </p:cNvSpPr>
          <p:nvPr>
            <p:ph idx="1"/>
          </p:nvPr>
        </p:nvSpPr>
        <p:spPr/>
        <p:txBody>
          <a:bodyPr/>
          <a:lstStyle/>
          <a:p>
            <a:pPr lvl="0"/>
            <a:r>
              <a:rPr/>
              <a:t>What Are Structural Design Patterns?</a:t>
            </a:r>
          </a:p>
          <a:p>
            <a:pPr lvl="0"/>
            <a:r>
              <a:rPr/>
              <a:t>Classification of Structural Patterns</a:t>
            </a:r>
          </a:p>
          <a:p>
            <a:pPr lvl="0"/>
            <a:r>
              <a:rPr/>
              <a:t>Overview of the Seven Structural Patterns</a:t>
            </a:r>
          </a:p>
          <a:p>
            <a:pPr lvl="0"/>
            <a:r>
              <a:rPr/>
              <a:t>When to Use Structural Patterns</a:t>
            </a:r>
          </a:p>
          <a:p>
            <a:pPr lvl="0"/>
            <a:r>
              <a:rPr/>
              <a:t>Module Takeaway</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What Are Structural Design Patterns?</a:t>
            </a:r>
          </a:p>
        </p:txBody>
      </p:sp>
      <p:sp>
        <p:nvSpPr>
          <p:cNvPr id="3" name="Content Placeholder 2"/>
          <p:cNvSpPr>
            <a:spLocks noGrp="1"/>
          </p:cNvSpPr>
          <p:nvPr>
            <p:ph idx="1"/>
          </p:nvPr>
        </p:nvSpPr>
        <p:spPr/>
        <p:txBody>
          <a:bodyPr/>
          <a:lstStyle/>
          <a:p>
            <a:pPr lvl="0" indent="0" marL="0">
              <a:buNone/>
            </a:pPr>
            <a:r>
              <a:rPr/>
              <a:t>Structural design patterns explain how to </a:t>
            </a:r>
            <a:r>
              <a:rPr b="1"/>
              <a:t>assemble objects and classes into larger structures</a:t>
            </a:r>
            <a:r>
              <a:rPr/>
              <a:t>, while keeping these structures </a:t>
            </a:r>
            <a:r>
              <a:rPr b="1"/>
              <a:t>flexible and efficient</a:t>
            </a:r>
            <a:r>
              <a:rPr/>
              <a:t>.</a:t>
            </a:r>
          </a:p>
          <a:p>
            <a:pPr lvl="0" indent="0" marL="0">
              <a:buNone/>
            </a:pPr>
            <a:r>
              <a:rPr/>
              <a:t>They deal with:</a:t>
            </a:r>
          </a:p>
          <a:p>
            <a:pPr lvl="0"/>
            <a:r>
              <a:rPr b="1"/>
              <a:t>Class composition</a:t>
            </a:r>
            <a:r>
              <a:rPr/>
              <a:t>: How classes inherit from each other</a:t>
            </a:r>
          </a:p>
          <a:p>
            <a:pPr lvl="0"/>
            <a:r>
              <a:rPr b="1"/>
              <a:t>Object composition</a:t>
            </a:r>
            <a:r>
              <a:rPr/>
              <a:t>: How objects are composed to form larger structures</a:t>
            </a:r>
          </a:p>
          <a:p>
            <a:pPr lvl="0"/>
            <a:r>
              <a:rPr b="1"/>
              <a:t>Interface simplification</a:t>
            </a:r>
            <a:r>
              <a:rPr/>
              <a:t>: How complex subsystems are presented to clients</a:t>
            </a:r>
          </a:p>
          <a:p>
            <a:pPr lvl="0"/>
            <a:r>
              <a:rPr b="1"/>
              <a:t>Memory optimization</a:t>
            </a:r>
            <a:r>
              <a:rPr/>
              <a:t>: How shared state reduces resource consumption</a:t>
            </a:r>
          </a:p>
          <a:p>
            <a:pPr lvl="0" indent="0" marL="0">
              <a:buNone/>
            </a:pPr>
            <a:r>
              <a:rPr/>
              <a:t>Source: </a:t>
            </a:r>
            <a:r>
              <a:rPr>
                <a:hlinkClick r:id="rId2"/>
              </a:rPr>
              <a:t>refactoring.guru</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Why Structural Patterns Matter</a:t>
            </a:r>
          </a:p>
        </p:txBody>
      </p:sp>
      <p:sp>
        <p:nvSpPr>
          <p:cNvPr id="3" name="Content Placeholder 2"/>
          <p:cNvSpPr>
            <a:spLocks noGrp="1"/>
          </p:cNvSpPr>
          <p:nvPr>
            <p:ph idx="1"/>
          </p:nvPr>
        </p:nvSpPr>
        <p:spPr/>
        <p:txBody>
          <a:bodyPr/>
          <a:lstStyle/>
          <a:p>
            <a:pPr lvl="0"/>
            <a:r>
              <a:rPr/>
              <a:t>They help you build </a:t>
            </a:r>
            <a:r>
              <a:rPr b="1"/>
              <a:t>scalable architectures</a:t>
            </a:r>
            <a:r>
              <a:rPr/>
              <a:t> by defining clear relationships between components</a:t>
            </a:r>
          </a:p>
          <a:p>
            <a:pPr lvl="0"/>
            <a:r>
              <a:rPr/>
              <a:t>They promote </a:t>
            </a:r>
            <a:r>
              <a:rPr b="1"/>
              <a:t>loose coupling</a:t>
            </a:r>
            <a:r>
              <a:rPr/>
              <a:t> between interacting classes</a:t>
            </a:r>
          </a:p>
          <a:p>
            <a:pPr lvl="0"/>
            <a:r>
              <a:rPr/>
              <a:t>They enable </a:t>
            </a:r>
            <a:r>
              <a:rPr b="1"/>
              <a:t>flexible composition</a:t>
            </a:r>
            <a:r>
              <a:rPr/>
              <a:t> of objects at runtime</a:t>
            </a:r>
          </a:p>
          <a:p>
            <a:pPr lvl="0"/>
            <a:r>
              <a:rPr/>
              <a:t>They provide proven solutions for organizing </a:t>
            </a:r>
            <a:r>
              <a:rPr b="1"/>
              <a:t>class hierarchies</a:t>
            </a:r>
            <a:r>
              <a:rPr/>
              <a:t> and </a:t>
            </a:r>
            <a:r>
              <a:rPr b="1"/>
              <a:t>object relationships</a:t>
            </a:r>
          </a:p>
          <a:p>
            <a:pPr lvl="0"/>
            <a:r>
              <a:rPr/>
              <a:t>They reduce </a:t>
            </a:r>
            <a:r>
              <a:rPr b="1"/>
              <a:t>code duplication</a:t>
            </a:r>
            <a:r>
              <a:rPr/>
              <a:t> through composition over inheritance</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Seven Structural Patterns</a:t>
            </a:r>
          </a:p>
        </p:txBody>
      </p:sp>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4114800"/>
                <a:gridCol w="4114800"/>
              </a:tblGrid>
              <a:tr h="0">
                <a:tc>
                  <a:txBody>
                    <a:bodyPr/>
                    <a:lstStyle/>
                    <a:p>
                      <a:pPr lvl="0" indent="0" marL="0">
                        <a:buNone/>
                      </a:pPr>
                      <a:r>
                        <a:rPr/>
                        <a:t>Pattern</a:t>
                      </a:r>
                    </a:p>
                  </a:txBody>
                  <a:tcPr/>
                </a:tc>
                <a:tc>
                  <a:txBody>
                    <a:bodyPr/>
                    <a:lstStyle/>
                    <a:p>
                      <a:pPr lvl="0" indent="0" marL="0">
                        <a:buNone/>
                      </a:pPr>
                      <a:r>
                        <a:rPr/>
                        <a:t>Purpose</a:t>
                      </a:r>
                    </a:p>
                  </a:txBody>
                  <a:tcPr/>
                </a:tc>
              </a:tr>
              <a:tr h="0">
                <a:tc>
                  <a:txBody>
                    <a:bodyPr/>
                    <a:lstStyle/>
                    <a:p>
                      <a:pPr lvl="0" indent="0" marL="0">
                        <a:buNone/>
                      </a:pPr>
                      <a:r>
                        <a:rPr b="1"/>
                        <a:t>Adapter</a:t>
                      </a:r>
                    </a:p>
                  </a:txBody>
                </a:tc>
                <a:tc>
                  <a:txBody>
                    <a:bodyPr/>
                    <a:lstStyle/>
                    <a:p>
                      <a:pPr lvl="0" indent="0" marL="0">
                        <a:buNone/>
                      </a:pPr>
                      <a:r>
                        <a:rPr/>
                        <a:t>Makes incompatible interfaces work together</a:t>
                      </a:r>
                    </a:p>
                  </a:txBody>
                </a:tc>
              </a:tr>
              <a:tr h="0">
                <a:tc>
                  <a:txBody>
                    <a:bodyPr/>
                    <a:lstStyle/>
                    <a:p>
                      <a:pPr lvl="0" indent="0" marL="0">
                        <a:buNone/>
                      </a:pPr>
                      <a:r>
                        <a:rPr b="1"/>
                        <a:t>Bridge</a:t>
                      </a:r>
                    </a:p>
                  </a:txBody>
                </a:tc>
                <a:tc>
                  <a:txBody>
                    <a:bodyPr/>
                    <a:lstStyle/>
                    <a:p>
                      <a:pPr lvl="0" indent="0" marL="0">
                        <a:buNone/>
                      </a:pPr>
                      <a:r>
                        <a:rPr/>
                        <a:t>Separates abstraction from implementation</a:t>
                      </a:r>
                    </a:p>
                  </a:txBody>
                </a:tc>
              </a:tr>
              <a:tr h="0">
                <a:tc>
                  <a:txBody>
                    <a:bodyPr/>
                    <a:lstStyle/>
                    <a:p>
                      <a:pPr lvl="0" indent="0" marL="0">
                        <a:buNone/>
                      </a:pPr>
                      <a:r>
                        <a:rPr b="1"/>
                        <a:t>Composite</a:t>
                      </a:r>
                    </a:p>
                  </a:txBody>
                </a:tc>
                <a:tc>
                  <a:txBody>
                    <a:bodyPr/>
                    <a:lstStyle/>
                    <a:p>
                      <a:pPr lvl="0" indent="0" marL="0">
                        <a:buNone/>
                      </a:pPr>
                      <a:r>
                        <a:rPr/>
                        <a:t>Composes objects into tree structures</a:t>
                      </a:r>
                    </a:p>
                  </a:txBody>
                </a:tc>
              </a:tr>
              <a:tr h="0">
                <a:tc>
                  <a:txBody>
                    <a:bodyPr/>
                    <a:lstStyle/>
                    <a:p>
                      <a:pPr lvl="0" indent="0" marL="0">
                        <a:buNone/>
                      </a:pPr>
                      <a:r>
                        <a:rPr b="1"/>
                        <a:t>Decorator</a:t>
                      </a:r>
                    </a:p>
                  </a:txBody>
                </a:tc>
                <a:tc>
                  <a:txBody>
                    <a:bodyPr/>
                    <a:lstStyle/>
                    <a:p>
                      <a:pPr lvl="0" indent="0" marL="0">
                        <a:buNone/>
                      </a:pPr>
                      <a:r>
                        <a:rPr/>
                        <a:t>Adds responsibilities dynamically</a:t>
                      </a:r>
                    </a:p>
                  </a:txBody>
                </a:tc>
              </a:tr>
              <a:tr h="0">
                <a:tc>
                  <a:txBody>
                    <a:bodyPr/>
                    <a:lstStyle/>
                    <a:p>
                      <a:pPr lvl="0" indent="0" marL="0">
                        <a:buNone/>
                      </a:pPr>
                      <a:r>
                        <a:rPr b="1"/>
                        <a:t>Facade</a:t>
                      </a:r>
                    </a:p>
                  </a:txBody>
                </a:tc>
                <a:tc>
                  <a:txBody>
                    <a:bodyPr/>
                    <a:lstStyle/>
                    <a:p>
                      <a:pPr lvl="0" indent="0" marL="0">
                        <a:buNone/>
                      </a:pPr>
                      <a:r>
                        <a:rPr/>
                        <a:t>Simplifies complex subsystem interfaces</a:t>
                      </a:r>
                    </a:p>
                  </a:txBody>
                </a:tc>
              </a:tr>
              <a:tr h="0">
                <a:tc>
                  <a:txBody>
                    <a:bodyPr/>
                    <a:lstStyle/>
                    <a:p>
                      <a:pPr lvl="0" indent="0" marL="0">
                        <a:buNone/>
                      </a:pPr>
                      <a:r>
                        <a:rPr b="1"/>
                        <a:t>Flyweight</a:t>
                      </a:r>
                    </a:p>
                  </a:txBody>
                </a:tc>
                <a:tc>
                  <a:txBody>
                    <a:bodyPr/>
                    <a:lstStyle/>
                    <a:p>
                      <a:pPr lvl="0" indent="0" marL="0">
                        <a:buNone/>
                      </a:pPr>
                      <a:r>
                        <a:rPr/>
                        <a:t>Shares state to support large numbers of objects</a:t>
                      </a:r>
                    </a:p>
                  </a:txBody>
                </a:tc>
              </a:tr>
              <a:tr h="0">
                <a:tc>
                  <a:txBody>
                    <a:bodyPr/>
                    <a:lstStyle/>
                    <a:p>
                      <a:pPr lvl="0" indent="0" marL="0">
                        <a:buNone/>
                      </a:pPr>
                      <a:r>
                        <a:rPr b="1"/>
                        <a:t>Proxy</a:t>
                      </a:r>
                    </a:p>
                  </a:txBody>
                </a:tc>
                <a:tc>
                  <a:txBody>
                    <a:bodyPr/>
                    <a:lstStyle/>
                    <a:p>
                      <a:pPr lvl="0" indent="0" marL="0">
                        <a:buNone/>
                      </a:pPr>
                      <a:r>
                        <a:rPr/>
                        <a:t>Controls access to another object</a:t>
                      </a:r>
                    </a:p>
                  </a:txBody>
                </a:tc>
              </a:tr>
            </a:tbl>
          </a:graphicData>
        </a:graphic>
      </p:graphicFrame>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Structural Patterns - Overview</a:t>
            </a:r>
          </a:p>
        </p:txBody>
      </p:sp>
      <p:pic>
        <p:nvPicPr>
          <p:cNvPr descr="assets/structural-patterns-overview.png" id="0" name="Picture 1"/>
          <p:cNvPicPr>
            <a:picLocks noGrp="1" noChangeAspect="1"/>
          </p:cNvPicPr>
          <p:nvPr/>
        </p:nvPicPr>
        <p:blipFill>
          <a:blip r:embed="rId2"/>
          <a:stretch>
            <a:fillRect/>
          </a:stretch>
        </p:blipFill>
        <p:spPr bwMode="auto">
          <a:xfrm>
            <a:off x="3835400" y="203200"/>
            <a:ext cx="4572000" cy="3873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a:t>
            </a:r>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Classification by Purpose</a:t>
            </a:r>
          </a:p>
        </p:txBody>
      </p:sp>
      <p:sp>
        <p:nvSpPr>
          <p:cNvPr id="3" name="Content Placeholder 2"/>
          <p:cNvSpPr>
            <a:spLocks noGrp="1"/>
          </p:cNvSpPr>
          <p:nvPr>
            <p:ph idx="1"/>
          </p:nvPr>
        </p:nvSpPr>
        <p:spPr/>
        <p:txBody>
          <a:bodyPr/>
          <a:lstStyle/>
          <a:p>
            <a:pPr lvl="0" indent="0" marL="0">
              <a:buNone/>
            </a:pPr>
            <a:r>
              <a:rPr b="1"/>
              <a:t>Interface Patterns</a:t>
            </a:r>
            <a:r>
              <a:rPr/>
              <a:t> - Deal with adapting or simplifying interfaces: - Adapter, Facade</a:t>
            </a:r>
          </a:p>
          <a:p>
            <a:pPr lvl="0" indent="0" marL="0">
              <a:buNone/>
            </a:pPr>
            <a:r>
              <a:rPr b="1"/>
              <a:t>Composition Patterns</a:t>
            </a:r>
            <a:r>
              <a:rPr/>
              <a:t> - Deal with composing objects into structures: - Composite, Decorator</a:t>
            </a:r>
          </a:p>
          <a:p>
            <a:pPr lvl="0" indent="0" marL="0">
              <a:buNone/>
            </a:pPr>
            <a:r>
              <a:rPr b="1"/>
              <a:t>Separation Patterns</a:t>
            </a:r>
            <a:r>
              <a:rPr/>
              <a:t> - Deal with separating concerns: - Bridge</a:t>
            </a:r>
          </a:p>
          <a:p>
            <a:pPr lvl="0" indent="0" marL="0">
              <a:buNone/>
            </a:pPr>
            <a:r>
              <a:rPr b="1"/>
              <a:t>Optimization Patterns</a:t>
            </a:r>
            <a:r>
              <a:rPr/>
              <a:t> - Deal with resource management: - Flyweight</a:t>
            </a:r>
          </a:p>
          <a:p>
            <a:pPr lvl="0" indent="0" marL="0">
              <a:buNone/>
            </a:pPr>
            <a:r>
              <a:rPr b="1"/>
              <a:t>Access Control Patterns</a:t>
            </a:r>
            <a:r>
              <a:rPr/>
              <a:t> - Deal with controlling object access: - Proxy</a:t>
            </a:r>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Module A: Takeaway</a:t>
            </a:r>
          </a:p>
        </p:txBody>
      </p:sp>
      <p:sp>
        <p:nvSpPr>
          <p:cNvPr id="3" name="Content Placeholder 2"/>
          <p:cNvSpPr>
            <a:spLocks noGrp="1"/>
          </p:cNvSpPr>
          <p:nvPr>
            <p:ph idx="1"/>
          </p:nvPr>
        </p:nvSpPr>
        <p:spPr/>
        <p:txBody>
          <a:bodyPr/>
          <a:lstStyle/>
          <a:p>
            <a:pPr lvl="0"/>
            <a:r>
              <a:rPr/>
              <a:t>Structural patterns address how classes and objects are </a:t>
            </a:r>
            <a:r>
              <a:rPr b="1"/>
              <a:t>composed</a:t>
            </a:r>
            <a:r>
              <a:rPr/>
              <a:t> to form larger structures</a:t>
            </a:r>
          </a:p>
          <a:p>
            <a:pPr lvl="0"/>
            <a:r>
              <a:rPr/>
              <a:t>They ensure that structures remain </a:t>
            </a:r>
            <a:r>
              <a:rPr b="1"/>
              <a:t>flexible</a:t>
            </a:r>
            <a:r>
              <a:rPr/>
              <a:t> and </a:t>
            </a:r>
            <a:r>
              <a:rPr b="1"/>
              <a:t>efficient</a:t>
            </a:r>
          </a:p>
          <a:p>
            <a:pPr lvl="0"/>
            <a:r>
              <a:rPr/>
              <a:t>There are </a:t>
            </a:r>
            <a:r>
              <a:rPr b="1"/>
              <a:t>seven</a:t>
            </a:r>
            <a:r>
              <a:rPr/>
              <a:t> structural patterns, each solving a distinct structural problem</a:t>
            </a:r>
          </a:p>
          <a:p>
            <a:pPr lvl="0"/>
            <a:r>
              <a:rPr/>
              <a:t>Understanding these patterns is essential for building </a:t>
            </a:r>
            <a:r>
              <a:rPr b="1"/>
              <a:t>maintainable</a:t>
            </a:r>
            <a:r>
              <a:rPr/>
              <a:t> object-oriented systems</a:t>
            </a:r>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b="1"/>
              <a:t>Module B: Adapter Pattern</a:t>
            </a:r>
          </a:p>
        </p:txBody>
      </p:sp>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Module B: Outline</a:t>
            </a:r>
          </a:p>
        </p:txBody>
      </p:sp>
      <p:sp>
        <p:nvSpPr>
          <p:cNvPr id="3" name="Content Placeholder 2"/>
          <p:cNvSpPr>
            <a:spLocks noGrp="1"/>
          </p:cNvSpPr>
          <p:nvPr>
            <p:ph idx="1"/>
          </p:nvPr>
        </p:nvSpPr>
        <p:spPr/>
        <p:txBody>
          <a:bodyPr/>
          <a:lstStyle/>
          <a:p>
            <a:pPr lvl="0"/>
            <a:r>
              <a:rPr/>
              <a:t>Intent</a:t>
            </a:r>
          </a:p>
          <a:p>
            <a:pPr lvl="0"/>
            <a:r>
              <a:rPr/>
              <a:t>Problem</a:t>
            </a:r>
          </a:p>
          <a:p>
            <a:pPr lvl="0"/>
            <a:r>
              <a:rPr/>
              <a:t>Solution</a:t>
            </a:r>
          </a:p>
          <a:p>
            <a:pPr lvl="0"/>
            <a:r>
              <a:rPr/>
              <a:t>Real-World Analogy</a:t>
            </a:r>
          </a:p>
          <a:p>
            <a:pPr lvl="0"/>
            <a:r>
              <a:rPr/>
              <a:t>Structure (UML)</a:t>
            </a:r>
          </a:p>
          <a:p>
            <a:pPr lvl="0"/>
            <a:r>
              <a:rPr/>
              <a:t>Java Code Example</a:t>
            </a:r>
          </a:p>
          <a:p>
            <a:pPr lvl="0"/>
            <a:r>
              <a:rPr/>
              <a:t>Applicability</a:t>
            </a:r>
          </a:p>
          <a:p>
            <a:pPr lvl="0"/>
            <a:r>
              <a:rPr/>
              <a:t>How to Implement</a:t>
            </a:r>
          </a:p>
          <a:p>
            <a:pPr lvl="0"/>
            <a:r>
              <a:rPr/>
              <a:t>Pros and Cons</a:t>
            </a:r>
          </a:p>
          <a:p>
            <a:pPr lvl="0"/>
            <a:r>
              <a:rPr/>
              <a:t>Relations with Other Patterns</a:t>
            </a:r>
          </a:p>
          <a:p>
            <a:pPr lvl="0"/>
            <a:r>
              <a:rPr/>
              <a:t>Module Takeaway</a:t>
            </a:r>
          </a:p>
        </p:txBody>
      </p:sp>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Adapter: Intent</a:t>
            </a:r>
          </a:p>
        </p:txBody>
      </p:sp>
      <p:sp>
        <p:nvSpPr>
          <p:cNvPr id="3" name="Content Placeholder 2"/>
          <p:cNvSpPr>
            <a:spLocks noGrp="1"/>
          </p:cNvSpPr>
          <p:nvPr>
            <p:ph idx="1"/>
          </p:nvPr>
        </p:nvSpPr>
        <p:spPr/>
        <p:txBody>
          <a:bodyPr/>
          <a:lstStyle/>
          <a:p>
            <a:pPr lvl="0" indent="0" marL="0">
              <a:buNone/>
            </a:pPr>
            <a:r>
              <a:rPr b="1"/>
              <a:t>Adapter</a:t>
            </a:r>
            <a:r>
              <a:rPr/>
              <a:t> is a structural design pattern that allows objects with </a:t>
            </a:r>
            <a:r>
              <a:rPr b="1"/>
              <a:t>incompatible interfaces</a:t>
            </a:r>
            <a:r>
              <a:rPr/>
              <a:t> to collaborate.</a:t>
            </a:r>
          </a:p>
          <a:p>
            <a:pPr lvl="0"/>
            <a:r>
              <a:rPr/>
              <a:t>Also known as: </a:t>
            </a:r>
            <a:r>
              <a:rPr b="1"/>
              <a:t>Wrapper</a:t>
            </a:r>
          </a:p>
          <a:p>
            <a:pPr lvl="0"/>
            <a:r>
              <a:rPr/>
              <a:t>Converts the interface of a class into another interface that clients expect</a:t>
            </a:r>
          </a:p>
          <a:p>
            <a:pPr lvl="0"/>
            <a:r>
              <a:rPr/>
              <a:t>Lets classes work together that could not otherwise because of incompatible interfaces</a:t>
            </a:r>
          </a:p>
          <a:p>
            <a:pPr lvl="0" indent="0" marL="0">
              <a:buNone/>
            </a:pPr>
            <a:r>
              <a:rPr/>
              <a:t>Source: </a:t>
            </a:r>
            <a:r>
              <a:rPr>
                <a:hlinkClick r:id="rId2"/>
              </a:rPr>
              <a:t>refactoring.guru</a:t>
            </a:r>
          </a:p>
        </p:txBody>
      </p:sp>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Adapter: Problem</a:t>
            </a:r>
          </a:p>
        </p:txBody>
      </p:sp>
      <p:sp>
        <p:nvSpPr>
          <p:cNvPr id="3" name="Content Placeholder 2"/>
          <p:cNvSpPr>
            <a:spLocks noGrp="1"/>
          </p:cNvSpPr>
          <p:nvPr>
            <p:ph idx="1"/>
          </p:nvPr>
        </p:nvSpPr>
        <p:spPr/>
        <p:txBody>
          <a:bodyPr/>
          <a:lstStyle/>
          <a:p>
            <a:pPr lvl="0" indent="0" marL="0">
              <a:buNone/>
            </a:pPr>
            <a:r>
              <a:rPr/>
              <a:t>Imagine you are creating a </a:t>
            </a:r>
            <a:r>
              <a:rPr b="1"/>
              <a:t>stock market monitoring application</a:t>
            </a:r>
            <a:r>
              <a:rPr/>
              <a:t>. The app downloads stock data from multiple sources in </a:t>
            </a:r>
            <a:r>
              <a:rPr b="1"/>
              <a:t>XML format</a:t>
            </a:r>
            <a:r>
              <a:rPr/>
              <a:t>.</a:t>
            </a:r>
          </a:p>
          <a:p>
            <a:pPr lvl="0" indent="0" marL="0">
              <a:buNone/>
            </a:pPr>
            <a:r>
              <a:rPr/>
              <a:t>At some point, you decide to improve the app by integrating a smart </a:t>
            </a:r>
            <a:r>
              <a:rPr b="1"/>
              <a:t>third-party analytics library</a:t>
            </a:r>
            <a:r>
              <a:rPr/>
              <a:t>. But there is a catch: the analytics library only works with data in </a:t>
            </a:r>
            <a:r>
              <a:rPr b="1"/>
              <a:t>JSON format</a:t>
            </a:r>
            <a:r>
              <a:rPr/>
              <a:t>.</a:t>
            </a:r>
          </a:p>
          <a:p>
            <a:pPr lvl="0" indent="0" marL="0">
              <a:buNone/>
            </a:pPr>
            <a:r>
              <a:rPr/>
              <a:t>You cannot use the analytics library “as is” because it expects data in a format that is incompatible with your app.</a:t>
            </a:r>
          </a:p>
        </p:txBody>
      </p:sp>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Adapter: Problem (cont.)</a:t>
            </a:r>
          </a:p>
        </p:txBody>
      </p:sp>
      <p:sp>
        <p:nvSpPr>
          <p:cNvPr id="3" name="Content Placeholder 2"/>
          <p:cNvSpPr>
            <a:spLocks noGrp="1"/>
          </p:cNvSpPr>
          <p:nvPr>
            <p:ph idx="1"/>
          </p:nvPr>
        </p:nvSpPr>
        <p:spPr/>
        <p:txBody>
          <a:bodyPr/>
          <a:lstStyle/>
          <a:p>
            <a:pPr lvl="0" indent="0" marL="0">
              <a:buNone/>
            </a:pPr>
            <a:r>
              <a:rPr/>
              <a:t>You could change the library to work with XML, but: - This might </a:t>
            </a:r>
            <a:r>
              <a:rPr b="1"/>
              <a:t>break existing code</a:t>
            </a:r>
            <a:r>
              <a:rPr/>
              <a:t> that relies on the library - You might </a:t>
            </a:r>
            <a:r>
              <a:rPr b="1"/>
              <a:t>not have access</a:t>
            </a:r>
            <a:r>
              <a:rPr/>
              <a:t> to the library source code at all</a:t>
            </a:r>
          </a:p>
          <a:p>
            <a:pPr lvl="0" indent="0" marL="0">
              <a:buNone/>
            </a:pPr>
            <a:r>
              <a:rPr/>
              <a:t>This situation arises frequently when integrating </a:t>
            </a:r>
            <a:r>
              <a:rPr b="1"/>
              <a:t>third-party</a:t>
            </a:r>
            <a:r>
              <a:rPr/>
              <a:t> or </a:t>
            </a:r>
            <a:r>
              <a:rPr b="1"/>
              <a:t>legacy</a:t>
            </a:r>
            <a:r>
              <a:rPr/>
              <a:t> code.</a:t>
            </a:r>
          </a:p>
        </p:txBody>
      </p:sp>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Adapter: Solution</a:t>
            </a:r>
          </a:p>
        </p:txBody>
      </p:sp>
      <p:sp>
        <p:nvSpPr>
          <p:cNvPr id="3" name="Content Placeholder 2"/>
          <p:cNvSpPr>
            <a:spLocks noGrp="1"/>
          </p:cNvSpPr>
          <p:nvPr>
            <p:ph idx="1"/>
          </p:nvPr>
        </p:nvSpPr>
        <p:spPr/>
        <p:txBody>
          <a:bodyPr/>
          <a:lstStyle/>
          <a:p>
            <a:pPr lvl="0" indent="0" marL="0">
              <a:buNone/>
            </a:pPr>
            <a:r>
              <a:rPr/>
              <a:t>You can create an </a:t>
            </a:r>
            <a:r>
              <a:rPr b="1"/>
              <a:t>adapter</a:t>
            </a:r>
            <a:r>
              <a:rPr/>
              <a:t> – a special object that converts the interface of one object so that another object can understand it.</a:t>
            </a:r>
          </a:p>
          <a:p>
            <a:pPr lvl="0"/>
            <a:r>
              <a:rPr/>
              <a:t>The adapter </a:t>
            </a:r>
            <a:r>
              <a:rPr b="1"/>
              <a:t>wraps</a:t>
            </a:r>
            <a:r>
              <a:rPr/>
              <a:t> one of the objects to hide the complexity of conversion happening behind the scenes</a:t>
            </a:r>
          </a:p>
          <a:p>
            <a:pPr lvl="0"/>
            <a:r>
              <a:rPr/>
              <a:t>The wrapped object is not even aware of the adapter</a:t>
            </a:r>
          </a:p>
          <a:p>
            <a:pPr lvl="0"/>
            <a:r>
              <a:rPr/>
              <a:t>The adapter receives calls in one format and translates them into calls the wrapped object understands</a:t>
            </a:r>
          </a:p>
        </p:txBody>
      </p:sp>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Adapter: Solution (cont.)</a:t>
            </a:r>
          </a:p>
        </p:txBody>
      </p:sp>
      <p:sp>
        <p:nvSpPr>
          <p:cNvPr id="3" name="Content Placeholder 2"/>
          <p:cNvSpPr>
            <a:spLocks noGrp="1"/>
          </p:cNvSpPr>
          <p:nvPr>
            <p:ph idx="1"/>
          </p:nvPr>
        </p:nvSpPr>
        <p:spPr/>
        <p:txBody>
          <a:bodyPr/>
          <a:lstStyle/>
          <a:p>
            <a:pPr lvl="0" indent="0" marL="0">
              <a:buNone/>
            </a:pPr>
            <a:r>
              <a:rPr/>
              <a:t>How adapters work:</a:t>
            </a:r>
          </a:p>
          <a:p>
            <a:pPr lvl="0" indent="-342900" marL="342900">
              <a:buAutoNum type="arabicPeriod"/>
            </a:pPr>
            <a:r>
              <a:rPr/>
              <a:t>The adapter gets an interface compatible with one of the existing objects</a:t>
            </a:r>
          </a:p>
          <a:p>
            <a:pPr lvl="0" indent="-342900" marL="342900">
              <a:buAutoNum type="arabicPeriod"/>
            </a:pPr>
            <a:r>
              <a:rPr/>
              <a:t>Using this interface, the existing object can safely call the adapter’s methods</a:t>
            </a:r>
          </a:p>
          <a:p>
            <a:pPr lvl="0" indent="-342900" marL="342900">
              <a:buAutoNum type="arabicPeriod"/>
            </a:pPr>
            <a:r>
              <a:rPr/>
              <a:t>Upon receiving a call, the adapter passes the request to the second object, but in a format and order that the second object expects</a:t>
            </a:r>
          </a:p>
          <a:p>
            <a:pPr lvl="0" indent="0" marL="0">
              <a:buNone/>
            </a:pPr>
            <a:r>
              <a:rPr/>
              <a:t>Sometimes it is even possible to create a </a:t>
            </a:r>
            <a:r>
              <a:rPr b="1"/>
              <a:t>two-way adapter</a:t>
            </a:r>
            <a:r>
              <a:rPr/>
              <a:t> that can convert calls in both directions.</a:t>
            </a:r>
          </a:p>
        </p:txBody>
      </p:sp>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Adapter: Real-World Analogy</a:t>
            </a:r>
          </a:p>
        </p:txBody>
      </p:sp>
      <p:sp>
        <p:nvSpPr>
          <p:cNvPr id="3" name="Content Placeholder 2"/>
          <p:cNvSpPr>
            <a:spLocks noGrp="1"/>
          </p:cNvSpPr>
          <p:nvPr>
            <p:ph idx="1"/>
          </p:nvPr>
        </p:nvSpPr>
        <p:spPr/>
        <p:txBody>
          <a:bodyPr/>
          <a:lstStyle/>
          <a:p>
            <a:pPr lvl="0" indent="0" marL="0">
              <a:buNone/>
            </a:pPr>
            <a:r>
              <a:rPr/>
              <a:t>When you travel from the US to Europe for the first time, you may get a surprise when trying to charge your laptop. The </a:t>
            </a:r>
            <a:r>
              <a:rPr b="1"/>
              <a:t>power plug and socket</a:t>
            </a:r>
            <a:r>
              <a:rPr/>
              <a:t> standards are different in different countries.</a:t>
            </a:r>
          </a:p>
          <a:p>
            <a:pPr lvl="0" indent="0" marL="0">
              <a:buNone/>
            </a:pPr>
            <a:r>
              <a:rPr/>
              <a:t>A </a:t>
            </a:r>
            <a:r>
              <a:rPr b="1"/>
              <a:t>power plug adapter</a:t>
            </a:r>
            <a:r>
              <a:rPr/>
              <a:t> solves this problem. It has the American-style socket on one end and the European-style plug on the other, acting as a translator between two incompatible interfaces.</a:t>
            </a:r>
          </a:p>
        </p:txBody>
      </p:sp>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Adapter: Structure (Object Adapter)</a:t>
            </a:r>
          </a:p>
        </p:txBody>
      </p:sp>
      <p:sp>
        <p:nvSpPr>
          <p:cNvPr id="3" name="Content Placeholder 2"/>
          <p:cNvSpPr>
            <a:spLocks noGrp="1"/>
          </p:cNvSpPr>
          <p:nvPr>
            <p:ph idx="1"/>
          </p:nvPr>
        </p:nvSpPr>
        <p:spPr/>
        <p:txBody>
          <a:bodyPr/>
          <a:lstStyle/>
          <a:p>
            <a:pPr lvl="0" indent="0" marL="0">
              <a:buNone/>
            </a:pPr>
            <a:r>
              <a:rPr/>
              <a:t>The </a:t>
            </a:r>
            <a:r>
              <a:rPr b="1"/>
              <a:t>Object Adapter</a:t>
            </a:r>
            <a:r>
              <a:rPr/>
              <a:t> uses composition:</a:t>
            </a:r>
          </a:p>
          <a:p>
            <a:pPr lvl="0" indent="-342900" marL="342900">
              <a:buAutoNum type="arabicPeriod"/>
            </a:pPr>
            <a:r>
              <a:rPr b="1"/>
              <a:t>Client</a:t>
            </a:r>
            <a:r>
              <a:rPr/>
              <a:t> - A class that contains the existing business logic of the program</a:t>
            </a:r>
          </a:p>
          <a:p>
            <a:pPr lvl="0" indent="-342900" marL="342900">
              <a:buAutoNum type="arabicPeriod"/>
            </a:pPr>
            <a:r>
              <a:rPr b="1"/>
              <a:t>Client Interface</a:t>
            </a:r>
            <a:r>
              <a:rPr/>
              <a:t> - A protocol that other classes must follow to be able to collaborate with the client code</a:t>
            </a:r>
          </a:p>
          <a:p>
            <a:pPr lvl="0" indent="-342900" marL="342900">
              <a:buAutoNum type="arabicPeriod"/>
            </a:pPr>
            <a:r>
              <a:rPr b="1"/>
              <a:t>Service</a:t>
            </a:r>
            <a:r>
              <a:rPr/>
              <a:t> - Some useful class (usually third-party or legacy). The client cannot use this class directly because it has an incompatible interface</a:t>
            </a:r>
          </a:p>
          <a:p>
            <a:pPr lvl="0" indent="-342900" marL="342900">
              <a:buAutoNum type="arabicPeriod"/>
            </a:pPr>
            <a:r>
              <a:rPr b="1"/>
              <a:t>Adapter</a:t>
            </a:r>
            <a:r>
              <a:rPr/>
              <a:t> - A class that is able to work with both the client and the service. It implements the client interface while wrapping the service object</a:t>
            </a:r>
          </a:p>
        </p:txBody>
      </p:sp>
    </p:spTree>
  </p:cSl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Adapter: Structure (Class Adapter)</a:t>
            </a:r>
          </a:p>
        </p:txBody>
      </p:sp>
      <p:sp>
        <p:nvSpPr>
          <p:cNvPr id="3" name="Content Placeholder 2"/>
          <p:cNvSpPr>
            <a:spLocks noGrp="1"/>
          </p:cNvSpPr>
          <p:nvPr>
            <p:ph idx="1"/>
          </p:nvPr>
        </p:nvSpPr>
        <p:spPr/>
        <p:txBody>
          <a:bodyPr/>
          <a:lstStyle/>
          <a:p>
            <a:pPr lvl="0" indent="0" marL="0">
              <a:buNone/>
            </a:pPr>
            <a:r>
              <a:rPr/>
              <a:t>The </a:t>
            </a:r>
            <a:r>
              <a:rPr b="1"/>
              <a:t>Class Adapter</a:t>
            </a:r>
            <a:r>
              <a:rPr/>
              <a:t> uses multiple inheritance:</a:t>
            </a:r>
          </a:p>
          <a:p>
            <a:pPr lvl="0"/>
            <a:r>
              <a:rPr/>
              <a:t>The adapter inherits interfaces from </a:t>
            </a:r>
            <a:r>
              <a:rPr b="1"/>
              <a:t>both</a:t>
            </a:r>
            <a:r>
              <a:rPr/>
              <a:t> the client and the service classes simultaneously</a:t>
            </a:r>
          </a:p>
          <a:p>
            <a:pPr lvl="0"/>
            <a:r>
              <a:rPr/>
              <a:t>This approach is only possible in languages that support </a:t>
            </a:r>
            <a:r>
              <a:rPr b="1"/>
              <a:t>multiple inheritance</a:t>
            </a:r>
            <a:r>
              <a:rPr/>
              <a:t> (e.g., C++)</a:t>
            </a:r>
          </a:p>
          <a:p>
            <a:pPr lvl="0"/>
            <a:r>
              <a:rPr/>
              <a:t>No wrapping is needed; adaptation occurs within overridden methods</a:t>
            </a:r>
          </a:p>
          <a:p>
            <a:pPr lvl="0"/>
            <a:r>
              <a:rPr/>
              <a:t>The adapter overrides methods from both sides, translating between them</a:t>
            </a:r>
          </a:p>
        </p:txBody>
      </p:sp>
    </p:spTree>
  </p:cSl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Adapter - Class Diagram</a:t>
            </a:r>
          </a:p>
        </p:txBody>
      </p:sp>
      <p:pic>
        <p:nvPicPr>
          <p:cNvPr descr="assets/adapter-structure.png" id="0" name="Picture 1"/>
          <p:cNvPicPr>
            <a:picLocks noGrp="1" noChangeAspect="1"/>
          </p:cNvPicPr>
          <p:nvPr/>
        </p:nvPicPr>
        <p:blipFill>
          <a:blip r:embed="rId2"/>
          <a:stretch>
            <a:fillRect/>
          </a:stretch>
        </p:blipFill>
        <p:spPr bwMode="auto">
          <a:xfrm>
            <a:off x="3568700" y="1219200"/>
            <a:ext cx="5105400" cy="18542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a:t>
            </a:r>
          </a:p>
        </p:txBody>
      </p:sp>
    </p:spTree>
  </p:cSl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Adapter: Java Code Example - Interfaces</a:t>
            </a:r>
          </a:p>
        </p:txBody>
      </p:sp>
      <p:sp>
        <p:nvSpPr>
          <p:cNvPr id="3" name="Content Placeholder 2"/>
          <p:cNvSpPr>
            <a:spLocks noGrp="1"/>
          </p:cNvSpPr>
          <p:nvPr>
            <p:ph idx="1"/>
          </p:nvPr>
        </p:nvSpPr>
        <p:spPr/>
        <p:txBody>
          <a:bodyPr/>
          <a:lstStyle/>
          <a:p>
            <a:pPr lvl="0" indent="0">
              <a:buNone/>
            </a:pPr>
            <a:r>
              <a:rPr i="1">
                <a:solidFill>
                  <a:srgbClr val="60A0B0"/>
                </a:solidFill>
                <a:latin typeface="Courier"/>
              </a:rPr>
              <a:t>// The target interface that the client expects</a:t>
            </a:r>
            <a:br/>
            <a:r>
              <a:rPr b="1">
                <a:solidFill>
                  <a:srgbClr val="007020"/>
                </a:solidFill>
                <a:latin typeface="Courier"/>
              </a:rPr>
              <a:t>public</a:t>
            </a:r>
            <a:r>
              <a:rPr>
                <a:latin typeface="Courier"/>
              </a:rPr>
              <a:t> </a:t>
            </a:r>
            <a:r>
              <a:rPr b="1">
                <a:solidFill>
                  <a:srgbClr val="007020"/>
                </a:solidFill>
                <a:latin typeface="Courier"/>
              </a:rPr>
              <a:t>interface</a:t>
            </a:r>
            <a:r>
              <a:rPr>
                <a:latin typeface="Courier"/>
              </a:rPr>
              <a:t> RoundPeg </a:t>
            </a:r>
            <a:r>
              <a:rPr>
                <a:solidFill>
                  <a:srgbClr val="666666"/>
                </a:solidFill>
                <a:latin typeface="Courier"/>
              </a:rPr>
              <a:t>{</a:t>
            </a:r>
            <a:br/>
            <a:r>
              <a:rPr>
                <a:latin typeface="Courier"/>
              </a:rPr>
              <a:t>    </a:t>
            </a:r>
            <a:r>
              <a:rPr>
                <a:solidFill>
                  <a:srgbClr val="902000"/>
                </a:solidFill>
                <a:latin typeface="Courier"/>
              </a:rPr>
              <a:t>double</a:t>
            </a:r>
            <a:r>
              <a:rPr>
                <a:latin typeface="Courier"/>
              </a:rPr>
              <a:t> </a:t>
            </a:r>
            <a:r>
              <a:rPr>
                <a:solidFill>
                  <a:srgbClr val="06287E"/>
                </a:solidFill>
                <a:latin typeface="Courier"/>
              </a:rPr>
              <a:t>getRadius</a:t>
            </a:r>
            <a:r>
              <a:rPr>
                <a:solidFill>
                  <a:srgbClr val="666666"/>
                </a:solidFill>
                <a:latin typeface="Courier"/>
              </a:rPr>
              <a:t>();</a:t>
            </a:r>
            <a:br/>
            <a:r>
              <a:rPr>
                <a:solidFill>
                  <a:srgbClr val="666666"/>
                </a:solidFill>
                <a:latin typeface="Courier"/>
              </a:rPr>
              <a:t>}</a:t>
            </a:r>
            <a:br/>
            <a:br/>
            <a:r>
              <a:rPr i="1">
                <a:solidFill>
                  <a:srgbClr val="60A0B0"/>
                </a:solidFill>
                <a:latin typeface="Courier"/>
              </a:rPr>
              <a:t>// Concrete implementation of round peg</a:t>
            </a:r>
            <a:br/>
            <a:r>
              <a:rPr b="1">
                <a:solidFill>
                  <a:srgbClr val="007020"/>
                </a:solidFill>
                <a:latin typeface="Courier"/>
              </a:rPr>
              <a:t>public</a:t>
            </a:r>
            <a:r>
              <a:rPr>
                <a:latin typeface="Courier"/>
              </a:rPr>
              <a:t> </a:t>
            </a:r>
            <a:r>
              <a:rPr b="1">
                <a:solidFill>
                  <a:srgbClr val="007020"/>
                </a:solidFill>
                <a:latin typeface="Courier"/>
              </a:rPr>
              <a:t>class</a:t>
            </a:r>
            <a:r>
              <a:rPr>
                <a:latin typeface="Courier"/>
              </a:rPr>
              <a:t> RoundPegImpl </a:t>
            </a:r>
            <a:r>
              <a:rPr b="1">
                <a:solidFill>
                  <a:srgbClr val="007020"/>
                </a:solidFill>
                <a:latin typeface="Courier"/>
              </a:rPr>
              <a:t>implements</a:t>
            </a:r>
            <a:r>
              <a:rPr>
                <a:latin typeface="Courier"/>
              </a:rPr>
              <a:t> RoundPeg </a:t>
            </a:r>
            <a:r>
              <a:rPr>
                <a:solidFill>
                  <a:srgbClr val="666666"/>
                </a:solidFill>
                <a:latin typeface="Courier"/>
              </a:rPr>
              <a:t>{</a:t>
            </a:r>
            <a:br/>
            <a:r>
              <a:rPr>
                <a:latin typeface="Courier"/>
              </a:rPr>
              <a:t>    </a:t>
            </a:r>
            <a:r>
              <a:rPr b="1">
                <a:solidFill>
                  <a:srgbClr val="007020"/>
                </a:solidFill>
                <a:latin typeface="Courier"/>
              </a:rPr>
              <a:t>private</a:t>
            </a:r>
            <a:r>
              <a:rPr>
                <a:latin typeface="Courier"/>
              </a:rPr>
              <a:t> </a:t>
            </a:r>
            <a:r>
              <a:rPr>
                <a:solidFill>
                  <a:srgbClr val="902000"/>
                </a:solidFill>
                <a:latin typeface="Courier"/>
              </a:rPr>
              <a:t>double</a:t>
            </a:r>
            <a:r>
              <a:rPr>
                <a:latin typeface="Courier"/>
              </a:rPr>
              <a:t> radius</a:t>
            </a:r>
            <a:r>
              <a:rPr>
                <a:solidFill>
                  <a:srgbClr val="666666"/>
                </a:solidFill>
                <a:latin typeface="Courier"/>
              </a:rPr>
              <a:t>;</a:t>
            </a:r>
            <a:br/>
            <a:br/>
            <a:r>
              <a:rPr>
                <a:latin typeface="Courier"/>
              </a:rPr>
              <a:t>    </a:t>
            </a:r>
            <a:r>
              <a:rPr b="1">
                <a:solidFill>
                  <a:srgbClr val="007020"/>
                </a:solidFill>
                <a:latin typeface="Courier"/>
              </a:rPr>
              <a:t>public</a:t>
            </a:r>
            <a:r>
              <a:rPr>
                <a:latin typeface="Courier"/>
              </a:rPr>
              <a:t> </a:t>
            </a:r>
            <a:r>
              <a:rPr>
                <a:solidFill>
                  <a:srgbClr val="06287E"/>
                </a:solidFill>
                <a:latin typeface="Courier"/>
              </a:rPr>
              <a:t>RoundPegImpl</a:t>
            </a:r>
            <a:r>
              <a:rPr>
                <a:solidFill>
                  <a:srgbClr val="666666"/>
                </a:solidFill>
                <a:latin typeface="Courier"/>
              </a:rPr>
              <a:t>(</a:t>
            </a:r>
            <a:r>
              <a:rPr>
                <a:solidFill>
                  <a:srgbClr val="902000"/>
                </a:solidFill>
                <a:latin typeface="Courier"/>
              </a:rPr>
              <a:t>double</a:t>
            </a:r>
            <a:r>
              <a:rPr>
                <a:latin typeface="Courier"/>
              </a:rPr>
              <a:t> radius</a:t>
            </a:r>
            <a:r>
              <a:rPr>
                <a:solidFill>
                  <a:srgbClr val="666666"/>
                </a:solidFill>
                <a:latin typeface="Courier"/>
              </a:rPr>
              <a:t>)</a:t>
            </a:r>
            <a:r>
              <a:rPr>
                <a:latin typeface="Courier"/>
              </a:rPr>
              <a:t> </a:t>
            </a:r>
            <a:r>
              <a:rPr>
                <a:solidFill>
                  <a:srgbClr val="666666"/>
                </a:solidFill>
                <a:latin typeface="Courier"/>
              </a:rPr>
              <a:t>{</a:t>
            </a:r>
            <a:br/>
            <a:r>
              <a:rPr>
                <a:latin typeface="Courier"/>
              </a:rPr>
              <a:t>        </a:t>
            </a:r>
            <a:r>
              <a:rPr b="1">
                <a:solidFill>
                  <a:srgbClr val="007020"/>
                </a:solidFill>
                <a:latin typeface="Courier"/>
              </a:rPr>
              <a:t>this</a:t>
            </a:r>
            <a:r>
              <a:rPr>
                <a:solidFill>
                  <a:srgbClr val="666666"/>
                </a:solidFill>
                <a:latin typeface="Courier"/>
              </a:rPr>
              <a:t>.</a:t>
            </a:r>
            <a:r>
              <a:rPr>
                <a:solidFill>
                  <a:srgbClr val="06287E"/>
                </a:solidFill>
                <a:latin typeface="Courier"/>
              </a:rPr>
              <a:t>radius</a:t>
            </a:r>
            <a:r>
              <a:rPr>
                <a:latin typeface="Courier"/>
              </a:rPr>
              <a:t> </a:t>
            </a:r>
            <a:r>
              <a:rPr>
                <a:solidFill>
                  <a:srgbClr val="666666"/>
                </a:solidFill>
                <a:latin typeface="Courier"/>
              </a:rPr>
              <a:t>=</a:t>
            </a:r>
            <a:r>
              <a:rPr>
                <a:latin typeface="Courier"/>
              </a:rPr>
              <a:t> radius</a:t>
            </a:r>
            <a:r>
              <a:rPr>
                <a:solidFill>
                  <a:srgbClr val="666666"/>
                </a:solidFill>
                <a:latin typeface="Courier"/>
              </a:rPr>
              <a:t>;</a:t>
            </a:r>
            <a:br/>
            <a:r>
              <a:rPr>
                <a:latin typeface="Courier"/>
              </a:rPr>
              <a:t>    </a:t>
            </a:r>
            <a:r>
              <a:rPr>
                <a:solidFill>
                  <a:srgbClr val="666666"/>
                </a:solidFill>
                <a:latin typeface="Courier"/>
              </a:rPr>
              <a:t>}</a:t>
            </a:r>
            <a:br/>
            <a:br/>
            <a:r>
              <a:rPr>
                <a:latin typeface="Courier"/>
              </a:rPr>
              <a:t>    </a:t>
            </a:r>
            <a:r>
              <a:rPr>
                <a:solidFill>
                  <a:srgbClr val="7D9029"/>
                </a:solidFill>
                <a:latin typeface="Courier"/>
              </a:rPr>
              <a:t>@Override</a:t>
            </a:r>
            <a:br/>
            <a:r>
              <a:rPr>
                <a:latin typeface="Courier"/>
              </a:rPr>
              <a:t>    </a:t>
            </a:r>
            <a:r>
              <a:rPr b="1">
                <a:solidFill>
                  <a:srgbClr val="007020"/>
                </a:solidFill>
                <a:latin typeface="Courier"/>
              </a:rPr>
              <a:t>public</a:t>
            </a:r>
            <a:r>
              <a:rPr>
                <a:latin typeface="Courier"/>
              </a:rPr>
              <a:t> </a:t>
            </a:r>
            <a:r>
              <a:rPr>
                <a:solidFill>
                  <a:srgbClr val="902000"/>
                </a:solidFill>
                <a:latin typeface="Courier"/>
              </a:rPr>
              <a:t>double</a:t>
            </a:r>
            <a:r>
              <a:rPr>
                <a:latin typeface="Courier"/>
              </a:rPr>
              <a:t> </a:t>
            </a:r>
            <a:r>
              <a:rPr>
                <a:solidFill>
                  <a:srgbClr val="06287E"/>
                </a:solidFill>
                <a:latin typeface="Courier"/>
              </a:rPr>
              <a:t>getRadius</a:t>
            </a:r>
            <a:r>
              <a:rPr>
                <a:solidFill>
                  <a:srgbClr val="666666"/>
                </a:solidFill>
                <a:latin typeface="Courier"/>
              </a:rPr>
              <a:t>()</a:t>
            </a:r>
            <a:r>
              <a:rPr>
                <a:latin typeface="Courier"/>
              </a:rPr>
              <a:t> </a:t>
            </a:r>
            <a:r>
              <a:rPr>
                <a:solidFill>
                  <a:srgbClr val="666666"/>
                </a:solidFill>
                <a:latin typeface="Courier"/>
              </a:rPr>
              <a:t>{</a:t>
            </a:r>
            <a:br/>
            <a:r>
              <a:rPr>
                <a:latin typeface="Courier"/>
              </a:rPr>
              <a:t>        </a:t>
            </a:r>
            <a:r>
              <a:rPr b="1">
                <a:solidFill>
                  <a:srgbClr val="007020"/>
                </a:solidFill>
                <a:latin typeface="Courier"/>
              </a:rPr>
              <a:t>return</a:t>
            </a:r>
            <a:r>
              <a:rPr>
                <a:latin typeface="Courier"/>
              </a:rPr>
              <a:t> radius</a:t>
            </a:r>
            <a:r>
              <a:rPr>
                <a:solidFill>
                  <a:srgbClr val="666666"/>
                </a:solidFill>
                <a:latin typeface="Courier"/>
              </a:rPr>
              <a:t>;</a:t>
            </a:r>
            <a:br/>
            <a:r>
              <a:rPr>
                <a:latin typeface="Courier"/>
              </a:rPr>
              <a:t>    </a:t>
            </a:r>
            <a:r>
              <a:rPr>
                <a:solidFill>
                  <a:srgbClr val="666666"/>
                </a:solidFill>
                <a:latin typeface="Courier"/>
              </a:rPr>
              <a:t>}</a:t>
            </a:r>
            <a:br/>
            <a:r>
              <a:rPr>
                <a:solidFill>
                  <a:srgbClr val="666666"/>
                </a:solidFill>
                <a:latin typeface="Courier"/>
              </a:rPr>
              <a:t>}</a:t>
            </a:r>
          </a:p>
        </p:txBody>
      </p:sp>
    </p:spTree>
  </p:cSl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Adapter: Java Code Example - Service</a:t>
            </a:r>
          </a:p>
        </p:txBody>
      </p:sp>
      <p:sp>
        <p:nvSpPr>
          <p:cNvPr id="3" name="Content Placeholder 2"/>
          <p:cNvSpPr>
            <a:spLocks noGrp="1"/>
          </p:cNvSpPr>
          <p:nvPr>
            <p:ph idx="1"/>
          </p:nvPr>
        </p:nvSpPr>
        <p:spPr/>
        <p:txBody>
          <a:bodyPr/>
          <a:lstStyle/>
          <a:p>
            <a:pPr lvl="0" indent="0">
              <a:buNone/>
            </a:pPr>
            <a:r>
              <a:rPr i="1">
                <a:solidFill>
                  <a:srgbClr val="60A0B0"/>
                </a:solidFill>
                <a:latin typeface="Courier"/>
              </a:rPr>
              <a:t>// The incompatible class (service) that we want to adapt</a:t>
            </a:r>
            <a:br/>
            <a:r>
              <a:rPr b="1">
                <a:solidFill>
                  <a:srgbClr val="007020"/>
                </a:solidFill>
                <a:latin typeface="Courier"/>
              </a:rPr>
              <a:t>public</a:t>
            </a:r>
            <a:r>
              <a:rPr>
                <a:latin typeface="Courier"/>
              </a:rPr>
              <a:t> </a:t>
            </a:r>
            <a:r>
              <a:rPr b="1">
                <a:solidFill>
                  <a:srgbClr val="007020"/>
                </a:solidFill>
                <a:latin typeface="Courier"/>
              </a:rPr>
              <a:t>class</a:t>
            </a:r>
            <a:r>
              <a:rPr>
                <a:latin typeface="Courier"/>
              </a:rPr>
              <a:t> SquarePeg </a:t>
            </a:r>
            <a:r>
              <a:rPr>
                <a:solidFill>
                  <a:srgbClr val="666666"/>
                </a:solidFill>
                <a:latin typeface="Courier"/>
              </a:rPr>
              <a:t>{</a:t>
            </a:r>
            <a:br/>
            <a:r>
              <a:rPr>
                <a:latin typeface="Courier"/>
              </a:rPr>
              <a:t>    </a:t>
            </a:r>
            <a:r>
              <a:rPr b="1">
                <a:solidFill>
                  <a:srgbClr val="007020"/>
                </a:solidFill>
                <a:latin typeface="Courier"/>
              </a:rPr>
              <a:t>private</a:t>
            </a:r>
            <a:r>
              <a:rPr>
                <a:latin typeface="Courier"/>
              </a:rPr>
              <a:t> </a:t>
            </a:r>
            <a:r>
              <a:rPr>
                <a:solidFill>
                  <a:srgbClr val="902000"/>
                </a:solidFill>
                <a:latin typeface="Courier"/>
              </a:rPr>
              <a:t>double</a:t>
            </a:r>
            <a:r>
              <a:rPr>
                <a:latin typeface="Courier"/>
              </a:rPr>
              <a:t> width</a:t>
            </a:r>
            <a:r>
              <a:rPr>
                <a:solidFill>
                  <a:srgbClr val="666666"/>
                </a:solidFill>
                <a:latin typeface="Courier"/>
              </a:rPr>
              <a:t>;</a:t>
            </a:r>
            <a:br/>
            <a:br/>
            <a:r>
              <a:rPr>
                <a:latin typeface="Courier"/>
              </a:rPr>
              <a:t>    </a:t>
            </a:r>
            <a:r>
              <a:rPr b="1">
                <a:solidFill>
                  <a:srgbClr val="007020"/>
                </a:solidFill>
                <a:latin typeface="Courier"/>
              </a:rPr>
              <a:t>public</a:t>
            </a:r>
            <a:r>
              <a:rPr>
                <a:latin typeface="Courier"/>
              </a:rPr>
              <a:t> </a:t>
            </a:r>
            <a:r>
              <a:rPr>
                <a:solidFill>
                  <a:srgbClr val="06287E"/>
                </a:solidFill>
                <a:latin typeface="Courier"/>
              </a:rPr>
              <a:t>SquarePeg</a:t>
            </a:r>
            <a:r>
              <a:rPr>
                <a:solidFill>
                  <a:srgbClr val="666666"/>
                </a:solidFill>
                <a:latin typeface="Courier"/>
              </a:rPr>
              <a:t>(</a:t>
            </a:r>
            <a:r>
              <a:rPr>
                <a:solidFill>
                  <a:srgbClr val="902000"/>
                </a:solidFill>
                <a:latin typeface="Courier"/>
              </a:rPr>
              <a:t>double</a:t>
            </a:r>
            <a:r>
              <a:rPr>
                <a:latin typeface="Courier"/>
              </a:rPr>
              <a:t> width</a:t>
            </a:r>
            <a:r>
              <a:rPr>
                <a:solidFill>
                  <a:srgbClr val="666666"/>
                </a:solidFill>
                <a:latin typeface="Courier"/>
              </a:rPr>
              <a:t>)</a:t>
            </a:r>
            <a:r>
              <a:rPr>
                <a:latin typeface="Courier"/>
              </a:rPr>
              <a:t> </a:t>
            </a:r>
            <a:r>
              <a:rPr>
                <a:solidFill>
                  <a:srgbClr val="666666"/>
                </a:solidFill>
                <a:latin typeface="Courier"/>
              </a:rPr>
              <a:t>{</a:t>
            </a:r>
            <a:br/>
            <a:r>
              <a:rPr>
                <a:latin typeface="Courier"/>
              </a:rPr>
              <a:t>        </a:t>
            </a:r>
            <a:r>
              <a:rPr b="1">
                <a:solidFill>
                  <a:srgbClr val="007020"/>
                </a:solidFill>
                <a:latin typeface="Courier"/>
              </a:rPr>
              <a:t>this</a:t>
            </a:r>
            <a:r>
              <a:rPr>
                <a:solidFill>
                  <a:srgbClr val="666666"/>
                </a:solidFill>
                <a:latin typeface="Courier"/>
              </a:rPr>
              <a:t>.</a:t>
            </a:r>
            <a:r>
              <a:rPr>
                <a:solidFill>
                  <a:srgbClr val="06287E"/>
                </a:solidFill>
                <a:latin typeface="Courier"/>
              </a:rPr>
              <a:t>width</a:t>
            </a:r>
            <a:r>
              <a:rPr>
                <a:latin typeface="Courier"/>
              </a:rPr>
              <a:t> </a:t>
            </a:r>
            <a:r>
              <a:rPr>
                <a:solidFill>
                  <a:srgbClr val="666666"/>
                </a:solidFill>
                <a:latin typeface="Courier"/>
              </a:rPr>
              <a:t>=</a:t>
            </a:r>
            <a:r>
              <a:rPr>
                <a:latin typeface="Courier"/>
              </a:rPr>
              <a:t> width</a:t>
            </a:r>
            <a:r>
              <a:rPr>
                <a:solidFill>
                  <a:srgbClr val="666666"/>
                </a:solidFill>
                <a:latin typeface="Courier"/>
              </a:rPr>
              <a:t>;</a:t>
            </a:r>
            <a:br/>
            <a:r>
              <a:rPr>
                <a:latin typeface="Courier"/>
              </a:rPr>
              <a:t>    </a:t>
            </a:r>
            <a:r>
              <a:rPr>
                <a:solidFill>
                  <a:srgbClr val="666666"/>
                </a:solidFill>
                <a:latin typeface="Courier"/>
              </a:rPr>
              <a:t>}</a:t>
            </a:r>
            <a:br/>
            <a:br/>
            <a:r>
              <a:rPr>
                <a:latin typeface="Courier"/>
              </a:rPr>
              <a:t>    </a:t>
            </a:r>
            <a:r>
              <a:rPr b="1">
                <a:solidFill>
                  <a:srgbClr val="007020"/>
                </a:solidFill>
                <a:latin typeface="Courier"/>
              </a:rPr>
              <a:t>public</a:t>
            </a:r>
            <a:r>
              <a:rPr>
                <a:latin typeface="Courier"/>
              </a:rPr>
              <a:t> </a:t>
            </a:r>
            <a:r>
              <a:rPr>
                <a:solidFill>
                  <a:srgbClr val="902000"/>
                </a:solidFill>
                <a:latin typeface="Courier"/>
              </a:rPr>
              <a:t>double</a:t>
            </a:r>
            <a:r>
              <a:rPr>
                <a:latin typeface="Courier"/>
              </a:rPr>
              <a:t> </a:t>
            </a:r>
            <a:r>
              <a:rPr>
                <a:solidFill>
                  <a:srgbClr val="06287E"/>
                </a:solidFill>
                <a:latin typeface="Courier"/>
              </a:rPr>
              <a:t>getWidth</a:t>
            </a:r>
            <a:r>
              <a:rPr>
                <a:solidFill>
                  <a:srgbClr val="666666"/>
                </a:solidFill>
                <a:latin typeface="Courier"/>
              </a:rPr>
              <a:t>()</a:t>
            </a:r>
            <a:r>
              <a:rPr>
                <a:latin typeface="Courier"/>
              </a:rPr>
              <a:t> </a:t>
            </a:r>
            <a:r>
              <a:rPr>
                <a:solidFill>
                  <a:srgbClr val="666666"/>
                </a:solidFill>
                <a:latin typeface="Courier"/>
              </a:rPr>
              <a:t>{</a:t>
            </a:r>
            <a:br/>
            <a:r>
              <a:rPr>
                <a:latin typeface="Courier"/>
              </a:rPr>
              <a:t>        </a:t>
            </a:r>
            <a:r>
              <a:rPr b="1">
                <a:solidFill>
                  <a:srgbClr val="007020"/>
                </a:solidFill>
                <a:latin typeface="Courier"/>
              </a:rPr>
              <a:t>return</a:t>
            </a:r>
            <a:r>
              <a:rPr>
                <a:latin typeface="Courier"/>
              </a:rPr>
              <a:t> width</a:t>
            </a:r>
            <a:r>
              <a:rPr>
                <a:solidFill>
                  <a:srgbClr val="666666"/>
                </a:solidFill>
                <a:latin typeface="Courier"/>
              </a:rPr>
              <a:t>;</a:t>
            </a:r>
            <a:br/>
            <a:r>
              <a:rPr>
                <a:latin typeface="Courier"/>
              </a:rPr>
              <a:t>    </a:t>
            </a:r>
            <a:r>
              <a:rPr>
                <a:solidFill>
                  <a:srgbClr val="666666"/>
                </a:solidFill>
                <a:latin typeface="Courier"/>
              </a:rPr>
              <a:t>}</a:t>
            </a:r>
            <a:br/>
            <a:br/>
            <a:r>
              <a:rPr>
                <a:latin typeface="Courier"/>
              </a:rPr>
              <a:t>    </a:t>
            </a:r>
            <a:r>
              <a:rPr b="1">
                <a:solidFill>
                  <a:srgbClr val="007020"/>
                </a:solidFill>
                <a:latin typeface="Courier"/>
              </a:rPr>
              <a:t>public</a:t>
            </a:r>
            <a:r>
              <a:rPr>
                <a:latin typeface="Courier"/>
              </a:rPr>
              <a:t> </a:t>
            </a:r>
            <a:r>
              <a:rPr>
                <a:solidFill>
                  <a:srgbClr val="902000"/>
                </a:solidFill>
                <a:latin typeface="Courier"/>
              </a:rPr>
              <a:t>double</a:t>
            </a:r>
            <a:r>
              <a:rPr>
                <a:latin typeface="Courier"/>
              </a:rPr>
              <a:t> </a:t>
            </a:r>
            <a:r>
              <a:rPr>
                <a:solidFill>
                  <a:srgbClr val="06287E"/>
                </a:solidFill>
                <a:latin typeface="Courier"/>
              </a:rPr>
              <a:t>getSquare</a:t>
            </a:r>
            <a:r>
              <a:rPr>
                <a:solidFill>
                  <a:srgbClr val="666666"/>
                </a:solidFill>
                <a:latin typeface="Courier"/>
              </a:rPr>
              <a:t>()</a:t>
            </a:r>
            <a:r>
              <a:rPr>
                <a:latin typeface="Courier"/>
              </a:rPr>
              <a:t> </a:t>
            </a:r>
            <a:r>
              <a:rPr>
                <a:solidFill>
                  <a:srgbClr val="666666"/>
                </a:solidFill>
                <a:latin typeface="Courier"/>
              </a:rPr>
              <a:t>{</a:t>
            </a:r>
            <a:br/>
            <a:r>
              <a:rPr>
                <a:latin typeface="Courier"/>
              </a:rPr>
              <a:t>        </a:t>
            </a:r>
            <a:r>
              <a:rPr b="1">
                <a:solidFill>
                  <a:srgbClr val="007020"/>
                </a:solidFill>
                <a:latin typeface="Courier"/>
              </a:rPr>
              <a:t>return</a:t>
            </a:r>
            <a:r>
              <a:rPr>
                <a:latin typeface="Courier"/>
              </a:rPr>
              <a:t> </a:t>
            </a:r>
            <a:r>
              <a:rPr>
                <a:solidFill>
                  <a:srgbClr val="008000"/>
                </a:solidFill>
                <a:latin typeface="Courier"/>
              </a:rPr>
              <a:t>Math</a:t>
            </a:r>
            <a:r>
              <a:rPr>
                <a:solidFill>
                  <a:srgbClr val="666666"/>
                </a:solidFill>
                <a:latin typeface="Courier"/>
              </a:rPr>
              <a:t>.</a:t>
            </a:r>
            <a:r>
              <a:rPr>
                <a:solidFill>
                  <a:srgbClr val="06287E"/>
                </a:solidFill>
                <a:latin typeface="Courier"/>
              </a:rPr>
              <a:t>pow</a:t>
            </a:r>
            <a:r>
              <a:rPr>
                <a:solidFill>
                  <a:srgbClr val="666666"/>
                </a:solidFill>
                <a:latin typeface="Courier"/>
              </a:rPr>
              <a:t>(</a:t>
            </a:r>
            <a:r>
              <a:rPr b="1">
                <a:solidFill>
                  <a:srgbClr val="007020"/>
                </a:solidFill>
                <a:latin typeface="Courier"/>
              </a:rPr>
              <a:t>this</a:t>
            </a:r>
            <a:r>
              <a:rPr>
                <a:solidFill>
                  <a:srgbClr val="666666"/>
                </a:solidFill>
                <a:latin typeface="Courier"/>
              </a:rPr>
              <a:t>.</a:t>
            </a:r>
            <a:r>
              <a:rPr>
                <a:solidFill>
                  <a:srgbClr val="06287E"/>
                </a:solidFill>
                <a:latin typeface="Courier"/>
              </a:rPr>
              <a:t>width</a:t>
            </a:r>
            <a:r>
              <a:rPr>
                <a:solidFill>
                  <a:srgbClr val="666666"/>
                </a:solidFill>
                <a:latin typeface="Courier"/>
              </a:rPr>
              <a:t>,</a:t>
            </a:r>
            <a:r>
              <a:rPr>
                <a:latin typeface="Courier"/>
              </a:rPr>
              <a:t> </a:t>
            </a:r>
            <a:r>
              <a:rPr>
                <a:solidFill>
                  <a:srgbClr val="40A070"/>
                </a:solidFill>
                <a:latin typeface="Courier"/>
              </a:rPr>
              <a:t>2</a:t>
            </a:r>
            <a:r>
              <a:rPr>
                <a:solidFill>
                  <a:srgbClr val="666666"/>
                </a:solidFill>
                <a:latin typeface="Courier"/>
              </a:rPr>
              <a:t>);</a:t>
            </a:r>
            <a:br/>
            <a:r>
              <a:rPr>
                <a:latin typeface="Courier"/>
              </a:rPr>
              <a:t>    </a:t>
            </a:r>
            <a:r>
              <a:rPr>
                <a:solidFill>
                  <a:srgbClr val="666666"/>
                </a:solidFill>
                <a:latin typeface="Courier"/>
              </a:rPr>
              <a:t>}</a:t>
            </a:r>
            <a:br/>
            <a:r>
              <a:rPr>
                <a:solidFill>
                  <a:srgbClr val="666666"/>
                </a:solidFill>
                <a:latin typeface="Courier"/>
              </a:rPr>
              <a:t>}</a:t>
            </a:r>
          </a:p>
        </p:txBody>
      </p:sp>
    </p:spTree>
  </p:cSl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Adapter: Java Code Example - Adapter</a:t>
            </a:r>
          </a:p>
        </p:txBody>
      </p:sp>
      <p:sp>
        <p:nvSpPr>
          <p:cNvPr id="3" name="Content Placeholder 2"/>
          <p:cNvSpPr>
            <a:spLocks noGrp="1"/>
          </p:cNvSpPr>
          <p:nvPr>
            <p:ph idx="1"/>
          </p:nvPr>
        </p:nvSpPr>
        <p:spPr/>
        <p:txBody>
          <a:bodyPr/>
          <a:lstStyle/>
          <a:p>
            <a:pPr lvl="0" indent="0">
              <a:buNone/>
            </a:pPr>
            <a:r>
              <a:rPr i="1">
                <a:solidFill>
                  <a:srgbClr val="60A0B0"/>
                </a:solidFill>
                <a:latin typeface="Courier"/>
              </a:rPr>
              <a:t>// The adapter makes SquarePeg compatible with RoundPeg</a:t>
            </a:r>
            <a:br/>
            <a:r>
              <a:rPr b="1">
                <a:solidFill>
                  <a:srgbClr val="007020"/>
                </a:solidFill>
                <a:latin typeface="Courier"/>
              </a:rPr>
              <a:t>public</a:t>
            </a:r>
            <a:r>
              <a:rPr>
                <a:latin typeface="Courier"/>
              </a:rPr>
              <a:t> </a:t>
            </a:r>
            <a:r>
              <a:rPr b="1">
                <a:solidFill>
                  <a:srgbClr val="007020"/>
                </a:solidFill>
                <a:latin typeface="Courier"/>
              </a:rPr>
              <a:t>class</a:t>
            </a:r>
            <a:r>
              <a:rPr>
                <a:latin typeface="Courier"/>
              </a:rPr>
              <a:t> SquarePegAdapter </a:t>
            </a:r>
            <a:r>
              <a:rPr b="1">
                <a:solidFill>
                  <a:srgbClr val="007020"/>
                </a:solidFill>
                <a:latin typeface="Courier"/>
              </a:rPr>
              <a:t>implements</a:t>
            </a:r>
            <a:r>
              <a:rPr>
                <a:latin typeface="Courier"/>
              </a:rPr>
              <a:t> RoundPeg </a:t>
            </a:r>
            <a:r>
              <a:rPr>
                <a:solidFill>
                  <a:srgbClr val="666666"/>
                </a:solidFill>
                <a:latin typeface="Courier"/>
              </a:rPr>
              <a:t>{</a:t>
            </a:r>
            <a:br/>
            <a:r>
              <a:rPr>
                <a:latin typeface="Courier"/>
              </a:rPr>
              <a:t>    </a:t>
            </a:r>
            <a:r>
              <a:rPr b="1">
                <a:solidFill>
                  <a:srgbClr val="007020"/>
                </a:solidFill>
                <a:latin typeface="Courier"/>
              </a:rPr>
              <a:t>private</a:t>
            </a:r>
            <a:r>
              <a:rPr>
                <a:latin typeface="Courier"/>
              </a:rPr>
              <a:t> SquarePeg peg</a:t>
            </a:r>
            <a:r>
              <a:rPr>
                <a:solidFill>
                  <a:srgbClr val="666666"/>
                </a:solidFill>
                <a:latin typeface="Courier"/>
              </a:rPr>
              <a:t>;</a:t>
            </a:r>
            <a:br/>
            <a:br/>
            <a:r>
              <a:rPr>
                <a:latin typeface="Courier"/>
              </a:rPr>
              <a:t>    </a:t>
            </a:r>
            <a:r>
              <a:rPr b="1">
                <a:solidFill>
                  <a:srgbClr val="007020"/>
                </a:solidFill>
                <a:latin typeface="Courier"/>
              </a:rPr>
              <a:t>public</a:t>
            </a:r>
            <a:r>
              <a:rPr>
                <a:latin typeface="Courier"/>
              </a:rPr>
              <a:t> </a:t>
            </a:r>
            <a:r>
              <a:rPr>
                <a:solidFill>
                  <a:srgbClr val="06287E"/>
                </a:solidFill>
                <a:latin typeface="Courier"/>
              </a:rPr>
              <a:t>SquarePegAdapter</a:t>
            </a:r>
            <a:r>
              <a:rPr>
                <a:solidFill>
                  <a:srgbClr val="666666"/>
                </a:solidFill>
                <a:latin typeface="Courier"/>
              </a:rPr>
              <a:t>(</a:t>
            </a:r>
            <a:r>
              <a:rPr>
                <a:latin typeface="Courier"/>
              </a:rPr>
              <a:t>SquarePeg peg</a:t>
            </a:r>
            <a:r>
              <a:rPr>
                <a:solidFill>
                  <a:srgbClr val="666666"/>
                </a:solidFill>
                <a:latin typeface="Courier"/>
              </a:rPr>
              <a:t>)</a:t>
            </a:r>
            <a:r>
              <a:rPr>
                <a:latin typeface="Courier"/>
              </a:rPr>
              <a:t> </a:t>
            </a:r>
            <a:r>
              <a:rPr>
                <a:solidFill>
                  <a:srgbClr val="666666"/>
                </a:solidFill>
                <a:latin typeface="Courier"/>
              </a:rPr>
              <a:t>{</a:t>
            </a:r>
            <a:br/>
            <a:r>
              <a:rPr>
                <a:latin typeface="Courier"/>
              </a:rPr>
              <a:t>        </a:t>
            </a:r>
            <a:r>
              <a:rPr b="1">
                <a:solidFill>
                  <a:srgbClr val="007020"/>
                </a:solidFill>
                <a:latin typeface="Courier"/>
              </a:rPr>
              <a:t>this</a:t>
            </a:r>
            <a:r>
              <a:rPr>
                <a:solidFill>
                  <a:srgbClr val="666666"/>
                </a:solidFill>
                <a:latin typeface="Courier"/>
              </a:rPr>
              <a:t>.</a:t>
            </a:r>
            <a:r>
              <a:rPr>
                <a:solidFill>
                  <a:srgbClr val="06287E"/>
                </a:solidFill>
                <a:latin typeface="Courier"/>
              </a:rPr>
              <a:t>peg</a:t>
            </a:r>
            <a:r>
              <a:rPr>
                <a:latin typeface="Courier"/>
              </a:rPr>
              <a:t> </a:t>
            </a:r>
            <a:r>
              <a:rPr>
                <a:solidFill>
                  <a:srgbClr val="666666"/>
                </a:solidFill>
                <a:latin typeface="Courier"/>
              </a:rPr>
              <a:t>=</a:t>
            </a:r>
            <a:r>
              <a:rPr>
                <a:latin typeface="Courier"/>
              </a:rPr>
              <a:t> peg</a:t>
            </a:r>
            <a:r>
              <a:rPr>
                <a:solidFill>
                  <a:srgbClr val="666666"/>
                </a:solidFill>
                <a:latin typeface="Courier"/>
              </a:rPr>
              <a:t>;</a:t>
            </a:r>
            <a:br/>
            <a:r>
              <a:rPr>
                <a:latin typeface="Courier"/>
              </a:rPr>
              <a:t>    </a:t>
            </a:r>
            <a:r>
              <a:rPr>
                <a:solidFill>
                  <a:srgbClr val="666666"/>
                </a:solidFill>
                <a:latin typeface="Courier"/>
              </a:rPr>
              <a:t>}</a:t>
            </a:r>
            <a:br/>
            <a:br/>
            <a:r>
              <a:rPr>
                <a:latin typeface="Courier"/>
              </a:rPr>
              <a:t>    </a:t>
            </a:r>
            <a:r>
              <a:rPr>
                <a:solidFill>
                  <a:srgbClr val="7D9029"/>
                </a:solidFill>
                <a:latin typeface="Courier"/>
              </a:rPr>
              <a:t>@Override</a:t>
            </a:r>
            <a:br/>
            <a:r>
              <a:rPr>
                <a:latin typeface="Courier"/>
              </a:rPr>
              <a:t>    </a:t>
            </a:r>
            <a:r>
              <a:rPr b="1">
                <a:solidFill>
                  <a:srgbClr val="007020"/>
                </a:solidFill>
                <a:latin typeface="Courier"/>
              </a:rPr>
              <a:t>public</a:t>
            </a:r>
            <a:r>
              <a:rPr>
                <a:latin typeface="Courier"/>
              </a:rPr>
              <a:t> </a:t>
            </a:r>
            <a:r>
              <a:rPr>
                <a:solidFill>
                  <a:srgbClr val="902000"/>
                </a:solidFill>
                <a:latin typeface="Courier"/>
              </a:rPr>
              <a:t>double</a:t>
            </a:r>
            <a:r>
              <a:rPr>
                <a:latin typeface="Courier"/>
              </a:rPr>
              <a:t> </a:t>
            </a:r>
            <a:r>
              <a:rPr>
                <a:solidFill>
                  <a:srgbClr val="06287E"/>
                </a:solidFill>
                <a:latin typeface="Courier"/>
              </a:rPr>
              <a:t>getRadius</a:t>
            </a:r>
            <a:r>
              <a:rPr>
                <a:solidFill>
                  <a:srgbClr val="666666"/>
                </a:solidFill>
                <a:latin typeface="Courier"/>
              </a:rPr>
              <a:t>()</a:t>
            </a:r>
            <a:r>
              <a:rPr>
                <a:latin typeface="Courier"/>
              </a:rPr>
              <a:t> </a:t>
            </a:r>
            <a:r>
              <a:rPr>
                <a:solidFill>
                  <a:srgbClr val="666666"/>
                </a:solidFill>
                <a:latin typeface="Courier"/>
              </a:rPr>
              <a:t>{</a:t>
            </a:r>
            <a:br/>
            <a:r>
              <a:rPr>
                <a:latin typeface="Courier"/>
              </a:rPr>
              <a:t>        </a:t>
            </a:r>
            <a:r>
              <a:rPr i="1">
                <a:solidFill>
                  <a:srgbClr val="60A0B0"/>
                </a:solidFill>
                <a:latin typeface="Courier"/>
              </a:rPr>
              <a:t>// Calculate the minimum circle radius that can</a:t>
            </a:r>
            <a:br/>
            <a:r>
              <a:rPr>
                <a:latin typeface="Courier"/>
              </a:rPr>
              <a:t>        </a:t>
            </a:r>
            <a:r>
              <a:rPr i="1">
                <a:solidFill>
                  <a:srgbClr val="60A0B0"/>
                </a:solidFill>
                <a:latin typeface="Courier"/>
              </a:rPr>
              <a:t>// fit this square peg</a:t>
            </a:r>
            <a:br/>
            <a:r>
              <a:rPr>
                <a:latin typeface="Courier"/>
              </a:rPr>
              <a:t>        </a:t>
            </a:r>
            <a:r>
              <a:rPr b="1">
                <a:solidFill>
                  <a:srgbClr val="007020"/>
                </a:solidFill>
                <a:latin typeface="Courier"/>
              </a:rPr>
              <a:t>return</a:t>
            </a:r>
            <a:r>
              <a:rPr>
                <a:latin typeface="Courier"/>
              </a:rPr>
              <a:t> </a:t>
            </a:r>
            <a:r>
              <a:rPr>
                <a:solidFill>
                  <a:srgbClr val="666666"/>
                </a:solidFill>
                <a:latin typeface="Courier"/>
              </a:rPr>
              <a:t>(</a:t>
            </a:r>
            <a:r>
              <a:rPr>
                <a:solidFill>
                  <a:srgbClr val="008000"/>
                </a:solidFill>
                <a:latin typeface="Courier"/>
              </a:rPr>
              <a:t>Math</a:t>
            </a:r>
            <a:r>
              <a:rPr>
                <a:solidFill>
                  <a:srgbClr val="666666"/>
                </a:solidFill>
                <a:latin typeface="Courier"/>
              </a:rPr>
              <a:t>.</a:t>
            </a:r>
            <a:r>
              <a:rPr>
                <a:solidFill>
                  <a:srgbClr val="06287E"/>
                </a:solidFill>
                <a:latin typeface="Courier"/>
              </a:rPr>
              <a:t>sqrt</a:t>
            </a:r>
            <a:r>
              <a:rPr>
                <a:solidFill>
                  <a:srgbClr val="666666"/>
                </a:solidFill>
                <a:latin typeface="Courier"/>
              </a:rPr>
              <a:t>(</a:t>
            </a:r>
            <a:r>
              <a:rPr>
                <a:solidFill>
                  <a:srgbClr val="008000"/>
                </a:solidFill>
                <a:latin typeface="Courier"/>
              </a:rPr>
              <a:t>Math</a:t>
            </a:r>
            <a:r>
              <a:rPr>
                <a:solidFill>
                  <a:srgbClr val="666666"/>
                </a:solidFill>
                <a:latin typeface="Courier"/>
              </a:rPr>
              <a:t>.</a:t>
            </a:r>
            <a:r>
              <a:rPr>
                <a:solidFill>
                  <a:srgbClr val="06287E"/>
                </a:solidFill>
                <a:latin typeface="Courier"/>
              </a:rPr>
              <a:t>pow</a:t>
            </a:r>
            <a:r>
              <a:rPr>
                <a:solidFill>
                  <a:srgbClr val="666666"/>
                </a:solidFill>
                <a:latin typeface="Courier"/>
              </a:rPr>
              <a:t>(</a:t>
            </a:r>
            <a:r>
              <a:rPr>
                <a:latin typeface="Courier"/>
              </a:rPr>
              <a:t>peg</a:t>
            </a:r>
            <a:r>
              <a:rPr>
                <a:solidFill>
                  <a:srgbClr val="666666"/>
                </a:solidFill>
                <a:latin typeface="Courier"/>
              </a:rPr>
              <a:t>.</a:t>
            </a:r>
            <a:r>
              <a:rPr>
                <a:solidFill>
                  <a:srgbClr val="06287E"/>
                </a:solidFill>
                <a:latin typeface="Courier"/>
              </a:rPr>
              <a:t>getWidth</a:t>
            </a:r>
            <a:r>
              <a:rPr>
                <a:solidFill>
                  <a:srgbClr val="666666"/>
                </a:solidFill>
                <a:latin typeface="Courier"/>
              </a:rPr>
              <a:t>(),</a:t>
            </a:r>
            <a:r>
              <a:rPr>
                <a:latin typeface="Courier"/>
              </a:rPr>
              <a:t> </a:t>
            </a:r>
            <a:r>
              <a:rPr>
                <a:solidFill>
                  <a:srgbClr val="40A070"/>
                </a:solidFill>
                <a:latin typeface="Courier"/>
              </a:rPr>
              <a:t>2</a:t>
            </a:r>
            <a:r>
              <a:rPr>
                <a:solidFill>
                  <a:srgbClr val="666666"/>
                </a:solidFill>
                <a:latin typeface="Courier"/>
              </a:rPr>
              <a:t>)</a:t>
            </a:r>
            <a:r>
              <a:rPr>
                <a:latin typeface="Courier"/>
              </a:rPr>
              <a:t> </a:t>
            </a:r>
            <a:r>
              <a:rPr>
                <a:solidFill>
                  <a:srgbClr val="666666"/>
                </a:solidFill>
                <a:latin typeface="Courier"/>
              </a:rPr>
              <a:t>*</a:t>
            </a:r>
            <a:r>
              <a:rPr>
                <a:latin typeface="Courier"/>
              </a:rPr>
              <a:t> </a:t>
            </a:r>
            <a:r>
              <a:rPr>
                <a:solidFill>
                  <a:srgbClr val="40A070"/>
                </a:solidFill>
                <a:latin typeface="Courier"/>
              </a:rPr>
              <a:t>2</a:t>
            </a:r>
            <a:r>
              <a:rPr>
                <a:solidFill>
                  <a:srgbClr val="666666"/>
                </a:solidFill>
                <a:latin typeface="Courier"/>
              </a:rPr>
              <a:t>))</a:t>
            </a:r>
            <a:r>
              <a:rPr>
                <a:latin typeface="Courier"/>
              </a:rPr>
              <a:t> </a:t>
            </a:r>
            <a:r>
              <a:rPr>
                <a:solidFill>
                  <a:srgbClr val="666666"/>
                </a:solidFill>
                <a:latin typeface="Courier"/>
              </a:rPr>
              <a:t>/</a:t>
            </a:r>
            <a:r>
              <a:rPr>
                <a:latin typeface="Courier"/>
              </a:rPr>
              <a:t> </a:t>
            </a:r>
            <a:r>
              <a:rPr>
                <a:solidFill>
                  <a:srgbClr val="40A070"/>
                </a:solidFill>
                <a:latin typeface="Courier"/>
              </a:rPr>
              <a:t>2</a:t>
            </a:r>
            <a:r>
              <a:rPr>
                <a:solidFill>
                  <a:srgbClr val="666666"/>
                </a:solidFill>
                <a:latin typeface="Courier"/>
              </a:rPr>
              <a:t>;</a:t>
            </a:r>
            <a:br/>
            <a:r>
              <a:rPr>
                <a:latin typeface="Courier"/>
              </a:rPr>
              <a:t>    </a:t>
            </a:r>
            <a:r>
              <a:rPr>
                <a:solidFill>
                  <a:srgbClr val="666666"/>
                </a:solidFill>
                <a:latin typeface="Courier"/>
              </a:rPr>
              <a:t>}</a:t>
            </a:r>
            <a:br/>
            <a:r>
              <a:rPr>
                <a:solidFill>
                  <a:srgbClr val="666666"/>
                </a:solidFill>
                <a:latin typeface="Courier"/>
              </a:rPr>
              <a:t>}</a:t>
            </a:r>
          </a:p>
        </p:txBody>
      </p:sp>
    </p:spTree>
  </p:cSl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Adapter: Java Code Example - Round Hole</a:t>
            </a:r>
          </a:p>
        </p:txBody>
      </p:sp>
      <p:sp>
        <p:nvSpPr>
          <p:cNvPr id="3" name="Content Placeholder 2"/>
          <p:cNvSpPr>
            <a:spLocks noGrp="1"/>
          </p:cNvSpPr>
          <p:nvPr>
            <p:ph idx="1"/>
          </p:nvPr>
        </p:nvSpPr>
        <p:spPr/>
        <p:txBody>
          <a:bodyPr/>
          <a:lstStyle/>
          <a:p>
            <a:pPr lvl="0" indent="0">
              <a:buNone/>
            </a:pPr>
            <a:r>
              <a:rPr i="1">
                <a:solidFill>
                  <a:srgbClr val="60A0B0"/>
                </a:solidFill>
                <a:latin typeface="Courier"/>
              </a:rPr>
              <a:t>// The client class that works with RoundPeg interface</a:t>
            </a:r>
            <a:br/>
            <a:r>
              <a:rPr b="1">
                <a:solidFill>
                  <a:srgbClr val="007020"/>
                </a:solidFill>
                <a:latin typeface="Courier"/>
              </a:rPr>
              <a:t>public</a:t>
            </a:r>
            <a:r>
              <a:rPr>
                <a:latin typeface="Courier"/>
              </a:rPr>
              <a:t> </a:t>
            </a:r>
            <a:r>
              <a:rPr b="1">
                <a:solidFill>
                  <a:srgbClr val="007020"/>
                </a:solidFill>
                <a:latin typeface="Courier"/>
              </a:rPr>
              <a:t>class</a:t>
            </a:r>
            <a:r>
              <a:rPr>
                <a:latin typeface="Courier"/>
              </a:rPr>
              <a:t> RoundHole </a:t>
            </a:r>
            <a:r>
              <a:rPr>
                <a:solidFill>
                  <a:srgbClr val="666666"/>
                </a:solidFill>
                <a:latin typeface="Courier"/>
              </a:rPr>
              <a:t>{</a:t>
            </a:r>
            <a:br/>
            <a:r>
              <a:rPr>
                <a:latin typeface="Courier"/>
              </a:rPr>
              <a:t>    </a:t>
            </a:r>
            <a:r>
              <a:rPr b="1">
                <a:solidFill>
                  <a:srgbClr val="007020"/>
                </a:solidFill>
                <a:latin typeface="Courier"/>
              </a:rPr>
              <a:t>private</a:t>
            </a:r>
            <a:r>
              <a:rPr>
                <a:latin typeface="Courier"/>
              </a:rPr>
              <a:t> </a:t>
            </a:r>
            <a:r>
              <a:rPr>
                <a:solidFill>
                  <a:srgbClr val="902000"/>
                </a:solidFill>
                <a:latin typeface="Courier"/>
              </a:rPr>
              <a:t>double</a:t>
            </a:r>
            <a:r>
              <a:rPr>
                <a:latin typeface="Courier"/>
              </a:rPr>
              <a:t> radius</a:t>
            </a:r>
            <a:r>
              <a:rPr>
                <a:solidFill>
                  <a:srgbClr val="666666"/>
                </a:solidFill>
                <a:latin typeface="Courier"/>
              </a:rPr>
              <a:t>;</a:t>
            </a:r>
            <a:br/>
            <a:br/>
            <a:r>
              <a:rPr>
                <a:latin typeface="Courier"/>
              </a:rPr>
              <a:t>    </a:t>
            </a:r>
            <a:r>
              <a:rPr b="1">
                <a:solidFill>
                  <a:srgbClr val="007020"/>
                </a:solidFill>
                <a:latin typeface="Courier"/>
              </a:rPr>
              <a:t>public</a:t>
            </a:r>
            <a:r>
              <a:rPr>
                <a:latin typeface="Courier"/>
              </a:rPr>
              <a:t> </a:t>
            </a:r>
            <a:r>
              <a:rPr>
                <a:solidFill>
                  <a:srgbClr val="06287E"/>
                </a:solidFill>
                <a:latin typeface="Courier"/>
              </a:rPr>
              <a:t>RoundHole</a:t>
            </a:r>
            <a:r>
              <a:rPr>
                <a:solidFill>
                  <a:srgbClr val="666666"/>
                </a:solidFill>
                <a:latin typeface="Courier"/>
              </a:rPr>
              <a:t>(</a:t>
            </a:r>
            <a:r>
              <a:rPr>
                <a:solidFill>
                  <a:srgbClr val="902000"/>
                </a:solidFill>
                <a:latin typeface="Courier"/>
              </a:rPr>
              <a:t>double</a:t>
            </a:r>
            <a:r>
              <a:rPr>
                <a:latin typeface="Courier"/>
              </a:rPr>
              <a:t> radius</a:t>
            </a:r>
            <a:r>
              <a:rPr>
                <a:solidFill>
                  <a:srgbClr val="666666"/>
                </a:solidFill>
                <a:latin typeface="Courier"/>
              </a:rPr>
              <a:t>)</a:t>
            </a:r>
            <a:r>
              <a:rPr>
                <a:latin typeface="Courier"/>
              </a:rPr>
              <a:t> </a:t>
            </a:r>
            <a:r>
              <a:rPr>
                <a:solidFill>
                  <a:srgbClr val="666666"/>
                </a:solidFill>
                <a:latin typeface="Courier"/>
              </a:rPr>
              <a:t>{</a:t>
            </a:r>
            <a:br/>
            <a:r>
              <a:rPr>
                <a:latin typeface="Courier"/>
              </a:rPr>
              <a:t>        </a:t>
            </a:r>
            <a:r>
              <a:rPr b="1">
                <a:solidFill>
                  <a:srgbClr val="007020"/>
                </a:solidFill>
                <a:latin typeface="Courier"/>
              </a:rPr>
              <a:t>this</a:t>
            </a:r>
            <a:r>
              <a:rPr>
                <a:solidFill>
                  <a:srgbClr val="666666"/>
                </a:solidFill>
                <a:latin typeface="Courier"/>
              </a:rPr>
              <a:t>.</a:t>
            </a:r>
            <a:r>
              <a:rPr>
                <a:solidFill>
                  <a:srgbClr val="06287E"/>
                </a:solidFill>
                <a:latin typeface="Courier"/>
              </a:rPr>
              <a:t>radius</a:t>
            </a:r>
            <a:r>
              <a:rPr>
                <a:latin typeface="Courier"/>
              </a:rPr>
              <a:t> </a:t>
            </a:r>
            <a:r>
              <a:rPr>
                <a:solidFill>
                  <a:srgbClr val="666666"/>
                </a:solidFill>
                <a:latin typeface="Courier"/>
              </a:rPr>
              <a:t>=</a:t>
            </a:r>
            <a:r>
              <a:rPr>
                <a:latin typeface="Courier"/>
              </a:rPr>
              <a:t> radius</a:t>
            </a:r>
            <a:r>
              <a:rPr>
                <a:solidFill>
                  <a:srgbClr val="666666"/>
                </a:solidFill>
                <a:latin typeface="Courier"/>
              </a:rPr>
              <a:t>;</a:t>
            </a:r>
            <a:br/>
            <a:r>
              <a:rPr>
                <a:latin typeface="Courier"/>
              </a:rPr>
              <a:t>    </a:t>
            </a:r>
            <a:r>
              <a:rPr>
                <a:solidFill>
                  <a:srgbClr val="666666"/>
                </a:solidFill>
                <a:latin typeface="Courier"/>
              </a:rPr>
              <a:t>}</a:t>
            </a:r>
            <a:br/>
            <a:br/>
            <a:r>
              <a:rPr>
                <a:latin typeface="Courier"/>
              </a:rPr>
              <a:t>    </a:t>
            </a:r>
            <a:r>
              <a:rPr b="1">
                <a:solidFill>
                  <a:srgbClr val="007020"/>
                </a:solidFill>
                <a:latin typeface="Courier"/>
              </a:rPr>
              <a:t>public</a:t>
            </a:r>
            <a:r>
              <a:rPr>
                <a:latin typeface="Courier"/>
              </a:rPr>
              <a:t> </a:t>
            </a:r>
            <a:r>
              <a:rPr>
                <a:solidFill>
                  <a:srgbClr val="902000"/>
                </a:solidFill>
                <a:latin typeface="Courier"/>
              </a:rPr>
              <a:t>double</a:t>
            </a:r>
            <a:r>
              <a:rPr>
                <a:latin typeface="Courier"/>
              </a:rPr>
              <a:t> </a:t>
            </a:r>
            <a:r>
              <a:rPr>
                <a:solidFill>
                  <a:srgbClr val="06287E"/>
                </a:solidFill>
                <a:latin typeface="Courier"/>
              </a:rPr>
              <a:t>getRadius</a:t>
            </a:r>
            <a:r>
              <a:rPr>
                <a:solidFill>
                  <a:srgbClr val="666666"/>
                </a:solidFill>
                <a:latin typeface="Courier"/>
              </a:rPr>
              <a:t>()</a:t>
            </a:r>
            <a:r>
              <a:rPr>
                <a:latin typeface="Courier"/>
              </a:rPr>
              <a:t> </a:t>
            </a:r>
            <a:r>
              <a:rPr>
                <a:solidFill>
                  <a:srgbClr val="666666"/>
                </a:solidFill>
                <a:latin typeface="Courier"/>
              </a:rPr>
              <a:t>{</a:t>
            </a:r>
            <a:br/>
            <a:r>
              <a:rPr>
                <a:latin typeface="Courier"/>
              </a:rPr>
              <a:t>        </a:t>
            </a:r>
            <a:r>
              <a:rPr b="1">
                <a:solidFill>
                  <a:srgbClr val="007020"/>
                </a:solidFill>
                <a:latin typeface="Courier"/>
              </a:rPr>
              <a:t>return</a:t>
            </a:r>
            <a:r>
              <a:rPr>
                <a:latin typeface="Courier"/>
              </a:rPr>
              <a:t> radius</a:t>
            </a:r>
            <a:r>
              <a:rPr>
                <a:solidFill>
                  <a:srgbClr val="666666"/>
                </a:solidFill>
                <a:latin typeface="Courier"/>
              </a:rPr>
              <a:t>;</a:t>
            </a:r>
            <a:br/>
            <a:r>
              <a:rPr>
                <a:latin typeface="Courier"/>
              </a:rPr>
              <a:t>    </a:t>
            </a:r>
            <a:r>
              <a:rPr>
                <a:solidFill>
                  <a:srgbClr val="666666"/>
                </a:solidFill>
                <a:latin typeface="Courier"/>
              </a:rPr>
              <a:t>}</a:t>
            </a:r>
            <a:br/>
            <a:br/>
            <a:r>
              <a:rPr>
                <a:latin typeface="Courier"/>
              </a:rPr>
              <a:t>    </a:t>
            </a:r>
            <a:r>
              <a:rPr b="1">
                <a:solidFill>
                  <a:srgbClr val="007020"/>
                </a:solidFill>
                <a:latin typeface="Courier"/>
              </a:rPr>
              <a:t>public</a:t>
            </a:r>
            <a:r>
              <a:rPr>
                <a:latin typeface="Courier"/>
              </a:rPr>
              <a:t> </a:t>
            </a:r>
            <a:r>
              <a:rPr>
                <a:solidFill>
                  <a:srgbClr val="902000"/>
                </a:solidFill>
                <a:latin typeface="Courier"/>
              </a:rPr>
              <a:t>boolean</a:t>
            </a:r>
            <a:r>
              <a:rPr>
                <a:latin typeface="Courier"/>
              </a:rPr>
              <a:t> </a:t>
            </a:r>
            <a:r>
              <a:rPr>
                <a:solidFill>
                  <a:srgbClr val="06287E"/>
                </a:solidFill>
                <a:latin typeface="Courier"/>
              </a:rPr>
              <a:t>fits</a:t>
            </a:r>
            <a:r>
              <a:rPr>
                <a:solidFill>
                  <a:srgbClr val="666666"/>
                </a:solidFill>
                <a:latin typeface="Courier"/>
              </a:rPr>
              <a:t>(</a:t>
            </a:r>
            <a:r>
              <a:rPr>
                <a:latin typeface="Courier"/>
              </a:rPr>
              <a:t>RoundPeg peg</a:t>
            </a:r>
            <a:r>
              <a:rPr>
                <a:solidFill>
                  <a:srgbClr val="666666"/>
                </a:solidFill>
                <a:latin typeface="Courier"/>
              </a:rPr>
              <a:t>)</a:t>
            </a:r>
            <a:r>
              <a:rPr>
                <a:latin typeface="Courier"/>
              </a:rPr>
              <a:t> </a:t>
            </a:r>
            <a:r>
              <a:rPr>
                <a:solidFill>
                  <a:srgbClr val="666666"/>
                </a:solidFill>
                <a:latin typeface="Courier"/>
              </a:rPr>
              <a:t>{</a:t>
            </a:r>
            <a:br/>
            <a:r>
              <a:rPr>
                <a:latin typeface="Courier"/>
              </a:rPr>
              <a:t>        </a:t>
            </a:r>
            <a:r>
              <a:rPr b="1">
                <a:solidFill>
                  <a:srgbClr val="007020"/>
                </a:solidFill>
                <a:latin typeface="Courier"/>
              </a:rPr>
              <a:t>return</a:t>
            </a:r>
            <a:r>
              <a:rPr>
                <a:latin typeface="Courier"/>
              </a:rPr>
              <a:t> </a:t>
            </a:r>
            <a:r>
              <a:rPr b="1">
                <a:solidFill>
                  <a:srgbClr val="007020"/>
                </a:solidFill>
                <a:latin typeface="Courier"/>
              </a:rPr>
              <a:t>this</a:t>
            </a:r>
            <a:r>
              <a:rPr>
                <a:solidFill>
                  <a:srgbClr val="666666"/>
                </a:solidFill>
                <a:latin typeface="Courier"/>
              </a:rPr>
              <a:t>.</a:t>
            </a:r>
            <a:r>
              <a:rPr>
                <a:solidFill>
                  <a:srgbClr val="06287E"/>
                </a:solidFill>
                <a:latin typeface="Courier"/>
              </a:rPr>
              <a:t>getRadius</a:t>
            </a:r>
            <a:r>
              <a:rPr>
                <a:solidFill>
                  <a:srgbClr val="666666"/>
                </a:solidFill>
                <a:latin typeface="Courier"/>
              </a:rPr>
              <a:t>()</a:t>
            </a:r>
            <a:r>
              <a:rPr>
                <a:latin typeface="Courier"/>
              </a:rPr>
              <a:t> </a:t>
            </a:r>
            <a:r>
              <a:rPr>
                <a:solidFill>
                  <a:srgbClr val="666666"/>
                </a:solidFill>
                <a:latin typeface="Courier"/>
              </a:rPr>
              <a:t>&gt;=</a:t>
            </a:r>
            <a:r>
              <a:rPr>
                <a:latin typeface="Courier"/>
              </a:rPr>
              <a:t> peg</a:t>
            </a:r>
            <a:r>
              <a:rPr>
                <a:solidFill>
                  <a:srgbClr val="666666"/>
                </a:solidFill>
                <a:latin typeface="Courier"/>
              </a:rPr>
              <a:t>.</a:t>
            </a:r>
            <a:r>
              <a:rPr>
                <a:solidFill>
                  <a:srgbClr val="06287E"/>
                </a:solidFill>
                <a:latin typeface="Courier"/>
              </a:rPr>
              <a:t>getRadius</a:t>
            </a:r>
            <a:r>
              <a:rPr>
                <a:solidFill>
                  <a:srgbClr val="666666"/>
                </a:solidFill>
                <a:latin typeface="Courier"/>
              </a:rPr>
              <a:t>();</a:t>
            </a:r>
            <a:br/>
            <a:r>
              <a:rPr>
                <a:latin typeface="Courier"/>
              </a:rPr>
              <a:t>    </a:t>
            </a:r>
            <a:r>
              <a:rPr>
                <a:solidFill>
                  <a:srgbClr val="666666"/>
                </a:solidFill>
                <a:latin typeface="Courier"/>
              </a:rPr>
              <a:t>}</a:t>
            </a:r>
            <a:br/>
            <a:r>
              <a:rPr>
                <a:solidFill>
                  <a:srgbClr val="666666"/>
                </a:solidFill>
                <a:latin typeface="Courier"/>
              </a:rPr>
              <a:t>}</a:t>
            </a:r>
          </a:p>
        </p:txBody>
      </p:sp>
    </p:spTree>
  </p:cSl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Adapter: Java Code Example - Client</a:t>
            </a:r>
          </a:p>
        </p:txBody>
      </p:sp>
      <p:sp>
        <p:nvSpPr>
          <p:cNvPr id="3" name="Content Placeholder 2"/>
          <p:cNvSpPr>
            <a:spLocks noGrp="1"/>
          </p:cNvSpPr>
          <p:nvPr>
            <p:ph idx="1"/>
          </p:nvPr>
        </p:nvSpPr>
        <p:spPr/>
        <p:txBody>
          <a:bodyPr/>
          <a:lstStyle/>
          <a:p>
            <a:pPr lvl="0" indent="0">
              <a:buNone/>
            </a:pPr>
            <a:r>
              <a:rPr b="1">
                <a:solidFill>
                  <a:srgbClr val="007020"/>
                </a:solidFill>
                <a:latin typeface="Courier"/>
              </a:rPr>
              <a:t>public</a:t>
            </a:r>
            <a:r>
              <a:rPr>
                <a:latin typeface="Courier"/>
              </a:rPr>
              <a:t> </a:t>
            </a:r>
            <a:r>
              <a:rPr b="1">
                <a:solidFill>
                  <a:srgbClr val="007020"/>
                </a:solidFill>
                <a:latin typeface="Courier"/>
              </a:rPr>
              <a:t>class</a:t>
            </a:r>
            <a:r>
              <a:rPr>
                <a:latin typeface="Courier"/>
              </a:rPr>
              <a:t> AdapterDemo </a:t>
            </a:r>
            <a:r>
              <a:rPr>
                <a:solidFill>
                  <a:srgbClr val="666666"/>
                </a:solidFill>
                <a:latin typeface="Courier"/>
              </a:rPr>
              <a:t>{</a:t>
            </a:r>
            <a:br/>
            <a:r>
              <a:rPr>
                <a:latin typeface="Courier"/>
              </a:rPr>
              <a:t>    </a:t>
            </a:r>
            <a:r>
              <a:rPr b="1">
                <a:solidFill>
                  <a:srgbClr val="007020"/>
                </a:solidFill>
                <a:latin typeface="Courier"/>
              </a:rPr>
              <a:t>public</a:t>
            </a:r>
            <a:r>
              <a:rPr>
                <a:latin typeface="Courier"/>
              </a:rPr>
              <a:t> </a:t>
            </a:r>
            <a:r>
              <a:rPr>
                <a:solidFill>
                  <a:srgbClr val="902000"/>
                </a:solidFill>
                <a:latin typeface="Courier"/>
              </a:rPr>
              <a:t>static</a:t>
            </a:r>
            <a:r>
              <a:rPr>
                <a:latin typeface="Courier"/>
              </a:rPr>
              <a:t> </a:t>
            </a:r>
            <a:r>
              <a:rPr>
                <a:solidFill>
                  <a:srgbClr val="902000"/>
                </a:solidFill>
                <a:latin typeface="Courier"/>
              </a:rPr>
              <a:t>void</a:t>
            </a:r>
            <a:r>
              <a:rPr>
                <a:latin typeface="Courier"/>
              </a:rPr>
              <a:t> </a:t>
            </a:r>
            <a:r>
              <a:rPr>
                <a:solidFill>
                  <a:srgbClr val="06287E"/>
                </a:solidFill>
                <a:latin typeface="Courier"/>
              </a:rPr>
              <a:t>main</a:t>
            </a:r>
            <a:r>
              <a:rPr>
                <a:solidFill>
                  <a:srgbClr val="666666"/>
                </a:solidFill>
                <a:latin typeface="Courier"/>
              </a:rPr>
              <a:t>(</a:t>
            </a:r>
            <a:r>
              <a:rPr>
                <a:solidFill>
                  <a:srgbClr val="008000"/>
                </a:solidFill>
                <a:latin typeface="Courier"/>
              </a:rPr>
              <a:t>String</a:t>
            </a:r>
            <a:r>
              <a:rPr>
                <a:solidFill>
                  <a:srgbClr val="666666"/>
                </a:solidFill>
                <a:latin typeface="Courier"/>
              </a:rPr>
              <a:t>[]</a:t>
            </a:r>
            <a:r>
              <a:rPr>
                <a:latin typeface="Courier"/>
              </a:rPr>
              <a:t> args</a:t>
            </a:r>
            <a:r>
              <a:rPr>
                <a:solidFill>
                  <a:srgbClr val="666666"/>
                </a:solidFill>
                <a:latin typeface="Courier"/>
              </a:rPr>
              <a:t>)</a:t>
            </a:r>
            <a:r>
              <a:rPr>
                <a:latin typeface="Courier"/>
              </a:rPr>
              <a:t> </a:t>
            </a:r>
            <a:r>
              <a:rPr>
                <a:solidFill>
                  <a:srgbClr val="666666"/>
                </a:solidFill>
                <a:latin typeface="Courier"/>
              </a:rPr>
              <a:t>{</a:t>
            </a:r>
            <a:br/>
            <a:r>
              <a:rPr>
                <a:latin typeface="Courier"/>
              </a:rPr>
              <a:t>        RoundHole hole </a:t>
            </a:r>
            <a:r>
              <a:rPr>
                <a:solidFill>
                  <a:srgbClr val="666666"/>
                </a:solidFill>
                <a:latin typeface="Courier"/>
              </a:rPr>
              <a:t>=</a:t>
            </a:r>
            <a:r>
              <a:rPr>
                <a:latin typeface="Courier"/>
              </a:rPr>
              <a:t> </a:t>
            </a:r>
            <a:r>
              <a:rPr b="1">
                <a:solidFill>
                  <a:srgbClr val="007020"/>
                </a:solidFill>
                <a:latin typeface="Courier"/>
              </a:rPr>
              <a:t>new</a:t>
            </a:r>
            <a:r>
              <a:rPr>
                <a:latin typeface="Courier"/>
              </a:rPr>
              <a:t> </a:t>
            </a:r>
            <a:r>
              <a:rPr>
                <a:solidFill>
                  <a:srgbClr val="06287E"/>
                </a:solidFill>
                <a:latin typeface="Courier"/>
              </a:rPr>
              <a:t>RoundHole</a:t>
            </a:r>
            <a:r>
              <a:rPr>
                <a:solidFill>
                  <a:srgbClr val="666666"/>
                </a:solidFill>
                <a:latin typeface="Courier"/>
              </a:rPr>
              <a:t>(</a:t>
            </a:r>
            <a:r>
              <a:rPr>
                <a:solidFill>
                  <a:srgbClr val="40A070"/>
                </a:solidFill>
                <a:latin typeface="Courier"/>
              </a:rPr>
              <a:t>5</a:t>
            </a:r>
            <a:r>
              <a:rPr>
                <a:solidFill>
                  <a:srgbClr val="666666"/>
                </a:solidFill>
                <a:latin typeface="Courier"/>
              </a:rPr>
              <a:t>);</a:t>
            </a:r>
            <a:br/>
            <a:r>
              <a:rPr>
                <a:latin typeface="Courier"/>
              </a:rPr>
              <a:t>        RoundPegImpl roundPeg </a:t>
            </a:r>
            <a:r>
              <a:rPr>
                <a:solidFill>
                  <a:srgbClr val="666666"/>
                </a:solidFill>
                <a:latin typeface="Courier"/>
              </a:rPr>
              <a:t>=</a:t>
            </a:r>
            <a:r>
              <a:rPr>
                <a:latin typeface="Courier"/>
              </a:rPr>
              <a:t> </a:t>
            </a:r>
            <a:r>
              <a:rPr b="1">
                <a:solidFill>
                  <a:srgbClr val="007020"/>
                </a:solidFill>
                <a:latin typeface="Courier"/>
              </a:rPr>
              <a:t>new</a:t>
            </a:r>
            <a:r>
              <a:rPr>
                <a:latin typeface="Courier"/>
              </a:rPr>
              <a:t> </a:t>
            </a:r>
            <a:r>
              <a:rPr>
                <a:solidFill>
                  <a:srgbClr val="06287E"/>
                </a:solidFill>
                <a:latin typeface="Courier"/>
              </a:rPr>
              <a:t>RoundPegImpl</a:t>
            </a:r>
            <a:r>
              <a:rPr>
                <a:solidFill>
                  <a:srgbClr val="666666"/>
                </a:solidFill>
                <a:latin typeface="Courier"/>
              </a:rPr>
              <a:t>(</a:t>
            </a:r>
            <a:r>
              <a:rPr>
                <a:solidFill>
                  <a:srgbClr val="40A070"/>
                </a:solidFill>
                <a:latin typeface="Courier"/>
              </a:rPr>
              <a:t>5</a:t>
            </a:r>
            <a:r>
              <a:rPr>
                <a:solidFill>
                  <a:srgbClr val="666666"/>
                </a:solidFill>
                <a:latin typeface="Courier"/>
              </a:rPr>
              <a:t>);</a:t>
            </a:r>
            <a:br/>
            <a:r>
              <a:rPr>
                <a:latin typeface="Courier"/>
              </a:rPr>
              <a:t>        </a:t>
            </a:r>
            <a:r>
              <a:rPr>
                <a:solidFill>
                  <a:srgbClr val="008000"/>
                </a:solidFill>
                <a:latin typeface="Courier"/>
              </a:rPr>
              <a:t>System</a:t>
            </a:r>
            <a:r>
              <a:rPr>
                <a:solidFill>
                  <a:srgbClr val="666666"/>
                </a:solidFill>
                <a:latin typeface="Courier"/>
              </a:rPr>
              <a:t>.</a:t>
            </a:r>
            <a:r>
              <a:rPr>
                <a:solidFill>
                  <a:srgbClr val="06287E"/>
                </a:solidFill>
                <a:latin typeface="Courier"/>
              </a:rPr>
              <a:t>out</a:t>
            </a:r>
            <a:r>
              <a:rPr>
                <a:solidFill>
                  <a:srgbClr val="666666"/>
                </a:solidFill>
                <a:latin typeface="Courier"/>
              </a:rPr>
              <a:t>.</a:t>
            </a:r>
            <a:r>
              <a:rPr>
                <a:solidFill>
                  <a:srgbClr val="06287E"/>
                </a:solidFill>
                <a:latin typeface="Courier"/>
              </a:rPr>
              <a:t>println</a:t>
            </a:r>
            <a:r>
              <a:rPr>
                <a:solidFill>
                  <a:srgbClr val="666666"/>
                </a:solidFill>
                <a:latin typeface="Courier"/>
              </a:rPr>
              <a:t>(</a:t>
            </a:r>
            <a:r>
              <a:rPr>
                <a:latin typeface="Courier"/>
              </a:rPr>
              <a:t>hole</a:t>
            </a:r>
            <a:r>
              <a:rPr>
                <a:solidFill>
                  <a:srgbClr val="666666"/>
                </a:solidFill>
                <a:latin typeface="Courier"/>
              </a:rPr>
              <a:t>.</a:t>
            </a:r>
            <a:r>
              <a:rPr>
                <a:solidFill>
                  <a:srgbClr val="06287E"/>
                </a:solidFill>
                <a:latin typeface="Courier"/>
              </a:rPr>
              <a:t>fits</a:t>
            </a:r>
            <a:r>
              <a:rPr>
                <a:solidFill>
                  <a:srgbClr val="666666"/>
                </a:solidFill>
                <a:latin typeface="Courier"/>
              </a:rPr>
              <a:t>(</a:t>
            </a:r>
            <a:r>
              <a:rPr>
                <a:latin typeface="Courier"/>
              </a:rPr>
              <a:t>roundPeg</a:t>
            </a:r>
            <a:r>
              <a:rPr>
                <a:solidFill>
                  <a:srgbClr val="666666"/>
                </a:solidFill>
                <a:latin typeface="Courier"/>
              </a:rPr>
              <a:t>));</a:t>
            </a:r>
            <a:r>
              <a:rPr>
                <a:latin typeface="Courier"/>
              </a:rPr>
              <a:t> </a:t>
            </a:r>
            <a:r>
              <a:rPr i="1">
                <a:solidFill>
                  <a:srgbClr val="60A0B0"/>
                </a:solidFill>
                <a:latin typeface="Courier"/>
              </a:rPr>
              <a:t>// true</a:t>
            </a:r>
            <a:br/>
            <a:br/>
            <a:r>
              <a:rPr>
                <a:latin typeface="Courier"/>
              </a:rPr>
              <a:t>        SquarePeg smallSquarePeg </a:t>
            </a:r>
            <a:r>
              <a:rPr>
                <a:solidFill>
                  <a:srgbClr val="666666"/>
                </a:solidFill>
                <a:latin typeface="Courier"/>
              </a:rPr>
              <a:t>=</a:t>
            </a:r>
            <a:r>
              <a:rPr>
                <a:latin typeface="Courier"/>
              </a:rPr>
              <a:t> </a:t>
            </a:r>
            <a:r>
              <a:rPr b="1">
                <a:solidFill>
                  <a:srgbClr val="007020"/>
                </a:solidFill>
                <a:latin typeface="Courier"/>
              </a:rPr>
              <a:t>new</a:t>
            </a:r>
            <a:r>
              <a:rPr>
                <a:latin typeface="Courier"/>
              </a:rPr>
              <a:t> </a:t>
            </a:r>
            <a:r>
              <a:rPr>
                <a:solidFill>
                  <a:srgbClr val="06287E"/>
                </a:solidFill>
                <a:latin typeface="Courier"/>
              </a:rPr>
              <a:t>SquarePeg</a:t>
            </a:r>
            <a:r>
              <a:rPr>
                <a:solidFill>
                  <a:srgbClr val="666666"/>
                </a:solidFill>
                <a:latin typeface="Courier"/>
              </a:rPr>
              <a:t>(</a:t>
            </a:r>
            <a:r>
              <a:rPr>
                <a:solidFill>
                  <a:srgbClr val="40A070"/>
                </a:solidFill>
                <a:latin typeface="Courier"/>
              </a:rPr>
              <a:t>5</a:t>
            </a:r>
            <a:r>
              <a:rPr>
                <a:solidFill>
                  <a:srgbClr val="666666"/>
                </a:solidFill>
                <a:latin typeface="Courier"/>
              </a:rPr>
              <a:t>);</a:t>
            </a:r>
            <a:br/>
            <a:r>
              <a:rPr>
                <a:latin typeface="Courier"/>
              </a:rPr>
              <a:t>        SquarePeg largeSquarePeg </a:t>
            </a:r>
            <a:r>
              <a:rPr>
                <a:solidFill>
                  <a:srgbClr val="666666"/>
                </a:solidFill>
                <a:latin typeface="Courier"/>
              </a:rPr>
              <a:t>=</a:t>
            </a:r>
            <a:r>
              <a:rPr>
                <a:latin typeface="Courier"/>
              </a:rPr>
              <a:t> </a:t>
            </a:r>
            <a:r>
              <a:rPr b="1">
                <a:solidFill>
                  <a:srgbClr val="007020"/>
                </a:solidFill>
                <a:latin typeface="Courier"/>
              </a:rPr>
              <a:t>new</a:t>
            </a:r>
            <a:r>
              <a:rPr>
                <a:latin typeface="Courier"/>
              </a:rPr>
              <a:t> </a:t>
            </a:r>
            <a:r>
              <a:rPr>
                <a:solidFill>
                  <a:srgbClr val="06287E"/>
                </a:solidFill>
                <a:latin typeface="Courier"/>
              </a:rPr>
              <a:t>SquarePeg</a:t>
            </a:r>
            <a:r>
              <a:rPr>
                <a:solidFill>
                  <a:srgbClr val="666666"/>
                </a:solidFill>
                <a:latin typeface="Courier"/>
              </a:rPr>
              <a:t>(</a:t>
            </a:r>
            <a:r>
              <a:rPr>
                <a:solidFill>
                  <a:srgbClr val="40A070"/>
                </a:solidFill>
                <a:latin typeface="Courier"/>
              </a:rPr>
              <a:t>10</a:t>
            </a:r>
            <a:r>
              <a:rPr>
                <a:solidFill>
                  <a:srgbClr val="666666"/>
                </a:solidFill>
                <a:latin typeface="Courier"/>
              </a:rPr>
              <a:t>);</a:t>
            </a:r>
            <a:br/>
            <a:br/>
            <a:r>
              <a:rPr>
                <a:latin typeface="Courier"/>
              </a:rPr>
              <a:t>        </a:t>
            </a:r>
            <a:r>
              <a:rPr i="1">
                <a:solidFill>
                  <a:srgbClr val="60A0B0"/>
                </a:solidFill>
                <a:latin typeface="Courier"/>
              </a:rPr>
              <a:t>// hole.fits(smallSquarePeg); // Won't compile!</a:t>
            </a:r>
            <a:br/>
            <a:br/>
            <a:r>
              <a:rPr>
                <a:latin typeface="Courier"/>
              </a:rPr>
              <a:t>        </a:t>
            </a:r>
            <a:r>
              <a:rPr i="1">
                <a:solidFill>
                  <a:srgbClr val="60A0B0"/>
                </a:solidFill>
                <a:latin typeface="Courier"/>
              </a:rPr>
              <a:t>// Use adapter to make square pegs compatible</a:t>
            </a:r>
            <a:br/>
            <a:r>
              <a:rPr>
                <a:latin typeface="Courier"/>
              </a:rPr>
              <a:t>        SquarePegAdapter smallAdapter </a:t>
            </a:r>
            <a:r>
              <a:rPr>
                <a:solidFill>
                  <a:srgbClr val="666666"/>
                </a:solidFill>
                <a:latin typeface="Courier"/>
              </a:rPr>
              <a:t>=</a:t>
            </a:r>
            <a:br/>
            <a:r>
              <a:rPr>
                <a:latin typeface="Courier"/>
              </a:rPr>
              <a:t>            </a:t>
            </a:r>
            <a:r>
              <a:rPr b="1">
                <a:solidFill>
                  <a:srgbClr val="007020"/>
                </a:solidFill>
                <a:latin typeface="Courier"/>
              </a:rPr>
              <a:t>new</a:t>
            </a:r>
            <a:r>
              <a:rPr>
                <a:latin typeface="Courier"/>
              </a:rPr>
              <a:t> </a:t>
            </a:r>
            <a:r>
              <a:rPr>
                <a:solidFill>
                  <a:srgbClr val="06287E"/>
                </a:solidFill>
                <a:latin typeface="Courier"/>
              </a:rPr>
              <a:t>SquarePegAdapter</a:t>
            </a:r>
            <a:r>
              <a:rPr>
                <a:solidFill>
                  <a:srgbClr val="666666"/>
                </a:solidFill>
                <a:latin typeface="Courier"/>
              </a:rPr>
              <a:t>(</a:t>
            </a:r>
            <a:r>
              <a:rPr>
                <a:latin typeface="Courier"/>
              </a:rPr>
              <a:t>smallSquarePeg</a:t>
            </a:r>
            <a:r>
              <a:rPr>
                <a:solidFill>
                  <a:srgbClr val="666666"/>
                </a:solidFill>
                <a:latin typeface="Courier"/>
              </a:rPr>
              <a:t>);</a:t>
            </a:r>
            <a:br/>
            <a:r>
              <a:rPr>
                <a:latin typeface="Courier"/>
              </a:rPr>
              <a:t>        SquarePegAdapter largeAdapter </a:t>
            </a:r>
            <a:r>
              <a:rPr>
                <a:solidFill>
                  <a:srgbClr val="666666"/>
                </a:solidFill>
                <a:latin typeface="Courier"/>
              </a:rPr>
              <a:t>=</a:t>
            </a:r>
            <a:br/>
            <a:r>
              <a:rPr>
                <a:latin typeface="Courier"/>
              </a:rPr>
              <a:t>            </a:t>
            </a:r>
            <a:r>
              <a:rPr b="1">
                <a:solidFill>
                  <a:srgbClr val="007020"/>
                </a:solidFill>
                <a:latin typeface="Courier"/>
              </a:rPr>
              <a:t>new</a:t>
            </a:r>
            <a:r>
              <a:rPr>
                <a:latin typeface="Courier"/>
              </a:rPr>
              <a:t> </a:t>
            </a:r>
            <a:r>
              <a:rPr>
                <a:solidFill>
                  <a:srgbClr val="06287E"/>
                </a:solidFill>
                <a:latin typeface="Courier"/>
              </a:rPr>
              <a:t>SquarePegAdapter</a:t>
            </a:r>
            <a:r>
              <a:rPr>
                <a:solidFill>
                  <a:srgbClr val="666666"/>
                </a:solidFill>
                <a:latin typeface="Courier"/>
              </a:rPr>
              <a:t>(</a:t>
            </a:r>
            <a:r>
              <a:rPr>
                <a:latin typeface="Courier"/>
              </a:rPr>
              <a:t>largeSquarePeg</a:t>
            </a:r>
            <a:r>
              <a:rPr>
                <a:solidFill>
                  <a:srgbClr val="666666"/>
                </a:solidFill>
                <a:latin typeface="Courier"/>
              </a:rPr>
              <a:t>);</a:t>
            </a:r>
            <a:br/>
            <a:br/>
            <a:r>
              <a:rPr>
                <a:latin typeface="Courier"/>
              </a:rPr>
              <a:t>        </a:t>
            </a:r>
            <a:r>
              <a:rPr>
                <a:solidFill>
                  <a:srgbClr val="008000"/>
                </a:solidFill>
                <a:latin typeface="Courier"/>
              </a:rPr>
              <a:t>System</a:t>
            </a:r>
            <a:r>
              <a:rPr>
                <a:solidFill>
                  <a:srgbClr val="666666"/>
                </a:solidFill>
                <a:latin typeface="Courier"/>
              </a:rPr>
              <a:t>.</a:t>
            </a:r>
            <a:r>
              <a:rPr>
                <a:solidFill>
                  <a:srgbClr val="06287E"/>
                </a:solidFill>
                <a:latin typeface="Courier"/>
              </a:rPr>
              <a:t>out</a:t>
            </a:r>
            <a:r>
              <a:rPr>
                <a:solidFill>
                  <a:srgbClr val="666666"/>
                </a:solidFill>
                <a:latin typeface="Courier"/>
              </a:rPr>
              <a:t>.</a:t>
            </a:r>
            <a:r>
              <a:rPr>
                <a:solidFill>
                  <a:srgbClr val="06287E"/>
                </a:solidFill>
                <a:latin typeface="Courier"/>
              </a:rPr>
              <a:t>println</a:t>
            </a:r>
            <a:r>
              <a:rPr>
                <a:solidFill>
                  <a:srgbClr val="666666"/>
                </a:solidFill>
                <a:latin typeface="Courier"/>
              </a:rPr>
              <a:t>(</a:t>
            </a:r>
            <a:r>
              <a:rPr>
                <a:latin typeface="Courier"/>
              </a:rPr>
              <a:t>hole</a:t>
            </a:r>
            <a:r>
              <a:rPr>
                <a:solidFill>
                  <a:srgbClr val="666666"/>
                </a:solidFill>
                <a:latin typeface="Courier"/>
              </a:rPr>
              <a:t>.</a:t>
            </a:r>
            <a:r>
              <a:rPr>
                <a:solidFill>
                  <a:srgbClr val="06287E"/>
                </a:solidFill>
                <a:latin typeface="Courier"/>
              </a:rPr>
              <a:t>fits</a:t>
            </a:r>
            <a:r>
              <a:rPr>
                <a:solidFill>
                  <a:srgbClr val="666666"/>
                </a:solidFill>
                <a:latin typeface="Courier"/>
              </a:rPr>
              <a:t>(</a:t>
            </a:r>
            <a:r>
              <a:rPr>
                <a:latin typeface="Courier"/>
              </a:rPr>
              <a:t>smallAdapter</a:t>
            </a:r>
            <a:r>
              <a:rPr>
                <a:solidFill>
                  <a:srgbClr val="666666"/>
                </a:solidFill>
                <a:latin typeface="Courier"/>
              </a:rPr>
              <a:t>));</a:t>
            </a:r>
            <a:r>
              <a:rPr>
                <a:latin typeface="Courier"/>
              </a:rPr>
              <a:t> </a:t>
            </a:r>
            <a:r>
              <a:rPr i="1">
                <a:solidFill>
                  <a:srgbClr val="60A0B0"/>
                </a:solidFill>
                <a:latin typeface="Courier"/>
              </a:rPr>
              <a:t>// true</a:t>
            </a:r>
            <a:br/>
            <a:r>
              <a:rPr>
                <a:latin typeface="Courier"/>
              </a:rPr>
              <a:t>        </a:t>
            </a:r>
            <a:r>
              <a:rPr>
                <a:solidFill>
                  <a:srgbClr val="008000"/>
                </a:solidFill>
                <a:latin typeface="Courier"/>
              </a:rPr>
              <a:t>System</a:t>
            </a:r>
            <a:r>
              <a:rPr>
                <a:solidFill>
                  <a:srgbClr val="666666"/>
                </a:solidFill>
                <a:latin typeface="Courier"/>
              </a:rPr>
              <a:t>.</a:t>
            </a:r>
            <a:r>
              <a:rPr>
                <a:solidFill>
                  <a:srgbClr val="06287E"/>
                </a:solidFill>
                <a:latin typeface="Courier"/>
              </a:rPr>
              <a:t>out</a:t>
            </a:r>
            <a:r>
              <a:rPr>
                <a:solidFill>
                  <a:srgbClr val="666666"/>
                </a:solidFill>
                <a:latin typeface="Courier"/>
              </a:rPr>
              <a:t>.</a:t>
            </a:r>
            <a:r>
              <a:rPr>
                <a:solidFill>
                  <a:srgbClr val="06287E"/>
                </a:solidFill>
                <a:latin typeface="Courier"/>
              </a:rPr>
              <a:t>println</a:t>
            </a:r>
            <a:r>
              <a:rPr>
                <a:solidFill>
                  <a:srgbClr val="666666"/>
                </a:solidFill>
                <a:latin typeface="Courier"/>
              </a:rPr>
              <a:t>(</a:t>
            </a:r>
            <a:r>
              <a:rPr>
                <a:latin typeface="Courier"/>
              </a:rPr>
              <a:t>hole</a:t>
            </a:r>
            <a:r>
              <a:rPr>
                <a:solidFill>
                  <a:srgbClr val="666666"/>
                </a:solidFill>
                <a:latin typeface="Courier"/>
              </a:rPr>
              <a:t>.</a:t>
            </a:r>
            <a:r>
              <a:rPr>
                <a:solidFill>
                  <a:srgbClr val="06287E"/>
                </a:solidFill>
                <a:latin typeface="Courier"/>
              </a:rPr>
              <a:t>fits</a:t>
            </a:r>
            <a:r>
              <a:rPr>
                <a:solidFill>
                  <a:srgbClr val="666666"/>
                </a:solidFill>
                <a:latin typeface="Courier"/>
              </a:rPr>
              <a:t>(</a:t>
            </a:r>
            <a:r>
              <a:rPr>
                <a:latin typeface="Courier"/>
              </a:rPr>
              <a:t>largeAdapter</a:t>
            </a:r>
            <a:r>
              <a:rPr>
                <a:solidFill>
                  <a:srgbClr val="666666"/>
                </a:solidFill>
                <a:latin typeface="Courier"/>
              </a:rPr>
              <a:t>));</a:t>
            </a:r>
            <a:r>
              <a:rPr>
                <a:latin typeface="Courier"/>
              </a:rPr>
              <a:t> </a:t>
            </a:r>
            <a:r>
              <a:rPr i="1">
                <a:solidFill>
                  <a:srgbClr val="60A0B0"/>
                </a:solidFill>
                <a:latin typeface="Courier"/>
              </a:rPr>
              <a:t>// false</a:t>
            </a:r>
            <a:br/>
            <a:br/>
            <a:r>
              <a:rPr>
                <a:latin typeface="Courier"/>
              </a:rPr>
              <a:t>        </a:t>
            </a:r>
            <a:r>
              <a:rPr i="1">
                <a:solidFill>
                  <a:srgbClr val="60A0B0"/>
                </a:solidFill>
                <a:latin typeface="Courier"/>
              </a:rPr>
              <a:t>// Expected Output:</a:t>
            </a:r>
            <a:br/>
            <a:r>
              <a:rPr>
                <a:latin typeface="Courier"/>
              </a:rPr>
              <a:t>        </a:t>
            </a:r>
            <a:r>
              <a:rPr i="1">
                <a:solidFill>
                  <a:srgbClr val="60A0B0"/>
                </a:solidFill>
                <a:latin typeface="Courier"/>
              </a:rPr>
              <a:t>// true</a:t>
            </a:r>
            <a:br/>
            <a:r>
              <a:rPr>
                <a:latin typeface="Courier"/>
              </a:rPr>
              <a:t>        </a:t>
            </a:r>
            <a:r>
              <a:rPr i="1">
                <a:solidFill>
                  <a:srgbClr val="60A0B0"/>
                </a:solidFill>
                <a:latin typeface="Courier"/>
              </a:rPr>
              <a:t>// true</a:t>
            </a:r>
            <a:br/>
            <a:r>
              <a:rPr>
                <a:latin typeface="Courier"/>
              </a:rPr>
              <a:t>        </a:t>
            </a:r>
            <a:r>
              <a:rPr i="1">
                <a:solidFill>
                  <a:srgbClr val="60A0B0"/>
                </a:solidFill>
                <a:latin typeface="Courier"/>
              </a:rPr>
              <a:t>// false</a:t>
            </a:r>
            <a:br/>
            <a:r>
              <a:rPr>
                <a:latin typeface="Courier"/>
              </a:rPr>
              <a:t>    </a:t>
            </a:r>
            <a:r>
              <a:rPr>
                <a:solidFill>
                  <a:srgbClr val="666666"/>
                </a:solidFill>
                <a:latin typeface="Courier"/>
              </a:rPr>
              <a:t>}</a:t>
            </a:r>
            <a:br/>
            <a:r>
              <a:rPr>
                <a:solidFill>
                  <a:srgbClr val="666666"/>
                </a:solidFill>
                <a:latin typeface="Courier"/>
              </a:rPr>
              <a:t>}</a:t>
            </a:r>
          </a:p>
        </p:txBody>
      </p:sp>
    </p:spTree>
  </p:cSl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Adapter - Sequence Diagram</a:t>
            </a:r>
          </a:p>
        </p:txBody>
      </p:sp>
      <p:pic>
        <p:nvPicPr>
          <p:cNvPr descr="assets/adapter-sequence.png" id="0" name="Picture 1"/>
          <p:cNvPicPr>
            <a:picLocks noGrp="1" noChangeAspect="1"/>
          </p:cNvPicPr>
          <p:nvPr/>
        </p:nvPicPr>
        <p:blipFill>
          <a:blip r:embed="rId2"/>
          <a:stretch>
            <a:fillRect/>
          </a:stretch>
        </p:blipFill>
        <p:spPr bwMode="auto">
          <a:xfrm>
            <a:off x="4064000" y="203200"/>
            <a:ext cx="4102100" cy="3873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a:t>
            </a:r>
          </a:p>
        </p:txBody>
      </p:sp>
    </p:spTree>
  </p:cSl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Adapter: Applicability</a:t>
            </a:r>
          </a:p>
        </p:txBody>
      </p:sp>
      <p:sp>
        <p:nvSpPr>
          <p:cNvPr id="3" name="Content Placeholder 2"/>
          <p:cNvSpPr>
            <a:spLocks noGrp="1"/>
          </p:cNvSpPr>
          <p:nvPr>
            <p:ph idx="1"/>
          </p:nvPr>
        </p:nvSpPr>
        <p:spPr/>
        <p:txBody>
          <a:bodyPr/>
          <a:lstStyle/>
          <a:p>
            <a:pPr lvl="0" indent="0" marL="0">
              <a:buNone/>
            </a:pPr>
            <a:r>
              <a:rPr/>
              <a:t>Use the Adapter pattern when:</a:t>
            </a:r>
          </a:p>
          <a:p>
            <a:pPr lvl="0"/>
            <a:r>
              <a:rPr/>
              <a:t>You want to use an existing class, but its interface is </a:t>
            </a:r>
            <a:r>
              <a:rPr b="1"/>
              <a:t>not compatible</a:t>
            </a:r>
            <a:r>
              <a:rPr/>
              <a:t> with the rest of your code</a:t>
            </a:r>
          </a:p>
          <a:p>
            <a:pPr lvl="0"/>
            <a:r>
              <a:rPr/>
              <a:t>You want to create a </a:t>
            </a:r>
            <a:r>
              <a:rPr b="1"/>
              <a:t>reusable class</a:t>
            </a:r>
            <a:r>
              <a:rPr/>
              <a:t> that cooperates with unrelated or unforeseen classes that do not necessarily have compatible interfaces</a:t>
            </a:r>
          </a:p>
          <a:p>
            <a:pPr lvl="0"/>
            <a:r>
              <a:rPr/>
              <a:t>You need to use several existing subclasses, but it is impractical to adapt their interface by subclassing every one. An </a:t>
            </a:r>
            <a:r>
              <a:rPr b="1"/>
              <a:t>object adapter</a:t>
            </a:r>
            <a:r>
              <a:rPr/>
              <a:t> can adapt the interface of its parent class</a:t>
            </a:r>
          </a:p>
        </p:txBody>
      </p:sp>
    </p:spTree>
  </p:cSl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Adapter: Applicability (cont.)</a:t>
            </a:r>
          </a:p>
        </p:txBody>
      </p:sp>
      <p:sp>
        <p:nvSpPr>
          <p:cNvPr id="3" name="Content Placeholder 2"/>
          <p:cNvSpPr>
            <a:spLocks noGrp="1"/>
          </p:cNvSpPr>
          <p:nvPr>
            <p:ph idx="1"/>
          </p:nvPr>
        </p:nvSpPr>
        <p:spPr/>
        <p:txBody>
          <a:bodyPr/>
          <a:lstStyle/>
          <a:p>
            <a:pPr lvl="0"/>
            <a:r>
              <a:rPr/>
              <a:t>You need a </a:t>
            </a:r>
            <a:r>
              <a:rPr b="1"/>
              <a:t>middle-layer class</a:t>
            </a:r>
            <a:r>
              <a:rPr/>
              <a:t> to serve as a translator between your code and a legacy class, a third-party class, or any other class with a weird interface</a:t>
            </a:r>
          </a:p>
          <a:p>
            <a:pPr lvl="0"/>
            <a:r>
              <a:rPr/>
              <a:t>You want to </a:t>
            </a:r>
            <a:r>
              <a:rPr b="1"/>
              <a:t>reuse existing subclasses</a:t>
            </a:r>
            <a:r>
              <a:rPr/>
              <a:t> that lack some common functionality that cannot be added to the superclass</a:t>
            </a:r>
          </a:p>
        </p:txBody>
      </p:sp>
    </p:spTree>
  </p:cSl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Adapter: How to Implement</a:t>
            </a:r>
          </a:p>
        </p:txBody>
      </p:sp>
      <p:sp>
        <p:nvSpPr>
          <p:cNvPr id="3" name="Content Placeholder 2"/>
          <p:cNvSpPr>
            <a:spLocks noGrp="1"/>
          </p:cNvSpPr>
          <p:nvPr>
            <p:ph idx="1"/>
          </p:nvPr>
        </p:nvSpPr>
        <p:spPr/>
        <p:txBody>
          <a:bodyPr/>
          <a:lstStyle/>
          <a:p>
            <a:pPr lvl="0" indent="-342900" marL="342900">
              <a:buAutoNum type="arabicPeriod"/>
            </a:pPr>
            <a:r>
              <a:rPr/>
              <a:t>Make sure that you have at least two classes with </a:t>
            </a:r>
            <a:r>
              <a:rPr b="1"/>
              <a:t>incompatible interfaces</a:t>
            </a:r>
            <a:r>
              <a:rPr/>
              <a:t>: a useful service class and one or more client classes that would benefit from using the service class</a:t>
            </a:r>
          </a:p>
          <a:p>
            <a:pPr lvl="0" indent="-342900" marL="342900">
              <a:buAutoNum type="arabicPeriod"/>
            </a:pPr>
            <a:r>
              <a:rPr/>
              <a:t>Declare the </a:t>
            </a:r>
            <a:r>
              <a:rPr b="1"/>
              <a:t>client interface</a:t>
            </a:r>
            <a:r>
              <a:rPr/>
              <a:t> and describe how clients communicate with the service</a:t>
            </a:r>
          </a:p>
          <a:p>
            <a:pPr lvl="0" indent="-342900" marL="342900">
              <a:buAutoNum type="arabicPeriod"/>
            </a:pPr>
            <a:r>
              <a:rPr/>
              <a:t>Create the </a:t>
            </a:r>
            <a:r>
              <a:rPr b="1"/>
              <a:t>adapter class</a:t>
            </a:r>
            <a:r>
              <a:rPr/>
              <a:t> and make it follow the client interface. Leave all the methods empty for now</a:t>
            </a:r>
          </a:p>
        </p:txBody>
      </p:sp>
    </p:spTree>
  </p:cSl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Adapter: How to Implement (cont.)</a:t>
            </a:r>
          </a:p>
        </p:txBody>
      </p:sp>
      <p:sp>
        <p:nvSpPr>
          <p:cNvPr id="3" name="Content Placeholder 2"/>
          <p:cNvSpPr>
            <a:spLocks noGrp="1"/>
          </p:cNvSpPr>
          <p:nvPr>
            <p:ph idx="1"/>
          </p:nvPr>
        </p:nvSpPr>
        <p:spPr/>
        <p:txBody>
          <a:bodyPr/>
          <a:lstStyle/>
          <a:p>
            <a:pPr lvl="0" indent="-342900" marL="342900">
              <a:buAutoNum startAt="4" type="arabicPeriod"/>
            </a:pPr>
            <a:r>
              <a:rPr/>
              <a:t>Add a </a:t>
            </a:r>
            <a:r>
              <a:rPr b="1"/>
              <a:t>field to the adapter</a:t>
            </a:r>
            <a:r>
              <a:rPr/>
              <a:t> class to store a reference to the service object. The common practice is to initialize this field via the constructor, but sometimes it is more convenient to pass it to the adapter when calling its methods</a:t>
            </a:r>
          </a:p>
          <a:p>
            <a:pPr lvl="0" indent="-342900" marL="342900">
              <a:buAutoNum startAt="4" type="arabicPeriod"/>
            </a:pPr>
            <a:r>
              <a:rPr/>
              <a:t>One by one, </a:t>
            </a:r>
            <a:r>
              <a:rPr b="1"/>
              <a:t>implement all methods</a:t>
            </a:r>
            <a:r>
              <a:rPr/>
              <a:t> of the client interface in the adapter class. The adapter should delegate most of the real work to the service object, handling only the interface or data format conversion</a:t>
            </a:r>
          </a:p>
          <a:p>
            <a:pPr lvl="0" indent="-342900" marL="342900">
              <a:buAutoNum startAt="4" type="arabicPeriod"/>
            </a:pPr>
            <a:r>
              <a:rPr/>
              <a:t>Clients should use the adapter via the </a:t>
            </a:r>
            <a:r>
              <a:rPr b="1"/>
              <a:t>client interface</a:t>
            </a:r>
            <a:r>
              <a:rPr/>
              <a:t>. This lets you change or extend the adapters without affecting the client code</a:t>
            </a:r>
          </a:p>
        </p:txBody>
      </p:sp>
    </p:spTree>
  </p:cSl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Adapter: Pros and Cons</a:t>
            </a:r>
          </a:p>
        </p:txBody>
      </p:sp>
      <p:sp>
        <p:nvSpPr>
          <p:cNvPr id="3" name="Content Placeholder 2"/>
          <p:cNvSpPr>
            <a:spLocks noGrp="1"/>
          </p:cNvSpPr>
          <p:nvPr>
            <p:ph idx="1"/>
          </p:nvPr>
        </p:nvSpPr>
        <p:spPr/>
        <p:txBody>
          <a:bodyPr/>
          <a:lstStyle/>
          <a:p>
            <a:pPr lvl="0" indent="0" marL="0">
              <a:buNone/>
            </a:pPr>
            <a:r>
              <a:rPr b="1"/>
              <a:t>Pros:</a:t>
            </a:r>
            <a:r>
              <a:rPr/>
              <a:t> - </a:t>
            </a:r>
            <a:r>
              <a:rPr b="1"/>
              <a:t>Single Responsibility Principle</a:t>
            </a:r>
            <a:r>
              <a:rPr/>
              <a:t>: You can separate the interface or data conversion code from the primary business logic of the program - </a:t>
            </a:r>
            <a:r>
              <a:rPr b="1"/>
              <a:t>Open/Closed Principle</a:t>
            </a:r>
            <a:r>
              <a:rPr/>
              <a:t>: You can introduce new types of adapters into the program without breaking the existing client code, as long as they work with the adapters through the client interface</a:t>
            </a:r>
          </a:p>
          <a:p>
            <a:pPr lvl="0" indent="0" marL="0">
              <a:buNone/>
            </a:pPr>
            <a:r>
              <a:rPr b="1"/>
              <a:t>Cons:</a:t>
            </a:r>
            <a:r>
              <a:rPr/>
              <a:t> - The overall complexity of the code increases because you need to introduce a set of new interfaces and classes. Sometimes it is simpler just to change the service class so that it matches the rest of your code</a:t>
            </a:r>
          </a:p>
        </p:txBody>
      </p:sp>
    </p:spTree>
  </p:cSl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Adapter: Relations with Other Patterns</a:t>
            </a:r>
          </a:p>
        </p:txBody>
      </p:sp>
      <p:sp>
        <p:nvSpPr>
          <p:cNvPr id="3" name="Content Placeholder 2"/>
          <p:cNvSpPr>
            <a:spLocks noGrp="1"/>
          </p:cNvSpPr>
          <p:nvPr>
            <p:ph idx="1"/>
          </p:nvPr>
        </p:nvSpPr>
        <p:spPr/>
        <p:txBody>
          <a:bodyPr/>
          <a:lstStyle/>
          <a:p>
            <a:pPr lvl="0"/>
            <a:r>
              <a:rPr b="1"/>
              <a:t>Bridge</a:t>
            </a:r>
            <a:r>
              <a:rPr/>
              <a:t> is usually designed up-front, letting you develop parts of an application independently. </a:t>
            </a:r>
            <a:r>
              <a:rPr b="1"/>
              <a:t>Adapter</a:t>
            </a:r>
            <a:r>
              <a:rPr/>
              <a:t> is commonly used with an existing app to make otherwise-incompatible classes work together</a:t>
            </a:r>
          </a:p>
          <a:p>
            <a:pPr lvl="0"/>
            <a:r>
              <a:rPr b="1"/>
              <a:t>Adapter</a:t>
            </a:r>
            <a:r>
              <a:rPr/>
              <a:t> changes the interface of an existing object, while </a:t>
            </a:r>
            <a:r>
              <a:rPr b="1"/>
              <a:t>Decorator</a:t>
            </a:r>
            <a:r>
              <a:rPr/>
              <a:t> enhances an object without changing its interface. Decorator supports recursive composition, which is not possible with Adapter</a:t>
            </a:r>
          </a:p>
          <a:p>
            <a:pPr lvl="0"/>
            <a:r>
              <a:rPr b="1"/>
              <a:t>Adapter</a:t>
            </a:r>
            <a:r>
              <a:rPr/>
              <a:t> provides a different interface to the wrapped object, </a:t>
            </a:r>
            <a:r>
              <a:rPr b="1"/>
              <a:t>Proxy</a:t>
            </a:r>
            <a:r>
              <a:rPr/>
              <a:t> provides it with the same interface, and </a:t>
            </a:r>
            <a:r>
              <a:rPr b="1"/>
              <a:t>Decorator</a:t>
            </a:r>
            <a:r>
              <a:rPr/>
              <a:t> provides it with an enhanced interface</a:t>
            </a:r>
          </a:p>
        </p:txBody>
      </p:sp>
    </p:spTree>
  </p:cSl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Adapter: Relations with Other Patterns (cont.)</a:t>
            </a:r>
          </a:p>
        </p:txBody>
      </p:sp>
      <p:sp>
        <p:nvSpPr>
          <p:cNvPr id="3" name="Content Placeholder 2"/>
          <p:cNvSpPr>
            <a:spLocks noGrp="1"/>
          </p:cNvSpPr>
          <p:nvPr>
            <p:ph idx="1"/>
          </p:nvPr>
        </p:nvSpPr>
        <p:spPr/>
        <p:txBody>
          <a:bodyPr/>
          <a:lstStyle/>
          <a:p>
            <a:pPr lvl="0"/>
            <a:r>
              <a:rPr b="1"/>
              <a:t>Facade</a:t>
            </a:r>
            <a:r>
              <a:rPr/>
              <a:t> defines a new interface for existing objects, whereas </a:t>
            </a:r>
            <a:r>
              <a:rPr b="1"/>
              <a:t>Adapter</a:t>
            </a:r>
            <a:r>
              <a:rPr/>
              <a:t> tries to make the existing interface usable. Adapter usually wraps just one object, while Facade works with an entire subsystem of objects</a:t>
            </a:r>
          </a:p>
          <a:p>
            <a:pPr lvl="0"/>
            <a:r>
              <a:rPr b="1"/>
              <a:t>Bridge</a:t>
            </a:r>
            <a:r>
              <a:rPr/>
              <a:t>, </a:t>
            </a:r>
            <a:r>
              <a:rPr b="1"/>
              <a:t>State</a:t>
            </a:r>
            <a:r>
              <a:rPr/>
              <a:t>, </a:t>
            </a:r>
            <a:r>
              <a:rPr b="1"/>
              <a:t>Strategy</a:t>
            </a:r>
            <a:r>
              <a:rPr/>
              <a:t> (and to some degree </a:t>
            </a:r>
            <a:r>
              <a:rPr b="1"/>
              <a:t>Adapter</a:t>
            </a:r>
            <a:r>
              <a:rPr/>
              <a:t>) have very similar structures. All these patterns are based on composition, which is delegating work to other objects. However, they all solve different problems</a:t>
            </a:r>
          </a:p>
        </p:txBody>
      </p:sp>
    </p:spTree>
  </p:cSl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Module B: Takeaway</a:t>
            </a:r>
          </a:p>
        </p:txBody>
      </p:sp>
      <p:sp>
        <p:nvSpPr>
          <p:cNvPr id="3" name="Content Placeholder 2"/>
          <p:cNvSpPr>
            <a:spLocks noGrp="1"/>
          </p:cNvSpPr>
          <p:nvPr>
            <p:ph idx="1"/>
          </p:nvPr>
        </p:nvSpPr>
        <p:spPr/>
        <p:txBody>
          <a:bodyPr/>
          <a:lstStyle/>
          <a:p>
            <a:pPr lvl="0"/>
            <a:r>
              <a:rPr/>
              <a:t>The Adapter pattern acts as a </a:t>
            </a:r>
            <a:r>
              <a:rPr b="1"/>
              <a:t>bridge</a:t>
            </a:r>
            <a:r>
              <a:rPr/>
              <a:t> between two incompatible interfaces</a:t>
            </a:r>
          </a:p>
          <a:p>
            <a:pPr lvl="0"/>
            <a:r>
              <a:rPr/>
              <a:t>It wraps an existing class with a new interface to make it compatible with client expectations</a:t>
            </a:r>
          </a:p>
          <a:p>
            <a:pPr lvl="0"/>
            <a:r>
              <a:rPr/>
              <a:t>Use it when you need to integrate </a:t>
            </a:r>
            <a:r>
              <a:rPr b="1"/>
              <a:t>legacy</a:t>
            </a:r>
            <a:r>
              <a:rPr/>
              <a:t> or </a:t>
            </a:r>
            <a:r>
              <a:rPr b="1"/>
              <a:t>third-party</a:t>
            </a:r>
            <a:r>
              <a:rPr/>
              <a:t> code with your system</a:t>
            </a:r>
          </a:p>
          <a:p>
            <a:pPr lvl="0"/>
            <a:r>
              <a:rPr/>
              <a:t>It follows the </a:t>
            </a:r>
            <a:r>
              <a:rPr b="1"/>
              <a:t>Single Responsibility</a:t>
            </a:r>
            <a:r>
              <a:rPr/>
              <a:t> and </a:t>
            </a:r>
            <a:r>
              <a:rPr b="1"/>
              <a:t>Open/Closed</a:t>
            </a:r>
            <a:r>
              <a:rPr/>
              <a:t> principles</a:t>
            </a:r>
          </a:p>
          <a:p>
            <a:pPr lvl="0"/>
            <a:r>
              <a:rPr/>
              <a:t>There are two variants: </a:t>
            </a:r>
            <a:r>
              <a:rPr b="1"/>
              <a:t>Object Adapter</a:t>
            </a:r>
            <a:r>
              <a:rPr/>
              <a:t> (composition) and </a:t>
            </a:r>
            <a:r>
              <a:rPr b="1"/>
              <a:t>Class Adapter</a:t>
            </a:r>
            <a:r>
              <a:rPr/>
              <a:t> (multiple inheritance)</a:t>
            </a:r>
          </a:p>
        </p:txBody>
      </p:sp>
    </p:spTree>
  </p:cSl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b="1"/>
              <a:t>Module C: Bridge Pattern</a:t>
            </a:r>
          </a:p>
        </p:txBody>
      </p:sp>
    </p:spTree>
  </p:cSld>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Module C: Outline</a:t>
            </a:r>
          </a:p>
        </p:txBody>
      </p:sp>
      <p:sp>
        <p:nvSpPr>
          <p:cNvPr id="3" name="Content Placeholder 2"/>
          <p:cNvSpPr>
            <a:spLocks noGrp="1"/>
          </p:cNvSpPr>
          <p:nvPr>
            <p:ph idx="1"/>
          </p:nvPr>
        </p:nvSpPr>
        <p:spPr/>
        <p:txBody>
          <a:bodyPr/>
          <a:lstStyle/>
          <a:p>
            <a:pPr lvl="0"/>
            <a:r>
              <a:rPr/>
              <a:t>Intent</a:t>
            </a:r>
          </a:p>
          <a:p>
            <a:pPr lvl="0"/>
            <a:r>
              <a:rPr/>
              <a:t>Problem</a:t>
            </a:r>
          </a:p>
          <a:p>
            <a:pPr lvl="0"/>
            <a:r>
              <a:rPr/>
              <a:t>Solution</a:t>
            </a:r>
          </a:p>
          <a:p>
            <a:pPr lvl="0"/>
            <a:r>
              <a:rPr/>
              <a:t>Real-World Analogy</a:t>
            </a:r>
          </a:p>
          <a:p>
            <a:pPr lvl="0"/>
            <a:r>
              <a:rPr/>
              <a:t>Structure (UML)</a:t>
            </a:r>
          </a:p>
          <a:p>
            <a:pPr lvl="0"/>
            <a:r>
              <a:rPr/>
              <a:t>Java Code Example</a:t>
            </a:r>
          </a:p>
          <a:p>
            <a:pPr lvl="0"/>
            <a:r>
              <a:rPr/>
              <a:t>Applicability</a:t>
            </a:r>
          </a:p>
          <a:p>
            <a:pPr lvl="0"/>
            <a:r>
              <a:rPr/>
              <a:t>How to Implement</a:t>
            </a:r>
          </a:p>
          <a:p>
            <a:pPr lvl="0"/>
            <a:r>
              <a:rPr/>
              <a:t>Pros and Cons</a:t>
            </a:r>
          </a:p>
          <a:p>
            <a:pPr lvl="0"/>
            <a:r>
              <a:rPr/>
              <a:t>Relations with Other Patterns</a:t>
            </a:r>
          </a:p>
          <a:p>
            <a:pPr lvl="0"/>
            <a:r>
              <a:rPr/>
              <a:t>Module Takeaway</a:t>
            </a:r>
          </a:p>
        </p:txBody>
      </p:sp>
    </p:spTree>
  </p:cSld>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Bridge: Intent</a:t>
            </a:r>
          </a:p>
        </p:txBody>
      </p:sp>
      <p:sp>
        <p:nvSpPr>
          <p:cNvPr id="3" name="Content Placeholder 2"/>
          <p:cNvSpPr>
            <a:spLocks noGrp="1"/>
          </p:cNvSpPr>
          <p:nvPr>
            <p:ph idx="1"/>
          </p:nvPr>
        </p:nvSpPr>
        <p:spPr/>
        <p:txBody>
          <a:bodyPr/>
          <a:lstStyle/>
          <a:p>
            <a:pPr lvl="0" indent="0" marL="0">
              <a:buNone/>
            </a:pPr>
            <a:r>
              <a:rPr b="1"/>
              <a:t>Bridge</a:t>
            </a:r>
            <a:r>
              <a:rPr/>
              <a:t> is a structural design pattern that lets you split a large class or a set of closely related classes into </a:t>
            </a:r>
            <a:r>
              <a:rPr b="1"/>
              <a:t>two separate hierarchies</a:t>
            </a:r>
            <a:r>
              <a:rPr/>
              <a:t> – abstraction and implementation – which can be developed </a:t>
            </a:r>
            <a:r>
              <a:rPr b="1"/>
              <a:t>independently</a:t>
            </a:r>
            <a:r>
              <a:rPr/>
              <a:t> of each other.</a:t>
            </a:r>
          </a:p>
          <a:p>
            <a:pPr lvl="0" indent="0" marL="0">
              <a:buNone/>
            </a:pPr>
            <a:r>
              <a:rPr/>
              <a:t>Source: </a:t>
            </a:r>
            <a:r>
              <a:rPr>
                <a:hlinkClick r:id="rId2"/>
              </a:rPr>
              <a:t>refactoring.guru</a:t>
            </a:r>
          </a:p>
        </p:txBody>
      </p:sp>
    </p:spTree>
  </p:cSld>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Bridge: Problem</a:t>
            </a:r>
          </a:p>
        </p:txBody>
      </p:sp>
      <p:sp>
        <p:nvSpPr>
          <p:cNvPr id="3" name="Content Placeholder 2"/>
          <p:cNvSpPr>
            <a:spLocks noGrp="1"/>
          </p:cNvSpPr>
          <p:nvPr>
            <p:ph idx="1"/>
          </p:nvPr>
        </p:nvSpPr>
        <p:spPr/>
        <p:txBody>
          <a:bodyPr/>
          <a:lstStyle/>
          <a:p>
            <a:pPr lvl="0" indent="0" marL="0">
              <a:buNone/>
            </a:pPr>
            <a:r>
              <a:rPr/>
              <a:t>Say you have a geometric </a:t>
            </a:r>
            <a:r>
              <a:rPr>
                <a:latin typeface="Courier"/>
              </a:rPr>
              <a:t>Shape</a:t>
            </a:r>
            <a:r>
              <a:rPr/>
              <a:t> class with a pair of subclasses: </a:t>
            </a:r>
            <a:r>
              <a:rPr>
                <a:latin typeface="Courier"/>
              </a:rPr>
              <a:t>Circle</a:t>
            </a:r>
            <a:r>
              <a:rPr/>
              <a:t> and </a:t>
            </a:r>
            <a:r>
              <a:rPr>
                <a:latin typeface="Courier"/>
              </a:rPr>
              <a:t>Square</a:t>
            </a:r>
            <a:r>
              <a:rPr/>
              <a:t>. You want to extend this class hierarchy to incorporate colors, so you plan to create </a:t>
            </a:r>
            <a:r>
              <a:rPr>
                <a:latin typeface="Courier"/>
              </a:rPr>
              <a:t>Red</a:t>
            </a:r>
            <a:r>
              <a:rPr/>
              <a:t> and </a:t>
            </a:r>
            <a:r>
              <a:rPr>
                <a:latin typeface="Courier"/>
              </a:rPr>
              <a:t>Blue</a:t>
            </a:r>
            <a:r>
              <a:rPr/>
              <a:t> shape subclasses.</a:t>
            </a:r>
          </a:p>
          <a:p>
            <a:pPr lvl="0" indent="0" marL="0">
              <a:buNone/>
            </a:pPr>
            <a:r>
              <a:rPr/>
              <a:t>However, since you already have two subclasses, you would need to create </a:t>
            </a:r>
            <a:r>
              <a:rPr b="1"/>
              <a:t>four</a:t>
            </a:r>
            <a:r>
              <a:rPr/>
              <a:t> class combinations such as </a:t>
            </a:r>
            <a:r>
              <a:rPr>
                <a:latin typeface="Courier"/>
              </a:rPr>
              <a:t>BlueCircle</a:t>
            </a:r>
            <a:r>
              <a:rPr/>
              <a:t> and </a:t>
            </a:r>
            <a:r>
              <a:rPr>
                <a:latin typeface="Courier"/>
              </a:rPr>
              <a:t>RedSquare</a:t>
            </a:r>
            <a:r>
              <a:rPr/>
              <a:t>.</a:t>
            </a:r>
          </a:p>
        </p:txBody>
      </p:sp>
    </p:spTree>
  </p:cSld>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Bridge: Problem (cont.)</a:t>
            </a:r>
          </a:p>
        </p:txBody>
      </p:sp>
      <p:sp>
        <p:nvSpPr>
          <p:cNvPr id="3" name="Content Placeholder 2"/>
          <p:cNvSpPr>
            <a:spLocks noGrp="1"/>
          </p:cNvSpPr>
          <p:nvPr>
            <p:ph idx="1"/>
          </p:nvPr>
        </p:nvSpPr>
        <p:spPr/>
        <p:txBody>
          <a:bodyPr/>
          <a:lstStyle/>
          <a:p>
            <a:pPr lvl="0" indent="0" marL="0">
              <a:buNone/>
            </a:pPr>
            <a:r>
              <a:rPr/>
              <a:t>Adding new shape types and colors to the hierarchy will grow it </a:t>
            </a:r>
            <a:r>
              <a:rPr b="1"/>
              <a:t>exponentially</a:t>
            </a:r>
            <a:r>
              <a:rPr/>
              <a:t>. For example: - Adding a </a:t>
            </a:r>
            <a:r>
              <a:rPr b="1"/>
              <a:t>Triangle</a:t>
            </a:r>
            <a:r>
              <a:rPr/>
              <a:t> shape would require 2 new subclasses (one for each color) - Adding a </a:t>
            </a:r>
            <a:r>
              <a:rPr b="1"/>
              <a:t>Green</a:t>
            </a:r>
            <a:r>
              <a:rPr/>
              <a:t> color would require 3 new subclasses (one for each shape)</a:t>
            </a:r>
          </a:p>
          <a:p>
            <a:pPr lvl="0" indent="0" marL="0">
              <a:buNone/>
            </a:pPr>
            <a:r>
              <a:rPr/>
              <a:t>This problem occurs because we are trying to extend shape classes in </a:t>
            </a:r>
            <a:r>
              <a:rPr b="1"/>
              <a:t>two independent dimensions</a:t>
            </a:r>
            <a:r>
              <a:rPr/>
              <a:t>: by form and by color. This is a very common issue with class inheritance.</a:t>
            </a:r>
          </a:p>
        </p:txBody>
      </p:sp>
    </p:spTree>
  </p:cSld>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Bridge: Solution</a:t>
            </a:r>
          </a:p>
        </p:txBody>
      </p:sp>
      <p:sp>
        <p:nvSpPr>
          <p:cNvPr id="3" name="Content Placeholder 2"/>
          <p:cNvSpPr>
            <a:spLocks noGrp="1"/>
          </p:cNvSpPr>
          <p:nvPr>
            <p:ph idx="1"/>
          </p:nvPr>
        </p:nvSpPr>
        <p:spPr/>
        <p:txBody>
          <a:bodyPr/>
          <a:lstStyle/>
          <a:p>
            <a:pPr lvl="0" indent="0" marL="0">
              <a:buNone/>
            </a:pPr>
            <a:r>
              <a:rPr/>
              <a:t>The Bridge pattern attempts to solve this problem by switching from </a:t>
            </a:r>
            <a:r>
              <a:rPr b="1"/>
              <a:t>inheritance</a:t>
            </a:r>
            <a:r>
              <a:rPr/>
              <a:t> to </a:t>
            </a:r>
            <a:r>
              <a:rPr b="1"/>
              <a:t>object composition</a:t>
            </a:r>
            <a:r>
              <a:rPr/>
              <a:t>. What this means is that you extract one of the dimensions into a separate class hierarchy, so that the original classes will reference an object of the new hierarchy, instead of having all of its state and behaviors within one class.</a:t>
            </a:r>
          </a:p>
        </p:txBody>
      </p:sp>
    </p:spTree>
  </p:cSld>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Bridge: Solution (cont.)</a:t>
            </a:r>
          </a:p>
        </p:txBody>
      </p:sp>
      <p:sp>
        <p:nvSpPr>
          <p:cNvPr id="3" name="Content Placeholder 2"/>
          <p:cNvSpPr>
            <a:spLocks noGrp="1"/>
          </p:cNvSpPr>
          <p:nvPr>
            <p:ph idx="1"/>
          </p:nvPr>
        </p:nvSpPr>
        <p:spPr/>
        <p:txBody>
          <a:bodyPr/>
          <a:lstStyle/>
          <a:p>
            <a:pPr lvl="0" indent="0" marL="0">
              <a:buNone/>
            </a:pPr>
            <a:r>
              <a:rPr/>
              <a:t>Following this approach, we can extract the color-related code into its own class with two subclasses: </a:t>
            </a:r>
            <a:r>
              <a:rPr>
                <a:latin typeface="Courier"/>
              </a:rPr>
              <a:t>Red</a:t>
            </a:r>
            <a:r>
              <a:rPr/>
              <a:t> and </a:t>
            </a:r>
            <a:r>
              <a:rPr>
                <a:latin typeface="Courier"/>
              </a:rPr>
              <a:t>Blue</a:t>
            </a:r>
            <a:r>
              <a:rPr/>
              <a:t>. The </a:t>
            </a:r>
            <a:r>
              <a:rPr>
                <a:latin typeface="Courier"/>
              </a:rPr>
              <a:t>Shape</a:t>
            </a:r>
            <a:r>
              <a:rPr/>
              <a:t> class then gets a reference field pointing to one of the color objects.</a:t>
            </a:r>
          </a:p>
          <a:p>
            <a:pPr lvl="0" indent="0" marL="0">
              <a:buNone/>
            </a:pPr>
            <a:r>
              <a:rPr/>
              <a:t>Now the shape can </a:t>
            </a:r>
            <a:r>
              <a:rPr b="1"/>
              <a:t>delegate</a:t>
            </a:r>
            <a:r>
              <a:rPr/>
              <a:t> any color-related work to the linked color object. That reference will act as a </a:t>
            </a:r>
            <a:r>
              <a:rPr b="1"/>
              <a:t>bridge</a:t>
            </a:r>
            <a:r>
              <a:rPr/>
              <a:t> between the </a:t>
            </a:r>
            <a:r>
              <a:rPr>
                <a:latin typeface="Courier"/>
              </a:rPr>
              <a:t>Shape</a:t>
            </a:r>
            <a:r>
              <a:rPr/>
              <a:t> and </a:t>
            </a:r>
            <a:r>
              <a:rPr>
                <a:latin typeface="Courier"/>
              </a:rPr>
              <a:t>Color</a:t>
            </a:r>
            <a:r>
              <a:rPr/>
              <a:t> classes.</a:t>
            </a:r>
          </a:p>
          <a:p>
            <a:pPr lvl="0" indent="0" marL="0">
              <a:buNone/>
            </a:pPr>
            <a:r>
              <a:rPr/>
              <a:t>From now on, adding new colors will not require changing the shape hierarchy, and vice versa.</a:t>
            </a:r>
          </a:p>
        </p:txBody>
      </p:sp>
    </p:spTree>
  </p:cSld>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Bridge: Abstraction and Implementation</a:t>
            </a:r>
          </a:p>
        </p:txBody>
      </p:sp>
      <p:sp>
        <p:nvSpPr>
          <p:cNvPr id="3" name="Content Placeholder 2"/>
          <p:cNvSpPr>
            <a:spLocks noGrp="1"/>
          </p:cNvSpPr>
          <p:nvPr>
            <p:ph idx="1"/>
          </p:nvPr>
        </p:nvSpPr>
        <p:spPr/>
        <p:txBody>
          <a:bodyPr/>
          <a:lstStyle/>
          <a:p>
            <a:pPr lvl="0" indent="0" marL="0">
              <a:buNone/>
            </a:pPr>
            <a:r>
              <a:rPr b="1"/>
              <a:t>Abstraction</a:t>
            </a:r>
            <a:r>
              <a:rPr/>
              <a:t> (also called interface) is a high-level control layer for some entity. This layer is not supposed to do any real work on its own. It should delegate the work to the </a:t>
            </a:r>
            <a:r>
              <a:rPr b="1"/>
              <a:t>implementation</a:t>
            </a:r>
            <a:r>
              <a:rPr/>
              <a:t> layer (also called platform).</a:t>
            </a:r>
          </a:p>
          <a:p>
            <a:pPr lvl="0" indent="0" marL="0">
              <a:buNone/>
            </a:pPr>
            <a:r>
              <a:rPr/>
              <a:t>Note: these are not the same as interfaces or abstract classes from your programming language. They are general concepts.</a:t>
            </a:r>
          </a:p>
          <a:p>
            <a:pPr lvl="0"/>
            <a:r>
              <a:rPr b="1"/>
              <a:t>Abstraction</a:t>
            </a:r>
            <a:r>
              <a:rPr/>
              <a:t>: GUI layer of an app (e.g., remote control)</a:t>
            </a:r>
          </a:p>
          <a:p>
            <a:pPr lvl="0"/>
            <a:r>
              <a:rPr b="1"/>
              <a:t>Implementation</a:t>
            </a:r>
            <a:r>
              <a:rPr/>
              <a:t>: Operating system API, device-specific code (e.g., TV, Radio)</a:t>
            </a:r>
          </a:p>
        </p:txBody>
      </p:sp>
    </p:spTree>
  </p:cSld>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Bridge: Real-World Analogy</a:t>
            </a:r>
          </a:p>
        </p:txBody>
      </p:sp>
      <p:sp>
        <p:nvSpPr>
          <p:cNvPr id="3" name="Content Placeholder 2"/>
          <p:cNvSpPr>
            <a:spLocks noGrp="1"/>
          </p:cNvSpPr>
          <p:nvPr>
            <p:ph idx="1"/>
          </p:nvPr>
        </p:nvSpPr>
        <p:spPr/>
        <p:txBody>
          <a:bodyPr/>
          <a:lstStyle/>
          <a:p>
            <a:pPr lvl="0" indent="0" marL="0">
              <a:buNone/>
            </a:pPr>
            <a:r>
              <a:rPr/>
              <a:t>Consider a </a:t>
            </a:r>
            <a:r>
              <a:rPr b="1"/>
              <a:t>remote control</a:t>
            </a:r>
            <a:r>
              <a:rPr/>
              <a:t> and a </a:t>
            </a:r>
            <a:r>
              <a:rPr b="1"/>
              <a:t>device</a:t>
            </a:r>
            <a:r>
              <a:rPr/>
              <a:t> (TV, Radio).</a:t>
            </a:r>
          </a:p>
          <a:p>
            <a:pPr lvl="0"/>
            <a:r>
              <a:rPr/>
              <a:t>The remote control is the </a:t>
            </a:r>
            <a:r>
              <a:rPr b="1"/>
              <a:t>abstraction</a:t>
            </a:r>
            <a:r>
              <a:rPr/>
              <a:t> – it provides high-level controls (power, volume, channel)</a:t>
            </a:r>
          </a:p>
          <a:p>
            <a:pPr lvl="0"/>
            <a:r>
              <a:rPr/>
              <a:t>The device is the </a:t>
            </a:r>
            <a:r>
              <a:rPr b="1"/>
              <a:t>implementation</a:t>
            </a:r>
            <a:r>
              <a:rPr/>
              <a:t> – it defines how these controls actually work</a:t>
            </a:r>
          </a:p>
          <a:p>
            <a:pPr lvl="0"/>
            <a:r>
              <a:rPr/>
              <a:t>You can pair different remotes with different devices</a:t>
            </a:r>
          </a:p>
          <a:p>
            <a:pPr lvl="0"/>
            <a:r>
              <a:rPr/>
              <a:t>You can create an advanced remote with extra buttons without changing the device classes</a:t>
            </a:r>
          </a:p>
        </p:txBody>
      </p:sp>
    </p:spTree>
  </p:cSld>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Bridge: Structure</a:t>
            </a:r>
          </a:p>
        </p:txBody>
      </p:sp>
      <p:sp>
        <p:nvSpPr>
          <p:cNvPr id="3" name="Content Placeholder 2"/>
          <p:cNvSpPr>
            <a:spLocks noGrp="1"/>
          </p:cNvSpPr>
          <p:nvPr>
            <p:ph idx="1"/>
          </p:nvPr>
        </p:nvSpPr>
        <p:spPr/>
        <p:txBody>
          <a:bodyPr/>
          <a:lstStyle/>
          <a:p>
            <a:pPr lvl="0" indent="-342900" marL="342900">
              <a:buAutoNum type="arabicPeriod"/>
            </a:pPr>
            <a:r>
              <a:rPr b="1"/>
              <a:t>Abstraction</a:t>
            </a:r>
            <a:r>
              <a:rPr/>
              <a:t> – Provides high-level control logic. Relies on the implementation object to do the actual low-level work</a:t>
            </a:r>
          </a:p>
          <a:p>
            <a:pPr lvl="0" indent="-342900" marL="342900">
              <a:buAutoNum type="arabicPeriod"/>
            </a:pPr>
            <a:r>
              <a:rPr b="1"/>
              <a:t>Implementation</a:t>
            </a:r>
            <a:r>
              <a:rPr/>
              <a:t> – Declares the interface that is common for all concrete implementations. An abstraction can only communicate with an implementation object via methods declared here</a:t>
            </a:r>
          </a:p>
          <a:p>
            <a:pPr lvl="0" indent="-342900" marL="342900">
              <a:buAutoNum type="arabicPeriod"/>
            </a:pPr>
            <a:r>
              <a:rPr b="1"/>
              <a:t>Concrete Implementations</a:t>
            </a:r>
            <a:r>
              <a:rPr/>
              <a:t> – Contain platform-specific code</a:t>
            </a:r>
          </a:p>
          <a:p>
            <a:pPr lvl="0" indent="-342900" marL="342900">
              <a:buAutoNum type="arabicPeriod"/>
            </a:pPr>
            <a:r>
              <a:rPr b="1"/>
              <a:t>Refined Abstractions</a:t>
            </a:r>
            <a:r>
              <a:rPr/>
              <a:t> – Provide variants of control logic. Like their parent, they work with different implementations via the general implementation interface</a:t>
            </a:r>
          </a:p>
          <a:p>
            <a:pPr lvl="0" indent="-342900" marL="342900">
              <a:buAutoNum type="arabicPeriod"/>
            </a:pPr>
            <a:r>
              <a:rPr b="1"/>
              <a:t>Client</a:t>
            </a:r>
            <a:r>
              <a:rPr/>
              <a:t> – Links an abstraction object with one of the implementation objects</a:t>
            </a:r>
          </a:p>
        </p:txBody>
      </p:sp>
    </p:spTree>
  </p:cSld>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Bridge - Class Diagram</a:t>
            </a:r>
          </a:p>
        </p:txBody>
      </p:sp>
      <p:pic>
        <p:nvPicPr>
          <p:cNvPr descr="assets/bridge-structure.png" id="0" name="Picture 1"/>
          <p:cNvPicPr>
            <a:picLocks noGrp="1" noChangeAspect="1"/>
          </p:cNvPicPr>
          <p:nvPr/>
        </p:nvPicPr>
        <p:blipFill>
          <a:blip r:embed="rId2"/>
          <a:stretch>
            <a:fillRect/>
          </a:stretch>
        </p:blipFill>
        <p:spPr bwMode="auto">
          <a:xfrm>
            <a:off x="3568700" y="279400"/>
            <a:ext cx="5105400" cy="37338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a:t>
            </a:r>
          </a:p>
        </p:txBody>
      </p:sp>
    </p:spTree>
  </p:cSld>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Bridge: Java Code Example - Implementation Interface</a:t>
            </a:r>
          </a:p>
        </p:txBody>
      </p:sp>
      <p:sp>
        <p:nvSpPr>
          <p:cNvPr id="3" name="Content Placeholder 2"/>
          <p:cNvSpPr>
            <a:spLocks noGrp="1"/>
          </p:cNvSpPr>
          <p:nvPr>
            <p:ph idx="1"/>
          </p:nvPr>
        </p:nvSpPr>
        <p:spPr/>
        <p:txBody>
          <a:bodyPr/>
          <a:lstStyle/>
          <a:p>
            <a:pPr lvl="0" indent="0">
              <a:buNone/>
            </a:pPr>
            <a:r>
              <a:rPr i="1">
                <a:solidFill>
                  <a:srgbClr val="60A0B0"/>
                </a:solidFill>
                <a:latin typeface="Courier"/>
              </a:rPr>
              <a:t>// The implementation interface declares methods common to all</a:t>
            </a:r>
            <a:br/>
            <a:r>
              <a:rPr i="1">
                <a:solidFill>
                  <a:srgbClr val="60A0B0"/>
                </a:solidFill>
                <a:latin typeface="Courier"/>
              </a:rPr>
              <a:t>// concrete implementation classes. It does not have to match the</a:t>
            </a:r>
            <a:br/>
            <a:r>
              <a:rPr i="1">
                <a:solidFill>
                  <a:srgbClr val="60A0B0"/>
                </a:solidFill>
                <a:latin typeface="Courier"/>
              </a:rPr>
              <a:t>// abstraction's interface.</a:t>
            </a:r>
            <a:br/>
            <a:r>
              <a:rPr b="1">
                <a:solidFill>
                  <a:srgbClr val="007020"/>
                </a:solidFill>
                <a:latin typeface="Courier"/>
              </a:rPr>
              <a:t>public</a:t>
            </a:r>
            <a:r>
              <a:rPr>
                <a:latin typeface="Courier"/>
              </a:rPr>
              <a:t> </a:t>
            </a:r>
            <a:r>
              <a:rPr b="1">
                <a:solidFill>
                  <a:srgbClr val="007020"/>
                </a:solidFill>
                <a:latin typeface="Courier"/>
              </a:rPr>
              <a:t>interface</a:t>
            </a:r>
            <a:r>
              <a:rPr>
                <a:latin typeface="Courier"/>
              </a:rPr>
              <a:t> Device </a:t>
            </a:r>
            <a:r>
              <a:rPr>
                <a:solidFill>
                  <a:srgbClr val="666666"/>
                </a:solidFill>
                <a:latin typeface="Courier"/>
              </a:rPr>
              <a:t>{</a:t>
            </a:r>
            <a:br/>
            <a:r>
              <a:rPr>
                <a:latin typeface="Courier"/>
              </a:rPr>
              <a:t>    </a:t>
            </a:r>
            <a:r>
              <a:rPr>
                <a:solidFill>
                  <a:srgbClr val="902000"/>
                </a:solidFill>
                <a:latin typeface="Courier"/>
              </a:rPr>
              <a:t>boolean</a:t>
            </a:r>
            <a:r>
              <a:rPr>
                <a:latin typeface="Courier"/>
              </a:rPr>
              <a:t> </a:t>
            </a:r>
            <a:r>
              <a:rPr>
                <a:solidFill>
                  <a:srgbClr val="06287E"/>
                </a:solidFill>
                <a:latin typeface="Courier"/>
              </a:rPr>
              <a:t>isEnabled</a:t>
            </a:r>
            <a:r>
              <a:rPr>
                <a:solidFill>
                  <a:srgbClr val="666666"/>
                </a:solidFill>
                <a:latin typeface="Courier"/>
              </a:rPr>
              <a:t>();</a:t>
            </a:r>
            <a:br/>
            <a:r>
              <a:rPr>
                <a:latin typeface="Courier"/>
              </a:rPr>
              <a:t>    </a:t>
            </a:r>
            <a:r>
              <a:rPr>
                <a:solidFill>
                  <a:srgbClr val="902000"/>
                </a:solidFill>
                <a:latin typeface="Courier"/>
              </a:rPr>
              <a:t>void</a:t>
            </a:r>
            <a:r>
              <a:rPr>
                <a:latin typeface="Courier"/>
              </a:rPr>
              <a:t> </a:t>
            </a:r>
            <a:r>
              <a:rPr>
                <a:solidFill>
                  <a:srgbClr val="06287E"/>
                </a:solidFill>
                <a:latin typeface="Courier"/>
              </a:rPr>
              <a:t>enable</a:t>
            </a:r>
            <a:r>
              <a:rPr>
                <a:solidFill>
                  <a:srgbClr val="666666"/>
                </a:solidFill>
                <a:latin typeface="Courier"/>
              </a:rPr>
              <a:t>();</a:t>
            </a:r>
            <a:br/>
            <a:r>
              <a:rPr>
                <a:latin typeface="Courier"/>
              </a:rPr>
              <a:t>    </a:t>
            </a:r>
            <a:r>
              <a:rPr>
                <a:solidFill>
                  <a:srgbClr val="902000"/>
                </a:solidFill>
                <a:latin typeface="Courier"/>
              </a:rPr>
              <a:t>void</a:t>
            </a:r>
            <a:r>
              <a:rPr>
                <a:latin typeface="Courier"/>
              </a:rPr>
              <a:t> </a:t>
            </a:r>
            <a:r>
              <a:rPr>
                <a:solidFill>
                  <a:srgbClr val="06287E"/>
                </a:solidFill>
                <a:latin typeface="Courier"/>
              </a:rPr>
              <a:t>disable</a:t>
            </a:r>
            <a:r>
              <a:rPr>
                <a:solidFill>
                  <a:srgbClr val="666666"/>
                </a:solidFill>
                <a:latin typeface="Courier"/>
              </a:rPr>
              <a:t>();</a:t>
            </a:r>
            <a:br/>
            <a:r>
              <a:rPr>
                <a:latin typeface="Courier"/>
              </a:rPr>
              <a:t>    </a:t>
            </a:r>
            <a:r>
              <a:rPr>
                <a:solidFill>
                  <a:srgbClr val="902000"/>
                </a:solidFill>
                <a:latin typeface="Courier"/>
              </a:rPr>
              <a:t>int</a:t>
            </a:r>
            <a:r>
              <a:rPr>
                <a:latin typeface="Courier"/>
              </a:rPr>
              <a:t> </a:t>
            </a:r>
            <a:r>
              <a:rPr>
                <a:solidFill>
                  <a:srgbClr val="06287E"/>
                </a:solidFill>
                <a:latin typeface="Courier"/>
              </a:rPr>
              <a:t>getVolume</a:t>
            </a:r>
            <a:r>
              <a:rPr>
                <a:solidFill>
                  <a:srgbClr val="666666"/>
                </a:solidFill>
                <a:latin typeface="Courier"/>
              </a:rPr>
              <a:t>();</a:t>
            </a:r>
            <a:br/>
            <a:r>
              <a:rPr>
                <a:latin typeface="Courier"/>
              </a:rPr>
              <a:t>    </a:t>
            </a:r>
            <a:r>
              <a:rPr>
                <a:solidFill>
                  <a:srgbClr val="902000"/>
                </a:solidFill>
                <a:latin typeface="Courier"/>
              </a:rPr>
              <a:t>void</a:t>
            </a:r>
            <a:r>
              <a:rPr>
                <a:latin typeface="Courier"/>
              </a:rPr>
              <a:t> </a:t>
            </a:r>
            <a:r>
              <a:rPr>
                <a:solidFill>
                  <a:srgbClr val="06287E"/>
                </a:solidFill>
                <a:latin typeface="Courier"/>
              </a:rPr>
              <a:t>setVolume</a:t>
            </a:r>
            <a:r>
              <a:rPr>
                <a:solidFill>
                  <a:srgbClr val="666666"/>
                </a:solidFill>
                <a:latin typeface="Courier"/>
              </a:rPr>
              <a:t>(</a:t>
            </a:r>
            <a:r>
              <a:rPr>
                <a:solidFill>
                  <a:srgbClr val="902000"/>
                </a:solidFill>
                <a:latin typeface="Courier"/>
              </a:rPr>
              <a:t>int</a:t>
            </a:r>
            <a:r>
              <a:rPr>
                <a:latin typeface="Courier"/>
              </a:rPr>
              <a:t> percent</a:t>
            </a:r>
            <a:r>
              <a:rPr>
                <a:solidFill>
                  <a:srgbClr val="666666"/>
                </a:solidFill>
                <a:latin typeface="Courier"/>
              </a:rPr>
              <a:t>);</a:t>
            </a:r>
            <a:br/>
            <a:r>
              <a:rPr>
                <a:latin typeface="Courier"/>
              </a:rPr>
              <a:t>    </a:t>
            </a:r>
            <a:r>
              <a:rPr>
                <a:solidFill>
                  <a:srgbClr val="902000"/>
                </a:solidFill>
                <a:latin typeface="Courier"/>
              </a:rPr>
              <a:t>int</a:t>
            </a:r>
            <a:r>
              <a:rPr>
                <a:latin typeface="Courier"/>
              </a:rPr>
              <a:t> </a:t>
            </a:r>
            <a:r>
              <a:rPr>
                <a:solidFill>
                  <a:srgbClr val="06287E"/>
                </a:solidFill>
                <a:latin typeface="Courier"/>
              </a:rPr>
              <a:t>getChannel</a:t>
            </a:r>
            <a:r>
              <a:rPr>
                <a:solidFill>
                  <a:srgbClr val="666666"/>
                </a:solidFill>
                <a:latin typeface="Courier"/>
              </a:rPr>
              <a:t>();</a:t>
            </a:r>
            <a:br/>
            <a:r>
              <a:rPr>
                <a:latin typeface="Courier"/>
              </a:rPr>
              <a:t>    </a:t>
            </a:r>
            <a:r>
              <a:rPr>
                <a:solidFill>
                  <a:srgbClr val="902000"/>
                </a:solidFill>
                <a:latin typeface="Courier"/>
              </a:rPr>
              <a:t>void</a:t>
            </a:r>
            <a:r>
              <a:rPr>
                <a:latin typeface="Courier"/>
              </a:rPr>
              <a:t> </a:t>
            </a:r>
            <a:r>
              <a:rPr>
                <a:solidFill>
                  <a:srgbClr val="06287E"/>
                </a:solidFill>
                <a:latin typeface="Courier"/>
              </a:rPr>
              <a:t>setChannel</a:t>
            </a:r>
            <a:r>
              <a:rPr>
                <a:solidFill>
                  <a:srgbClr val="666666"/>
                </a:solidFill>
                <a:latin typeface="Courier"/>
              </a:rPr>
              <a:t>(</a:t>
            </a:r>
            <a:r>
              <a:rPr>
                <a:solidFill>
                  <a:srgbClr val="902000"/>
                </a:solidFill>
                <a:latin typeface="Courier"/>
              </a:rPr>
              <a:t>int</a:t>
            </a:r>
            <a:r>
              <a:rPr>
                <a:latin typeface="Courier"/>
              </a:rPr>
              <a:t> channel</a:t>
            </a:r>
            <a:r>
              <a:rPr>
                <a:solidFill>
                  <a:srgbClr val="666666"/>
                </a:solidFill>
                <a:latin typeface="Courier"/>
              </a:rPr>
              <a:t>);</a:t>
            </a:r>
            <a:br/>
            <a:r>
              <a:rPr>
                <a:solidFill>
                  <a:srgbClr val="666666"/>
                </a:solidFill>
                <a:latin typeface="Courier"/>
              </a:rPr>
              <a:t>}</a:t>
            </a:r>
          </a:p>
        </p:txBody>
      </p:sp>
    </p:spTree>
  </p:cSld>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Bridge: Java Code Example - Concrete Implementations</a:t>
            </a:r>
          </a:p>
        </p:txBody>
      </p:sp>
      <p:sp>
        <p:nvSpPr>
          <p:cNvPr id="3" name="Content Placeholder 2"/>
          <p:cNvSpPr>
            <a:spLocks noGrp="1"/>
          </p:cNvSpPr>
          <p:nvPr>
            <p:ph idx="1"/>
          </p:nvPr>
        </p:nvSpPr>
        <p:spPr/>
        <p:txBody>
          <a:bodyPr/>
          <a:lstStyle/>
          <a:p>
            <a:pPr lvl="0" indent="0">
              <a:buNone/>
            </a:pPr>
            <a:r>
              <a:rPr b="1">
                <a:solidFill>
                  <a:srgbClr val="007020"/>
                </a:solidFill>
                <a:latin typeface="Courier"/>
              </a:rPr>
              <a:t>public</a:t>
            </a:r>
            <a:r>
              <a:rPr>
                <a:latin typeface="Courier"/>
              </a:rPr>
              <a:t> </a:t>
            </a:r>
            <a:r>
              <a:rPr b="1">
                <a:solidFill>
                  <a:srgbClr val="007020"/>
                </a:solidFill>
                <a:latin typeface="Courier"/>
              </a:rPr>
              <a:t>class</a:t>
            </a:r>
            <a:r>
              <a:rPr>
                <a:latin typeface="Courier"/>
              </a:rPr>
              <a:t> Tv </a:t>
            </a:r>
            <a:r>
              <a:rPr b="1">
                <a:solidFill>
                  <a:srgbClr val="007020"/>
                </a:solidFill>
                <a:latin typeface="Courier"/>
              </a:rPr>
              <a:t>implements</a:t>
            </a:r>
            <a:r>
              <a:rPr>
                <a:latin typeface="Courier"/>
              </a:rPr>
              <a:t> Device </a:t>
            </a:r>
            <a:r>
              <a:rPr>
                <a:solidFill>
                  <a:srgbClr val="666666"/>
                </a:solidFill>
                <a:latin typeface="Courier"/>
              </a:rPr>
              <a:t>{</a:t>
            </a:r>
            <a:br/>
            <a:r>
              <a:rPr>
                <a:latin typeface="Courier"/>
              </a:rPr>
              <a:t>    </a:t>
            </a:r>
            <a:r>
              <a:rPr b="1">
                <a:solidFill>
                  <a:srgbClr val="007020"/>
                </a:solidFill>
                <a:latin typeface="Courier"/>
              </a:rPr>
              <a:t>private</a:t>
            </a:r>
            <a:r>
              <a:rPr>
                <a:latin typeface="Courier"/>
              </a:rPr>
              <a:t> </a:t>
            </a:r>
            <a:r>
              <a:rPr>
                <a:solidFill>
                  <a:srgbClr val="902000"/>
                </a:solidFill>
                <a:latin typeface="Courier"/>
              </a:rPr>
              <a:t>boolean</a:t>
            </a:r>
            <a:r>
              <a:rPr>
                <a:latin typeface="Courier"/>
              </a:rPr>
              <a:t> on </a:t>
            </a:r>
            <a:r>
              <a:rPr>
                <a:solidFill>
                  <a:srgbClr val="666666"/>
                </a:solidFill>
                <a:latin typeface="Courier"/>
              </a:rPr>
              <a:t>=</a:t>
            </a:r>
            <a:r>
              <a:rPr>
                <a:latin typeface="Courier"/>
              </a:rPr>
              <a:t> </a:t>
            </a:r>
            <a:r>
              <a:rPr b="1">
                <a:solidFill>
                  <a:srgbClr val="007020"/>
                </a:solidFill>
                <a:latin typeface="Courier"/>
              </a:rPr>
              <a:t>false</a:t>
            </a:r>
            <a:r>
              <a:rPr>
                <a:solidFill>
                  <a:srgbClr val="666666"/>
                </a:solidFill>
                <a:latin typeface="Courier"/>
              </a:rPr>
              <a:t>;</a:t>
            </a:r>
            <a:br/>
            <a:r>
              <a:rPr>
                <a:latin typeface="Courier"/>
              </a:rPr>
              <a:t>    </a:t>
            </a:r>
            <a:r>
              <a:rPr b="1">
                <a:solidFill>
                  <a:srgbClr val="007020"/>
                </a:solidFill>
                <a:latin typeface="Courier"/>
              </a:rPr>
              <a:t>private</a:t>
            </a:r>
            <a:r>
              <a:rPr>
                <a:latin typeface="Courier"/>
              </a:rPr>
              <a:t> </a:t>
            </a:r>
            <a:r>
              <a:rPr>
                <a:solidFill>
                  <a:srgbClr val="902000"/>
                </a:solidFill>
                <a:latin typeface="Courier"/>
              </a:rPr>
              <a:t>int</a:t>
            </a:r>
            <a:r>
              <a:rPr>
                <a:latin typeface="Courier"/>
              </a:rPr>
              <a:t> volume </a:t>
            </a:r>
            <a:r>
              <a:rPr>
                <a:solidFill>
                  <a:srgbClr val="666666"/>
                </a:solidFill>
                <a:latin typeface="Courier"/>
              </a:rPr>
              <a:t>=</a:t>
            </a:r>
            <a:r>
              <a:rPr>
                <a:latin typeface="Courier"/>
              </a:rPr>
              <a:t> </a:t>
            </a:r>
            <a:r>
              <a:rPr>
                <a:solidFill>
                  <a:srgbClr val="40A070"/>
                </a:solidFill>
                <a:latin typeface="Courier"/>
              </a:rPr>
              <a:t>30</a:t>
            </a:r>
            <a:r>
              <a:rPr>
                <a:solidFill>
                  <a:srgbClr val="666666"/>
                </a:solidFill>
                <a:latin typeface="Courier"/>
              </a:rPr>
              <a:t>;</a:t>
            </a:r>
            <a:br/>
            <a:r>
              <a:rPr>
                <a:latin typeface="Courier"/>
              </a:rPr>
              <a:t>    </a:t>
            </a:r>
            <a:r>
              <a:rPr b="1">
                <a:solidFill>
                  <a:srgbClr val="007020"/>
                </a:solidFill>
                <a:latin typeface="Courier"/>
              </a:rPr>
              <a:t>private</a:t>
            </a:r>
            <a:r>
              <a:rPr>
                <a:latin typeface="Courier"/>
              </a:rPr>
              <a:t> </a:t>
            </a:r>
            <a:r>
              <a:rPr>
                <a:solidFill>
                  <a:srgbClr val="902000"/>
                </a:solidFill>
                <a:latin typeface="Courier"/>
              </a:rPr>
              <a:t>int</a:t>
            </a:r>
            <a:r>
              <a:rPr>
                <a:latin typeface="Courier"/>
              </a:rPr>
              <a:t> channel </a:t>
            </a:r>
            <a:r>
              <a:rPr>
                <a:solidFill>
                  <a:srgbClr val="666666"/>
                </a:solidFill>
                <a:latin typeface="Courier"/>
              </a:rPr>
              <a:t>=</a:t>
            </a:r>
            <a:r>
              <a:rPr>
                <a:latin typeface="Courier"/>
              </a:rPr>
              <a:t> </a:t>
            </a:r>
            <a:r>
              <a:rPr>
                <a:solidFill>
                  <a:srgbClr val="40A070"/>
                </a:solidFill>
                <a:latin typeface="Courier"/>
              </a:rPr>
              <a:t>1</a:t>
            </a:r>
            <a:r>
              <a:rPr>
                <a:solidFill>
                  <a:srgbClr val="666666"/>
                </a:solidFill>
                <a:latin typeface="Courier"/>
              </a:rPr>
              <a:t>;</a:t>
            </a:r>
            <a:br/>
            <a:br/>
            <a:r>
              <a:rPr>
                <a:latin typeface="Courier"/>
              </a:rPr>
              <a:t>    </a:t>
            </a:r>
            <a:r>
              <a:rPr>
                <a:solidFill>
                  <a:srgbClr val="7D9029"/>
                </a:solidFill>
                <a:latin typeface="Courier"/>
              </a:rPr>
              <a:t>@Override</a:t>
            </a:r>
            <a:br/>
            <a:r>
              <a:rPr>
                <a:latin typeface="Courier"/>
              </a:rPr>
              <a:t>    </a:t>
            </a:r>
            <a:r>
              <a:rPr b="1">
                <a:solidFill>
                  <a:srgbClr val="007020"/>
                </a:solidFill>
                <a:latin typeface="Courier"/>
              </a:rPr>
              <a:t>public</a:t>
            </a:r>
            <a:r>
              <a:rPr>
                <a:latin typeface="Courier"/>
              </a:rPr>
              <a:t> </a:t>
            </a:r>
            <a:r>
              <a:rPr>
                <a:solidFill>
                  <a:srgbClr val="902000"/>
                </a:solidFill>
                <a:latin typeface="Courier"/>
              </a:rPr>
              <a:t>boolean</a:t>
            </a:r>
            <a:r>
              <a:rPr>
                <a:latin typeface="Courier"/>
              </a:rPr>
              <a:t> </a:t>
            </a:r>
            <a:r>
              <a:rPr>
                <a:solidFill>
                  <a:srgbClr val="06287E"/>
                </a:solidFill>
                <a:latin typeface="Courier"/>
              </a:rPr>
              <a:t>isEnabled</a:t>
            </a:r>
            <a:r>
              <a:rPr>
                <a:solidFill>
                  <a:srgbClr val="666666"/>
                </a:solidFill>
                <a:latin typeface="Courier"/>
              </a:rPr>
              <a:t>()</a:t>
            </a:r>
            <a:r>
              <a:rPr>
                <a:latin typeface="Courier"/>
              </a:rPr>
              <a:t> </a:t>
            </a:r>
            <a:r>
              <a:rPr>
                <a:solidFill>
                  <a:srgbClr val="666666"/>
                </a:solidFill>
                <a:latin typeface="Courier"/>
              </a:rPr>
              <a:t>{</a:t>
            </a:r>
            <a:r>
              <a:rPr>
                <a:latin typeface="Courier"/>
              </a:rPr>
              <a:t> </a:t>
            </a:r>
            <a:r>
              <a:rPr b="1">
                <a:solidFill>
                  <a:srgbClr val="007020"/>
                </a:solidFill>
                <a:latin typeface="Courier"/>
              </a:rPr>
              <a:t>return</a:t>
            </a:r>
            <a:r>
              <a:rPr>
                <a:latin typeface="Courier"/>
              </a:rPr>
              <a:t> on</a:t>
            </a:r>
            <a:r>
              <a:rPr>
                <a:solidFill>
                  <a:srgbClr val="666666"/>
                </a:solidFill>
                <a:latin typeface="Courier"/>
              </a:rPr>
              <a:t>;</a:t>
            </a:r>
            <a:r>
              <a:rPr>
                <a:latin typeface="Courier"/>
              </a:rPr>
              <a:t> </a:t>
            </a:r>
            <a:r>
              <a:rPr>
                <a:solidFill>
                  <a:srgbClr val="666666"/>
                </a:solidFill>
                <a:latin typeface="Courier"/>
              </a:rPr>
              <a:t>}</a:t>
            </a:r>
            <a:br/>
            <a:r>
              <a:rPr>
                <a:latin typeface="Courier"/>
              </a:rPr>
              <a:t>    </a:t>
            </a:r>
            <a:r>
              <a:rPr>
                <a:solidFill>
                  <a:srgbClr val="7D9029"/>
                </a:solidFill>
                <a:latin typeface="Courier"/>
              </a:rPr>
              <a:t>@Override</a:t>
            </a:r>
            <a:br/>
            <a:r>
              <a:rPr>
                <a:latin typeface="Courier"/>
              </a:rPr>
              <a:t>    </a:t>
            </a:r>
            <a:r>
              <a:rPr b="1">
                <a:solidFill>
                  <a:srgbClr val="007020"/>
                </a:solidFill>
                <a:latin typeface="Courier"/>
              </a:rPr>
              <a:t>public</a:t>
            </a:r>
            <a:r>
              <a:rPr>
                <a:latin typeface="Courier"/>
              </a:rPr>
              <a:t> </a:t>
            </a:r>
            <a:r>
              <a:rPr>
                <a:solidFill>
                  <a:srgbClr val="902000"/>
                </a:solidFill>
                <a:latin typeface="Courier"/>
              </a:rPr>
              <a:t>void</a:t>
            </a:r>
            <a:r>
              <a:rPr>
                <a:latin typeface="Courier"/>
              </a:rPr>
              <a:t> </a:t>
            </a:r>
            <a:r>
              <a:rPr>
                <a:solidFill>
                  <a:srgbClr val="06287E"/>
                </a:solidFill>
                <a:latin typeface="Courier"/>
              </a:rPr>
              <a:t>enable</a:t>
            </a:r>
            <a:r>
              <a:rPr>
                <a:solidFill>
                  <a:srgbClr val="666666"/>
                </a:solidFill>
                <a:latin typeface="Courier"/>
              </a:rPr>
              <a:t>()</a:t>
            </a:r>
            <a:r>
              <a:rPr>
                <a:latin typeface="Courier"/>
              </a:rPr>
              <a:t> </a:t>
            </a:r>
            <a:r>
              <a:rPr>
                <a:solidFill>
                  <a:srgbClr val="666666"/>
                </a:solidFill>
                <a:latin typeface="Courier"/>
              </a:rPr>
              <a:t>{</a:t>
            </a:r>
            <a:r>
              <a:rPr>
                <a:latin typeface="Courier"/>
              </a:rPr>
              <a:t> on </a:t>
            </a:r>
            <a:r>
              <a:rPr>
                <a:solidFill>
                  <a:srgbClr val="666666"/>
                </a:solidFill>
                <a:latin typeface="Courier"/>
              </a:rPr>
              <a:t>=</a:t>
            </a:r>
            <a:r>
              <a:rPr>
                <a:latin typeface="Courier"/>
              </a:rPr>
              <a:t> </a:t>
            </a:r>
            <a:r>
              <a:rPr b="1">
                <a:solidFill>
                  <a:srgbClr val="007020"/>
                </a:solidFill>
                <a:latin typeface="Courier"/>
              </a:rPr>
              <a:t>true</a:t>
            </a:r>
            <a:r>
              <a:rPr>
                <a:solidFill>
                  <a:srgbClr val="666666"/>
                </a:solidFill>
                <a:latin typeface="Courier"/>
              </a:rPr>
              <a:t>;</a:t>
            </a:r>
            <a:r>
              <a:rPr>
                <a:latin typeface="Courier"/>
              </a:rPr>
              <a:t> </a:t>
            </a:r>
            <a:r>
              <a:rPr>
                <a:solidFill>
                  <a:srgbClr val="666666"/>
                </a:solidFill>
                <a:latin typeface="Courier"/>
              </a:rPr>
              <a:t>}</a:t>
            </a:r>
            <a:br/>
            <a:r>
              <a:rPr>
                <a:latin typeface="Courier"/>
              </a:rPr>
              <a:t>    </a:t>
            </a:r>
            <a:r>
              <a:rPr>
                <a:solidFill>
                  <a:srgbClr val="7D9029"/>
                </a:solidFill>
                <a:latin typeface="Courier"/>
              </a:rPr>
              <a:t>@Override</a:t>
            </a:r>
            <a:br/>
            <a:r>
              <a:rPr>
                <a:latin typeface="Courier"/>
              </a:rPr>
              <a:t>    </a:t>
            </a:r>
            <a:r>
              <a:rPr b="1">
                <a:solidFill>
                  <a:srgbClr val="007020"/>
                </a:solidFill>
                <a:latin typeface="Courier"/>
              </a:rPr>
              <a:t>public</a:t>
            </a:r>
            <a:r>
              <a:rPr>
                <a:latin typeface="Courier"/>
              </a:rPr>
              <a:t> </a:t>
            </a:r>
            <a:r>
              <a:rPr>
                <a:solidFill>
                  <a:srgbClr val="902000"/>
                </a:solidFill>
                <a:latin typeface="Courier"/>
              </a:rPr>
              <a:t>void</a:t>
            </a:r>
            <a:r>
              <a:rPr>
                <a:latin typeface="Courier"/>
              </a:rPr>
              <a:t> </a:t>
            </a:r>
            <a:r>
              <a:rPr>
                <a:solidFill>
                  <a:srgbClr val="06287E"/>
                </a:solidFill>
                <a:latin typeface="Courier"/>
              </a:rPr>
              <a:t>disable</a:t>
            </a:r>
            <a:r>
              <a:rPr>
                <a:solidFill>
                  <a:srgbClr val="666666"/>
                </a:solidFill>
                <a:latin typeface="Courier"/>
              </a:rPr>
              <a:t>()</a:t>
            </a:r>
            <a:r>
              <a:rPr>
                <a:latin typeface="Courier"/>
              </a:rPr>
              <a:t> </a:t>
            </a:r>
            <a:r>
              <a:rPr>
                <a:solidFill>
                  <a:srgbClr val="666666"/>
                </a:solidFill>
                <a:latin typeface="Courier"/>
              </a:rPr>
              <a:t>{</a:t>
            </a:r>
            <a:r>
              <a:rPr>
                <a:latin typeface="Courier"/>
              </a:rPr>
              <a:t> on </a:t>
            </a:r>
            <a:r>
              <a:rPr>
                <a:solidFill>
                  <a:srgbClr val="666666"/>
                </a:solidFill>
                <a:latin typeface="Courier"/>
              </a:rPr>
              <a:t>=</a:t>
            </a:r>
            <a:r>
              <a:rPr>
                <a:latin typeface="Courier"/>
              </a:rPr>
              <a:t> </a:t>
            </a:r>
            <a:r>
              <a:rPr b="1">
                <a:solidFill>
                  <a:srgbClr val="007020"/>
                </a:solidFill>
                <a:latin typeface="Courier"/>
              </a:rPr>
              <a:t>false</a:t>
            </a:r>
            <a:r>
              <a:rPr>
                <a:solidFill>
                  <a:srgbClr val="666666"/>
                </a:solidFill>
                <a:latin typeface="Courier"/>
              </a:rPr>
              <a:t>;</a:t>
            </a:r>
            <a:r>
              <a:rPr>
                <a:latin typeface="Courier"/>
              </a:rPr>
              <a:t> </a:t>
            </a:r>
            <a:r>
              <a:rPr>
                <a:solidFill>
                  <a:srgbClr val="666666"/>
                </a:solidFill>
                <a:latin typeface="Courier"/>
              </a:rPr>
              <a:t>}</a:t>
            </a:r>
            <a:br/>
            <a:r>
              <a:rPr>
                <a:latin typeface="Courier"/>
              </a:rPr>
              <a:t>    </a:t>
            </a:r>
            <a:r>
              <a:rPr>
                <a:solidFill>
                  <a:srgbClr val="7D9029"/>
                </a:solidFill>
                <a:latin typeface="Courier"/>
              </a:rPr>
              <a:t>@Override</a:t>
            </a:r>
            <a:br/>
            <a:r>
              <a:rPr>
                <a:latin typeface="Courier"/>
              </a:rPr>
              <a:t>    </a:t>
            </a:r>
            <a:r>
              <a:rPr b="1">
                <a:solidFill>
                  <a:srgbClr val="007020"/>
                </a:solidFill>
                <a:latin typeface="Courier"/>
              </a:rPr>
              <a:t>public</a:t>
            </a:r>
            <a:r>
              <a:rPr>
                <a:latin typeface="Courier"/>
              </a:rPr>
              <a:t> </a:t>
            </a:r>
            <a:r>
              <a:rPr>
                <a:solidFill>
                  <a:srgbClr val="902000"/>
                </a:solidFill>
                <a:latin typeface="Courier"/>
              </a:rPr>
              <a:t>int</a:t>
            </a:r>
            <a:r>
              <a:rPr>
                <a:latin typeface="Courier"/>
              </a:rPr>
              <a:t> </a:t>
            </a:r>
            <a:r>
              <a:rPr>
                <a:solidFill>
                  <a:srgbClr val="06287E"/>
                </a:solidFill>
                <a:latin typeface="Courier"/>
              </a:rPr>
              <a:t>getVolume</a:t>
            </a:r>
            <a:r>
              <a:rPr>
                <a:solidFill>
                  <a:srgbClr val="666666"/>
                </a:solidFill>
                <a:latin typeface="Courier"/>
              </a:rPr>
              <a:t>()</a:t>
            </a:r>
            <a:r>
              <a:rPr>
                <a:latin typeface="Courier"/>
              </a:rPr>
              <a:t> </a:t>
            </a:r>
            <a:r>
              <a:rPr>
                <a:solidFill>
                  <a:srgbClr val="666666"/>
                </a:solidFill>
                <a:latin typeface="Courier"/>
              </a:rPr>
              <a:t>{</a:t>
            </a:r>
            <a:r>
              <a:rPr>
                <a:latin typeface="Courier"/>
              </a:rPr>
              <a:t> </a:t>
            </a:r>
            <a:r>
              <a:rPr b="1">
                <a:solidFill>
                  <a:srgbClr val="007020"/>
                </a:solidFill>
                <a:latin typeface="Courier"/>
              </a:rPr>
              <a:t>return</a:t>
            </a:r>
            <a:r>
              <a:rPr>
                <a:latin typeface="Courier"/>
              </a:rPr>
              <a:t> volume</a:t>
            </a:r>
            <a:r>
              <a:rPr>
                <a:solidFill>
                  <a:srgbClr val="666666"/>
                </a:solidFill>
                <a:latin typeface="Courier"/>
              </a:rPr>
              <a:t>;</a:t>
            </a:r>
            <a:r>
              <a:rPr>
                <a:latin typeface="Courier"/>
              </a:rPr>
              <a:t> </a:t>
            </a:r>
            <a:r>
              <a:rPr>
                <a:solidFill>
                  <a:srgbClr val="666666"/>
                </a:solidFill>
                <a:latin typeface="Courier"/>
              </a:rPr>
              <a:t>}</a:t>
            </a:r>
            <a:br/>
            <a:r>
              <a:rPr>
                <a:latin typeface="Courier"/>
              </a:rPr>
              <a:t>    </a:t>
            </a:r>
            <a:r>
              <a:rPr>
                <a:solidFill>
                  <a:srgbClr val="7D9029"/>
                </a:solidFill>
                <a:latin typeface="Courier"/>
              </a:rPr>
              <a:t>@Override</a:t>
            </a:r>
            <a:br/>
            <a:r>
              <a:rPr>
                <a:latin typeface="Courier"/>
              </a:rPr>
              <a:t>    </a:t>
            </a:r>
            <a:r>
              <a:rPr b="1">
                <a:solidFill>
                  <a:srgbClr val="007020"/>
                </a:solidFill>
                <a:latin typeface="Courier"/>
              </a:rPr>
              <a:t>public</a:t>
            </a:r>
            <a:r>
              <a:rPr>
                <a:latin typeface="Courier"/>
              </a:rPr>
              <a:t> </a:t>
            </a:r>
            <a:r>
              <a:rPr>
                <a:solidFill>
                  <a:srgbClr val="902000"/>
                </a:solidFill>
                <a:latin typeface="Courier"/>
              </a:rPr>
              <a:t>void</a:t>
            </a:r>
            <a:r>
              <a:rPr>
                <a:latin typeface="Courier"/>
              </a:rPr>
              <a:t> </a:t>
            </a:r>
            <a:r>
              <a:rPr>
                <a:solidFill>
                  <a:srgbClr val="06287E"/>
                </a:solidFill>
                <a:latin typeface="Courier"/>
              </a:rPr>
              <a:t>setVolume</a:t>
            </a:r>
            <a:r>
              <a:rPr>
                <a:solidFill>
                  <a:srgbClr val="666666"/>
                </a:solidFill>
                <a:latin typeface="Courier"/>
              </a:rPr>
              <a:t>(</a:t>
            </a:r>
            <a:r>
              <a:rPr>
                <a:solidFill>
                  <a:srgbClr val="902000"/>
                </a:solidFill>
                <a:latin typeface="Courier"/>
              </a:rPr>
              <a:t>int</a:t>
            </a:r>
            <a:r>
              <a:rPr>
                <a:latin typeface="Courier"/>
              </a:rPr>
              <a:t> percent</a:t>
            </a:r>
            <a:r>
              <a:rPr>
                <a:solidFill>
                  <a:srgbClr val="666666"/>
                </a:solidFill>
                <a:latin typeface="Courier"/>
              </a:rPr>
              <a:t>)</a:t>
            </a:r>
            <a:r>
              <a:rPr>
                <a:latin typeface="Courier"/>
              </a:rPr>
              <a:t> </a:t>
            </a:r>
            <a:r>
              <a:rPr>
                <a:solidFill>
                  <a:srgbClr val="666666"/>
                </a:solidFill>
                <a:latin typeface="Courier"/>
              </a:rPr>
              <a:t>{</a:t>
            </a:r>
            <a:br/>
            <a:r>
              <a:rPr>
                <a:latin typeface="Courier"/>
              </a:rPr>
              <a:t>        </a:t>
            </a:r>
            <a:r>
              <a:rPr b="1">
                <a:solidFill>
                  <a:srgbClr val="007020"/>
                </a:solidFill>
                <a:latin typeface="Courier"/>
              </a:rPr>
              <a:t>this</a:t>
            </a:r>
            <a:r>
              <a:rPr>
                <a:solidFill>
                  <a:srgbClr val="666666"/>
                </a:solidFill>
                <a:latin typeface="Courier"/>
              </a:rPr>
              <a:t>.</a:t>
            </a:r>
            <a:r>
              <a:rPr>
                <a:solidFill>
                  <a:srgbClr val="06287E"/>
                </a:solidFill>
                <a:latin typeface="Courier"/>
              </a:rPr>
              <a:t>volume</a:t>
            </a:r>
            <a:r>
              <a:rPr>
                <a:latin typeface="Courier"/>
              </a:rPr>
              <a:t> </a:t>
            </a:r>
            <a:r>
              <a:rPr>
                <a:solidFill>
                  <a:srgbClr val="666666"/>
                </a:solidFill>
                <a:latin typeface="Courier"/>
              </a:rPr>
              <a:t>=</a:t>
            </a:r>
            <a:r>
              <a:rPr>
                <a:latin typeface="Courier"/>
              </a:rPr>
              <a:t> </a:t>
            </a:r>
            <a:r>
              <a:rPr>
                <a:solidFill>
                  <a:srgbClr val="008000"/>
                </a:solidFill>
                <a:latin typeface="Courier"/>
              </a:rPr>
              <a:t>Math</a:t>
            </a:r>
            <a:r>
              <a:rPr>
                <a:solidFill>
                  <a:srgbClr val="666666"/>
                </a:solidFill>
                <a:latin typeface="Courier"/>
              </a:rPr>
              <a:t>.</a:t>
            </a:r>
            <a:r>
              <a:rPr>
                <a:solidFill>
                  <a:srgbClr val="06287E"/>
                </a:solidFill>
                <a:latin typeface="Courier"/>
              </a:rPr>
              <a:t>max</a:t>
            </a:r>
            <a:r>
              <a:rPr>
                <a:solidFill>
                  <a:srgbClr val="666666"/>
                </a:solidFill>
                <a:latin typeface="Courier"/>
              </a:rPr>
              <a:t>(</a:t>
            </a:r>
            <a:r>
              <a:rPr>
                <a:solidFill>
                  <a:srgbClr val="40A070"/>
                </a:solidFill>
                <a:latin typeface="Courier"/>
              </a:rPr>
              <a:t>0</a:t>
            </a:r>
            <a:r>
              <a:rPr>
                <a:solidFill>
                  <a:srgbClr val="666666"/>
                </a:solidFill>
                <a:latin typeface="Courier"/>
              </a:rPr>
              <a:t>,</a:t>
            </a:r>
            <a:r>
              <a:rPr>
                <a:latin typeface="Courier"/>
              </a:rPr>
              <a:t> </a:t>
            </a:r>
            <a:r>
              <a:rPr>
                <a:solidFill>
                  <a:srgbClr val="008000"/>
                </a:solidFill>
                <a:latin typeface="Courier"/>
              </a:rPr>
              <a:t>Math</a:t>
            </a:r>
            <a:r>
              <a:rPr>
                <a:solidFill>
                  <a:srgbClr val="666666"/>
                </a:solidFill>
                <a:latin typeface="Courier"/>
              </a:rPr>
              <a:t>.</a:t>
            </a:r>
            <a:r>
              <a:rPr>
                <a:solidFill>
                  <a:srgbClr val="06287E"/>
                </a:solidFill>
                <a:latin typeface="Courier"/>
              </a:rPr>
              <a:t>min</a:t>
            </a:r>
            <a:r>
              <a:rPr>
                <a:solidFill>
                  <a:srgbClr val="666666"/>
                </a:solidFill>
                <a:latin typeface="Courier"/>
              </a:rPr>
              <a:t>(</a:t>
            </a:r>
            <a:r>
              <a:rPr>
                <a:solidFill>
                  <a:srgbClr val="40A070"/>
                </a:solidFill>
                <a:latin typeface="Courier"/>
              </a:rPr>
              <a:t>100</a:t>
            </a:r>
            <a:r>
              <a:rPr>
                <a:solidFill>
                  <a:srgbClr val="666666"/>
                </a:solidFill>
                <a:latin typeface="Courier"/>
              </a:rPr>
              <a:t>,</a:t>
            </a:r>
            <a:r>
              <a:rPr>
                <a:latin typeface="Courier"/>
              </a:rPr>
              <a:t> percent</a:t>
            </a:r>
            <a:r>
              <a:rPr>
                <a:solidFill>
                  <a:srgbClr val="666666"/>
                </a:solidFill>
                <a:latin typeface="Courier"/>
              </a:rPr>
              <a:t>));</a:t>
            </a:r>
            <a:br/>
            <a:r>
              <a:rPr>
                <a:latin typeface="Courier"/>
              </a:rPr>
              <a:t>    </a:t>
            </a:r>
            <a:r>
              <a:rPr>
                <a:solidFill>
                  <a:srgbClr val="666666"/>
                </a:solidFill>
                <a:latin typeface="Courier"/>
              </a:rPr>
              <a:t>}</a:t>
            </a:r>
            <a:br/>
            <a:r>
              <a:rPr>
                <a:latin typeface="Courier"/>
              </a:rPr>
              <a:t>    </a:t>
            </a:r>
            <a:r>
              <a:rPr>
                <a:solidFill>
                  <a:srgbClr val="7D9029"/>
                </a:solidFill>
                <a:latin typeface="Courier"/>
              </a:rPr>
              <a:t>@Override</a:t>
            </a:r>
            <a:br/>
            <a:r>
              <a:rPr>
                <a:latin typeface="Courier"/>
              </a:rPr>
              <a:t>    </a:t>
            </a:r>
            <a:r>
              <a:rPr b="1">
                <a:solidFill>
                  <a:srgbClr val="007020"/>
                </a:solidFill>
                <a:latin typeface="Courier"/>
              </a:rPr>
              <a:t>public</a:t>
            </a:r>
            <a:r>
              <a:rPr>
                <a:latin typeface="Courier"/>
              </a:rPr>
              <a:t> </a:t>
            </a:r>
            <a:r>
              <a:rPr>
                <a:solidFill>
                  <a:srgbClr val="902000"/>
                </a:solidFill>
                <a:latin typeface="Courier"/>
              </a:rPr>
              <a:t>int</a:t>
            </a:r>
            <a:r>
              <a:rPr>
                <a:latin typeface="Courier"/>
              </a:rPr>
              <a:t> </a:t>
            </a:r>
            <a:r>
              <a:rPr>
                <a:solidFill>
                  <a:srgbClr val="06287E"/>
                </a:solidFill>
                <a:latin typeface="Courier"/>
              </a:rPr>
              <a:t>getChannel</a:t>
            </a:r>
            <a:r>
              <a:rPr>
                <a:solidFill>
                  <a:srgbClr val="666666"/>
                </a:solidFill>
                <a:latin typeface="Courier"/>
              </a:rPr>
              <a:t>()</a:t>
            </a:r>
            <a:r>
              <a:rPr>
                <a:latin typeface="Courier"/>
              </a:rPr>
              <a:t> </a:t>
            </a:r>
            <a:r>
              <a:rPr>
                <a:solidFill>
                  <a:srgbClr val="666666"/>
                </a:solidFill>
                <a:latin typeface="Courier"/>
              </a:rPr>
              <a:t>{</a:t>
            </a:r>
            <a:r>
              <a:rPr>
                <a:latin typeface="Courier"/>
              </a:rPr>
              <a:t> </a:t>
            </a:r>
            <a:r>
              <a:rPr b="1">
                <a:solidFill>
                  <a:srgbClr val="007020"/>
                </a:solidFill>
                <a:latin typeface="Courier"/>
              </a:rPr>
              <a:t>return</a:t>
            </a:r>
            <a:r>
              <a:rPr>
                <a:latin typeface="Courier"/>
              </a:rPr>
              <a:t> channel</a:t>
            </a:r>
            <a:r>
              <a:rPr>
                <a:solidFill>
                  <a:srgbClr val="666666"/>
                </a:solidFill>
                <a:latin typeface="Courier"/>
              </a:rPr>
              <a:t>;</a:t>
            </a:r>
            <a:r>
              <a:rPr>
                <a:latin typeface="Courier"/>
              </a:rPr>
              <a:t> </a:t>
            </a:r>
            <a:r>
              <a:rPr>
                <a:solidFill>
                  <a:srgbClr val="666666"/>
                </a:solidFill>
                <a:latin typeface="Courier"/>
              </a:rPr>
              <a:t>}</a:t>
            </a:r>
            <a:br/>
            <a:r>
              <a:rPr>
                <a:latin typeface="Courier"/>
              </a:rPr>
              <a:t>    </a:t>
            </a:r>
            <a:r>
              <a:rPr>
                <a:solidFill>
                  <a:srgbClr val="7D9029"/>
                </a:solidFill>
                <a:latin typeface="Courier"/>
              </a:rPr>
              <a:t>@Override</a:t>
            </a:r>
            <a:br/>
            <a:r>
              <a:rPr>
                <a:latin typeface="Courier"/>
              </a:rPr>
              <a:t>    </a:t>
            </a:r>
            <a:r>
              <a:rPr b="1">
                <a:solidFill>
                  <a:srgbClr val="007020"/>
                </a:solidFill>
                <a:latin typeface="Courier"/>
              </a:rPr>
              <a:t>public</a:t>
            </a:r>
            <a:r>
              <a:rPr>
                <a:latin typeface="Courier"/>
              </a:rPr>
              <a:t> </a:t>
            </a:r>
            <a:r>
              <a:rPr>
                <a:solidFill>
                  <a:srgbClr val="902000"/>
                </a:solidFill>
                <a:latin typeface="Courier"/>
              </a:rPr>
              <a:t>void</a:t>
            </a:r>
            <a:r>
              <a:rPr>
                <a:latin typeface="Courier"/>
              </a:rPr>
              <a:t> </a:t>
            </a:r>
            <a:r>
              <a:rPr>
                <a:solidFill>
                  <a:srgbClr val="06287E"/>
                </a:solidFill>
                <a:latin typeface="Courier"/>
              </a:rPr>
              <a:t>setChannel</a:t>
            </a:r>
            <a:r>
              <a:rPr>
                <a:solidFill>
                  <a:srgbClr val="666666"/>
                </a:solidFill>
                <a:latin typeface="Courier"/>
              </a:rPr>
              <a:t>(</a:t>
            </a:r>
            <a:r>
              <a:rPr>
                <a:solidFill>
                  <a:srgbClr val="902000"/>
                </a:solidFill>
                <a:latin typeface="Courier"/>
              </a:rPr>
              <a:t>int</a:t>
            </a:r>
            <a:r>
              <a:rPr>
                <a:latin typeface="Courier"/>
              </a:rPr>
              <a:t> channel</a:t>
            </a:r>
            <a:r>
              <a:rPr>
                <a:solidFill>
                  <a:srgbClr val="666666"/>
                </a:solidFill>
                <a:latin typeface="Courier"/>
              </a:rPr>
              <a:t>)</a:t>
            </a:r>
            <a:r>
              <a:rPr>
                <a:latin typeface="Courier"/>
              </a:rPr>
              <a:t> </a:t>
            </a:r>
            <a:r>
              <a:rPr>
                <a:solidFill>
                  <a:srgbClr val="666666"/>
                </a:solidFill>
                <a:latin typeface="Courier"/>
              </a:rPr>
              <a:t>{</a:t>
            </a:r>
            <a:br/>
            <a:r>
              <a:rPr>
                <a:latin typeface="Courier"/>
              </a:rPr>
              <a:t>        </a:t>
            </a:r>
            <a:r>
              <a:rPr b="1">
                <a:solidFill>
                  <a:srgbClr val="007020"/>
                </a:solidFill>
                <a:latin typeface="Courier"/>
              </a:rPr>
              <a:t>this</a:t>
            </a:r>
            <a:r>
              <a:rPr>
                <a:solidFill>
                  <a:srgbClr val="666666"/>
                </a:solidFill>
                <a:latin typeface="Courier"/>
              </a:rPr>
              <a:t>.</a:t>
            </a:r>
            <a:r>
              <a:rPr>
                <a:solidFill>
                  <a:srgbClr val="06287E"/>
                </a:solidFill>
                <a:latin typeface="Courier"/>
              </a:rPr>
              <a:t>channel</a:t>
            </a:r>
            <a:r>
              <a:rPr>
                <a:latin typeface="Courier"/>
              </a:rPr>
              <a:t> </a:t>
            </a:r>
            <a:r>
              <a:rPr>
                <a:solidFill>
                  <a:srgbClr val="666666"/>
                </a:solidFill>
                <a:latin typeface="Courier"/>
              </a:rPr>
              <a:t>=</a:t>
            </a:r>
            <a:r>
              <a:rPr>
                <a:latin typeface="Courier"/>
              </a:rPr>
              <a:t> channel</a:t>
            </a:r>
            <a:r>
              <a:rPr>
                <a:solidFill>
                  <a:srgbClr val="666666"/>
                </a:solidFill>
                <a:latin typeface="Courier"/>
              </a:rPr>
              <a:t>;</a:t>
            </a:r>
            <a:br/>
            <a:r>
              <a:rPr>
                <a:latin typeface="Courier"/>
              </a:rPr>
              <a:t>    </a:t>
            </a:r>
            <a:r>
              <a:rPr>
                <a:solidFill>
                  <a:srgbClr val="666666"/>
                </a:solidFill>
                <a:latin typeface="Courier"/>
              </a:rPr>
              <a:t>}</a:t>
            </a:r>
            <a:br/>
            <a:r>
              <a:rPr>
                <a:solidFill>
                  <a:srgbClr val="666666"/>
                </a:solidFill>
                <a:latin typeface="Courier"/>
              </a:rPr>
              <a:t>}</a:t>
            </a:r>
          </a:p>
        </p:txBody>
      </p:sp>
    </p:spTree>
  </p:cSld>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Bridge: Java Code Example - Concrete Implementations (cont.)</a:t>
            </a:r>
          </a:p>
        </p:txBody>
      </p:sp>
      <p:sp>
        <p:nvSpPr>
          <p:cNvPr id="3" name="Content Placeholder 2"/>
          <p:cNvSpPr>
            <a:spLocks noGrp="1"/>
          </p:cNvSpPr>
          <p:nvPr>
            <p:ph idx="1"/>
          </p:nvPr>
        </p:nvSpPr>
        <p:spPr/>
        <p:txBody>
          <a:bodyPr/>
          <a:lstStyle/>
          <a:p>
            <a:pPr lvl="0" indent="0">
              <a:buNone/>
            </a:pPr>
            <a:r>
              <a:rPr b="1">
                <a:solidFill>
                  <a:srgbClr val="007020"/>
                </a:solidFill>
                <a:latin typeface="Courier"/>
              </a:rPr>
              <a:t>public</a:t>
            </a:r>
            <a:r>
              <a:rPr>
                <a:latin typeface="Courier"/>
              </a:rPr>
              <a:t> </a:t>
            </a:r>
            <a:r>
              <a:rPr b="1">
                <a:solidFill>
                  <a:srgbClr val="007020"/>
                </a:solidFill>
                <a:latin typeface="Courier"/>
              </a:rPr>
              <a:t>class</a:t>
            </a:r>
            <a:r>
              <a:rPr>
                <a:latin typeface="Courier"/>
              </a:rPr>
              <a:t> Radio </a:t>
            </a:r>
            <a:r>
              <a:rPr b="1">
                <a:solidFill>
                  <a:srgbClr val="007020"/>
                </a:solidFill>
                <a:latin typeface="Courier"/>
              </a:rPr>
              <a:t>implements</a:t>
            </a:r>
            <a:r>
              <a:rPr>
                <a:latin typeface="Courier"/>
              </a:rPr>
              <a:t> Device </a:t>
            </a:r>
            <a:r>
              <a:rPr>
                <a:solidFill>
                  <a:srgbClr val="666666"/>
                </a:solidFill>
                <a:latin typeface="Courier"/>
              </a:rPr>
              <a:t>{</a:t>
            </a:r>
            <a:br/>
            <a:r>
              <a:rPr>
                <a:latin typeface="Courier"/>
              </a:rPr>
              <a:t>    </a:t>
            </a:r>
            <a:r>
              <a:rPr b="1">
                <a:solidFill>
                  <a:srgbClr val="007020"/>
                </a:solidFill>
                <a:latin typeface="Courier"/>
              </a:rPr>
              <a:t>private</a:t>
            </a:r>
            <a:r>
              <a:rPr>
                <a:latin typeface="Courier"/>
              </a:rPr>
              <a:t> </a:t>
            </a:r>
            <a:r>
              <a:rPr>
                <a:solidFill>
                  <a:srgbClr val="902000"/>
                </a:solidFill>
                <a:latin typeface="Courier"/>
              </a:rPr>
              <a:t>boolean</a:t>
            </a:r>
            <a:r>
              <a:rPr>
                <a:latin typeface="Courier"/>
              </a:rPr>
              <a:t> on </a:t>
            </a:r>
            <a:r>
              <a:rPr>
                <a:solidFill>
                  <a:srgbClr val="666666"/>
                </a:solidFill>
                <a:latin typeface="Courier"/>
              </a:rPr>
              <a:t>=</a:t>
            </a:r>
            <a:r>
              <a:rPr>
                <a:latin typeface="Courier"/>
              </a:rPr>
              <a:t> </a:t>
            </a:r>
            <a:r>
              <a:rPr b="1">
                <a:solidFill>
                  <a:srgbClr val="007020"/>
                </a:solidFill>
                <a:latin typeface="Courier"/>
              </a:rPr>
              <a:t>false</a:t>
            </a:r>
            <a:r>
              <a:rPr>
                <a:solidFill>
                  <a:srgbClr val="666666"/>
                </a:solidFill>
                <a:latin typeface="Courier"/>
              </a:rPr>
              <a:t>;</a:t>
            </a:r>
            <a:br/>
            <a:r>
              <a:rPr>
                <a:latin typeface="Courier"/>
              </a:rPr>
              <a:t>    </a:t>
            </a:r>
            <a:r>
              <a:rPr b="1">
                <a:solidFill>
                  <a:srgbClr val="007020"/>
                </a:solidFill>
                <a:latin typeface="Courier"/>
              </a:rPr>
              <a:t>private</a:t>
            </a:r>
            <a:r>
              <a:rPr>
                <a:latin typeface="Courier"/>
              </a:rPr>
              <a:t> </a:t>
            </a:r>
            <a:r>
              <a:rPr>
                <a:solidFill>
                  <a:srgbClr val="902000"/>
                </a:solidFill>
                <a:latin typeface="Courier"/>
              </a:rPr>
              <a:t>int</a:t>
            </a:r>
            <a:r>
              <a:rPr>
                <a:latin typeface="Courier"/>
              </a:rPr>
              <a:t> volume </a:t>
            </a:r>
            <a:r>
              <a:rPr>
                <a:solidFill>
                  <a:srgbClr val="666666"/>
                </a:solidFill>
                <a:latin typeface="Courier"/>
              </a:rPr>
              <a:t>=</a:t>
            </a:r>
            <a:r>
              <a:rPr>
                <a:latin typeface="Courier"/>
              </a:rPr>
              <a:t> </a:t>
            </a:r>
            <a:r>
              <a:rPr>
                <a:solidFill>
                  <a:srgbClr val="40A070"/>
                </a:solidFill>
                <a:latin typeface="Courier"/>
              </a:rPr>
              <a:t>20</a:t>
            </a:r>
            <a:r>
              <a:rPr>
                <a:solidFill>
                  <a:srgbClr val="666666"/>
                </a:solidFill>
                <a:latin typeface="Courier"/>
              </a:rPr>
              <a:t>;</a:t>
            </a:r>
            <a:br/>
            <a:r>
              <a:rPr>
                <a:latin typeface="Courier"/>
              </a:rPr>
              <a:t>    </a:t>
            </a:r>
            <a:r>
              <a:rPr b="1">
                <a:solidFill>
                  <a:srgbClr val="007020"/>
                </a:solidFill>
                <a:latin typeface="Courier"/>
              </a:rPr>
              <a:t>private</a:t>
            </a:r>
            <a:r>
              <a:rPr>
                <a:latin typeface="Courier"/>
              </a:rPr>
              <a:t> </a:t>
            </a:r>
            <a:r>
              <a:rPr>
                <a:solidFill>
                  <a:srgbClr val="902000"/>
                </a:solidFill>
                <a:latin typeface="Courier"/>
              </a:rPr>
              <a:t>int</a:t>
            </a:r>
            <a:r>
              <a:rPr>
                <a:latin typeface="Courier"/>
              </a:rPr>
              <a:t> channel </a:t>
            </a:r>
            <a:r>
              <a:rPr>
                <a:solidFill>
                  <a:srgbClr val="666666"/>
                </a:solidFill>
                <a:latin typeface="Courier"/>
              </a:rPr>
              <a:t>=</a:t>
            </a:r>
            <a:r>
              <a:rPr>
                <a:latin typeface="Courier"/>
              </a:rPr>
              <a:t> </a:t>
            </a:r>
            <a:r>
              <a:rPr>
                <a:solidFill>
                  <a:srgbClr val="40A070"/>
                </a:solidFill>
                <a:latin typeface="Courier"/>
              </a:rPr>
              <a:t>1</a:t>
            </a:r>
            <a:r>
              <a:rPr>
                <a:solidFill>
                  <a:srgbClr val="666666"/>
                </a:solidFill>
                <a:latin typeface="Courier"/>
              </a:rPr>
              <a:t>;</a:t>
            </a:r>
            <a:br/>
            <a:br/>
            <a:r>
              <a:rPr>
                <a:latin typeface="Courier"/>
              </a:rPr>
              <a:t>    </a:t>
            </a:r>
            <a:r>
              <a:rPr>
                <a:solidFill>
                  <a:srgbClr val="7D9029"/>
                </a:solidFill>
                <a:latin typeface="Courier"/>
              </a:rPr>
              <a:t>@Override</a:t>
            </a:r>
            <a:br/>
            <a:r>
              <a:rPr>
                <a:latin typeface="Courier"/>
              </a:rPr>
              <a:t>    </a:t>
            </a:r>
            <a:r>
              <a:rPr b="1">
                <a:solidFill>
                  <a:srgbClr val="007020"/>
                </a:solidFill>
                <a:latin typeface="Courier"/>
              </a:rPr>
              <a:t>public</a:t>
            </a:r>
            <a:r>
              <a:rPr>
                <a:latin typeface="Courier"/>
              </a:rPr>
              <a:t> </a:t>
            </a:r>
            <a:r>
              <a:rPr>
                <a:solidFill>
                  <a:srgbClr val="902000"/>
                </a:solidFill>
                <a:latin typeface="Courier"/>
              </a:rPr>
              <a:t>boolean</a:t>
            </a:r>
            <a:r>
              <a:rPr>
                <a:latin typeface="Courier"/>
              </a:rPr>
              <a:t> </a:t>
            </a:r>
            <a:r>
              <a:rPr>
                <a:solidFill>
                  <a:srgbClr val="06287E"/>
                </a:solidFill>
                <a:latin typeface="Courier"/>
              </a:rPr>
              <a:t>isEnabled</a:t>
            </a:r>
            <a:r>
              <a:rPr>
                <a:solidFill>
                  <a:srgbClr val="666666"/>
                </a:solidFill>
                <a:latin typeface="Courier"/>
              </a:rPr>
              <a:t>()</a:t>
            </a:r>
            <a:r>
              <a:rPr>
                <a:latin typeface="Courier"/>
              </a:rPr>
              <a:t> </a:t>
            </a:r>
            <a:r>
              <a:rPr>
                <a:solidFill>
                  <a:srgbClr val="666666"/>
                </a:solidFill>
                <a:latin typeface="Courier"/>
              </a:rPr>
              <a:t>{</a:t>
            </a:r>
            <a:r>
              <a:rPr>
                <a:latin typeface="Courier"/>
              </a:rPr>
              <a:t> </a:t>
            </a:r>
            <a:r>
              <a:rPr b="1">
                <a:solidFill>
                  <a:srgbClr val="007020"/>
                </a:solidFill>
                <a:latin typeface="Courier"/>
              </a:rPr>
              <a:t>return</a:t>
            </a:r>
            <a:r>
              <a:rPr>
                <a:latin typeface="Courier"/>
              </a:rPr>
              <a:t> on</a:t>
            </a:r>
            <a:r>
              <a:rPr>
                <a:solidFill>
                  <a:srgbClr val="666666"/>
                </a:solidFill>
                <a:latin typeface="Courier"/>
              </a:rPr>
              <a:t>;</a:t>
            </a:r>
            <a:r>
              <a:rPr>
                <a:latin typeface="Courier"/>
              </a:rPr>
              <a:t> </a:t>
            </a:r>
            <a:r>
              <a:rPr>
                <a:solidFill>
                  <a:srgbClr val="666666"/>
                </a:solidFill>
                <a:latin typeface="Courier"/>
              </a:rPr>
              <a:t>}</a:t>
            </a:r>
            <a:br/>
            <a:r>
              <a:rPr>
                <a:latin typeface="Courier"/>
              </a:rPr>
              <a:t>    </a:t>
            </a:r>
            <a:r>
              <a:rPr>
                <a:solidFill>
                  <a:srgbClr val="7D9029"/>
                </a:solidFill>
                <a:latin typeface="Courier"/>
              </a:rPr>
              <a:t>@Override</a:t>
            </a:r>
            <a:br/>
            <a:r>
              <a:rPr>
                <a:latin typeface="Courier"/>
              </a:rPr>
              <a:t>    </a:t>
            </a:r>
            <a:r>
              <a:rPr b="1">
                <a:solidFill>
                  <a:srgbClr val="007020"/>
                </a:solidFill>
                <a:latin typeface="Courier"/>
              </a:rPr>
              <a:t>public</a:t>
            </a:r>
            <a:r>
              <a:rPr>
                <a:latin typeface="Courier"/>
              </a:rPr>
              <a:t> </a:t>
            </a:r>
            <a:r>
              <a:rPr>
                <a:solidFill>
                  <a:srgbClr val="902000"/>
                </a:solidFill>
                <a:latin typeface="Courier"/>
              </a:rPr>
              <a:t>void</a:t>
            </a:r>
            <a:r>
              <a:rPr>
                <a:latin typeface="Courier"/>
              </a:rPr>
              <a:t> </a:t>
            </a:r>
            <a:r>
              <a:rPr>
                <a:solidFill>
                  <a:srgbClr val="06287E"/>
                </a:solidFill>
                <a:latin typeface="Courier"/>
              </a:rPr>
              <a:t>enable</a:t>
            </a:r>
            <a:r>
              <a:rPr>
                <a:solidFill>
                  <a:srgbClr val="666666"/>
                </a:solidFill>
                <a:latin typeface="Courier"/>
              </a:rPr>
              <a:t>()</a:t>
            </a:r>
            <a:r>
              <a:rPr>
                <a:latin typeface="Courier"/>
              </a:rPr>
              <a:t> </a:t>
            </a:r>
            <a:r>
              <a:rPr>
                <a:solidFill>
                  <a:srgbClr val="666666"/>
                </a:solidFill>
                <a:latin typeface="Courier"/>
              </a:rPr>
              <a:t>{</a:t>
            </a:r>
            <a:r>
              <a:rPr>
                <a:latin typeface="Courier"/>
              </a:rPr>
              <a:t> on </a:t>
            </a:r>
            <a:r>
              <a:rPr>
                <a:solidFill>
                  <a:srgbClr val="666666"/>
                </a:solidFill>
                <a:latin typeface="Courier"/>
              </a:rPr>
              <a:t>=</a:t>
            </a:r>
            <a:r>
              <a:rPr>
                <a:latin typeface="Courier"/>
              </a:rPr>
              <a:t> </a:t>
            </a:r>
            <a:r>
              <a:rPr b="1">
                <a:solidFill>
                  <a:srgbClr val="007020"/>
                </a:solidFill>
                <a:latin typeface="Courier"/>
              </a:rPr>
              <a:t>true</a:t>
            </a:r>
            <a:r>
              <a:rPr>
                <a:solidFill>
                  <a:srgbClr val="666666"/>
                </a:solidFill>
                <a:latin typeface="Courier"/>
              </a:rPr>
              <a:t>;</a:t>
            </a:r>
            <a:r>
              <a:rPr>
                <a:latin typeface="Courier"/>
              </a:rPr>
              <a:t> </a:t>
            </a:r>
            <a:r>
              <a:rPr>
                <a:solidFill>
                  <a:srgbClr val="666666"/>
                </a:solidFill>
                <a:latin typeface="Courier"/>
              </a:rPr>
              <a:t>}</a:t>
            </a:r>
            <a:br/>
            <a:r>
              <a:rPr>
                <a:latin typeface="Courier"/>
              </a:rPr>
              <a:t>    </a:t>
            </a:r>
            <a:r>
              <a:rPr>
                <a:solidFill>
                  <a:srgbClr val="7D9029"/>
                </a:solidFill>
                <a:latin typeface="Courier"/>
              </a:rPr>
              <a:t>@Override</a:t>
            </a:r>
            <a:br/>
            <a:r>
              <a:rPr>
                <a:latin typeface="Courier"/>
              </a:rPr>
              <a:t>    </a:t>
            </a:r>
            <a:r>
              <a:rPr b="1">
                <a:solidFill>
                  <a:srgbClr val="007020"/>
                </a:solidFill>
                <a:latin typeface="Courier"/>
              </a:rPr>
              <a:t>public</a:t>
            </a:r>
            <a:r>
              <a:rPr>
                <a:latin typeface="Courier"/>
              </a:rPr>
              <a:t> </a:t>
            </a:r>
            <a:r>
              <a:rPr>
                <a:solidFill>
                  <a:srgbClr val="902000"/>
                </a:solidFill>
                <a:latin typeface="Courier"/>
              </a:rPr>
              <a:t>void</a:t>
            </a:r>
            <a:r>
              <a:rPr>
                <a:latin typeface="Courier"/>
              </a:rPr>
              <a:t> </a:t>
            </a:r>
            <a:r>
              <a:rPr>
                <a:solidFill>
                  <a:srgbClr val="06287E"/>
                </a:solidFill>
                <a:latin typeface="Courier"/>
              </a:rPr>
              <a:t>disable</a:t>
            </a:r>
            <a:r>
              <a:rPr>
                <a:solidFill>
                  <a:srgbClr val="666666"/>
                </a:solidFill>
                <a:latin typeface="Courier"/>
              </a:rPr>
              <a:t>()</a:t>
            </a:r>
            <a:r>
              <a:rPr>
                <a:latin typeface="Courier"/>
              </a:rPr>
              <a:t> </a:t>
            </a:r>
            <a:r>
              <a:rPr>
                <a:solidFill>
                  <a:srgbClr val="666666"/>
                </a:solidFill>
                <a:latin typeface="Courier"/>
              </a:rPr>
              <a:t>{</a:t>
            </a:r>
            <a:r>
              <a:rPr>
                <a:latin typeface="Courier"/>
              </a:rPr>
              <a:t> on </a:t>
            </a:r>
            <a:r>
              <a:rPr>
                <a:solidFill>
                  <a:srgbClr val="666666"/>
                </a:solidFill>
                <a:latin typeface="Courier"/>
              </a:rPr>
              <a:t>=</a:t>
            </a:r>
            <a:r>
              <a:rPr>
                <a:latin typeface="Courier"/>
              </a:rPr>
              <a:t> </a:t>
            </a:r>
            <a:r>
              <a:rPr b="1">
                <a:solidFill>
                  <a:srgbClr val="007020"/>
                </a:solidFill>
                <a:latin typeface="Courier"/>
              </a:rPr>
              <a:t>false</a:t>
            </a:r>
            <a:r>
              <a:rPr>
                <a:solidFill>
                  <a:srgbClr val="666666"/>
                </a:solidFill>
                <a:latin typeface="Courier"/>
              </a:rPr>
              <a:t>;</a:t>
            </a:r>
            <a:r>
              <a:rPr>
                <a:latin typeface="Courier"/>
              </a:rPr>
              <a:t> </a:t>
            </a:r>
            <a:r>
              <a:rPr>
                <a:solidFill>
                  <a:srgbClr val="666666"/>
                </a:solidFill>
                <a:latin typeface="Courier"/>
              </a:rPr>
              <a:t>}</a:t>
            </a:r>
            <a:br/>
            <a:r>
              <a:rPr>
                <a:latin typeface="Courier"/>
              </a:rPr>
              <a:t>    </a:t>
            </a:r>
            <a:r>
              <a:rPr>
                <a:solidFill>
                  <a:srgbClr val="7D9029"/>
                </a:solidFill>
                <a:latin typeface="Courier"/>
              </a:rPr>
              <a:t>@Override</a:t>
            </a:r>
            <a:br/>
            <a:r>
              <a:rPr>
                <a:latin typeface="Courier"/>
              </a:rPr>
              <a:t>    </a:t>
            </a:r>
            <a:r>
              <a:rPr b="1">
                <a:solidFill>
                  <a:srgbClr val="007020"/>
                </a:solidFill>
                <a:latin typeface="Courier"/>
              </a:rPr>
              <a:t>public</a:t>
            </a:r>
            <a:r>
              <a:rPr>
                <a:latin typeface="Courier"/>
              </a:rPr>
              <a:t> </a:t>
            </a:r>
            <a:r>
              <a:rPr>
                <a:solidFill>
                  <a:srgbClr val="902000"/>
                </a:solidFill>
                <a:latin typeface="Courier"/>
              </a:rPr>
              <a:t>int</a:t>
            </a:r>
            <a:r>
              <a:rPr>
                <a:latin typeface="Courier"/>
              </a:rPr>
              <a:t> </a:t>
            </a:r>
            <a:r>
              <a:rPr>
                <a:solidFill>
                  <a:srgbClr val="06287E"/>
                </a:solidFill>
                <a:latin typeface="Courier"/>
              </a:rPr>
              <a:t>getVolume</a:t>
            </a:r>
            <a:r>
              <a:rPr>
                <a:solidFill>
                  <a:srgbClr val="666666"/>
                </a:solidFill>
                <a:latin typeface="Courier"/>
              </a:rPr>
              <a:t>()</a:t>
            </a:r>
            <a:r>
              <a:rPr>
                <a:latin typeface="Courier"/>
              </a:rPr>
              <a:t> </a:t>
            </a:r>
            <a:r>
              <a:rPr>
                <a:solidFill>
                  <a:srgbClr val="666666"/>
                </a:solidFill>
                <a:latin typeface="Courier"/>
              </a:rPr>
              <a:t>{</a:t>
            </a:r>
            <a:r>
              <a:rPr>
                <a:latin typeface="Courier"/>
              </a:rPr>
              <a:t> </a:t>
            </a:r>
            <a:r>
              <a:rPr b="1">
                <a:solidFill>
                  <a:srgbClr val="007020"/>
                </a:solidFill>
                <a:latin typeface="Courier"/>
              </a:rPr>
              <a:t>return</a:t>
            </a:r>
            <a:r>
              <a:rPr>
                <a:latin typeface="Courier"/>
              </a:rPr>
              <a:t> volume</a:t>
            </a:r>
            <a:r>
              <a:rPr>
                <a:solidFill>
                  <a:srgbClr val="666666"/>
                </a:solidFill>
                <a:latin typeface="Courier"/>
              </a:rPr>
              <a:t>;</a:t>
            </a:r>
            <a:r>
              <a:rPr>
                <a:latin typeface="Courier"/>
              </a:rPr>
              <a:t> </a:t>
            </a:r>
            <a:r>
              <a:rPr>
                <a:solidFill>
                  <a:srgbClr val="666666"/>
                </a:solidFill>
                <a:latin typeface="Courier"/>
              </a:rPr>
              <a:t>}</a:t>
            </a:r>
            <a:br/>
            <a:r>
              <a:rPr>
                <a:latin typeface="Courier"/>
              </a:rPr>
              <a:t>    </a:t>
            </a:r>
            <a:r>
              <a:rPr>
                <a:solidFill>
                  <a:srgbClr val="7D9029"/>
                </a:solidFill>
                <a:latin typeface="Courier"/>
              </a:rPr>
              <a:t>@Override</a:t>
            </a:r>
            <a:br/>
            <a:r>
              <a:rPr>
                <a:latin typeface="Courier"/>
              </a:rPr>
              <a:t>    </a:t>
            </a:r>
            <a:r>
              <a:rPr b="1">
                <a:solidFill>
                  <a:srgbClr val="007020"/>
                </a:solidFill>
                <a:latin typeface="Courier"/>
              </a:rPr>
              <a:t>public</a:t>
            </a:r>
            <a:r>
              <a:rPr>
                <a:latin typeface="Courier"/>
              </a:rPr>
              <a:t> </a:t>
            </a:r>
            <a:r>
              <a:rPr>
                <a:solidFill>
                  <a:srgbClr val="902000"/>
                </a:solidFill>
                <a:latin typeface="Courier"/>
              </a:rPr>
              <a:t>void</a:t>
            </a:r>
            <a:r>
              <a:rPr>
                <a:latin typeface="Courier"/>
              </a:rPr>
              <a:t> </a:t>
            </a:r>
            <a:r>
              <a:rPr>
                <a:solidFill>
                  <a:srgbClr val="06287E"/>
                </a:solidFill>
                <a:latin typeface="Courier"/>
              </a:rPr>
              <a:t>setVolume</a:t>
            </a:r>
            <a:r>
              <a:rPr>
                <a:solidFill>
                  <a:srgbClr val="666666"/>
                </a:solidFill>
                <a:latin typeface="Courier"/>
              </a:rPr>
              <a:t>(</a:t>
            </a:r>
            <a:r>
              <a:rPr>
                <a:solidFill>
                  <a:srgbClr val="902000"/>
                </a:solidFill>
                <a:latin typeface="Courier"/>
              </a:rPr>
              <a:t>int</a:t>
            </a:r>
            <a:r>
              <a:rPr>
                <a:latin typeface="Courier"/>
              </a:rPr>
              <a:t> percent</a:t>
            </a:r>
            <a:r>
              <a:rPr>
                <a:solidFill>
                  <a:srgbClr val="666666"/>
                </a:solidFill>
                <a:latin typeface="Courier"/>
              </a:rPr>
              <a:t>)</a:t>
            </a:r>
            <a:r>
              <a:rPr>
                <a:latin typeface="Courier"/>
              </a:rPr>
              <a:t> </a:t>
            </a:r>
            <a:r>
              <a:rPr>
                <a:solidFill>
                  <a:srgbClr val="666666"/>
                </a:solidFill>
                <a:latin typeface="Courier"/>
              </a:rPr>
              <a:t>{</a:t>
            </a:r>
            <a:br/>
            <a:r>
              <a:rPr>
                <a:latin typeface="Courier"/>
              </a:rPr>
              <a:t>        </a:t>
            </a:r>
            <a:r>
              <a:rPr b="1">
                <a:solidFill>
                  <a:srgbClr val="007020"/>
                </a:solidFill>
                <a:latin typeface="Courier"/>
              </a:rPr>
              <a:t>this</a:t>
            </a:r>
            <a:r>
              <a:rPr>
                <a:solidFill>
                  <a:srgbClr val="666666"/>
                </a:solidFill>
                <a:latin typeface="Courier"/>
              </a:rPr>
              <a:t>.</a:t>
            </a:r>
            <a:r>
              <a:rPr>
                <a:solidFill>
                  <a:srgbClr val="06287E"/>
                </a:solidFill>
                <a:latin typeface="Courier"/>
              </a:rPr>
              <a:t>volume</a:t>
            </a:r>
            <a:r>
              <a:rPr>
                <a:latin typeface="Courier"/>
              </a:rPr>
              <a:t> </a:t>
            </a:r>
            <a:r>
              <a:rPr>
                <a:solidFill>
                  <a:srgbClr val="666666"/>
                </a:solidFill>
                <a:latin typeface="Courier"/>
              </a:rPr>
              <a:t>=</a:t>
            </a:r>
            <a:r>
              <a:rPr>
                <a:latin typeface="Courier"/>
              </a:rPr>
              <a:t> </a:t>
            </a:r>
            <a:r>
              <a:rPr>
                <a:solidFill>
                  <a:srgbClr val="008000"/>
                </a:solidFill>
                <a:latin typeface="Courier"/>
              </a:rPr>
              <a:t>Math</a:t>
            </a:r>
            <a:r>
              <a:rPr>
                <a:solidFill>
                  <a:srgbClr val="666666"/>
                </a:solidFill>
                <a:latin typeface="Courier"/>
              </a:rPr>
              <a:t>.</a:t>
            </a:r>
            <a:r>
              <a:rPr>
                <a:solidFill>
                  <a:srgbClr val="06287E"/>
                </a:solidFill>
                <a:latin typeface="Courier"/>
              </a:rPr>
              <a:t>max</a:t>
            </a:r>
            <a:r>
              <a:rPr>
                <a:solidFill>
                  <a:srgbClr val="666666"/>
                </a:solidFill>
                <a:latin typeface="Courier"/>
              </a:rPr>
              <a:t>(</a:t>
            </a:r>
            <a:r>
              <a:rPr>
                <a:solidFill>
                  <a:srgbClr val="40A070"/>
                </a:solidFill>
                <a:latin typeface="Courier"/>
              </a:rPr>
              <a:t>0</a:t>
            </a:r>
            <a:r>
              <a:rPr>
                <a:solidFill>
                  <a:srgbClr val="666666"/>
                </a:solidFill>
                <a:latin typeface="Courier"/>
              </a:rPr>
              <a:t>,</a:t>
            </a:r>
            <a:r>
              <a:rPr>
                <a:latin typeface="Courier"/>
              </a:rPr>
              <a:t> </a:t>
            </a:r>
            <a:r>
              <a:rPr>
                <a:solidFill>
                  <a:srgbClr val="008000"/>
                </a:solidFill>
                <a:latin typeface="Courier"/>
              </a:rPr>
              <a:t>Math</a:t>
            </a:r>
            <a:r>
              <a:rPr>
                <a:solidFill>
                  <a:srgbClr val="666666"/>
                </a:solidFill>
                <a:latin typeface="Courier"/>
              </a:rPr>
              <a:t>.</a:t>
            </a:r>
            <a:r>
              <a:rPr>
                <a:solidFill>
                  <a:srgbClr val="06287E"/>
                </a:solidFill>
                <a:latin typeface="Courier"/>
              </a:rPr>
              <a:t>min</a:t>
            </a:r>
            <a:r>
              <a:rPr>
                <a:solidFill>
                  <a:srgbClr val="666666"/>
                </a:solidFill>
                <a:latin typeface="Courier"/>
              </a:rPr>
              <a:t>(</a:t>
            </a:r>
            <a:r>
              <a:rPr>
                <a:solidFill>
                  <a:srgbClr val="40A070"/>
                </a:solidFill>
                <a:latin typeface="Courier"/>
              </a:rPr>
              <a:t>100</a:t>
            </a:r>
            <a:r>
              <a:rPr>
                <a:solidFill>
                  <a:srgbClr val="666666"/>
                </a:solidFill>
                <a:latin typeface="Courier"/>
              </a:rPr>
              <a:t>,</a:t>
            </a:r>
            <a:r>
              <a:rPr>
                <a:latin typeface="Courier"/>
              </a:rPr>
              <a:t> percent</a:t>
            </a:r>
            <a:r>
              <a:rPr>
                <a:solidFill>
                  <a:srgbClr val="666666"/>
                </a:solidFill>
                <a:latin typeface="Courier"/>
              </a:rPr>
              <a:t>));</a:t>
            </a:r>
            <a:br/>
            <a:r>
              <a:rPr>
                <a:latin typeface="Courier"/>
              </a:rPr>
              <a:t>    </a:t>
            </a:r>
            <a:r>
              <a:rPr>
                <a:solidFill>
                  <a:srgbClr val="666666"/>
                </a:solidFill>
                <a:latin typeface="Courier"/>
              </a:rPr>
              <a:t>}</a:t>
            </a:r>
            <a:br/>
            <a:r>
              <a:rPr>
                <a:latin typeface="Courier"/>
              </a:rPr>
              <a:t>    </a:t>
            </a:r>
            <a:r>
              <a:rPr>
                <a:solidFill>
                  <a:srgbClr val="7D9029"/>
                </a:solidFill>
                <a:latin typeface="Courier"/>
              </a:rPr>
              <a:t>@Override</a:t>
            </a:r>
            <a:br/>
            <a:r>
              <a:rPr>
                <a:latin typeface="Courier"/>
              </a:rPr>
              <a:t>    </a:t>
            </a:r>
            <a:r>
              <a:rPr b="1">
                <a:solidFill>
                  <a:srgbClr val="007020"/>
                </a:solidFill>
                <a:latin typeface="Courier"/>
              </a:rPr>
              <a:t>public</a:t>
            </a:r>
            <a:r>
              <a:rPr>
                <a:latin typeface="Courier"/>
              </a:rPr>
              <a:t> </a:t>
            </a:r>
            <a:r>
              <a:rPr>
                <a:solidFill>
                  <a:srgbClr val="902000"/>
                </a:solidFill>
                <a:latin typeface="Courier"/>
              </a:rPr>
              <a:t>int</a:t>
            </a:r>
            <a:r>
              <a:rPr>
                <a:latin typeface="Courier"/>
              </a:rPr>
              <a:t> </a:t>
            </a:r>
            <a:r>
              <a:rPr>
                <a:solidFill>
                  <a:srgbClr val="06287E"/>
                </a:solidFill>
                <a:latin typeface="Courier"/>
              </a:rPr>
              <a:t>getChannel</a:t>
            </a:r>
            <a:r>
              <a:rPr>
                <a:solidFill>
                  <a:srgbClr val="666666"/>
                </a:solidFill>
                <a:latin typeface="Courier"/>
              </a:rPr>
              <a:t>()</a:t>
            </a:r>
            <a:r>
              <a:rPr>
                <a:latin typeface="Courier"/>
              </a:rPr>
              <a:t> </a:t>
            </a:r>
            <a:r>
              <a:rPr>
                <a:solidFill>
                  <a:srgbClr val="666666"/>
                </a:solidFill>
                <a:latin typeface="Courier"/>
              </a:rPr>
              <a:t>{</a:t>
            </a:r>
            <a:r>
              <a:rPr>
                <a:latin typeface="Courier"/>
              </a:rPr>
              <a:t> </a:t>
            </a:r>
            <a:r>
              <a:rPr b="1">
                <a:solidFill>
                  <a:srgbClr val="007020"/>
                </a:solidFill>
                <a:latin typeface="Courier"/>
              </a:rPr>
              <a:t>return</a:t>
            </a:r>
            <a:r>
              <a:rPr>
                <a:latin typeface="Courier"/>
              </a:rPr>
              <a:t> channel</a:t>
            </a:r>
            <a:r>
              <a:rPr>
                <a:solidFill>
                  <a:srgbClr val="666666"/>
                </a:solidFill>
                <a:latin typeface="Courier"/>
              </a:rPr>
              <a:t>;</a:t>
            </a:r>
            <a:r>
              <a:rPr>
                <a:latin typeface="Courier"/>
              </a:rPr>
              <a:t> </a:t>
            </a:r>
            <a:r>
              <a:rPr>
                <a:solidFill>
                  <a:srgbClr val="666666"/>
                </a:solidFill>
                <a:latin typeface="Courier"/>
              </a:rPr>
              <a:t>}</a:t>
            </a:r>
            <a:br/>
            <a:r>
              <a:rPr>
                <a:latin typeface="Courier"/>
              </a:rPr>
              <a:t>    </a:t>
            </a:r>
            <a:r>
              <a:rPr>
                <a:solidFill>
                  <a:srgbClr val="7D9029"/>
                </a:solidFill>
                <a:latin typeface="Courier"/>
              </a:rPr>
              <a:t>@Override</a:t>
            </a:r>
            <a:br/>
            <a:r>
              <a:rPr>
                <a:latin typeface="Courier"/>
              </a:rPr>
              <a:t>    </a:t>
            </a:r>
            <a:r>
              <a:rPr b="1">
                <a:solidFill>
                  <a:srgbClr val="007020"/>
                </a:solidFill>
                <a:latin typeface="Courier"/>
              </a:rPr>
              <a:t>public</a:t>
            </a:r>
            <a:r>
              <a:rPr>
                <a:latin typeface="Courier"/>
              </a:rPr>
              <a:t> </a:t>
            </a:r>
            <a:r>
              <a:rPr>
                <a:solidFill>
                  <a:srgbClr val="902000"/>
                </a:solidFill>
                <a:latin typeface="Courier"/>
              </a:rPr>
              <a:t>void</a:t>
            </a:r>
            <a:r>
              <a:rPr>
                <a:latin typeface="Courier"/>
              </a:rPr>
              <a:t> </a:t>
            </a:r>
            <a:r>
              <a:rPr>
                <a:solidFill>
                  <a:srgbClr val="06287E"/>
                </a:solidFill>
                <a:latin typeface="Courier"/>
              </a:rPr>
              <a:t>setChannel</a:t>
            </a:r>
            <a:r>
              <a:rPr>
                <a:solidFill>
                  <a:srgbClr val="666666"/>
                </a:solidFill>
                <a:latin typeface="Courier"/>
              </a:rPr>
              <a:t>(</a:t>
            </a:r>
            <a:r>
              <a:rPr>
                <a:solidFill>
                  <a:srgbClr val="902000"/>
                </a:solidFill>
                <a:latin typeface="Courier"/>
              </a:rPr>
              <a:t>int</a:t>
            </a:r>
            <a:r>
              <a:rPr>
                <a:latin typeface="Courier"/>
              </a:rPr>
              <a:t> channel</a:t>
            </a:r>
            <a:r>
              <a:rPr>
                <a:solidFill>
                  <a:srgbClr val="666666"/>
                </a:solidFill>
                <a:latin typeface="Courier"/>
              </a:rPr>
              <a:t>)</a:t>
            </a:r>
            <a:r>
              <a:rPr>
                <a:latin typeface="Courier"/>
              </a:rPr>
              <a:t> </a:t>
            </a:r>
            <a:r>
              <a:rPr>
                <a:solidFill>
                  <a:srgbClr val="666666"/>
                </a:solidFill>
                <a:latin typeface="Courier"/>
              </a:rPr>
              <a:t>{</a:t>
            </a:r>
            <a:br/>
            <a:r>
              <a:rPr>
                <a:latin typeface="Courier"/>
              </a:rPr>
              <a:t>        </a:t>
            </a:r>
            <a:r>
              <a:rPr b="1">
                <a:solidFill>
                  <a:srgbClr val="007020"/>
                </a:solidFill>
                <a:latin typeface="Courier"/>
              </a:rPr>
              <a:t>this</a:t>
            </a:r>
            <a:r>
              <a:rPr>
                <a:solidFill>
                  <a:srgbClr val="666666"/>
                </a:solidFill>
                <a:latin typeface="Courier"/>
              </a:rPr>
              <a:t>.</a:t>
            </a:r>
            <a:r>
              <a:rPr>
                <a:solidFill>
                  <a:srgbClr val="06287E"/>
                </a:solidFill>
                <a:latin typeface="Courier"/>
              </a:rPr>
              <a:t>channel</a:t>
            </a:r>
            <a:r>
              <a:rPr>
                <a:latin typeface="Courier"/>
              </a:rPr>
              <a:t> </a:t>
            </a:r>
            <a:r>
              <a:rPr>
                <a:solidFill>
                  <a:srgbClr val="666666"/>
                </a:solidFill>
                <a:latin typeface="Courier"/>
              </a:rPr>
              <a:t>=</a:t>
            </a:r>
            <a:r>
              <a:rPr>
                <a:latin typeface="Courier"/>
              </a:rPr>
              <a:t> channel</a:t>
            </a:r>
            <a:r>
              <a:rPr>
                <a:solidFill>
                  <a:srgbClr val="666666"/>
                </a:solidFill>
                <a:latin typeface="Courier"/>
              </a:rPr>
              <a:t>;</a:t>
            </a:r>
            <a:br/>
            <a:r>
              <a:rPr>
                <a:latin typeface="Courier"/>
              </a:rPr>
              <a:t>    </a:t>
            </a:r>
            <a:r>
              <a:rPr>
                <a:solidFill>
                  <a:srgbClr val="666666"/>
                </a:solidFill>
                <a:latin typeface="Courier"/>
              </a:rPr>
              <a:t>}</a:t>
            </a:r>
            <a:br/>
            <a:r>
              <a:rPr>
                <a:solidFill>
                  <a:srgbClr val="666666"/>
                </a:solidFill>
                <a:latin typeface="Courier"/>
              </a:rPr>
              <a:t>}</a:t>
            </a:r>
          </a:p>
        </p:txBody>
      </p:sp>
    </p:spTree>
  </p:cSld>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Bridge: Java Code Example - Abstraction</a:t>
            </a:r>
          </a:p>
        </p:txBody>
      </p:sp>
      <p:sp>
        <p:nvSpPr>
          <p:cNvPr id="3" name="Content Placeholder 2"/>
          <p:cNvSpPr>
            <a:spLocks noGrp="1"/>
          </p:cNvSpPr>
          <p:nvPr>
            <p:ph idx="1"/>
          </p:nvPr>
        </p:nvSpPr>
        <p:spPr/>
        <p:txBody>
          <a:bodyPr/>
          <a:lstStyle/>
          <a:p>
            <a:pPr lvl="0" indent="0">
              <a:buNone/>
            </a:pPr>
            <a:r>
              <a:rPr i="1">
                <a:solidFill>
                  <a:srgbClr val="60A0B0"/>
                </a:solidFill>
                <a:latin typeface="Courier"/>
              </a:rPr>
              <a:t>// The abstraction defines the interface for the "control" part</a:t>
            </a:r>
            <a:br/>
            <a:r>
              <a:rPr i="1">
                <a:solidFill>
                  <a:srgbClr val="60A0B0"/>
                </a:solidFill>
                <a:latin typeface="Courier"/>
              </a:rPr>
              <a:t>// of the two class hierarchies. It maintains a reference to an</a:t>
            </a:r>
            <a:br/>
            <a:r>
              <a:rPr i="1">
                <a:solidFill>
                  <a:srgbClr val="60A0B0"/>
                </a:solidFill>
                <a:latin typeface="Courier"/>
              </a:rPr>
              <a:t>// object of the implementation hierarchy and delegates all of</a:t>
            </a:r>
            <a:br/>
            <a:r>
              <a:rPr i="1">
                <a:solidFill>
                  <a:srgbClr val="60A0B0"/>
                </a:solidFill>
                <a:latin typeface="Courier"/>
              </a:rPr>
              <a:t>// the real work to this object.</a:t>
            </a:r>
            <a:br/>
            <a:r>
              <a:rPr b="1">
                <a:solidFill>
                  <a:srgbClr val="007020"/>
                </a:solidFill>
                <a:latin typeface="Courier"/>
              </a:rPr>
              <a:t>public</a:t>
            </a:r>
            <a:r>
              <a:rPr>
                <a:latin typeface="Courier"/>
              </a:rPr>
              <a:t> </a:t>
            </a:r>
            <a:r>
              <a:rPr b="1">
                <a:solidFill>
                  <a:srgbClr val="007020"/>
                </a:solidFill>
                <a:latin typeface="Courier"/>
              </a:rPr>
              <a:t>class</a:t>
            </a:r>
            <a:r>
              <a:rPr>
                <a:latin typeface="Courier"/>
              </a:rPr>
              <a:t> RemoteControl </a:t>
            </a:r>
            <a:r>
              <a:rPr>
                <a:solidFill>
                  <a:srgbClr val="666666"/>
                </a:solidFill>
                <a:latin typeface="Courier"/>
              </a:rPr>
              <a:t>{</a:t>
            </a:r>
            <a:br/>
            <a:r>
              <a:rPr>
                <a:latin typeface="Courier"/>
              </a:rPr>
              <a:t>    </a:t>
            </a:r>
            <a:r>
              <a:rPr b="1">
                <a:solidFill>
                  <a:srgbClr val="007020"/>
                </a:solidFill>
                <a:latin typeface="Courier"/>
              </a:rPr>
              <a:t>protected</a:t>
            </a:r>
            <a:r>
              <a:rPr>
                <a:latin typeface="Courier"/>
              </a:rPr>
              <a:t> Device device</a:t>
            </a:r>
            <a:r>
              <a:rPr>
                <a:solidFill>
                  <a:srgbClr val="666666"/>
                </a:solidFill>
                <a:latin typeface="Courier"/>
              </a:rPr>
              <a:t>;</a:t>
            </a:r>
            <a:br/>
            <a:br/>
            <a:r>
              <a:rPr>
                <a:latin typeface="Courier"/>
              </a:rPr>
              <a:t>    </a:t>
            </a:r>
            <a:r>
              <a:rPr b="1">
                <a:solidFill>
                  <a:srgbClr val="007020"/>
                </a:solidFill>
                <a:latin typeface="Courier"/>
              </a:rPr>
              <a:t>public</a:t>
            </a:r>
            <a:r>
              <a:rPr>
                <a:latin typeface="Courier"/>
              </a:rPr>
              <a:t> </a:t>
            </a:r>
            <a:r>
              <a:rPr>
                <a:solidFill>
                  <a:srgbClr val="06287E"/>
                </a:solidFill>
                <a:latin typeface="Courier"/>
              </a:rPr>
              <a:t>RemoteControl</a:t>
            </a:r>
            <a:r>
              <a:rPr>
                <a:solidFill>
                  <a:srgbClr val="666666"/>
                </a:solidFill>
                <a:latin typeface="Courier"/>
              </a:rPr>
              <a:t>(</a:t>
            </a:r>
            <a:r>
              <a:rPr>
                <a:latin typeface="Courier"/>
              </a:rPr>
              <a:t>Device device</a:t>
            </a:r>
            <a:r>
              <a:rPr>
                <a:solidFill>
                  <a:srgbClr val="666666"/>
                </a:solidFill>
                <a:latin typeface="Courier"/>
              </a:rPr>
              <a:t>)</a:t>
            </a:r>
            <a:r>
              <a:rPr>
                <a:latin typeface="Courier"/>
              </a:rPr>
              <a:t> </a:t>
            </a:r>
            <a:r>
              <a:rPr>
                <a:solidFill>
                  <a:srgbClr val="666666"/>
                </a:solidFill>
                <a:latin typeface="Courier"/>
              </a:rPr>
              <a:t>{</a:t>
            </a:r>
            <a:br/>
            <a:r>
              <a:rPr>
                <a:latin typeface="Courier"/>
              </a:rPr>
              <a:t>        </a:t>
            </a:r>
            <a:r>
              <a:rPr b="1">
                <a:solidFill>
                  <a:srgbClr val="007020"/>
                </a:solidFill>
                <a:latin typeface="Courier"/>
              </a:rPr>
              <a:t>this</a:t>
            </a:r>
            <a:r>
              <a:rPr>
                <a:solidFill>
                  <a:srgbClr val="666666"/>
                </a:solidFill>
                <a:latin typeface="Courier"/>
              </a:rPr>
              <a:t>.</a:t>
            </a:r>
            <a:r>
              <a:rPr>
                <a:solidFill>
                  <a:srgbClr val="06287E"/>
                </a:solidFill>
                <a:latin typeface="Courier"/>
              </a:rPr>
              <a:t>device</a:t>
            </a:r>
            <a:r>
              <a:rPr>
                <a:latin typeface="Courier"/>
              </a:rPr>
              <a:t> </a:t>
            </a:r>
            <a:r>
              <a:rPr>
                <a:solidFill>
                  <a:srgbClr val="666666"/>
                </a:solidFill>
                <a:latin typeface="Courier"/>
              </a:rPr>
              <a:t>=</a:t>
            </a:r>
            <a:r>
              <a:rPr>
                <a:latin typeface="Courier"/>
              </a:rPr>
              <a:t> device</a:t>
            </a:r>
            <a:r>
              <a:rPr>
                <a:solidFill>
                  <a:srgbClr val="666666"/>
                </a:solidFill>
                <a:latin typeface="Courier"/>
              </a:rPr>
              <a:t>;</a:t>
            </a:r>
            <a:br/>
            <a:r>
              <a:rPr>
                <a:latin typeface="Courier"/>
              </a:rPr>
              <a:t>    </a:t>
            </a:r>
            <a:r>
              <a:rPr>
                <a:solidFill>
                  <a:srgbClr val="666666"/>
                </a:solidFill>
                <a:latin typeface="Courier"/>
              </a:rPr>
              <a:t>}</a:t>
            </a:r>
            <a:br/>
            <a:br/>
            <a:r>
              <a:rPr>
                <a:latin typeface="Courier"/>
              </a:rPr>
              <a:t>    </a:t>
            </a:r>
            <a:r>
              <a:rPr b="1">
                <a:solidFill>
                  <a:srgbClr val="007020"/>
                </a:solidFill>
                <a:latin typeface="Courier"/>
              </a:rPr>
              <a:t>public</a:t>
            </a:r>
            <a:r>
              <a:rPr>
                <a:latin typeface="Courier"/>
              </a:rPr>
              <a:t> </a:t>
            </a:r>
            <a:r>
              <a:rPr>
                <a:solidFill>
                  <a:srgbClr val="902000"/>
                </a:solidFill>
                <a:latin typeface="Courier"/>
              </a:rPr>
              <a:t>void</a:t>
            </a:r>
            <a:r>
              <a:rPr>
                <a:latin typeface="Courier"/>
              </a:rPr>
              <a:t> </a:t>
            </a:r>
            <a:r>
              <a:rPr>
                <a:solidFill>
                  <a:srgbClr val="06287E"/>
                </a:solidFill>
                <a:latin typeface="Courier"/>
              </a:rPr>
              <a:t>togglePower</a:t>
            </a:r>
            <a:r>
              <a:rPr>
                <a:solidFill>
                  <a:srgbClr val="666666"/>
                </a:solidFill>
                <a:latin typeface="Courier"/>
              </a:rPr>
              <a:t>()</a:t>
            </a:r>
            <a:r>
              <a:rPr>
                <a:latin typeface="Courier"/>
              </a:rPr>
              <a:t> </a:t>
            </a:r>
            <a:r>
              <a:rPr>
                <a:solidFill>
                  <a:srgbClr val="666666"/>
                </a:solidFill>
                <a:latin typeface="Courier"/>
              </a:rPr>
              <a:t>{</a:t>
            </a:r>
            <a:br/>
            <a:r>
              <a:rPr>
                <a:latin typeface="Courier"/>
              </a:rPr>
              <a:t>        </a:t>
            </a:r>
            <a:r>
              <a:rPr b="1">
                <a:solidFill>
                  <a:srgbClr val="007020"/>
                </a:solidFill>
                <a:latin typeface="Courier"/>
              </a:rPr>
              <a:t>if</a:t>
            </a:r>
            <a:r>
              <a:rPr>
                <a:latin typeface="Courier"/>
              </a:rPr>
              <a:t> </a:t>
            </a:r>
            <a:r>
              <a:rPr>
                <a:solidFill>
                  <a:srgbClr val="666666"/>
                </a:solidFill>
                <a:latin typeface="Courier"/>
              </a:rPr>
              <a:t>(</a:t>
            </a:r>
            <a:r>
              <a:rPr>
                <a:latin typeface="Courier"/>
              </a:rPr>
              <a:t>device</a:t>
            </a:r>
            <a:r>
              <a:rPr>
                <a:solidFill>
                  <a:srgbClr val="666666"/>
                </a:solidFill>
                <a:latin typeface="Courier"/>
              </a:rPr>
              <a:t>.</a:t>
            </a:r>
            <a:r>
              <a:rPr>
                <a:solidFill>
                  <a:srgbClr val="06287E"/>
                </a:solidFill>
                <a:latin typeface="Courier"/>
              </a:rPr>
              <a:t>isEnabled</a:t>
            </a:r>
            <a:r>
              <a:rPr>
                <a:solidFill>
                  <a:srgbClr val="666666"/>
                </a:solidFill>
                <a:latin typeface="Courier"/>
              </a:rPr>
              <a:t>())</a:t>
            </a:r>
            <a:r>
              <a:rPr>
                <a:latin typeface="Courier"/>
              </a:rPr>
              <a:t> </a:t>
            </a:r>
            <a:r>
              <a:rPr>
                <a:solidFill>
                  <a:srgbClr val="666666"/>
                </a:solidFill>
                <a:latin typeface="Courier"/>
              </a:rPr>
              <a:t>{</a:t>
            </a:r>
            <a:br/>
            <a:r>
              <a:rPr>
                <a:latin typeface="Courier"/>
              </a:rPr>
              <a:t>            device</a:t>
            </a:r>
            <a:r>
              <a:rPr>
                <a:solidFill>
                  <a:srgbClr val="666666"/>
                </a:solidFill>
                <a:latin typeface="Courier"/>
              </a:rPr>
              <a:t>.</a:t>
            </a:r>
            <a:r>
              <a:rPr>
                <a:solidFill>
                  <a:srgbClr val="06287E"/>
                </a:solidFill>
                <a:latin typeface="Courier"/>
              </a:rPr>
              <a:t>disable</a:t>
            </a:r>
            <a:r>
              <a:rPr>
                <a:solidFill>
                  <a:srgbClr val="666666"/>
                </a:solidFill>
                <a:latin typeface="Courier"/>
              </a:rPr>
              <a:t>();</a:t>
            </a:r>
            <a:br/>
            <a:r>
              <a:rPr>
                <a:latin typeface="Courier"/>
              </a:rPr>
              <a:t>        </a:t>
            </a:r>
            <a:r>
              <a:rPr>
                <a:solidFill>
                  <a:srgbClr val="666666"/>
                </a:solidFill>
                <a:latin typeface="Courier"/>
              </a:rPr>
              <a:t>}</a:t>
            </a:r>
            <a:r>
              <a:rPr>
                <a:latin typeface="Courier"/>
              </a:rPr>
              <a:t> </a:t>
            </a:r>
            <a:r>
              <a:rPr b="1">
                <a:solidFill>
                  <a:srgbClr val="007020"/>
                </a:solidFill>
                <a:latin typeface="Courier"/>
              </a:rPr>
              <a:t>else</a:t>
            </a:r>
            <a:r>
              <a:rPr>
                <a:latin typeface="Courier"/>
              </a:rPr>
              <a:t> </a:t>
            </a:r>
            <a:r>
              <a:rPr>
                <a:solidFill>
                  <a:srgbClr val="666666"/>
                </a:solidFill>
                <a:latin typeface="Courier"/>
              </a:rPr>
              <a:t>{</a:t>
            </a:r>
            <a:br/>
            <a:r>
              <a:rPr>
                <a:latin typeface="Courier"/>
              </a:rPr>
              <a:t>            device</a:t>
            </a:r>
            <a:r>
              <a:rPr>
                <a:solidFill>
                  <a:srgbClr val="666666"/>
                </a:solidFill>
                <a:latin typeface="Courier"/>
              </a:rPr>
              <a:t>.</a:t>
            </a:r>
            <a:r>
              <a:rPr>
                <a:solidFill>
                  <a:srgbClr val="06287E"/>
                </a:solidFill>
                <a:latin typeface="Courier"/>
              </a:rPr>
              <a:t>enable</a:t>
            </a:r>
            <a:r>
              <a:rPr>
                <a:solidFill>
                  <a:srgbClr val="666666"/>
                </a:solidFill>
                <a:latin typeface="Courier"/>
              </a:rPr>
              <a:t>();</a:t>
            </a:r>
            <a:br/>
            <a:r>
              <a:rPr>
                <a:latin typeface="Courier"/>
              </a:rPr>
              <a:t>        </a:t>
            </a:r>
            <a:r>
              <a:rPr>
                <a:solidFill>
                  <a:srgbClr val="666666"/>
                </a:solidFill>
                <a:latin typeface="Courier"/>
              </a:rPr>
              <a:t>}</a:t>
            </a:r>
            <a:br/>
            <a:r>
              <a:rPr>
                <a:latin typeface="Courier"/>
              </a:rPr>
              <a:t>    </a:t>
            </a:r>
            <a:r>
              <a:rPr>
                <a:solidFill>
                  <a:srgbClr val="666666"/>
                </a:solidFill>
                <a:latin typeface="Courier"/>
              </a:rPr>
              <a:t>}</a:t>
            </a:r>
            <a:br/>
            <a:br/>
            <a:r>
              <a:rPr>
                <a:latin typeface="Courier"/>
              </a:rPr>
              <a:t>    </a:t>
            </a:r>
            <a:r>
              <a:rPr b="1">
                <a:solidFill>
                  <a:srgbClr val="007020"/>
                </a:solidFill>
                <a:latin typeface="Courier"/>
              </a:rPr>
              <a:t>public</a:t>
            </a:r>
            <a:r>
              <a:rPr>
                <a:latin typeface="Courier"/>
              </a:rPr>
              <a:t> </a:t>
            </a:r>
            <a:r>
              <a:rPr>
                <a:solidFill>
                  <a:srgbClr val="902000"/>
                </a:solidFill>
                <a:latin typeface="Courier"/>
              </a:rPr>
              <a:t>void</a:t>
            </a:r>
            <a:r>
              <a:rPr>
                <a:latin typeface="Courier"/>
              </a:rPr>
              <a:t> </a:t>
            </a:r>
            <a:r>
              <a:rPr>
                <a:solidFill>
                  <a:srgbClr val="06287E"/>
                </a:solidFill>
                <a:latin typeface="Courier"/>
              </a:rPr>
              <a:t>volumeDown</a:t>
            </a:r>
            <a:r>
              <a:rPr>
                <a:solidFill>
                  <a:srgbClr val="666666"/>
                </a:solidFill>
                <a:latin typeface="Courier"/>
              </a:rPr>
              <a:t>()</a:t>
            </a:r>
            <a:r>
              <a:rPr>
                <a:latin typeface="Courier"/>
              </a:rPr>
              <a:t> </a:t>
            </a:r>
            <a:r>
              <a:rPr>
                <a:solidFill>
                  <a:srgbClr val="666666"/>
                </a:solidFill>
                <a:latin typeface="Courier"/>
              </a:rPr>
              <a:t>{</a:t>
            </a:r>
            <a:br/>
            <a:r>
              <a:rPr>
                <a:latin typeface="Courier"/>
              </a:rPr>
              <a:t>        device</a:t>
            </a:r>
            <a:r>
              <a:rPr>
                <a:solidFill>
                  <a:srgbClr val="666666"/>
                </a:solidFill>
                <a:latin typeface="Courier"/>
              </a:rPr>
              <a:t>.</a:t>
            </a:r>
            <a:r>
              <a:rPr>
                <a:solidFill>
                  <a:srgbClr val="06287E"/>
                </a:solidFill>
                <a:latin typeface="Courier"/>
              </a:rPr>
              <a:t>setVolume</a:t>
            </a:r>
            <a:r>
              <a:rPr>
                <a:solidFill>
                  <a:srgbClr val="666666"/>
                </a:solidFill>
                <a:latin typeface="Courier"/>
              </a:rPr>
              <a:t>(</a:t>
            </a:r>
            <a:r>
              <a:rPr>
                <a:latin typeface="Courier"/>
              </a:rPr>
              <a:t>device</a:t>
            </a:r>
            <a:r>
              <a:rPr>
                <a:solidFill>
                  <a:srgbClr val="666666"/>
                </a:solidFill>
                <a:latin typeface="Courier"/>
              </a:rPr>
              <a:t>.</a:t>
            </a:r>
            <a:r>
              <a:rPr>
                <a:solidFill>
                  <a:srgbClr val="06287E"/>
                </a:solidFill>
                <a:latin typeface="Courier"/>
              </a:rPr>
              <a:t>getVolume</a:t>
            </a:r>
            <a:r>
              <a:rPr>
                <a:solidFill>
                  <a:srgbClr val="666666"/>
                </a:solidFill>
                <a:latin typeface="Courier"/>
              </a:rPr>
              <a:t>()</a:t>
            </a:r>
            <a:r>
              <a:rPr>
                <a:latin typeface="Courier"/>
              </a:rPr>
              <a:t> </a:t>
            </a:r>
            <a:r>
              <a:rPr>
                <a:solidFill>
                  <a:srgbClr val="666666"/>
                </a:solidFill>
                <a:latin typeface="Courier"/>
              </a:rPr>
              <a:t>-</a:t>
            </a:r>
            <a:r>
              <a:rPr>
                <a:latin typeface="Courier"/>
              </a:rPr>
              <a:t> </a:t>
            </a:r>
            <a:r>
              <a:rPr>
                <a:solidFill>
                  <a:srgbClr val="40A070"/>
                </a:solidFill>
                <a:latin typeface="Courier"/>
              </a:rPr>
              <a:t>10</a:t>
            </a:r>
            <a:r>
              <a:rPr>
                <a:solidFill>
                  <a:srgbClr val="666666"/>
                </a:solidFill>
                <a:latin typeface="Courier"/>
              </a:rPr>
              <a:t>);</a:t>
            </a:r>
            <a:br/>
            <a:r>
              <a:rPr>
                <a:latin typeface="Courier"/>
              </a:rPr>
              <a:t>    </a:t>
            </a:r>
            <a:r>
              <a:rPr>
                <a:solidFill>
                  <a:srgbClr val="666666"/>
                </a:solidFill>
                <a:latin typeface="Courier"/>
              </a:rPr>
              <a:t>}</a:t>
            </a:r>
            <a:br/>
            <a:br/>
            <a:r>
              <a:rPr>
                <a:latin typeface="Courier"/>
              </a:rPr>
              <a:t>    </a:t>
            </a:r>
            <a:r>
              <a:rPr b="1">
                <a:solidFill>
                  <a:srgbClr val="007020"/>
                </a:solidFill>
                <a:latin typeface="Courier"/>
              </a:rPr>
              <a:t>public</a:t>
            </a:r>
            <a:r>
              <a:rPr>
                <a:latin typeface="Courier"/>
              </a:rPr>
              <a:t> </a:t>
            </a:r>
            <a:r>
              <a:rPr>
                <a:solidFill>
                  <a:srgbClr val="902000"/>
                </a:solidFill>
                <a:latin typeface="Courier"/>
              </a:rPr>
              <a:t>void</a:t>
            </a:r>
            <a:r>
              <a:rPr>
                <a:latin typeface="Courier"/>
              </a:rPr>
              <a:t> </a:t>
            </a:r>
            <a:r>
              <a:rPr>
                <a:solidFill>
                  <a:srgbClr val="06287E"/>
                </a:solidFill>
                <a:latin typeface="Courier"/>
              </a:rPr>
              <a:t>volumeUp</a:t>
            </a:r>
            <a:r>
              <a:rPr>
                <a:solidFill>
                  <a:srgbClr val="666666"/>
                </a:solidFill>
                <a:latin typeface="Courier"/>
              </a:rPr>
              <a:t>()</a:t>
            </a:r>
            <a:r>
              <a:rPr>
                <a:latin typeface="Courier"/>
              </a:rPr>
              <a:t> </a:t>
            </a:r>
            <a:r>
              <a:rPr>
                <a:solidFill>
                  <a:srgbClr val="666666"/>
                </a:solidFill>
                <a:latin typeface="Courier"/>
              </a:rPr>
              <a:t>{</a:t>
            </a:r>
            <a:br/>
            <a:r>
              <a:rPr>
                <a:latin typeface="Courier"/>
              </a:rPr>
              <a:t>        device</a:t>
            </a:r>
            <a:r>
              <a:rPr>
                <a:solidFill>
                  <a:srgbClr val="666666"/>
                </a:solidFill>
                <a:latin typeface="Courier"/>
              </a:rPr>
              <a:t>.</a:t>
            </a:r>
            <a:r>
              <a:rPr>
                <a:solidFill>
                  <a:srgbClr val="06287E"/>
                </a:solidFill>
                <a:latin typeface="Courier"/>
              </a:rPr>
              <a:t>setVolume</a:t>
            </a:r>
            <a:r>
              <a:rPr>
                <a:solidFill>
                  <a:srgbClr val="666666"/>
                </a:solidFill>
                <a:latin typeface="Courier"/>
              </a:rPr>
              <a:t>(</a:t>
            </a:r>
            <a:r>
              <a:rPr>
                <a:latin typeface="Courier"/>
              </a:rPr>
              <a:t>device</a:t>
            </a:r>
            <a:r>
              <a:rPr>
                <a:solidFill>
                  <a:srgbClr val="666666"/>
                </a:solidFill>
                <a:latin typeface="Courier"/>
              </a:rPr>
              <a:t>.</a:t>
            </a:r>
            <a:r>
              <a:rPr>
                <a:solidFill>
                  <a:srgbClr val="06287E"/>
                </a:solidFill>
                <a:latin typeface="Courier"/>
              </a:rPr>
              <a:t>getVolume</a:t>
            </a:r>
            <a:r>
              <a:rPr>
                <a:solidFill>
                  <a:srgbClr val="666666"/>
                </a:solidFill>
                <a:latin typeface="Courier"/>
              </a:rPr>
              <a:t>()</a:t>
            </a:r>
            <a:r>
              <a:rPr>
                <a:latin typeface="Courier"/>
              </a:rPr>
              <a:t> </a:t>
            </a:r>
            <a:r>
              <a:rPr>
                <a:solidFill>
                  <a:srgbClr val="666666"/>
                </a:solidFill>
                <a:latin typeface="Courier"/>
              </a:rPr>
              <a:t>+</a:t>
            </a:r>
            <a:r>
              <a:rPr>
                <a:latin typeface="Courier"/>
              </a:rPr>
              <a:t> </a:t>
            </a:r>
            <a:r>
              <a:rPr>
                <a:solidFill>
                  <a:srgbClr val="40A070"/>
                </a:solidFill>
                <a:latin typeface="Courier"/>
              </a:rPr>
              <a:t>10</a:t>
            </a:r>
            <a:r>
              <a:rPr>
                <a:solidFill>
                  <a:srgbClr val="666666"/>
                </a:solidFill>
                <a:latin typeface="Courier"/>
              </a:rPr>
              <a:t>);</a:t>
            </a:r>
            <a:br/>
            <a:r>
              <a:rPr>
                <a:latin typeface="Courier"/>
              </a:rPr>
              <a:t>    </a:t>
            </a:r>
            <a:r>
              <a:rPr>
                <a:solidFill>
                  <a:srgbClr val="666666"/>
                </a:solidFill>
                <a:latin typeface="Courier"/>
              </a:rPr>
              <a:t>}</a:t>
            </a:r>
            <a:br/>
            <a:br/>
            <a:r>
              <a:rPr>
                <a:latin typeface="Courier"/>
              </a:rPr>
              <a:t>    </a:t>
            </a:r>
            <a:r>
              <a:rPr b="1">
                <a:solidFill>
                  <a:srgbClr val="007020"/>
                </a:solidFill>
                <a:latin typeface="Courier"/>
              </a:rPr>
              <a:t>public</a:t>
            </a:r>
            <a:r>
              <a:rPr>
                <a:latin typeface="Courier"/>
              </a:rPr>
              <a:t> </a:t>
            </a:r>
            <a:r>
              <a:rPr>
                <a:solidFill>
                  <a:srgbClr val="902000"/>
                </a:solidFill>
                <a:latin typeface="Courier"/>
              </a:rPr>
              <a:t>void</a:t>
            </a:r>
            <a:r>
              <a:rPr>
                <a:latin typeface="Courier"/>
              </a:rPr>
              <a:t> </a:t>
            </a:r>
            <a:r>
              <a:rPr>
                <a:solidFill>
                  <a:srgbClr val="06287E"/>
                </a:solidFill>
                <a:latin typeface="Courier"/>
              </a:rPr>
              <a:t>channelDown</a:t>
            </a:r>
            <a:r>
              <a:rPr>
                <a:solidFill>
                  <a:srgbClr val="666666"/>
                </a:solidFill>
                <a:latin typeface="Courier"/>
              </a:rPr>
              <a:t>()</a:t>
            </a:r>
            <a:r>
              <a:rPr>
                <a:latin typeface="Courier"/>
              </a:rPr>
              <a:t> </a:t>
            </a:r>
            <a:r>
              <a:rPr>
                <a:solidFill>
                  <a:srgbClr val="666666"/>
                </a:solidFill>
                <a:latin typeface="Courier"/>
              </a:rPr>
              <a:t>{</a:t>
            </a:r>
            <a:br/>
            <a:r>
              <a:rPr>
                <a:latin typeface="Courier"/>
              </a:rPr>
              <a:t>        device</a:t>
            </a:r>
            <a:r>
              <a:rPr>
                <a:solidFill>
                  <a:srgbClr val="666666"/>
                </a:solidFill>
                <a:latin typeface="Courier"/>
              </a:rPr>
              <a:t>.</a:t>
            </a:r>
            <a:r>
              <a:rPr>
                <a:solidFill>
                  <a:srgbClr val="06287E"/>
                </a:solidFill>
                <a:latin typeface="Courier"/>
              </a:rPr>
              <a:t>setChannel</a:t>
            </a:r>
            <a:r>
              <a:rPr>
                <a:solidFill>
                  <a:srgbClr val="666666"/>
                </a:solidFill>
                <a:latin typeface="Courier"/>
              </a:rPr>
              <a:t>(</a:t>
            </a:r>
            <a:r>
              <a:rPr>
                <a:latin typeface="Courier"/>
              </a:rPr>
              <a:t>device</a:t>
            </a:r>
            <a:r>
              <a:rPr>
                <a:solidFill>
                  <a:srgbClr val="666666"/>
                </a:solidFill>
                <a:latin typeface="Courier"/>
              </a:rPr>
              <a:t>.</a:t>
            </a:r>
            <a:r>
              <a:rPr>
                <a:solidFill>
                  <a:srgbClr val="06287E"/>
                </a:solidFill>
                <a:latin typeface="Courier"/>
              </a:rPr>
              <a:t>getChannel</a:t>
            </a:r>
            <a:r>
              <a:rPr>
                <a:solidFill>
                  <a:srgbClr val="666666"/>
                </a:solidFill>
                <a:latin typeface="Courier"/>
              </a:rPr>
              <a:t>()</a:t>
            </a:r>
            <a:r>
              <a:rPr>
                <a:latin typeface="Courier"/>
              </a:rPr>
              <a:t> </a:t>
            </a:r>
            <a:r>
              <a:rPr>
                <a:solidFill>
                  <a:srgbClr val="666666"/>
                </a:solidFill>
                <a:latin typeface="Courier"/>
              </a:rPr>
              <a:t>-</a:t>
            </a:r>
            <a:r>
              <a:rPr>
                <a:latin typeface="Courier"/>
              </a:rPr>
              <a:t> </a:t>
            </a:r>
            <a:r>
              <a:rPr>
                <a:solidFill>
                  <a:srgbClr val="40A070"/>
                </a:solidFill>
                <a:latin typeface="Courier"/>
              </a:rPr>
              <a:t>1</a:t>
            </a:r>
            <a:r>
              <a:rPr>
                <a:solidFill>
                  <a:srgbClr val="666666"/>
                </a:solidFill>
                <a:latin typeface="Courier"/>
              </a:rPr>
              <a:t>);</a:t>
            </a:r>
            <a:br/>
            <a:r>
              <a:rPr>
                <a:latin typeface="Courier"/>
              </a:rPr>
              <a:t>    </a:t>
            </a:r>
            <a:r>
              <a:rPr>
                <a:solidFill>
                  <a:srgbClr val="666666"/>
                </a:solidFill>
                <a:latin typeface="Courier"/>
              </a:rPr>
              <a:t>}</a:t>
            </a:r>
            <a:br/>
            <a:br/>
            <a:r>
              <a:rPr>
                <a:latin typeface="Courier"/>
              </a:rPr>
              <a:t>    </a:t>
            </a:r>
            <a:r>
              <a:rPr b="1">
                <a:solidFill>
                  <a:srgbClr val="007020"/>
                </a:solidFill>
                <a:latin typeface="Courier"/>
              </a:rPr>
              <a:t>public</a:t>
            </a:r>
            <a:r>
              <a:rPr>
                <a:latin typeface="Courier"/>
              </a:rPr>
              <a:t> </a:t>
            </a:r>
            <a:r>
              <a:rPr>
                <a:solidFill>
                  <a:srgbClr val="902000"/>
                </a:solidFill>
                <a:latin typeface="Courier"/>
              </a:rPr>
              <a:t>void</a:t>
            </a:r>
            <a:r>
              <a:rPr>
                <a:latin typeface="Courier"/>
              </a:rPr>
              <a:t> </a:t>
            </a:r>
            <a:r>
              <a:rPr>
                <a:solidFill>
                  <a:srgbClr val="06287E"/>
                </a:solidFill>
                <a:latin typeface="Courier"/>
              </a:rPr>
              <a:t>channelUp</a:t>
            </a:r>
            <a:r>
              <a:rPr>
                <a:solidFill>
                  <a:srgbClr val="666666"/>
                </a:solidFill>
                <a:latin typeface="Courier"/>
              </a:rPr>
              <a:t>()</a:t>
            </a:r>
            <a:r>
              <a:rPr>
                <a:latin typeface="Courier"/>
              </a:rPr>
              <a:t> </a:t>
            </a:r>
            <a:r>
              <a:rPr>
                <a:solidFill>
                  <a:srgbClr val="666666"/>
                </a:solidFill>
                <a:latin typeface="Courier"/>
              </a:rPr>
              <a:t>{</a:t>
            </a:r>
            <a:br/>
            <a:r>
              <a:rPr>
                <a:latin typeface="Courier"/>
              </a:rPr>
              <a:t>        device</a:t>
            </a:r>
            <a:r>
              <a:rPr>
                <a:solidFill>
                  <a:srgbClr val="666666"/>
                </a:solidFill>
                <a:latin typeface="Courier"/>
              </a:rPr>
              <a:t>.</a:t>
            </a:r>
            <a:r>
              <a:rPr>
                <a:solidFill>
                  <a:srgbClr val="06287E"/>
                </a:solidFill>
                <a:latin typeface="Courier"/>
              </a:rPr>
              <a:t>setChannel</a:t>
            </a:r>
            <a:r>
              <a:rPr>
                <a:solidFill>
                  <a:srgbClr val="666666"/>
                </a:solidFill>
                <a:latin typeface="Courier"/>
              </a:rPr>
              <a:t>(</a:t>
            </a:r>
            <a:r>
              <a:rPr>
                <a:latin typeface="Courier"/>
              </a:rPr>
              <a:t>device</a:t>
            </a:r>
            <a:r>
              <a:rPr>
                <a:solidFill>
                  <a:srgbClr val="666666"/>
                </a:solidFill>
                <a:latin typeface="Courier"/>
              </a:rPr>
              <a:t>.</a:t>
            </a:r>
            <a:r>
              <a:rPr>
                <a:solidFill>
                  <a:srgbClr val="06287E"/>
                </a:solidFill>
                <a:latin typeface="Courier"/>
              </a:rPr>
              <a:t>getChannel</a:t>
            </a:r>
            <a:r>
              <a:rPr>
                <a:solidFill>
                  <a:srgbClr val="666666"/>
                </a:solidFill>
                <a:latin typeface="Courier"/>
              </a:rPr>
              <a:t>()</a:t>
            </a:r>
            <a:r>
              <a:rPr>
                <a:latin typeface="Courier"/>
              </a:rPr>
              <a:t> </a:t>
            </a:r>
            <a:r>
              <a:rPr>
                <a:solidFill>
                  <a:srgbClr val="666666"/>
                </a:solidFill>
                <a:latin typeface="Courier"/>
              </a:rPr>
              <a:t>+</a:t>
            </a:r>
            <a:r>
              <a:rPr>
                <a:latin typeface="Courier"/>
              </a:rPr>
              <a:t> </a:t>
            </a:r>
            <a:r>
              <a:rPr>
                <a:solidFill>
                  <a:srgbClr val="40A070"/>
                </a:solidFill>
                <a:latin typeface="Courier"/>
              </a:rPr>
              <a:t>1</a:t>
            </a:r>
            <a:r>
              <a:rPr>
                <a:solidFill>
                  <a:srgbClr val="666666"/>
                </a:solidFill>
                <a:latin typeface="Courier"/>
              </a:rPr>
              <a:t>);</a:t>
            </a:r>
            <a:br/>
            <a:r>
              <a:rPr>
                <a:latin typeface="Courier"/>
              </a:rPr>
              <a:t>    </a:t>
            </a:r>
            <a:r>
              <a:rPr>
                <a:solidFill>
                  <a:srgbClr val="666666"/>
                </a:solidFill>
                <a:latin typeface="Courier"/>
              </a:rPr>
              <a:t>}</a:t>
            </a:r>
            <a:br/>
            <a:r>
              <a:rPr>
                <a:solidFill>
                  <a:srgbClr val="666666"/>
                </a:solidFill>
                <a:latin typeface="Courier"/>
              </a:rPr>
              <a:t>}</a:t>
            </a:r>
          </a:p>
        </p:txBody>
      </p:sp>
    </p:spTree>
  </p:cSld>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Bridge: Java Code Example - Refined Abstraction</a:t>
            </a:r>
          </a:p>
        </p:txBody>
      </p:sp>
      <p:sp>
        <p:nvSpPr>
          <p:cNvPr id="3" name="Content Placeholder 2"/>
          <p:cNvSpPr>
            <a:spLocks noGrp="1"/>
          </p:cNvSpPr>
          <p:nvPr>
            <p:ph idx="1"/>
          </p:nvPr>
        </p:nvSpPr>
        <p:spPr/>
        <p:txBody>
          <a:bodyPr/>
          <a:lstStyle/>
          <a:p>
            <a:pPr lvl="0" indent="0">
              <a:buNone/>
            </a:pPr>
            <a:r>
              <a:rPr i="1">
                <a:solidFill>
                  <a:srgbClr val="60A0B0"/>
                </a:solidFill>
                <a:latin typeface="Courier"/>
              </a:rPr>
              <a:t>// You can extend the abstraction hierarchy independently</a:t>
            </a:r>
            <a:br/>
            <a:r>
              <a:rPr i="1">
                <a:solidFill>
                  <a:srgbClr val="60A0B0"/>
                </a:solidFill>
                <a:latin typeface="Courier"/>
              </a:rPr>
              <a:t>// from device classes.</a:t>
            </a:r>
            <a:br/>
            <a:r>
              <a:rPr b="1">
                <a:solidFill>
                  <a:srgbClr val="007020"/>
                </a:solidFill>
                <a:latin typeface="Courier"/>
              </a:rPr>
              <a:t>public</a:t>
            </a:r>
            <a:r>
              <a:rPr>
                <a:latin typeface="Courier"/>
              </a:rPr>
              <a:t> </a:t>
            </a:r>
            <a:r>
              <a:rPr b="1">
                <a:solidFill>
                  <a:srgbClr val="007020"/>
                </a:solidFill>
                <a:latin typeface="Courier"/>
              </a:rPr>
              <a:t>class</a:t>
            </a:r>
            <a:r>
              <a:rPr>
                <a:latin typeface="Courier"/>
              </a:rPr>
              <a:t> AdvancedRemoteControl </a:t>
            </a:r>
            <a:r>
              <a:rPr b="1">
                <a:solidFill>
                  <a:srgbClr val="007020"/>
                </a:solidFill>
                <a:latin typeface="Courier"/>
              </a:rPr>
              <a:t>extends</a:t>
            </a:r>
            <a:r>
              <a:rPr>
                <a:latin typeface="Courier"/>
              </a:rPr>
              <a:t> RemoteControl </a:t>
            </a:r>
            <a:r>
              <a:rPr>
                <a:solidFill>
                  <a:srgbClr val="666666"/>
                </a:solidFill>
                <a:latin typeface="Courier"/>
              </a:rPr>
              <a:t>{</a:t>
            </a:r>
            <a:br/>
            <a:r>
              <a:rPr>
                <a:latin typeface="Courier"/>
              </a:rPr>
              <a:t>    </a:t>
            </a:r>
            <a:r>
              <a:rPr b="1">
                <a:solidFill>
                  <a:srgbClr val="007020"/>
                </a:solidFill>
                <a:latin typeface="Courier"/>
              </a:rPr>
              <a:t>public</a:t>
            </a:r>
            <a:r>
              <a:rPr>
                <a:latin typeface="Courier"/>
              </a:rPr>
              <a:t> </a:t>
            </a:r>
            <a:r>
              <a:rPr>
                <a:solidFill>
                  <a:srgbClr val="06287E"/>
                </a:solidFill>
                <a:latin typeface="Courier"/>
              </a:rPr>
              <a:t>AdvancedRemoteControl</a:t>
            </a:r>
            <a:r>
              <a:rPr>
                <a:solidFill>
                  <a:srgbClr val="666666"/>
                </a:solidFill>
                <a:latin typeface="Courier"/>
              </a:rPr>
              <a:t>(</a:t>
            </a:r>
            <a:r>
              <a:rPr>
                <a:latin typeface="Courier"/>
              </a:rPr>
              <a:t>Device device</a:t>
            </a:r>
            <a:r>
              <a:rPr>
                <a:solidFill>
                  <a:srgbClr val="666666"/>
                </a:solidFill>
                <a:latin typeface="Courier"/>
              </a:rPr>
              <a:t>)</a:t>
            </a:r>
            <a:r>
              <a:rPr>
                <a:latin typeface="Courier"/>
              </a:rPr>
              <a:t> </a:t>
            </a:r>
            <a:r>
              <a:rPr>
                <a:solidFill>
                  <a:srgbClr val="666666"/>
                </a:solidFill>
                <a:latin typeface="Courier"/>
              </a:rPr>
              <a:t>{</a:t>
            </a:r>
            <a:br/>
            <a:r>
              <a:rPr>
                <a:latin typeface="Courier"/>
              </a:rPr>
              <a:t>        </a:t>
            </a:r>
            <a:r>
              <a:rPr b="1">
                <a:solidFill>
                  <a:srgbClr val="007020"/>
                </a:solidFill>
                <a:latin typeface="Courier"/>
              </a:rPr>
              <a:t>super</a:t>
            </a:r>
            <a:r>
              <a:rPr>
                <a:solidFill>
                  <a:srgbClr val="666666"/>
                </a:solidFill>
                <a:latin typeface="Courier"/>
              </a:rPr>
              <a:t>(</a:t>
            </a:r>
            <a:r>
              <a:rPr>
                <a:latin typeface="Courier"/>
              </a:rPr>
              <a:t>device</a:t>
            </a:r>
            <a:r>
              <a:rPr>
                <a:solidFill>
                  <a:srgbClr val="666666"/>
                </a:solidFill>
                <a:latin typeface="Courier"/>
              </a:rPr>
              <a:t>);</a:t>
            </a:r>
            <a:br/>
            <a:r>
              <a:rPr>
                <a:latin typeface="Courier"/>
              </a:rPr>
              <a:t>    </a:t>
            </a:r>
            <a:r>
              <a:rPr>
                <a:solidFill>
                  <a:srgbClr val="666666"/>
                </a:solidFill>
                <a:latin typeface="Courier"/>
              </a:rPr>
              <a:t>}</a:t>
            </a:r>
            <a:br/>
            <a:br/>
            <a:r>
              <a:rPr>
                <a:latin typeface="Courier"/>
              </a:rPr>
              <a:t>    </a:t>
            </a:r>
            <a:r>
              <a:rPr b="1">
                <a:solidFill>
                  <a:srgbClr val="007020"/>
                </a:solidFill>
                <a:latin typeface="Courier"/>
              </a:rPr>
              <a:t>public</a:t>
            </a:r>
            <a:r>
              <a:rPr>
                <a:latin typeface="Courier"/>
              </a:rPr>
              <a:t> </a:t>
            </a:r>
            <a:r>
              <a:rPr>
                <a:solidFill>
                  <a:srgbClr val="902000"/>
                </a:solidFill>
                <a:latin typeface="Courier"/>
              </a:rPr>
              <a:t>void</a:t>
            </a:r>
            <a:r>
              <a:rPr>
                <a:latin typeface="Courier"/>
              </a:rPr>
              <a:t> </a:t>
            </a:r>
            <a:r>
              <a:rPr>
                <a:solidFill>
                  <a:srgbClr val="06287E"/>
                </a:solidFill>
                <a:latin typeface="Courier"/>
              </a:rPr>
              <a:t>mute</a:t>
            </a:r>
            <a:r>
              <a:rPr>
                <a:solidFill>
                  <a:srgbClr val="666666"/>
                </a:solidFill>
                <a:latin typeface="Courier"/>
              </a:rPr>
              <a:t>()</a:t>
            </a:r>
            <a:r>
              <a:rPr>
                <a:latin typeface="Courier"/>
              </a:rPr>
              <a:t> </a:t>
            </a:r>
            <a:r>
              <a:rPr>
                <a:solidFill>
                  <a:srgbClr val="666666"/>
                </a:solidFill>
                <a:latin typeface="Courier"/>
              </a:rPr>
              <a:t>{</a:t>
            </a:r>
            <a:br/>
            <a:r>
              <a:rPr>
                <a:latin typeface="Courier"/>
              </a:rPr>
              <a:t>        device</a:t>
            </a:r>
            <a:r>
              <a:rPr>
                <a:solidFill>
                  <a:srgbClr val="666666"/>
                </a:solidFill>
                <a:latin typeface="Courier"/>
              </a:rPr>
              <a:t>.</a:t>
            </a:r>
            <a:r>
              <a:rPr>
                <a:solidFill>
                  <a:srgbClr val="06287E"/>
                </a:solidFill>
                <a:latin typeface="Courier"/>
              </a:rPr>
              <a:t>setVolume</a:t>
            </a:r>
            <a:r>
              <a:rPr>
                <a:solidFill>
                  <a:srgbClr val="666666"/>
                </a:solidFill>
                <a:latin typeface="Courier"/>
              </a:rPr>
              <a:t>(</a:t>
            </a:r>
            <a:r>
              <a:rPr>
                <a:solidFill>
                  <a:srgbClr val="40A070"/>
                </a:solidFill>
                <a:latin typeface="Courier"/>
              </a:rPr>
              <a:t>0</a:t>
            </a:r>
            <a:r>
              <a:rPr>
                <a:solidFill>
                  <a:srgbClr val="666666"/>
                </a:solidFill>
                <a:latin typeface="Courier"/>
              </a:rPr>
              <a:t>);</a:t>
            </a:r>
            <a:br/>
            <a:r>
              <a:rPr>
                <a:latin typeface="Courier"/>
              </a:rPr>
              <a:t>    </a:t>
            </a:r>
            <a:r>
              <a:rPr>
                <a:solidFill>
                  <a:srgbClr val="666666"/>
                </a:solidFill>
                <a:latin typeface="Courier"/>
              </a:rPr>
              <a:t>}</a:t>
            </a:r>
            <a:br/>
            <a:r>
              <a:rPr>
                <a:solidFill>
                  <a:srgbClr val="666666"/>
                </a:solidFill>
                <a:latin typeface="Courier"/>
              </a:rPr>
              <a:t>}</a:t>
            </a:r>
          </a:p>
        </p:txBody>
      </p:sp>
    </p:spTree>
  </p:cSld>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Bridge: Java Code Example - Client</a:t>
            </a:r>
          </a:p>
        </p:txBody>
      </p:sp>
      <p:sp>
        <p:nvSpPr>
          <p:cNvPr id="3" name="Content Placeholder 2"/>
          <p:cNvSpPr>
            <a:spLocks noGrp="1"/>
          </p:cNvSpPr>
          <p:nvPr>
            <p:ph idx="1"/>
          </p:nvPr>
        </p:nvSpPr>
        <p:spPr/>
        <p:txBody>
          <a:bodyPr/>
          <a:lstStyle/>
          <a:p>
            <a:pPr lvl="0" indent="0">
              <a:buNone/>
            </a:pPr>
            <a:r>
              <a:rPr b="1">
                <a:solidFill>
                  <a:srgbClr val="007020"/>
                </a:solidFill>
                <a:latin typeface="Courier"/>
              </a:rPr>
              <a:t>public</a:t>
            </a:r>
            <a:r>
              <a:rPr>
                <a:latin typeface="Courier"/>
              </a:rPr>
              <a:t> </a:t>
            </a:r>
            <a:r>
              <a:rPr b="1">
                <a:solidFill>
                  <a:srgbClr val="007020"/>
                </a:solidFill>
                <a:latin typeface="Courier"/>
              </a:rPr>
              <a:t>class</a:t>
            </a:r>
            <a:r>
              <a:rPr>
                <a:latin typeface="Courier"/>
              </a:rPr>
              <a:t> BridgeDemo </a:t>
            </a:r>
            <a:r>
              <a:rPr>
                <a:solidFill>
                  <a:srgbClr val="666666"/>
                </a:solidFill>
                <a:latin typeface="Courier"/>
              </a:rPr>
              <a:t>{</a:t>
            </a:r>
            <a:br/>
            <a:r>
              <a:rPr>
                <a:latin typeface="Courier"/>
              </a:rPr>
              <a:t>    </a:t>
            </a:r>
            <a:r>
              <a:rPr b="1">
                <a:solidFill>
                  <a:srgbClr val="007020"/>
                </a:solidFill>
                <a:latin typeface="Courier"/>
              </a:rPr>
              <a:t>public</a:t>
            </a:r>
            <a:r>
              <a:rPr>
                <a:latin typeface="Courier"/>
              </a:rPr>
              <a:t> </a:t>
            </a:r>
            <a:r>
              <a:rPr>
                <a:solidFill>
                  <a:srgbClr val="902000"/>
                </a:solidFill>
                <a:latin typeface="Courier"/>
              </a:rPr>
              <a:t>static</a:t>
            </a:r>
            <a:r>
              <a:rPr>
                <a:latin typeface="Courier"/>
              </a:rPr>
              <a:t> </a:t>
            </a:r>
            <a:r>
              <a:rPr>
                <a:solidFill>
                  <a:srgbClr val="902000"/>
                </a:solidFill>
                <a:latin typeface="Courier"/>
              </a:rPr>
              <a:t>void</a:t>
            </a:r>
            <a:r>
              <a:rPr>
                <a:latin typeface="Courier"/>
              </a:rPr>
              <a:t> </a:t>
            </a:r>
            <a:r>
              <a:rPr>
                <a:solidFill>
                  <a:srgbClr val="06287E"/>
                </a:solidFill>
                <a:latin typeface="Courier"/>
              </a:rPr>
              <a:t>main</a:t>
            </a:r>
            <a:r>
              <a:rPr>
                <a:solidFill>
                  <a:srgbClr val="666666"/>
                </a:solidFill>
                <a:latin typeface="Courier"/>
              </a:rPr>
              <a:t>(</a:t>
            </a:r>
            <a:r>
              <a:rPr>
                <a:solidFill>
                  <a:srgbClr val="008000"/>
                </a:solidFill>
                <a:latin typeface="Courier"/>
              </a:rPr>
              <a:t>String</a:t>
            </a:r>
            <a:r>
              <a:rPr>
                <a:solidFill>
                  <a:srgbClr val="666666"/>
                </a:solidFill>
                <a:latin typeface="Courier"/>
              </a:rPr>
              <a:t>[]</a:t>
            </a:r>
            <a:r>
              <a:rPr>
                <a:latin typeface="Courier"/>
              </a:rPr>
              <a:t> args</a:t>
            </a:r>
            <a:r>
              <a:rPr>
                <a:solidFill>
                  <a:srgbClr val="666666"/>
                </a:solidFill>
                <a:latin typeface="Courier"/>
              </a:rPr>
              <a:t>)</a:t>
            </a:r>
            <a:r>
              <a:rPr>
                <a:latin typeface="Courier"/>
              </a:rPr>
              <a:t> </a:t>
            </a:r>
            <a:r>
              <a:rPr>
                <a:solidFill>
                  <a:srgbClr val="666666"/>
                </a:solidFill>
                <a:latin typeface="Courier"/>
              </a:rPr>
              <a:t>{</a:t>
            </a:r>
            <a:br/>
            <a:r>
              <a:rPr>
                <a:latin typeface="Courier"/>
              </a:rPr>
              <a:t>        </a:t>
            </a:r>
            <a:r>
              <a:rPr i="1">
                <a:solidFill>
                  <a:srgbClr val="60A0B0"/>
                </a:solidFill>
                <a:latin typeface="Courier"/>
              </a:rPr>
              <a:t>// Pair a basic remote with a TV</a:t>
            </a:r>
            <a:br/>
            <a:r>
              <a:rPr>
                <a:latin typeface="Courier"/>
              </a:rPr>
              <a:t>        Device tv </a:t>
            </a:r>
            <a:r>
              <a:rPr>
                <a:solidFill>
                  <a:srgbClr val="666666"/>
                </a:solidFill>
                <a:latin typeface="Courier"/>
              </a:rPr>
              <a:t>=</a:t>
            </a:r>
            <a:r>
              <a:rPr>
                <a:latin typeface="Courier"/>
              </a:rPr>
              <a:t> </a:t>
            </a:r>
            <a:r>
              <a:rPr b="1">
                <a:solidFill>
                  <a:srgbClr val="007020"/>
                </a:solidFill>
                <a:latin typeface="Courier"/>
              </a:rPr>
              <a:t>new</a:t>
            </a:r>
            <a:r>
              <a:rPr>
                <a:latin typeface="Courier"/>
              </a:rPr>
              <a:t> </a:t>
            </a:r>
            <a:r>
              <a:rPr>
                <a:solidFill>
                  <a:srgbClr val="06287E"/>
                </a:solidFill>
                <a:latin typeface="Courier"/>
              </a:rPr>
              <a:t>Tv</a:t>
            </a:r>
            <a:r>
              <a:rPr>
                <a:solidFill>
                  <a:srgbClr val="666666"/>
                </a:solidFill>
                <a:latin typeface="Courier"/>
              </a:rPr>
              <a:t>();</a:t>
            </a:r>
            <a:br/>
            <a:r>
              <a:rPr>
                <a:latin typeface="Courier"/>
              </a:rPr>
              <a:t>        RemoteControl remote </a:t>
            </a:r>
            <a:r>
              <a:rPr>
                <a:solidFill>
                  <a:srgbClr val="666666"/>
                </a:solidFill>
                <a:latin typeface="Courier"/>
              </a:rPr>
              <a:t>=</a:t>
            </a:r>
            <a:r>
              <a:rPr>
                <a:latin typeface="Courier"/>
              </a:rPr>
              <a:t> </a:t>
            </a:r>
            <a:r>
              <a:rPr b="1">
                <a:solidFill>
                  <a:srgbClr val="007020"/>
                </a:solidFill>
                <a:latin typeface="Courier"/>
              </a:rPr>
              <a:t>new</a:t>
            </a:r>
            <a:r>
              <a:rPr>
                <a:latin typeface="Courier"/>
              </a:rPr>
              <a:t> </a:t>
            </a:r>
            <a:r>
              <a:rPr>
                <a:solidFill>
                  <a:srgbClr val="06287E"/>
                </a:solidFill>
                <a:latin typeface="Courier"/>
              </a:rPr>
              <a:t>RemoteControl</a:t>
            </a:r>
            <a:r>
              <a:rPr>
                <a:solidFill>
                  <a:srgbClr val="666666"/>
                </a:solidFill>
                <a:latin typeface="Courier"/>
              </a:rPr>
              <a:t>(</a:t>
            </a:r>
            <a:r>
              <a:rPr>
                <a:latin typeface="Courier"/>
              </a:rPr>
              <a:t>tv</a:t>
            </a:r>
            <a:r>
              <a:rPr>
                <a:solidFill>
                  <a:srgbClr val="666666"/>
                </a:solidFill>
                <a:latin typeface="Courier"/>
              </a:rPr>
              <a:t>);</a:t>
            </a:r>
            <a:br/>
            <a:r>
              <a:rPr>
                <a:latin typeface="Courier"/>
              </a:rPr>
              <a:t>        remote</a:t>
            </a:r>
            <a:r>
              <a:rPr>
                <a:solidFill>
                  <a:srgbClr val="666666"/>
                </a:solidFill>
                <a:latin typeface="Courier"/>
              </a:rPr>
              <a:t>.</a:t>
            </a:r>
            <a:r>
              <a:rPr>
                <a:solidFill>
                  <a:srgbClr val="06287E"/>
                </a:solidFill>
                <a:latin typeface="Courier"/>
              </a:rPr>
              <a:t>togglePower</a:t>
            </a:r>
            <a:r>
              <a:rPr>
                <a:solidFill>
                  <a:srgbClr val="666666"/>
                </a:solidFill>
                <a:latin typeface="Courier"/>
              </a:rPr>
              <a:t>();</a:t>
            </a:r>
            <a:br/>
            <a:r>
              <a:rPr>
                <a:latin typeface="Courier"/>
              </a:rPr>
              <a:t>        remote</a:t>
            </a:r>
            <a:r>
              <a:rPr>
                <a:solidFill>
                  <a:srgbClr val="666666"/>
                </a:solidFill>
                <a:latin typeface="Courier"/>
              </a:rPr>
              <a:t>.</a:t>
            </a:r>
            <a:r>
              <a:rPr>
                <a:solidFill>
                  <a:srgbClr val="06287E"/>
                </a:solidFill>
                <a:latin typeface="Courier"/>
              </a:rPr>
              <a:t>volumeUp</a:t>
            </a:r>
            <a:r>
              <a:rPr>
                <a:solidFill>
                  <a:srgbClr val="666666"/>
                </a:solidFill>
                <a:latin typeface="Courier"/>
              </a:rPr>
              <a:t>();</a:t>
            </a:r>
            <a:br/>
            <a:r>
              <a:rPr>
                <a:latin typeface="Courier"/>
              </a:rPr>
              <a:t>        </a:t>
            </a:r>
            <a:r>
              <a:rPr>
                <a:solidFill>
                  <a:srgbClr val="008000"/>
                </a:solidFill>
                <a:latin typeface="Courier"/>
              </a:rPr>
              <a:t>System</a:t>
            </a:r>
            <a:r>
              <a:rPr>
                <a:solidFill>
                  <a:srgbClr val="666666"/>
                </a:solidFill>
                <a:latin typeface="Courier"/>
              </a:rPr>
              <a:t>.</a:t>
            </a:r>
            <a:r>
              <a:rPr>
                <a:solidFill>
                  <a:srgbClr val="06287E"/>
                </a:solidFill>
                <a:latin typeface="Courier"/>
              </a:rPr>
              <a:t>out</a:t>
            </a:r>
            <a:r>
              <a:rPr>
                <a:solidFill>
                  <a:srgbClr val="666666"/>
                </a:solidFill>
                <a:latin typeface="Courier"/>
              </a:rPr>
              <a:t>.</a:t>
            </a:r>
            <a:r>
              <a:rPr>
                <a:solidFill>
                  <a:srgbClr val="06287E"/>
                </a:solidFill>
                <a:latin typeface="Courier"/>
              </a:rPr>
              <a:t>println</a:t>
            </a:r>
            <a:r>
              <a:rPr>
                <a:solidFill>
                  <a:srgbClr val="666666"/>
                </a:solidFill>
                <a:latin typeface="Courier"/>
              </a:rPr>
              <a:t>(</a:t>
            </a:r>
            <a:r>
              <a:rPr>
                <a:solidFill>
                  <a:srgbClr val="4070A0"/>
                </a:solidFill>
                <a:latin typeface="Courier"/>
              </a:rPr>
              <a:t>"TV Volume: "</a:t>
            </a:r>
            <a:r>
              <a:rPr>
                <a:latin typeface="Courier"/>
              </a:rPr>
              <a:t> </a:t>
            </a:r>
            <a:r>
              <a:rPr>
                <a:solidFill>
                  <a:srgbClr val="666666"/>
                </a:solidFill>
                <a:latin typeface="Courier"/>
              </a:rPr>
              <a:t>+</a:t>
            </a:r>
            <a:r>
              <a:rPr>
                <a:latin typeface="Courier"/>
              </a:rPr>
              <a:t> tv</a:t>
            </a:r>
            <a:r>
              <a:rPr>
                <a:solidFill>
                  <a:srgbClr val="666666"/>
                </a:solidFill>
                <a:latin typeface="Courier"/>
              </a:rPr>
              <a:t>.</a:t>
            </a:r>
            <a:r>
              <a:rPr>
                <a:solidFill>
                  <a:srgbClr val="06287E"/>
                </a:solidFill>
                <a:latin typeface="Courier"/>
              </a:rPr>
              <a:t>getVolume</a:t>
            </a:r>
            <a:r>
              <a:rPr>
                <a:solidFill>
                  <a:srgbClr val="666666"/>
                </a:solidFill>
                <a:latin typeface="Courier"/>
              </a:rPr>
              <a:t>());</a:t>
            </a:r>
            <a:br/>
            <a:br/>
            <a:r>
              <a:rPr>
                <a:latin typeface="Courier"/>
              </a:rPr>
              <a:t>        </a:t>
            </a:r>
            <a:r>
              <a:rPr i="1">
                <a:solidFill>
                  <a:srgbClr val="60A0B0"/>
                </a:solidFill>
                <a:latin typeface="Courier"/>
              </a:rPr>
              <a:t>// Pair an advanced remote with a Radio</a:t>
            </a:r>
            <a:br/>
            <a:r>
              <a:rPr>
                <a:latin typeface="Courier"/>
              </a:rPr>
              <a:t>        Device radio </a:t>
            </a:r>
            <a:r>
              <a:rPr>
                <a:solidFill>
                  <a:srgbClr val="666666"/>
                </a:solidFill>
                <a:latin typeface="Courier"/>
              </a:rPr>
              <a:t>=</a:t>
            </a:r>
            <a:r>
              <a:rPr>
                <a:latin typeface="Courier"/>
              </a:rPr>
              <a:t> </a:t>
            </a:r>
            <a:r>
              <a:rPr b="1">
                <a:solidFill>
                  <a:srgbClr val="007020"/>
                </a:solidFill>
                <a:latin typeface="Courier"/>
              </a:rPr>
              <a:t>new</a:t>
            </a:r>
            <a:r>
              <a:rPr>
                <a:latin typeface="Courier"/>
              </a:rPr>
              <a:t> </a:t>
            </a:r>
            <a:r>
              <a:rPr>
                <a:solidFill>
                  <a:srgbClr val="06287E"/>
                </a:solidFill>
                <a:latin typeface="Courier"/>
              </a:rPr>
              <a:t>Radio</a:t>
            </a:r>
            <a:r>
              <a:rPr>
                <a:solidFill>
                  <a:srgbClr val="666666"/>
                </a:solidFill>
                <a:latin typeface="Courier"/>
              </a:rPr>
              <a:t>();</a:t>
            </a:r>
            <a:br/>
            <a:r>
              <a:rPr>
                <a:latin typeface="Courier"/>
              </a:rPr>
              <a:t>        AdvancedRemoteControl advancedRemote </a:t>
            </a:r>
            <a:r>
              <a:rPr>
                <a:solidFill>
                  <a:srgbClr val="666666"/>
                </a:solidFill>
                <a:latin typeface="Courier"/>
              </a:rPr>
              <a:t>=</a:t>
            </a:r>
            <a:br/>
            <a:r>
              <a:rPr>
                <a:latin typeface="Courier"/>
              </a:rPr>
              <a:t>            </a:t>
            </a:r>
            <a:r>
              <a:rPr b="1">
                <a:solidFill>
                  <a:srgbClr val="007020"/>
                </a:solidFill>
                <a:latin typeface="Courier"/>
              </a:rPr>
              <a:t>new</a:t>
            </a:r>
            <a:r>
              <a:rPr>
                <a:latin typeface="Courier"/>
              </a:rPr>
              <a:t> </a:t>
            </a:r>
            <a:r>
              <a:rPr>
                <a:solidFill>
                  <a:srgbClr val="06287E"/>
                </a:solidFill>
                <a:latin typeface="Courier"/>
              </a:rPr>
              <a:t>AdvancedRemoteControl</a:t>
            </a:r>
            <a:r>
              <a:rPr>
                <a:solidFill>
                  <a:srgbClr val="666666"/>
                </a:solidFill>
                <a:latin typeface="Courier"/>
              </a:rPr>
              <a:t>(</a:t>
            </a:r>
            <a:r>
              <a:rPr>
                <a:latin typeface="Courier"/>
              </a:rPr>
              <a:t>radio</a:t>
            </a:r>
            <a:r>
              <a:rPr>
                <a:solidFill>
                  <a:srgbClr val="666666"/>
                </a:solidFill>
                <a:latin typeface="Courier"/>
              </a:rPr>
              <a:t>);</a:t>
            </a:r>
            <a:br/>
            <a:r>
              <a:rPr>
                <a:latin typeface="Courier"/>
              </a:rPr>
              <a:t>        advancedRemote</a:t>
            </a:r>
            <a:r>
              <a:rPr>
                <a:solidFill>
                  <a:srgbClr val="666666"/>
                </a:solidFill>
                <a:latin typeface="Courier"/>
              </a:rPr>
              <a:t>.</a:t>
            </a:r>
            <a:r>
              <a:rPr>
                <a:solidFill>
                  <a:srgbClr val="06287E"/>
                </a:solidFill>
                <a:latin typeface="Courier"/>
              </a:rPr>
              <a:t>togglePower</a:t>
            </a:r>
            <a:r>
              <a:rPr>
                <a:solidFill>
                  <a:srgbClr val="666666"/>
                </a:solidFill>
                <a:latin typeface="Courier"/>
              </a:rPr>
              <a:t>();</a:t>
            </a:r>
            <a:br/>
            <a:r>
              <a:rPr>
                <a:latin typeface="Courier"/>
              </a:rPr>
              <a:t>        advancedRemote</a:t>
            </a:r>
            <a:r>
              <a:rPr>
                <a:solidFill>
                  <a:srgbClr val="666666"/>
                </a:solidFill>
                <a:latin typeface="Courier"/>
              </a:rPr>
              <a:t>.</a:t>
            </a:r>
            <a:r>
              <a:rPr>
                <a:solidFill>
                  <a:srgbClr val="06287E"/>
                </a:solidFill>
                <a:latin typeface="Courier"/>
              </a:rPr>
              <a:t>mute</a:t>
            </a:r>
            <a:r>
              <a:rPr>
                <a:solidFill>
                  <a:srgbClr val="666666"/>
                </a:solidFill>
                <a:latin typeface="Courier"/>
              </a:rPr>
              <a:t>();</a:t>
            </a:r>
            <a:br/>
            <a:r>
              <a:rPr>
                <a:latin typeface="Courier"/>
              </a:rPr>
              <a:t>        </a:t>
            </a:r>
            <a:r>
              <a:rPr>
                <a:solidFill>
                  <a:srgbClr val="008000"/>
                </a:solidFill>
                <a:latin typeface="Courier"/>
              </a:rPr>
              <a:t>System</a:t>
            </a:r>
            <a:r>
              <a:rPr>
                <a:solidFill>
                  <a:srgbClr val="666666"/>
                </a:solidFill>
                <a:latin typeface="Courier"/>
              </a:rPr>
              <a:t>.</a:t>
            </a:r>
            <a:r>
              <a:rPr>
                <a:solidFill>
                  <a:srgbClr val="06287E"/>
                </a:solidFill>
                <a:latin typeface="Courier"/>
              </a:rPr>
              <a:t>out</a:t>
            </a:r>
            <a:r>
              <a:rPr>
                <a:solidFill>
                  <a:srgbClr val="666666"/>
                </a:solidFill>
                <a:latin typeface="Courier"/>
              </a:rPr>
              <a:t>.</a:t>
            </a:r>
            <a:r>
              <a:rPr>
                <a:solidFill>
                  <a:srgbClr val="06287E"/>
                </a:solidFill>
                <a:latin typeface="Courier"/>
              </a:rPr>
              <a:t>println</a:t>
            </a:r>
            <a:r>
              <a:rPr>
                <a:solidFill>
                  <a:srgbClr val="666666"/>
                </a:solidFill>
                <a:latin typeface="Courier"/>
              </a:rPr>
              <a:t>(</a:t>
            </a:r>
            <a:r>
              <a:rPr>
                <a:solidFill>
                  <a:srgbClr val="4070A0"/>
                </a:solidFill>
                <a:latin typeface="Courier"/>
              </a:rPr>
              <a:t>"Radio Volume: "</a:t>
            </a:r>
            <a:r>
              <a:rPr>
                <a:latin typeface="Courier"/>
              </a:rPr>
              <a:t> </a:t>
            </a:r>
            <a:r>
              <a:rPr>
                <a:solidFill>
                  <a:srgbClr val="666666"/>
                </a:solidFill>
                <a:latin typeface="Courier"/>
              </a:rPr>
              <a:t>+</a:t>
            </a:r>
            <a:br/>
            <a:r>
              <a:rPr>
                <a:latin typeface="Courier"/>
              </a:rPr>
              <a:t>            radio</a:t>
            </a:r>
            <a:r>
              <a:rPr>
                <a:solidFill>
                  <a:srgbClr val="666666"/>
                </a:solidFill>
                <a:latin typeface="Courier"/>
              </a:rPr>
              <a:t>.</a:t>
            </a:r>
            <a:r>
              <a:rPr>
                <a:solidFill>
                  <a:srgbClr val="06287E"/>
                </a:solidFill>
                <a:latin typeface="Courier"/>
              </a:rPr>
              <a:t>getVolume</a:t>
            </a:r>
            <a:r>
              <a:rPr>
                <a:solidFill>
                  <a:srgbClr val="666666"/>
                </a:solidFill>
                <a:latin typeface="Courier"/>
              </a:rPr>
              <a:t>());</a:t>
            </a:r>
            <a:r>
              <a:rPr>
                <a:latin typeface="Courier"/>
              </a:rPr>
              <a:t> </a:t>
            </a:r>
            <a:r>
              <a:rPr i="1">
                <a:solidFill>
                  <a:srgbClr val="60A0B0"/>
                </a:solidFill>
                <a:latin typeface="Courier"/>
              </a:rPr>
              <a:t>// 0</a:t>
            </a:r>
            <a:br/>
            <a:br/>
            <a:r>
              <a:rPr>
                <a:latin typeface="Courier"/>
              </a:rPr>
              <a:t>        </a:t>
            </a:r>
            <a:r>
              <a:rPr i="1">
                <a:solidFill>
                  <a:srgbClr val="60A0B0"/>
                </a:solidFill>
                <a:latin typeface="Courier"/>
              </a:rPr>
              <a:t>// Expected Output:</a:t>
            </a:r>
            <a:br/>
            <a:r>
              <a:rPr>
                <a:latin typeface="Courier"/>
              </a:rPr>
              <a:t>        </a:t>
            </a:r>
            <a:r>
              <a:rPr i="1">
                <a:solidFill>
                  <a:srgbClr val="60A0B0"/>
                </a:solidFill>
                <a:latin typeface="Courier"/>
              </a:rPr>
              <a:t>// TV Volume: 10</a:t>
            </a:r>
            <a:br/>
            <a:r>
              <a:rPr>
                <a:latin typeface="Courier"/>
              </a:rPr>
              <a:t>        </a:t>
            </a:r>
            <a:r>
              <a:rPr i="1">
                <a:solidFill>
                  <a:srgbClr val="60A0B0"/>
                </a:solidFill>
                <a:latin typeface="Courier"/>
              </a:rPr>
              <a:t>// Radio Volume: 0</a:t>
            </a:r>
            <a:br/>
            <a:r>
              <a:rPr>
                <a:latin typeface="Courier"/>
              </a:rPr>
              <a:t>    </a:t>
            </a:r>
            <a:r>
              <a:rPr>
                <a:solidFill>
                  <a:srgbClr val="666666"/>
                </a:solidFill>
                <a:latin typeface="Courier"/>
              </a:rPr>
              <a:t>}</a:t>
            </a:r>
            <a:br/>
            <a:r>
              <a:rPr>
                <a:solidFill>
                  <a:srgbClr val="666666"/>
                </a:solidFill>
                <a:latin typeface="Courier"/>
              </a:rPr>
              <a:t>}</a:t>
            </a:r>
          </a:p>
        </p:txBody>
      </p:sp>
    </p:spTree>
  </p:cSld>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Bridge - Sequence Diagram</a:t>
            </a:r>
          </a:p>
        </p:txBody>
      </p:sp>
      <p:pic>
        <p:nvPicPr>
          <p:cNvPr descr="assets/bridge-sequence.png" id="0" name="Picture 1"/>
          <p:cNvPicPr>
            <a:picLocks noGrp="1" noChangeAspect="1"/>
          </p:cNvPicPr>
          <p:nvPr/>
        </p:nvPicPr>
        <p:blipFill>
          <a:blip r:embed="rId2"/>
          <a:stretch>
            <a:fillRect/>
          </a:stretch>
        </p:blipFill>
        <p:spPr bwMode="auto">
          <a:xfrm>
            <a:off x="4064000" y="203200"/>
            <a:ext cx="4102100" cy="3873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a:t>
            </a:r>
          </a:p>
        </p:txBody>
      </p:sp>
    </p:spTree>
  </p:cSld>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Bridge: Applicability</a:t>
            </a:r>
          </a:p>
        </p:txBody>
      </p:sp>
      <p:sp>
        <p:nvSpPr>
          <p:cNvPr id="3" name="Content Placeholder 2"/>
          <p:cNvSpPr>
            <a:spLocks noGrp="1"/>
          </p:cNvSpPr>
          <p:nvPr>
            <p:ph idx="1"/>
          </p:nvPr>
        </p:nvSpPr>
        <p:spPr/>
        <p:txBody>
          <a:bodyPr/>
          <a:lstStyle/>
          <a:p>
            <a:pPr lvl="0" indent="0" marL="0">
              <a:buNone/>
            </a:pPr>
            <a:r>
              <a:rPr/>
              <a:t>Use the Bridge pattern when:</a:t>
            </a:r>
          </a:p>
          <a:p>
            <a:pPr lvl="0"/>
            <a:r>
              <a:rPr/>
              <a:t>You want to divide and organize a </a:t>
            </a:r>
            <a:r>
              <a:rPr b="1"/>
              <a:t>monolithic class</a:t>
            </a:r>
            <a:r>
              <a:rPr/>
              <a:t> that has several variants of some functionality (e.g., if the class can work with various database servers)</a:t>
            </a:r>
          </a:p>
          <a:p>
            <a:pPr lvl="0"/>
            <a:r>
              <a:rPr/>
              <a:t>You need to extend a class in several </a:t>
            </a:r>
            <a:r>
              <a:rPr b="1"/>
              <a:t>orthogonal (independent) dimensions</a:t>
            </a:r>
          </a:p>
          <a:p>
            <a:pPr lvl="0"/>
            <a:r>
              <a:rPr/>
              <a:t>You need to be able to </a:t>
            </a:r>
            <a:r>
              <a:rPr b="1"/>
              <a:t>switch implementations at runtime</a:t>
            </a:r>
          </a:p>
        </p:txBody>
      </p:sp>
    </p:spTree>
  </p:cSld>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Bridge: Applicability (cont.)</a:t>
            </a:r>
          </a:p>
        </p:txBody>
      </p:sp>
      <p:sp>
        <p:nvSpPr>
          <p:cNvPr id="3" name="Content Placeholder 2"/>
          <p:cNvSpPr>
            <a:spLocks noGrp="1"/>
          </p:cNvSpPr>
          <p:nvPr>
            <p:ph idx="1"/>
          </p:nvPr>
        </p:nvSpPr>
        <p:spPr/>
        <p:txBody>
          <a:bodyPr/>
          <a:lstStyle/>
          <a:p>
            <a:pPr lvl="0" indent="0" marL="0">
              <a:buNone/>
            </a:pPr>
            <a:r>
              <a:rPr b="1"/>
              <a:t>Monolithic class refactoring</a:t>
            </a:r>
            <a:r>
              <a:rPr/>
              <a:t>: The bigger a class becomes, the harder it is to figure out how it works and the longer it takes to make a change. Bridge lets you split the monolithic class into several class hierarchies, each changeable independently.</a:t>
            </a:r>
          </a:p>
          <a:p>
            <a:pPr lvl="0" indent="0" marL="0">
              <a:buNone/>
            </a:pPr>
            <a:r>
              <a:rPr b="1"/>
              <a:t>Orthogonal dimensions</a:t>
            </a:r>
            <a:r>
              <a:rPr/>
              <a:t>: Extract a separate class hierarchy for each dimension. The original class delegates related work to objects belonging to those hierarchies instead of doing everything on its own.</a:t>
            </a:r>
          </a:p>
          <a:p>
            <a:pPr lvl="0" indent="0" marL="0">
              <a:buNone/>
            </a:pPr>
            <a:r>
              <a:rPr b="1"/>
              <a:t>Runtime switching</a:t>
            </a:r>
            <a:r>
              <a:rPr/>
              <a:t>: Although it is optional, the Bridge pattern lets you replace the implementation object inside the abstraction at runtime. This is as easy as assigning a new value to a field.</a:t>
            </a:r>
          </a:p>
        </p:txBody>
      </p:sp>
    </p:spTree>
  </p:cSld>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Bridge: How to Implement</a:t>
            </a:r>
          </a:p>
        </p:txBody>
      </p:sp>
      <p:sp>
        <p:nvSpPr>
          <p:cNvPr id="3" name="Content Placeholder 2"/>
          <p:cNvSpPr>
            <a:spLocks noGrp="1"/>
          </p:cNvSpPr>
          <p:nvPr>
            <p:ph idx="1"/>
          </p:nvPr>
        </p:nvSpPr>
        <p:spPr/>
        <p:txBody>
          <a:bodyPr/>
          <a:lstStyle/>
          <a:p>
            <a:pPr lvl="0" indent="-342900" marL="342900">
              <a:buAutoNum type="arabicPeriod"/>
            </a:pPr>
            <a:r>
              <a:rPr/>
              <a:t>Identify the </a:t>
            </a:r>
            <a:r>
              <a:rPr b="1"/>
              <a:t>orthogonal dimensions</a:t>
            </a:r>
            <a:r>
              <a:rPr/>
              <a:t> in your classes. These independent concepts could be: abstraction/platform, domain/infrastructure, front-end/back-end, or interface/implementation</a:t>
            </a:r>
          </a:p>
          <a:p>
            <a:pPr lvl="0" indent="-342900" marL="342900">
              <a:buAutoNum type="arabicPeriod"/>
            </a:pPr>
            <a:r>
              <a:rPr/>
              <a:t>See what operations the </a:t>
            </a:r>
            <a:r>
              <a:rPr b="1"/>
              <a:t>client needs</a:t>
            </a:r>
            <a:r>
              <a:rPr/>
              <a:t> and define them in the base abstraction class</a:t>
            </a:r>
          </a:p>
          <a:p>
            <a:pPr lvl="0" indent="-342900" marL="342900">
              <a:buAutoNum type="arabicPeriod"/>
            </a:pPr>
            <a:r>
              <a:rPr/>
              <a:t>Determine the operations available on </a:t>
            </a:r>
            <a:r>
              <a:rPr b="1"/>
              <a:t>all platforms</a:t>
            </a:r>
            <a:r>
              <a:rPr/>
              <a:t>. Declare the ones that the abstraction needs in the general implementation interface</a:t>
            </a:r>
          </a:p>
        </p:txBody>
      </p:sp>
    </p:spTree>
  </p:cSld>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Bridge: How to Implement (cont.)</a:t>
            </a:r>
          </a:p>
        </p:txBody>
      </p:sp>
      <p:sp>
        <p:nvSpPr>
          <p:cNvPr id="3" name="Content Placeholder 2"/>
          <p:cNvSpPr>
            <a:spLocks noGrp="1"/>
          </p:cNvSpPr>
          <p:nvPr>
            <p:ph idx="1"/>
          </p:nvPr>
        </p:nvSpPr>
        <p:spPr/>
        <p:txBody>
          <a:bodyPr/>
          <a:lstStyle/>
          <a:p>
            <a:pPr lvl="0" indent="-342900" marL="342900">
              <a:buAutoNum startAt="4" type="arabicPeriod"/>
            </a:pPr>
            <a:r>
              <a:rPr/>
              <a:t>For all platforms in your domain, create </a:t>
            </a:r>
            <a:r>
              <a:rPr b="1"/>
              <a:t>concrete implementation classes</a:t>
            </a:r>
            <a:r>
              <a:rPr/>
              <a:t>, but make sure they all follow the implementation interface</a:t>
            </a:r>
          </a:p>
          <a:p>
            <a:pPr lvl="0" indent="-342900" marL="342900">
              <a:buAutoNum startAt="4" type="arabicPeriod"/>
            </a:pPr>
            <a:r>
              <a:rPr/>
              <a:t>Inside the abstraction class, add a </a:t>
            </a:r>
            <a:r>
              <a:rPr b="1"/>
              <a:t>reference field</a:t>
            </a:r>
            <a:r>
              <a:rPr/>
              <a:t> for the implementation type. The abstraction delegates most of the work to the implementation object that is referenced in that field</a:t>
            </a:r>
          </a:p>
          <a:p>
            <a:pPr lvl="0" indent="-342900" marL="342900">
              <a:buAutoNum startAt="4" type="arabicPeriod"/>
            </a:pPr>
            <a:r>
              <a:rPr/>
              <a:t>If you have several variants of </a:t>
            </a:r>
            <a:r>
              <a:rPr b="1"/>
              <a:t>high-level logic</a:t>
            </a:r>
            <a:r>
              <a:rPr/>
              <a:t>, create </a:t>
            </a:r>
            <a:r>
              <a:rPr b="1"/>
              <a:t>refined abstractions</a:t>
            </a:r>
            <a:r>
              <a:rPr/>
              <a:t> for each variant by extending the base abstraction class</a:t>
            </a:r>
          </a:p>
          <a:p>
            <a:pPr lvl="0" indent="-342900" marL="342900">
              <a:buAutoNum startAt="4" type="arabicPeriod"/>
            </a:pPr>
            <a:r>
              <a:rPr/>
              <a:t>The </a:t>
            </a:r>
            <a:r>
              <a:rPr b="1"/>
              <a:t>client code</a:t>
            </a:r>
            <a:r>
              <a:rPr/>
              <a:t> should pass an implementation object to the abstraction’s constructor to associate one with the other. After that, the client can forget about the implementation and work only with the abstraction object</a:t>
            </a:r>
          </a:p>
        </p:txBody>
      </p:sp>
    </p:spTree>
  </p:cSld>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Bridge: Pros and Cons</a:t>
            </a:r>
          </a:p>
        </p:txBody>
      </p:sp>
      <p:sp>
        <p:nvSpPr>
          <p:cNvPr id="3" name="Content Placeholder 2"/>
          <p:cNvSpPr>
            <a:spLocks noGrp="1"/>
          </p:cNvSpPr>
          <p:nvPr>
            <p:ph idx="1"/>
          </p:nvPr>
        </p:nvSpPr>
        <p:spPr/>
        <p:txBody>
          <a:bodyPr/>
          <a:lstStyle/>
          <a:p>
            <a:pPr lvl="0" indent="0" marL="0">
              <a:buNone/>
            </a:pPr>
            <a:r>
              <a:rPr b="1"/>
              <a:t>Pros:</a:t>
            </a:r>
            <a:r>
              <a:rPr/>
              <a:t> - You can create </a:t>
            </a:r>
            <a:r>
              <a:rPr b="1"/>
              <a:t>platform-independent</a:t>
            </a:r>
            <a:r>
              <a:rPr/>
              <a:t> classes and apps - The client code works with high-level abstractions and is </a:t>
            </a:r>
            <a:r>
              <a:rPr b="1"/>
              <a:t>not exposed to the platform details</a:t>
            </a:r>
            <a:r>
              <a:rPr/>
              <a:t> - </a:t>
            </a:r>
            <a:r>
              <a:rPr b="1"/>
              <a:t>Open/Closed Principle</a:t>
            </a:r>
            <a:r>
              <a:rPr/>
              <a:t>: You can introduce new abstractions and implementations independently of each other - </a:t>
            </a:r>
            <a:r>
              <a:rPr b="1"/>
              <a:t>Single Responsibility Principle</a:t>
            </a:r>
            <a:r>
              <a:rPr/>
              <a:t>: You can focus on high-level logic in the abstraction and on platform details in the implementation</a:t>
            </a:r>
          </a:p>
          <a:p>
            <a:pPr lvl="0" indent="0" marL="0">
              <a:buNone/>
            </a:pPr>
            <a:r>
              <a:rPr b="1"/>
              <a:t>Cons:</a:t>
            </a:r>
            <a:r>
              <a:rPr/>
              <a:t> - You might make the code </a:t>
            </a:r>
            <a:r>
              <a:rPr b="1"/>
              <a:t>more complicated</a:t>
            </a:r>
            <a:r>
              <a:rPr/>
              <a:t> by applying the pattern to a highly cohesive class</a:t>
            </a:r>
          </a:p>
        </p:txBody>
      </p:sp>
    </p:spTree>
  </p:cSld>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Bridge: Relations with Other Patterns</a:t>
            </a:r>
          </a:p>
        </p:txBody>
      </p:sp>
      <p:sp>
        <p:nvSpPr>
          <p:cNvPr id="3" name="Content Placeholder 2"/>
          <p:cNvSpPr>
            <a:spLocks noGrp="1"/>
          </p:cNvSpPr>
          <p:nvPr>
            <p:ph idx="1"/>
          </p:nvPr>
        </p:nvSpPr>
        <p:spPr/>
        <p:txBody>
          <a:bodyPr/>
          <a:lstStyle/>
          <a:p>
            <a:pPr lvl="0"/>
            <a:r>
              <a:rPr b="1"/>
              <a:t>Bridge</a:t>
            </a:r>
            <a:r>
              <a:rPr/>
              <a:t> is usually designed up-front, letting you develop parts of an application independently. On the other hand, </a:t>
            </a:r>
            <a:r>
              <a:rPr b="1"/>
              <a:t>Adapter</a:t>
            </a:r>
            <a:r>
              <a:rPr/>
              <a:t> is commonly used with an existing application to make otherwise-incompatible classes work together</a:t>
            </a:r>
          </a:p>
          <a:p>
            <a:pPr lvl="0"/>
            <a:r>
              <a:rPr b="1"/>
              <a:t>Bridge</a:t>
            </a:r>
            <a:r>
              <a:rPr/>
              <a:t>, </a:t>
            </a:r>
            <a:r>
              <a:rPr b="1"/>
              <a:t>State</a:t>
            </a:r>
            <a:r>
              <a:rPr/>
              <a:t>, </a:t>
            </a:r>
            <a:r>
              <a:rPr b="1"/>
              <a:t>Strategy</a:t>
            </a:r>
            <a:r>
              <a:rPr/>
              <a:t> (and to some degree </a:t>
            </a:r>
            <a:r>
              <a:rPr b="1"/>
              <a:t>Adapter</a:t>
            </a:r>
            <a:r>
              <a:rPr/>
              <a:t>) have very similar structures. All these patterns are based on composition. However, they all solve different problems</a:t>
            </a:r>
          </a:p>
          <a:p>
            <a:pPr lvl="0"/>
            <a:r>
              <a:rPr/>
              <a:t>You can use </a:t>
            </a:r>
            <a:r>
              <a:rPr b="1"/>
              <a:t>Abstract Factory</a:t>
            </a:r>
            <a:r>
              <a:rPr/>
              <a:t> along with </a:t>
            </a:r>
            <a:r>
              <a:rPr b="1"/>
              <a:t>Bridge</a:t>
            </a:r>
            <a:r>
              <a:rPr/>
              <a:t>. This pairing is useful when some abstractions defined by Bridge can only work with specific implementations</a:t>
            </a:r>
          </a:p>
          <a:p>
            <a:pPr lvl="0"/>
            <a:r>
              <a:rPr/>
              <a:t>You can combine </a:t>
            </a:r>
            <a:r>
              <a:rPr b="1"/>
              <a:t>Builder</a:t>
            </a:r>
            <a:r>
              <a:rPr/>
              <a:t> with </a:t>
            </a:r>
            <a:r>
              <a:rPr b="1"/>
              <a:t>Bridge</a:t>
            </a:r>
            <a:r>
              <a:rPr/>
              <a:t>: the director class plays the role of the abstraction, while different builders act as implementations</a:t>
            </a:r>
          </a:p>
        </p:txBody>
      </p:sp>
    </p:spTree>
  </p:cSld>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Module C: Takeaway</a:t>
            </a:r>
          </a:p>
        </p:txBody>
      </p:sp>
      <p:sp>
        <p:nvSpPr>
          <p:cNvPr id="3" name="Content Placeholder 2"/>
          <p:cNvSpPr>
            <a:spLocks noGrp="1"/>
          </p:cNvSpPr>
          <p:nvPr>
            <p:ph idx="1"/>
          </p:nvPr>
        </p:nvSpPr>
        <p:spPr/>
        <p:txBody>
          <a:bodyPr/>
          <a:lstStyle/>
          <a:p>
            <a:pPr lvl="0"/>
            <a:r>
              <a:rPr/>
              <a:t>The Bridge pattern </a:t>
            </a:r>
            <a:r>
              <a:rPr b="1"/>
              <a:t>separates abstraction from implementation</a:t>
            </a:r>
            <a:r>
              <a:rPr/>
              <a:t> so both can vary independently</a:t>
            </a:r>
          </a:p>
          <a:p>
            <a:pPr lvl="0"/>
            <a:r>
              <a:rPr/>
              <a:t>It solves the problem of </a:t>
            </a:r>
            <a:r>
              <a:rPr b="1"/>
              <a:t>combinatorial explosion</a:t>
            </a:r>
            <a:r>
              <a:rPr/>
              <a:t> in class hierarchies</a:t>
            </a:r>
          </a:p>
          <a:p>
            <a:pPr lvl="0"/>
            <a:r>
              <a:rPr/>
              <a:t>It uses </a:t>
            </a:r>
            <a:r>
              <a:rPr b="1"/>
              <a:t>composition</a:t>
            </a:r>
            <a:r>
              <a:rPr/>
              <a:t> instead of inheritance to combine different dimensions</a:t>
            </a:r>
          </a:p>
          <a:p>
            <a:pPr lvl="0"/>
            <a:r>
              <a:rPr/>
              <a:t>It follows the </a:t>
            </a:r>
            <a:r>
              <a:rPr b="1"/>
              <a:t>Open/Closed</a:t>
            </a:r>
            <a:r>
              <a:rPr/>
              <a:t> and </a:t>
            </a:r>
            <a:r>
              <a:rPr b="1"/>
              <a:t>Single Responsibility</a:t>
            </a:r>
            <a:r>
              <a:rPr/>
              <a:t> principles</a:t>
            </a:r>
          </a:p>
          <a:p>
            <a:pPr lvl="0"/>
            <a:r>
              <a:rPr/>
              <a:t>Design it </a:t>
            </a:r>
            <a:r>
              <a:rPr b="1"/>
              <a:t>up-front</a:t>
            </a:r>
            <a:r>
              <a:rPr/>
              <a:t> rather than retrofitting (that is what Adapter is for)</a:t>
            </a:r>
          </a:p>
        </p:txBody>
      </p:sp>
    </p:spTree>
  </p:cSld>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b="1"/>
              <a:t>Module D: Composite Pattern</a:t>
            </a:r>
          </a:p>
        </p:txBody>
      </p:sp>
    </p:spTree>
  </p:cSld>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Module D: Outline</a:t>
            </a:r>
          </a:p>
        </p:txBody>
      </p:sp>
      <p:sp>
        <p:nvSpPr>
          <p:cNvPr id="3" name="Content Placeholder 2"/>
          <p:cNvSpPr>
            <a:spLocks noGrp="1"/>
          </p:cNvSpPr>
          <p:nvPr>
            <p:ph idx="1"/>
          </p:nvPr>
        </p:nvSpPr>
        <p:spPr/>
        <p:txBody>
          <a:bodyPr/>
          <a:lstStyle/>
          <a:p>
            <a:pPr lvl="0"/>
            <a:r>
              <a:rPr/>
              <a:t>Intent</a:t>
            </a:r>
          </a:p>
          <a:p>
            <a:pPr lvl="0"/>
            <a:r>
              <a:rPr/>
              <a:t>Problem</a:t>
            </a:r>
          </a:p>
          <a:p>
            <a:pPr lvl="0"/>
            <a:r>
              <a:rPr/>
              <a:t>Solution</a:t>
            </a:r>
          </a:p>
          <a:p>
            <a:pPr lvl="0"/>
            <a:r>
              <a:rPr/>
              <a:t>Real-World Analogy</a:t>
            </a:r>
          </a:p>
          <a:p>
            <a:pPr lvl="0"/>
            <a:r>
              <a:rPr/>
              <a:t>Structure (UML)</a:t>
            </a:r>
          </a:p>
          <a:p>
            <a:pPr lvl="0"/>
            <a:r>
              <a:rPr/>
              <a:t>Java Code Example</a:t>
            </a:r>
          </a:p>
          <a:p>
            <a:pPr lvl="0"/>
            <a:r>
              <a:rPr/>
              <a:t>Applicability</a:t>
            </a:r>
          </a:p>
          <a:p>
            <a:pPr lvl="0"/>
            <a:r>
              <a:rPr/>
              <a:t>How to Implement</a:t>
            </a:r>
          </a:p>
          <a:p>
            <a:pPr lvl="0"/>
            <a:r>
              <a:rPr/>
              <a:t>Pros and Cons</a:t>
            </a:r>
          </a:p>
          <a:p>
            <a:pPr lvl="0"/>
            <a:r>
              <a:rPr/>
              <a:t>Relations with Other Patterns</a:t>
            </a:r>
          </a:p>
          <a:p>
            <a:pPr lvl="0"/>
            <a:r>
              <a:rPr/>
              <a:t>Module Takeaway</a:t>
            </a:r>
          </a:p>
        </p:txBody>
      </p:sp>
    </p:spTree>
  </p:cSld>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Composite: Intent</a:t>
            </a:r>
          </a:p>
        </p:txBody>
      </p:sp>
      <p:sp>
        <p:nvSpPr>
          <p:cNvPr id="3" name="Content Placeholder 2"/>
          <p:cNvSpPr>
            <a:spLocks noGrp="1"/>
          </p:cNvSpPr>
          <p:nvPr>
            <p:ph idx="1"/>
          </p:nvPr>
        </p:nvSpPr>
        <p:spPr/>
        <p:txBody>
          <a:bodyPr/>
          <a:lstStyle/>
          <a:p>
            <a:pPr lvl="0" indent="0" marL="0">
              <a:buNone/>
            </a:pPr>
            <a:r>
              <a:rPr b="1"/>
              <a:t>Composite</a:t>
            </a:r>
            <a:r>
              <a:rPr/>
              <a:t> is a structural design pattern that lets you compose objects into </a:t>
            </a:r>
            <a:r>
              <a:rPr b="1"/>
              <a:t>tree structures</a:t>
            </a:r>
            <a:r>
              <a:rPr/>
              <a:t> and then work with these structures as if they were </a:t>
            </a:r>
            <a:r>
              <a:rPr b="1"/>
              <a:t>individual objects</a:t>
            </a:r>
            <a:r>
              <a:rPr/>
              <a:t>.</a:t>
            </a:r>
          </a:p>
          <a:p>
            <a:pPr lvl="0"/>
            <a:r>
              <a:rPr/>
              <a:t>Also known as: </a:t>
            </a:r>
            <a:r>
              <a:rPr b="1"/>
              <a:t>Object Tree</a:t>
            </a:r>
          </a:p>
          <a:p>
            <a:pPr lvl="0" indent="0" marL="0">
              <a:buNone/>
            </a:pPr>
            <a:r>
              <a:rPr/>
              <a:t>Source: </a:t>
            </a:r>
            <a:r>
              <a:rPr>
                <a:hlinkClick r:id="rId2"/>
              </a:rPr>
              <a:t>refactoring.guru</a:t>
            </a:r>
          </a:p>
        </p:txBody>
      </p:sp>
    </p:spTree>
  </p:cSld>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Composite: Problem</a:t>
            </a:r>
          </a:p>
        </p:txBody>
      </p:sp>
      <p:sp>
        <p:nvSpPr>
          <p:cNvPr id="3" name="Content Placeholder 2"/>
          <p:cNvSpPr>
            <a:spLocks noGrp="1"/>
          </p:cNvSpPr>
          <p:nvPr>
            <p:ph idx="1"/>
          </p:nvPr>
        </p:nvSpPr>
        <p:spPr/>
        <p:txBody>
          <a:bodyPr/>
          <a:lstStyle/>
          <a:p>
            <a:pPr lvl="0" indent="0" marL="0">
              <a:buNone/>
            </a:pPr>
            <a:r>
              <a:rPr/>
              <a:t>Using the Composite pattern makes sense only when the core model of your app can be represented as a </a:t>
            </a:r>
            <a:r>
              <a:rPr b="1"/>
              <a:t>tree</a:t>
            </a:r>
            <a:r>
              <a:rPr/>
              <a:t>.</a:t>
            </a:r>
          </a:p>
          <a:p>
            <a:pPr lvl="0" indent="0" marL="0">
              <a:buNone/>
            </a:pPr>
            <a:r>
              <a:rPr/>
              <a:t>For example, imagine that you have two types of objects: </a:t>
            </a:r>
            <a:r>
              <a:rPr>
                <a:latin typeface="Courier"/>
              </a:rPr>
              <a:t>Products</a:t>
            </a:r>
            <a:r>
              <a:rPr/>
              <a:t> and </a:t>
            </a:r>
            <a:r>
              <a:rPr>
                <a:latin typeface="Courier"/>
              </a:rPr>
              <a:t>Boxes</a:t>
            </a:r>
            <a:r>
              <a:rPr/>
              <a:t>. A </a:t>
            </a:r>
            <a:r>
              <a:rPr>
                <a:latin typeface="Courier"/>
              </a:rPr>
              <a:t>Box</a:t>
            </a:r>
            <a:r>
              <a:rPr/>
              <a:t> can contain several </a:t>
            </a:r>
            <a:r>
              <a:rPr>
                <a:latin typeface="Courier"/>
              </a:rPr>
              <a:t>Products</a:t>
            </a:r>
            <a:r>
              <a:rPr/>
              <a:t> as well as a number of smaller </a:t>
            </a:r>
            <a:r>
              <a:rPr>
                <a:latin typeface="Courier"/>
              </a:rPr>
              <a:t>Boxes</a:t>
            </a:r>
            <a:r>
              <a:rPr/>
              <a:t>. These little </a:t>
            </a:r>
            <a:r>
              <a:rPr>
                <a:latin typeface="Courier"/>
              </a:rPr>
              <a:t>Boxes</a:t>
            </a:r>
            <a:r>
              <a:rPr/>
              <a:t> can also hold some </a:t>
            </a:r>
            <a:r>
              <a:rPr>
                <a:latin typeface="Courier"/>
              </a:rPr>
              <a:t>Products</a:t>
            </a:r>
            <a:r>
              <a:rPr/>
              <a:t> or even smaller </a:t>
            </a:r>
            <a:r>
              <a:rPr>
                <a:latin typeface="Courier"/>
              </a:rPr>
              <a:t>Boxes</a:t>
            </a:r>
            <a:r>
              <a:rPr/>
              <a:t>, and so on.</a:t>
            </a:r>
          </a:p>
        </p:txBody>
      </p:sp>
    </p:spTree>
  </p:cSld>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Composite: Problem (cont.)</a:t>
            </a:r>
          </a:p>
        </p:txBody>
      </p:sp>
      <p:sp>
        <p:nvSpPr>
          <p:cNvPr id="3" name="Content Placeholder 2"/>
          <p:cNvSpPr>
            <a:spLocks noGrp="1"/>
          </p:cNvSpPr>
          <p:nvPr>
            <p:ph idx="1"/>
          </p:nvPr>
        </p:nvSpPr>
        <p:spPr/>
        <p:txBody>
          <a:bodyPr/>
          <a:lstStyle/>
          <a:p>
            <a:pPr lvl="0" indent="0" marL="0">
              <a:buNone/>
            </a:pPr>
            <a:r>
              <a:rPr/>
              <a:t>Say you decide to create an ordering system using these classes. Orders could contain simple products without any wrapping, as well as boxes stuffed with products and other boxes.</a:t>
            </a:r>
          </a:p>
          <a:p>
            <a:pPr lvl="0" indent="0" marL="0">
              <a:buNone/>
            </a:pPr>
            <a:r>
              <a:rPr/>
              <a:t>How would you determine the </a:t>
            </a:r>
            <a:r>
              <a:rPr b="1"/>
              <a:t>total price</a:t>
            </a:r>
            <a:r>
              <a:rPr/>
              <a:t> of such an order?</a:t>
            </a:r>
          </a:p>
          <a:p>
            <a:pPr lvl="0" indent="0" marL="0">
              <a:buNone/>
            </a:pPr>
            <a:r>
              <a:rPr/>
              <a:t>You could try a direct approach: unwrap all the boxes, go over all the products and then calculate the total. But this requires knowing the specific classes and nesting structure in advance, making the code tightly coupled to the structure.</a:t>
            </a:r>
          </a:p>
        </p:txBody>
      </p:sp>
    </p:spTree>
  </p:cSld>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Composite: Solution</a:t>
            </a:r>
          </a:p>
        </p:txBody>
      </p:sp>
      <p:sp>
        <p:nvSpPr>
          <p:cNvPr id="3" name="Content Placeholder 2"/>
          <p:cNvSpPr>
            <a:spLocks noGrp="1"/>
          </p:cNvSpPr>
          <p:nvPr>
            <p:ph idx="1"/>
          </p:nvPr>
        </p:nvSpPr>
        <p:spPr/>
        <p:txBody>
          <a:bodyPr/>
          <a:lstStyle/>
          <a:p>
            <a:pPr lvl="0" indent="0" marL="0">
              <a:buNone/>
            </a:pPr>
            <a:r>
              <a:rPr/>
              <a:t>The Composite pattern suggests that you work with </a:t>
            </a:r>
            <a:r>
              <a:rPr>
                <a:latin typeface="Courier"/>
              </a:rPr>
              <a:t>Products</a:t>
            </a:r>
            <a:r>
              <a:rPr/>
              <a:t> and </a:t>
            </a:r>
            <a:r>
              <a:rPr>
                <a:latin typeface="Courier"/>
              </a:rPr>
              <a:t>Boxes</a:t>
            </a:r>
            <a:r>
              <a:rPr/>
              <a:t> through a </a:t>
            </a:r>
            <a:r>
              <a:rPr b="1"/>
              <a:t>common interface</a:t>
            </a:r>
            <a:r>
              <a:rPr/>
              <a:t> which declares a method for calculating the total price.</a:t>
            </a:r>
          </a:p>
          <a:p>
            <a:pPr lvl="0"/>
            <a:r>
              <a:rPr/>
              <a:t>For a </a:t>
            </a:r>
            <a:r>
              <a:rPr b="1"/>
              <a:t>product</a:t>
            </a:r>
            <a:r>
              <a:rPr/>
              <a:t>, it would simply return the product’s price</a:t>
            </a:r>
          </a:p>
          <a:p>
            <a:pPr lvl="0"/>
            <a:r>
              <a:rPr/>
              <a:t>For a </a:t>
            </a:r>
            <a:r>
              <a:rPr b="1"/>
              <a:t>box</a:t>
            </a:r>
            <a:r>
              <a:rPr/>
              <a:t>, it would go over each item the box contains, ask its price, and then return a total for this box</a:t>
            </a:r>
          </a:p>
          <a:p>
            <a:pPr lvl="0" indent="0" marL="0">
              <a:buNone/>
            </a:pPr>
            <a:r>
              <a:rPr/>
              <a:t>The greatest benefit is that you do not need to care about the concrete classes of objects that compose the tree. You can treat them all the same via the common interface.</a:t>
            </a:r>
          </a:p>
        </p:txBody>
      </p:sp>
    </p:spTree>
  </p:cSld>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Composite: Solution (cont.)</a:t>
            </a:r>
          </a:p>
        </p:txBody>
      </p:sp>
      <p:sp>
        <p:nvSpPr>
          <p:cNvPr id="3" name="Content Placeholder 2"/>
          <p:cNvSpPr>
            <a:spLocks noGrp="1"/>
          </p:cNvSpPr>
          <p:nvPr>
            <p:ph idx="1"/>
          </p:nvPr>
        </p:nvSpPr>
        <p:spPr/>
        <p:txBody>
          <a:bodyPr/>
          <a:lstStyle/>
          <a:p>
            <a:pPr lvl="0" indent="0" marL="0">
              <a:buNone/>
            </a:pPr>
            <a:r>
              <a:rPr/>
              <a:t>When you call a method, the objects themselves pass the request down the tree. You can </a:t>
            </a:r>
            <a:r>
              <a:rPr b="1"/>
              <a:t>run a behavior recursively over all components</a:t>
            </a:r>
            <a:r>
              <a:rPr/>
              <a:t> of an object tree.</a:t>
            </a:r>
          </a:p>
          <a:p>
            <a:pPr lvl="0" indent="0" marL="0">
              <a:buNone/>
            </a:pPr>
            <a:r>
              <a:rPr/>
              <a:t>This approach works because: - A product returns its price directly - A box iterates over its contents, calling the price method on each item - If an item is another box, that box also iterates over its contents, and so on - The result is that the entire tree structure is traversed automatically</a:t>
            </a:r>
          </a:p>
        </p:txBody>
      </p:sp>
    </p:spTree>
  </p:cSld>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Composite: Real-World Analogy</a:t>
            </a:r>
          </a:p>
        </p:txBody>
      </p:sp>
      <p:sp>
        <p:nvSpPr>
          <p:cNvPr id="3" name="Content Placeholder 2"/>
          <p:cNvSpPr>
            <a:spLocks noGrp="1"/>
          </p:cNvSpPr>
          <p:nvPr>
            <p:ph idx="1"/>
          </p:nvPr>
        </p:nvSpPr>
        <p:spPr/>
        <p:txBody>
          <a:bodyPr/>
          <a:lstStyle/>
          <a:p>
            <a:pPr lvl="0" indent="0" marL="0">
              <a:buNone/>
            </a:pPr>
            <a:r>
              <a:rPr b="1"/>
              <a:t>Armies</a:t>
            </a:r>
            <a:r>
              <a:rPr/>
              <a:t> of most countries are structured as hierarchies. An army consists of several divisions; a division is a set of brigades, and a brigade consists of platoons, which can be broken down into squads. Finally, a squad is a small group of real soldiers.</a:t>
            </a:r>
          </a:p>
          <a:p>
            <a:pPr lvl="0" indent="0" marL="0">
              <a:buNone/>
            </a:pPr>
            <a:r>
              <a:rPr b="1"/>
              <a:t>Orders</a:t>
            </a:r>
            <a:r>
              <a:rPr/>
              <a:t> are given at the top of the hierarchy and passed down onto each level until every soldier knows what needs to be done. This mirrors how the Composite pattern delegates work through the tree.</a:t>
            </a:r>
          </a:p>
        </p:txBody>
      </p:sp>
    </p:spTree>
  </p:cSld>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Composite: Structure</a:t>
            </a:r>
          </a:p>
        </p:txBody>
      </p:sp>
      <p:sp>
        <p:nvSpPr>
          <p:cNvPr id="3" name="Content Placeholder 2"/>
          <p:cNvSpPr>
            <a:spLocks noGrp="1"/>
          </p:cNvSpPr>
          <p:nvPr>
            <p:ph idx="1"/>
          </p:nvPr>
        </p:nvSpPr>
        <p:spPr/>
        <p:txBody>
          <a:bodyPr/>
          <a:lstStyle/>
          <a:p>
            <a:pPr lvl="0" indent="-342900" marL="342900">
              <a:buAutoNum type="arabicPeriod"/>
            </a:pPr>
            <a:r>
              <a:rPr b="1"/>
              <a:t>Component</a:t>
            </a:r>
            <a:r>
              <a:rPr/>
              <a:t> – The interface that describes operations common to both simple and complex elements of the tree</a:t>
            </a:r>
          </a:p>
          <a:p>
            <a:pPr lvl="0" indent="-342900" marL="342900">
              <a:buAutoNum type="arabicPeriod"/>
            </a:pPr>
            <a:r>
              <a:rPr b="1"/>
              <a:t>Leaf</a:t>
            </a:r>
            <a:r>
              <a:rPr/>
              <a:t> – A basic element of a tree that does not have sub-elements. Usually, leaf components end up doing most of the real work, since they have no one to delegate the work to</a:t>
            </a:r>
          </a:p>
          <a:p>
            <a:pPr lvl="0" indent="-342900" marL="342900">
              <a:buAutoNum type="arabicPeriod"/>
            </a:pPr>
            <a:r>
              <a:rPr b="1"/>
              <a:t>Container (Composite)</a:t>
            </a:r>
            <a:r>
              <a:rPr/>
              <a:t> – An element that has sub-elements: leaves or other containers. A container does not know the concrete classes of its children. It works with all sub-elements only via the component interface</a:t>
            </a:r>
          </a:p>
          <a:p>
            <a:pPr lvl="0" indent="-342900" marL="342900">
              <a:buAutoNum type="arabicPeriod"/>
            </a:pPr>
            <a:r>
              <a:rPr b="1"/>
              <a:t>Client</a:t>
            </a:r>
            <a:r>
              <a:rPr/>
              <a:t> – Works with all elements through the component interface. As a result, the client can work in the same way with both simple and complex elements of the tree</a:t>
            </a:r>
          </a:p>
        </p:txBody>
      </p:sp>
    </p:spTree>
  </p:cSld>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Composite - Class Diagram</a:t>
            </a:r>
          </a:p>
        </p:txBody>
      </p:sp>
      <p:pic>
        <p:nvPicPr>
          <p:cNvPr descr="assets/composite-structure.png" id="0" name="Picture 1"/>
          <p:cNvPicPr>
            <a:picLocks noGrp="1" noChangeAspect="1"/>
          </p:cNvPicPr>
          <p:nvPr/>
        </p:nvPicPr>
        <p:blipFill>
          <a:blip r:embed="rId2"/>
          <a:stretch>
            <a:fillRect/>
          </a:stretch>
        </p:blipFill>
        <p:spPr bwMode="auto">
          <a:xfrm>
            <a:off x="3568700" y="444500"/>
            <a:ext cx="5105400" cy="33909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a:t>
            </a:r>
          </a:p>
        </p:txBody>
      </p:sp>
    </p:spTree>
  </p:cSld>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Composite: Java Code Example - Component</a:t>
            </a:r>
          </a:p>
        </p:txBody>
      </p:sp>
      <p:sp>
        <p:nvSpPr>
          <p:cNvPr id="3" name="Content Placeholder 2"/>
          <p:cNvSpPr>
            <a:spLocks noGrp="1"/>
          </p:cNvSpPr>
          <p:nvPr>
            <p:ph idx="1"/>
          </p:nvPr>
        </p:nvSpPr>
        <p:spPr/>
        <p:txBody>
          <a:bodyPr/>
          <a:lstStyle/>
          <a:p>
            <a:pPr lvl="0" indent="0">
              <a:buNone/>
            </a:pPr>
            <a:r>
              <a:rPr i="1">
                <a:solidFill>
                  <a:srgbClr val="60A0B0"/>
                </a:solidFill>
                <a:latin typeface="Courier"/>
              </a:rPr>
              <a:t>// The component interface declares common operations for</a:t>
            </a:r>
            <a:br/>
            <a:r>
              <a:rPr i="1">
                <a:solidFill>
                  <a:srgbClr val="60A0B0"/>
                </a:solidFill>
                <a:latin typeface="Courier"/>
              </a:rPr>
              <a:t>// both simple and complex objects of a composition.</a:t>
            </a:r>
            <a:br/>
            <a:r>
              <a:rPr b="1">
                <a:solidFill>
                  <a:srgbClr val="007020"/>
                </a:solidFill>
                <a:latin typeface="Courier"/>
              </a:rPr>
              <a:t>public</a:t>
            </a:r>
            <a:r>
              <a:rPr>
                <a:latin typeface="Courier"/>
              </a:rPr>
              <a:t> </a:t>
            </a:r>
            <a:r>
              <a:rPr b="1">
                <a:solidFill>
                  <a:srgbClr val="007020"/>
                </a:solidFill>
                <a:latin typeface="Courier"/>
              </a:rPr>
              <a:t>interface</a:t>
            </a:r>
            <a:r>
              <a:rPr>
                <a:latin typeface="Courier"/>
              </a:rPr>
              <a:t> Graphic </a:t>
            </a:r>
            <a:r>
              <a:rPr>
                <a:solidFill>
                  <a:srgbClr val="666666"/>
                </a:solidFill>
                <a:latin typeface="Courier"/>
              </a:rPr>
              <a:t>{</a:t>
            </a:r>
            <a:br/>
            <a:r>
              <a:rPr>
                <a:latin typeface="Courier"/>
              </a:rPr>
              <a:t>    </a:t>
            </a:r>
            <a:r>
              <a:rPr>
                <a:solidFill>
                  <a:srgbClr val="902000"/>
                </a:solidFill>
                <a:latin typeface="Courier"/>
              </a:rPr>
              <a:t>void</a:t>
            </a:r>
            <a:r>
              <a:rPr>
                <a:latin typeface="Courier"/>
              </a:rPr>
              <a:t> </a:t>
            </a:r>
            <a:r>
              <a:rPr>
                <a:solidFill>
                  <a:srgbClr val="06287E"/>
                </a:solidFill>
                <a:latin typeface="Courier"/>
              </a:rPr>
              <a:t>move</a:t>
            </a:r>
            <a:r>
              <a:rPr>
                <a:solidFill>
                  <a:srgbClr val="666666"/>
                </a:solidFill>
                <a:latin typeface="Courier"/>
              </a:rPr>
              <a:t>(</a:t>
            </a:r>
            <a:r>
              <a:rPr>
                <a:solidFill>
                  <a:srgbClr val="902000"/>
                </a:solidFill>
                <a:latin typeface="Courier"/>
              </a:rPr>
              <a:t>int</a:t>
            </a:r>
            <a:r>
              <a:rPr>
                <a:latin typeface="Courier"/>
              </a:rPr>
              <a:t> x</a:t>
            </a:r>
            <a:r>
              <a:rPr>
                <a:solidFill>
                  <a:srgbClr val="666666"/>
                </a:solidFill>
                <a:latin typeface="Courier"/>
              </a:rPr>
              <a:t>,</a:t>
            </a:r>
            <a:r>
              <a:rPr>
                <a:latin typeface="Courier"/>
              </a:rPr>
              <a:t> </a:t>
            </a:r>
            <a:r>
              <a:rPr>
                <a:solidFill>
                  <a:srgbClr val="902000"/>
                </a:solidFill>
                <a:latin typeface="Courier"/>
              </a:rPr>
              <a:t>int</a:t>
            </a:r>
            <a:r>
              <a:rPr>
                <a:latin typeface="Courier"/>
              </a:rPr>
              <a:t> y</a:t>
            </a:r>
            <a:r>
              <a:rPr>
                <a:solidFill>
                  <a:srgbClr val="666666"/>
                </a:solidFill>
                <a:latin typeface="Courier"/>
              </a:rPr>
              <a:t>);</a:t>
            </a:r>
            <a:br/>
            <a:r>
              <a:rPr>
                <a:latin typeface="Courier"/>
              </a:rPr>
              <a:t>    </a:t>
            </a:r>
            <a:r>
              <a:rPr>
                <a:solidFill>
                  <a:srgbClr val="902000"/>
                </a:solidFill>
                <a:latin typeface="Courier"/>
              </a:rPr>
              <a:t>void</a:t>
            </a:r>
            <a:r>
              <a:rPr>
                <a:latin typeface="Courier"/>
              </a:rPr>
              <a:t> </a:t>
            </a:r>
            <a:r>
              <a:rPr>
                <a:solidFill>
                  <a:srgbClr val="06287E"/>
                </a:solidFill>
                <a:latin typeface="Courier"/>
              </a:rPr>
              <a:t>draw</a:t>
            </a:r>
            <a:r>
              <a:rPr>
                <a:solidFill>
                  <a:srgbClr val="666666"/>
                </a:solidFill>
                <a:latin typeface="Courier"/>
              </a:rPr>
              <a:t>();</a:t>
            </a:r>
            <a:br/>
            <a:r>
              <a:rPr>
                <a:solidFill>
                  <a:srgbClr val="666666"/>
                </a:solidFill>
                <a:latin typeface="Courier"/>
              </a:rPr>
              <a:t>}</a:t>
            </a:r>
          </a:p>
        </p:txBody>
      </p:sp>
    </p:spTree>
  </p:cSld>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Composite: Java Code Example - Leaves</a:t>
            </a:r>
          </a:p>
        </p:txBody>
      </p:sp>
      <p:sp>
        <p:nvSpPr>
          <p:cNvPr id="3" name="Content Placeholder 2"/>
          <p:cNvSpPr>
            <a:spLocks noGrp="1"/>
          </p:cNvSpPr>
          <p:nvPr>
            <p:ph idx="1"/>
          </p:nvPr>
        </p:nvSpPr>
        <p:spPr/>
        <p:txBody>
          <a:bodyPr/>
          <a:lstStyle/>
          <a:p>
            <a:pPr lvl="0" indent="0">
              <a:buNone/>
            </a:pPr>
            <a:r>
              <a:rPr i="1">
                <a:solidFill>
                  <a:srgbClr val="60A0B0"/>
                </a:solidFill>
                <a:latin typeface="Courier"/>
              </a:rPr>
              <a:t>// Leaf classes represent end objects of a composition.</a:t>
            </a:r>
            <a:br/>
            <a:r>
              <a:rPr i="1">
                <a:solidFill>
                  <a:srgbClr val="60A0B0"/>
                </a:solidFill>
                <a:latin typeface="Courier"/>
              </a:rPr>
              <a:t>// A leaf object cannot have any sub-objects.</a:t>
            </a:r>
            <a:br/>
            <a:r>
              <a:rPr b="1">
                <a:solidFill>
                  <a:srgbClr val="007020"/>
                </a:solidFill>
                <a:latin typeface="Courier"/>
              </a:rPr>
              <a:t>public</a:t>
            </a:r>
            <a:r>
              <a:rPr>
                <a:latin typeface="Courier"/>
              </a:rPr>
              <a:t> </a:t>
            </a:r>
            <a:r>
              <a:rPr b="1">
                <a:solidFill>
                  <a:srgbClr val="007020"/>
                </a:solidFill>
                <a:latin typeface="Courier"/>
              </a:rPr>
              <a:t>class</a:t>
            </a:r>
            <a:r>
              <a:rPr>
                <a:latin typeface="Courier"/>
              </a:rPr>
              <a:t> Dot </a:t>
            </a:r>
            <a:r>
              <a:rPr b="1">
                <a:solidFill>
                  <a:srgbClr val="007020"/>
                </a:solidFill>
                <a:latin typeface="Courier"/>
              </a:rPr>
              <a:t>implements</a:t>
            </a:r>
            <a:r>
              <a:rPr>
                <a:latin typeface="Courier"/>
              </a:rPr>
              <a:t> Graphic </a:t>
            </a:r>
            <a:r>
              <a:rPr>
                <a:solidFill>
                  <a:srgbClr val="666666"/>
                </a:solidFill>
                <a:latin typeface="Courier"/>
              </a:rPr>
              <a:t>{</a:t>
            </a:r>
            <a:br/>
            <a:r>
              <a:rPr>
                <a:latin typeface="Courier"/>
              </a:rPr>
              <a:t>    </a:t>
            </a:r>
            <a:r>
              <a:rPr b="1">
                <a:solidFill>
                  <a:srgbClr val="007020"/>
                </a:solidFill>
                <a:latin typeface="Courier"/>
              </a:rPr>
              <a:t>protected</a:t>
            </a:r>
            <a:r>
              <a:rPr>
                <a:latin typeface="Courier"/>
              </a:rPr>
              <a:t> </a:t>
            </a:r>
            <a:r>
              <a:rPr>
                <a:solidFill>
                  <a:srgbClr val="902000"/>
                </a:solidFill>
                <a:latin typeface="Courier"/>
              </a:rPr>
              <a:t>int</a:t>
            </a:r>
            <a:r>
              <a:rPr>
                <a:latin typeface="Courier"/>
              </a:rPr>
              <a:t> x</a:t>
            </a:r>
            <a:r>
              <a:rPr>
                <a:solidFill>
                  <a:srgbClr val="666666"/>
                </a:solidFill>
                <a:latin typeface="Courier"/>
              </a:rPr>
              <a:t>,</a:t>
            </a:r>
            <a:r>
              <a:rPr>
                <a:latin typeface="Courier"/>
              </a:rPr>
              <a:t> y</a:t>
            </a:r>
            <a:r>
              <a:rPr>
                <a:solidFill>
                  <a:srgbClr val="666666"/>
                </a:solidFill>
                <a:latin typeface="Courier"/>
              </a:rPr>
              <a:t>;</a:t>
            </a:r>
            <a:br/>
            <a:br/>
            <a:r>
              <a:rPr>
                <a:latin typeface="Courier"/>
              </a:rPr>
              <a:t>    </a:t>
            </a:r>
            <a:r>
              <a:rPr b="1">
                <a:solidFill>
                  <a:srgbClr val="007020"/>
                </a:solidFill>
                <a:latin typeface="Courier"/>
              </a:rPr>
              <a:t>public</a:t>
            </a:r>
            <a:r>
              <a:rPr>
                <a:latin typeface="Courier"/>
              </a:rPr>
              <a:t> </a:t>
            </a:r>
            <a:r>
              <a:rPr>
                <a:solidFill>
                  <a:srgbClr val="06287E"/>
                </a:solidFill>
                <a:latin typeface="Courier"/>
              </a:rPr>
              <a:t>Dot</a:t>
            </a:r>
            <a:r>
              <a:rPr>
                <a:solidFill>
                  <a:srgbClr val="666666"/>
                </a:solidFill>
                <a:latin typeface="Courier"/>
              </a:rPr>
              <a:t>(</a:t>
            </a:r>
            <a:r>
              <a:rPr>
                <a:solidFill>
                  <a:srgbClr val="902000"/>
                </a:solidFill>
                <a:latin typeface="Courier"/>
              </a:rPr>
              <a:t>int</a:t>
            </a:r>
            <a:r>
              <a:rPr>
                <a:latin typeface="Courier"/>
              </a:rPr>
              <a:t> x</a:t>
            </a:r>
            <a:r>
              <a:rPr>
                <a:solidFill>
                  <a:srgbClr val="666666"/>
                </a:solidFill>
                <a:latin typeface="Courier"/>
              </a:rPr>
              <a:t>,</a:t>
            </a:r>
            <a:r>
              <a:rPr>
                <a:latin typeface="Courier"/>
              </a:rPr>
              <a:t> </a:t>
            </a:r>
            <a:r>
              <a:rPr>
                <a:solidFill>
                  <a:srgbClr val="902000"/>
                </a:solidFill>
                <a:latin typeface="Courier"/>
              </a:rPr>
              <a:t>int</a:t>
            </a:r>
            <a:r>
              <a:rPr>
                <a:latin typeface="Courier"/>
              </a:rPr>
              <a:t> y</a:t>
            </a:r>
            <a:r>
              <a:rPr>
                <a:solidFill>
                  <a:srgbClr val="666666"/>
                </a:solidFill>
                <a:latin typeface="Courier"/>
              </a:rPr>
              <a:t>)</a:t>
            </a:r>
            <a:r>
              <a:rPr>
                <a:latin typeface="Courier"/>
              </a:rPr>
              <a:t> </a:t>
            </a:r>
            <a:r>
              <a:rPr>
                <a:solidFill>
                  <a:srgbClr val="666666"/>
                </a:solidFill>
                <a:latin typeface="Courier"/>
              </a:rPr>
              <a:t>{</a:t>
            </a:r>
            <a:br/>
            <a:r>
              <a:rPr>
                <a:latin typeface="Courier"/>
              </a:rPr>
              <a:t>        </a:t>
            </a:r>
            <a:r>
              <a:rPr b="1">
                <a:solidFill>
                  <a:srgbClr val="007020"/>
                </a:solidFill>
                <a:latin typeface="Courier"/>
              </a:rPr>
              <a:t>this</a:t>
            </a:r>
            <a:r>
              <a:rPr>
                <a:solidFill>
                  <a:srgbClr val="666666"/>
                </a:solidFill>
                <a:latin typeface="Courier"/>
              </a:rPr>
              <a:t>.</a:t>
            </a:r>
            <a:r>
              <a:rPr>
                <a:solidFill>
                  <a:srgbClr val="06287E"/>
                </a:solidFill>
                <a:latin typeface="Courier"/>
              </a:rPr>
              <a:t>x</a:t>
            </a:r>
            <a:r>
              <a:rPr>
                <a:latin typeface="Courier"/>
              </a:rPr>
              <a:t> </a:t>
            </a:r>
            <a:r>
              <a:rPr>
                <a:solidFill>
                  <a:srgbClr val="666666"/>
                </a:solidFill>
                <a:latin typeface="Courier"/>
              </a:rPr>
              <a:t>=</a:t>
            </a:r>
            <a:r>
              <a:rPr>
                <a:latin typeface="Courier"/>
              </a:rPr>
              <a:t> x</a:t>
            </a:r>
            <a:r>
              <a:rPr>
                <a:solidFill>
                  <a:srgbClr val="666666"/>
                </a:solidFill>
                <a:latin typeface="Courier"/>
              </a:rPr>
              <a:t>;</a:t>
            </a:r>
            <a:br/>
            <a:r>
              <a:rPr>
                <a:latin typeface="Courier"/>
              </a:rPr>
              <a:t>        </a:t>
            </a:r>
            <a:r>
              <a:rPr b="1">
                <a:solidFill>
                  <a:srgbClr val="007020"/>
                </a:solidFill>
                <a:latin typeface="Courier"/>
              </a:rPr>
              <a:t>this</a:t>
            </a:r>
            <a:r>
              <a:rPr>
                <a:solidFill>
                  <a:srgbClr val="666666"/>
                </a:solidFill>
                <a:latin typeface="Courier"/>
              </a:rPr>
              <a:t>.</a:t>
            </a:r>
            <a:r>
              <a:rPr>
                <a:solidFill>
                  <a:srgbClr val="06287E"/>
                </a:solidFill>
                <a:latin typeface="Courier"/>
              </a:rPr>
              <a:t>y</a:t>
            </a:r>
            <a:r>
              <a:rPr>
                <a:latin typeface="Courier"/>
              </a:rPr>
              <a:t> </a:t>
            </a:r>
            <a:r>
              <a:rPr>
                <a:solidFill>
                  <a:srgbClr val="666666"/>
                </a:solidFill>
                <a:latin typeface="Courier"/>
              </a:rPr>
              <a:t>=</a:t>
            </a:r>
            <a:r>
              <a:rPr>
                <a:latin typeface="Courier"/>
              </a:rPr>
              <a:t> y</a:t>
            </a:r>
            <a:r>
              <a:rPr>
                <a:solidFill>
                  <a:srgbClr val="666666"/>
                </a:solidFill>
                <a:latin typeface="Courier"/>
              </a:rPr>
              <a:t>;</a:t>
            </a:r>
            <a:br/>
            <a:r>
              <a:rPr>
                <a:latin typeface="Courier"/>
              </a:rPr>
              <a:t>    </a:t>
            </a:r>
            <a:r>
              <a:rPr>
                <a:solidFill>
                  <a:srgbClr val="666666"/>
                </a:solidFill>
                <a:latin typeface="Courier"/>
              </a:rPr>
              <a:t>}</a:t>
            </a:r>
            <a:br/>
            <a:br/>
            <a:r>
              <a:rPr>
                <a:latin typeface="Courier"/>
              </a:rPr>
              <a:t>    </a:t>
            </a:r>
            <a:r>
              <a:rPr>
                <a:solidFill>
                  <a:srgbClr val="7D9029"/>
                </a:solidFill>
                <a:latin typeface="Courier"/>
              </a:rPr>
              <a:t>@Override</a:t>
            </a:r>
            <a:br/>
            <a:r>
              <a:rPr>
                <a:latin typeface="Courier"/>
              </a:rPr>
              <a:t>    </a:t>
            </a:r>
            <a:r>
              <a:rPr b="1">
                <a:solidFill>
                  <a:srgbClr val="007020"/>
                </a:solidFill>
                <a:latin typeface="Courier"/>
              </a:rPr>
              <a:t>public</a:t>
            </a:r>
            <a:r>
              <a:rPr>
                <a:latin typeface="Courier"/>
              </a:rPr>
              <a:t> </a:t>
            </a:r>
            <a:r>
              <a:rPr>
                <a:solidFill>
                  <a:srgbClr val="902000"/>
                </a:solidFill>
                <a:latin typeface="Courier"/>
              </a:rPr>
              <a:t>void</a:t>
            </a:r>
            <a:r>
              <a:rPr>
                <a:latin typeface="Courier"/>
              </a:rPr>
              <a:t> </a:t>
            </a:r>
            <a:r>
              <a:rPr>
                <a:solidFill>
                  <a:srgbClr val="06287E"/>
                </a:solidFill>
                <a:latin typeface="Courier"/>
              </a:rPr>
              <a:t>move</a:t>
            </a:r>
            <a:r>
              <a:rPr>
                <a:solidFill>
                  <a:srgbClr val="666666"/>
                </a:solidFill>
                <a:latin typeface="Courier"/>
              </a:rPr>
              <a:t>(</a:t>
            </a:r>
            <a:r>
              <a:rPr>
                <a:solidFill>
                  <a:srgbClr val="902000"/>
                </a:solidFill>
                <a:latin typeface="Courier"/>
              </a:rPr>
              <a:t>int</a:t>
            </a:r>
            <a:r>
              <a:rPr>
                <a:latin typeface="Courier"/>
              </a:rPr>
              <a:t> x</a:t>
            </a:r>
            <a:r>
              <a:rPr>
                <a:solidFill>
                  <a:srgbClr val="666666"/>
                </a:solidFill>
                <a:latin typeface="Courier"/>
              </a:rPr>
              <a:t>,</a:t>
            </a:r>
            <a:r>
              <a:rPr>
                <a:latin typeface="Courier"/>
              </a:rPr>
              <a:t> </a:t>
            </a:r>
            <a:r>
              <a:rPr>
                <a:solidFill>
                  <a:srgbClr val="902000"/>
                </a:solidFill>
                <a:latin typeface="Courier"/>
              </a:rPr>
              <a:t>int</a:t>
            </a:r>
            <a:r>
              <a:rPr>
                <a:latin typeface="Courier"/>
              </a:rPr>
              <a:t> y</a:t>
            </a:r>
            <a:r>
              <a:rPr>
                <a:solidFill>
                  <a:srgbClr val="666666"/>
                </a:solidFill>
                <a:latin typeface="Courier"/>
              </a:rPr>
              <a:t>)</a:t>
            </a:r>
            <a:r>
              <a:rPr>
                <a:latin typeface="Courier"/>
              </a:rPr>
              <a:t> </a:t>
            </a:r>
            <a:r>
              <a:rPr>
                <a:solidFill>
                  <a:srgbClr val="666666"/>
                </a:solidFill>
                <a:latin typeface="Courier"/>
              </a:rPr>
              <a:t>{</a:t>
            </a:r>
            <a:br/>
            <a:r>
              <a:rPr>
                <a:latin typeface="Courier"/>
              </a:rPr>
              <a:t>        </a:t>
            </a:r>
            <a:r>
              <a:rPr b="1">
                <a:solidFill>
                  <a:srgbClr val="007020"/>
                </a:solidFill>
                <a:latin typeface="Courier"/>
              </a:rPr>
              <a:t>this</a:t>
            </a:r>
            <a:r>
              <a:rPr>
                <a:solidFill>
                  <a:srgbClr val="666666"/>
                </a:solidFill>
                <a:latin typeface="Courier"/>
              </a:rPr>
              <a:t>.</a:t>
            </a:r>
            <a:r>
              <a:rPr>
                <a:solidFill>
                  <a:srgbClr val="06287E"/>
                </a:solidFill>
                <a:latin typeface="Courier"/>
              </a:rPr>
              <a:t>x</a:t>
            </a:r>
            <a:r>
              <a:rPr>
                <a:latin typeface="Courier"/>
              </a:rPr>
              <a:t> </a:t>
            </a:r>
            <a:r>
              <a:rPr>
                <a:solidFill>
                  <a:srgbClr val="666666"/>
                </a:solidFill>
                <a:latin typeface="Courier"/>
              </a:rPr>
              <a:t>+=</a:t>
            </a:r>
            <a:r>
              <a:rPr>
                <a:latin typeface="Courier"/>
              </a:rPr>
              <a:t> x</a:t>
            </a:r>
            <a:r>
              <a:rPr>
                <a:solidFill>
                  <a:srgbClr val="666666"/>
                </a:solidFill>
                <a:latin typeface="Courier"/>
              </a:rPr>
              <a:t>;</a:t>
            </a:r>
            <a:br/>
            <a:r>
              <a:rPr>
                <a:latin typeface="Courier"/>
              </a:rPr>
              <a:t>        </a:t>
            </a:r>
            <a:r>
              <a:rPr b="1">
                <a:solidFill>
                  <a:srgbClr val="007020"/>
                </a:solidFill>
                <a:latin typeface="Courier"/>
              </a:rPr>
              <a:t>this</a:t>
            </a:r>
            <a:r>
              <a:rPr>
                <a:solidFill>
                  <a:srgbClr val="666666"/>
                </a:solidFill>
                <a:latin typeface="Courier"/>
              </a:rPr>
              <a:t>.</a:t>
            </a:r>
            <a:r>
              <a:rPr>
                <a:solidFill>
                  <a:srgbClr val="06287E"/>
                </a:solidFill>
                <a:latin typeface="Courier"/>
              </a:rPr>
              <a:t>y</a:t>
            </a:r>
            <a:r>
              <a:rPr>
                <a:latin typeface="Courier"/>
              </a:rPr>
              <a:t> </a:t>
            </a:r>
            <a:r>
              <a:rPr>
                <a:solidFill>
                  <a:srgbClr val="666666"/>
                </a:solidFill>
                <a:latin typeface="Courier"/>
              </a:rPr>
              <a:t>+=</a:t>
            </a:r>
            <a:r>
              <a:rPr>
                <a:latin typeface="Courier"/>
              </a:rPr>
              <a:t> y</a:t>
            </a:r>
            <a:r>
              <a:rPr>
                <a:solidFill>
                  <a:srgbClr val="666666"/>
                </a:solidFill>
                <a:latin typeface="Courier"/>
              </a:rPr>
              <a:t>;</a:t>
            </a:r>
            <a:br/>
            <a:r>
              <a:rPr>
                <a:latin typeface="Courier"/>
              </a:rPr>
              <a:t>    </a:t>
            </a:r>
            <a:r>
              <a:rPr>
                <a:solidFill>
                  <a:srgbClr val="666666"/>
                </a:solidFill>
                <a:latin typeface="Courier"/>
              </a:rPr>
              <a:t>}</a:t>
            </a:r>
            <a:br/>
            <a:br/>
            <a:r>
              <a:rPr>
                <a:latin typeface="Courier"/>
              </a:rPr>
              <a:t>    </a:t>
            </a:r>
            <a:r>
              <a:rPr>
                <a:solidFill>
                  <a:srgbClr val="7D9029"/>
                </a:solidFill>
                <a:latin typeface="Courier"/>
              </a:rPr>
              <a:t>@Override</a:t>
            </a:r>
            <a:br/>
            <a:r>
              <a:rPr>
                <a:latin typeface="Courier"/>
              </a:rPr>
              <a:t>    </a:t>
            </a:r>
            <a:r>
              <a:rPr b="1">
                <a:solidFill>
                  <a:srgbClr val="007020"/>
                </a:solidFill>
                <a:latin typeface="Courier"/>
              </a:rPr>
              <a:t>public</a:t>
            </a:r>
            <a:r>
              <a:rPr>
                <a:latin typeface="Courier"/>
              </a:rPr>
              <a:t> </a:t>
            </a:r>
            <a:r>
              <a:rPr>
                <a:solidFill>
                  <a:srgbClr val="902000"/>
                </a:solidFill>
                <a:latin typeface="Courier"/>
              </a:rPr>
              <a:t>void</a:t>
            </a:r>
            <a:r>
              <a:rPr>
                <a:latin typeface="Courier"/>
              </a:rPr>
              <a:t> </a:t>
            </a:r>
            <a:r>
              <a:rPr>
                <a:solidFill>
                  <a:srgbClr val="06287E"/>
                </a:solidFill>
                <a:latin typeface="Courier"/>
              </a:rPr>
              <a:t>draw</a:t>
            </a:r>
            <a:r>
              <a:rPr>
                <a:solidFill>
                  <a:srgbClr val="666666"/>
                </a:solidFill>
                <a:latin typeface="Courier"/>
              </a:rPr>
              <a:t>()</a:t>
            </a:r>
            <a:r>
              <a:rPr>
                <a:latin typeface="Courier"/>
              </a:rPr>
              <a:t> </a:t>
            </a:r>
            <a:r>
              <a:rPr>
                <a:solidFill>
                  <a:srgbClr val="666666"/>
                </a:solidFill>
                <a:latin typeface="Courier"/>
              </a:rPr>
              <a:t>{</a:t>
            </a:r>
            <a:br/>
            <a:r>
              <a:rPr>
                <a:latin typeface="Courier"/>
              </a:rPr>
              <a:t>        </a:t>
            </a:r>
            <a:r>
              <a:rPr>
                <a:solidFill>
                  <a:srgbClr val="008000"/>
                </a:solidFill>
                <a:latin typeface="Courier"/>
              </a:rPr>
              <a:t>System</a:t>
            </a:r>
            <a:r>
              <a:rPr>
                <a:solidFill>
                  <a:srgbClr val="666666"/>
                </a:solidFill>
                <a:latin typeface="Courier"/>
              </a:rPr>
              <a:t>.</a:t>
            </a:r>
            <a:r>
              <a:rPr>
                <a:solidFill>
                  <a:srgbClr val="06287E"/>
                </a:solidFill>
                <a:latin typeface="Courier"/>
              </a:rPr>
              <a:t>out</a:t>
            </a:r>
            <a:r>
              <a:rPr>
                <a:solidFill>
                  <a:srgbClr val="666666"/>
                </a:solidFill>
                <a:latin typeface="Courier"/>
              </a:rPr>
              <a:t>.</a:t>
            </a:r>
            <a:r>
              <a:rPr>
                <a:solidFill>
                  <a:srgbClr val="06287E"/>
                </a:solidFill>
                <a:latin typeface="Courier"/>
              </a:rPr>
              <a:t>println</a:t>
            </a:r>
            <a:r>
              <a:rPr>
                <a:solidFill>
                  <a:srgbClr val="666666"/>
                </a:solidFill>
                <a:latin typeface="Courier"/>
              </a:rPr>
              <a:t>(</a:t>
            </a:r>
            <a:r>
              <a:rPr>
                <a:solidFill>
                  <a:srgbClr val="4070A0"/>
                </a:solidFill>
                <a:latin typeface="Courier"/>
              </a:rPr>
              <a:t>"Draw dot at ("</a:t>
            </a:r>
            <a:r>
              <a:rPr>
                <a:latin typeface="Courier"/>
              </a:rPr>
              <a:t> </a:t>
            </a:r>
            <a:r>
              <a:rPr>
                <a:solidFill>
                  <a:srgbClr val="666666"/>
                </a:solidFill>
                <a:latin typeface="Courier"/>
              </a:rPr>
              <a:t>+</a:t>
            </a:r>
            <a:r>
              <a:rPr>
                <a:latin typeface="Courier"/>
              </a:rPr>
              <a:t> x </a:t>
            </a:r>
            <a:r>
              <a:rPr>
                <a:solidFill>
                  <a:srgbClr val="666666"/>
                </a:solidFill>
                <a:latin typeface="Courier"/>
              </a:rPr>
              <a:t>+</a:t>
            </a:r>
            <a:r>
              <a:rPr>
                <a:latin typeface="Courier"/>
              </a:rPr>
              <a:t> </a:t>
            </a:r>
            <a:r>
              <a:rPr>
                <a:solidFill>
                  <a:srgbClr val="4070A0"/>
                </a:solidFill>
                <a:latin typeface="Courier"/>
              </a:rPr>
              <a:t>", "</a:t>
            </a:r>
            <a:r>
              <a:rPr>
                <a:latin typeface="Courier"/>
              </a:rPr>
              <a:t> </a:t>
            </a:r>
            <a:r>
              <a:rPr>
                <a:solidFill>
                  <a:srgbClr val="666666"/>
                </a:solidFill>
                <a:latin typeface="Courier"/>
              </a:rPr>
              <a:t>+</a:t>
            </a:r>
            <a:r>
              <a:rPr>
                <a:latin typeface="Courier"/>
              </a:rPr>
              <a:t> y </a:t>
            </a:r>
            <a:r>
              <a:rPr>
                <a:solidFill>
                  <a:srgbClr val="666666"/>
                </a:solidFill>
                <a:latin typeface="Courier"/>
              </a:rPr>
              <a:t>+</a:t>
            </a:r>
            <a:r>
              <a:rPr>
                <a:latin typeface="Courier"/>
              </a:rPr>
              <a:t> </a:t>
            </a:r>
            <a:r>
              <a:rPr>
                <a:solidFill>
                  <a:srgbClr val="4070A0"/>
                </a:solidFill>
                <a:latin typeface="Courier"/>
              </a:rPr>
              <a:t>")"</a:t>
            </a:r>
            <a:r>
              <a:rPr>
                <a:solidFill>
                  <a:srgbClr val="666666"/>
                </a:solidFill>
                <a:latin typeface="Courier"/>
              </a:rPr>
              <a:t>);</a:t>
            </a:r>
            <a:br/>
            <a:r>
              <a:rPr>
                <a:latin typeface="Courier"/>
              </a:rPr>
              <a:t>    </a:t>
            </a:r>
            <a:r>
              <a:rPr>
                <a:solidFill>
                  <a:srgbClr val="666666"/>
                </a:solidFill>
                <a:latin typeface="Courier"/>
              </a:rPr>
              <a:t>}</a:t>
            </a:r>
            <a:br/>
            <a:r>
              <a:rPr>
                <a:solidFill>
                  <a:srgbClr val="666666"/>
                </a:solidFill>
                <a:latin typeface="Courier"/>
              </a:rPr>
              <a:t>}</a:t>
            </a:r>
          </a:p>
        </p:txBody>
      </p:sp>
    </p:spTree>
  </p:cSld>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Composite: Java Code Example - Leaves (cont.)</a:t>
            </a:r>
          </a:p>
        </p:txBody>
      </p:sp>
      <p:sp>
        <p:nvSpPr>
          <p:cNvPr id="3" name="Content Placeholder 2"/>
          <p:cNvSpPr>
            <a:spLocks noGrp="1"/>
          </p:cNvSpPr>
          <p:nvPr>
            <p:ph idx="1"/>
          </p:nvPr>
        </p:nvSpPr>
        <p:spPr/>
        <p:txBody>
          <a:bodyPr/>
          <a:lstStyle/>
          <a:p>
            <a:pPr lvl="0" indent="0">
              <a:buNone/>
            </a:pPr>
            <a:r>
              <a:rPr b="1">
                <a:solidFill>
                  <a:srgbClr val="007020"/>
                </a:solidFill>
                <a:latin typeface="Courier"/>
              </a:rPr>
              <a:t>public</a:t>
            </a:r>
            <a:r>
              <a:rPr>
                <a:latin typeface="Courier"/>
              </a:rPr>
              <a:t> </a:t>
            </a:r>
            <a:r>
              <a:rPr b="1">
                <a:solidFill>
                  <a:srgbClr val="007020"/>
                </a:solidFill>
                <a:latin typeface="Courier"/>
              </a:rPr>
              <a:t>class</a:t>
            </a:r>
            <a:r>
              <a:rPr>
                <a:latin typeface="Courier"/>
              </a:rPr>
              <a:t> Circle </a:t>
            </a:r>
            <a:r>
              <a:rPr b="1">
                <a:solidFill>
                  <a:srgbClr val="007020"/>
                </a:solidFill>
                <a:latin typeface="Courier"/>
              </a:rPr>
              <a:t>extends</a:t>
            </a:r>
            <a:r>
              <a:rPr>
                <a:latin typeface="Courier"/>
              </a:rPr>
              <a:t> Dot </a:t>
            </a:r>
            <a:r>
              <a:rPr>
                <a:solidFill>
                  <a:srgbClr val="666666"/>
                </a:solidFill>
                <a:latin typeface="Courier"/>
              </a:rPr>
              <a:t>{</a:t>
            </a:r>
            <a:br/>
            <a:r>
              <a:rPr>
                <a:latin typeface="Courier"/>
              </a:rPr>
              <a:t>    </a:t>
            </a:r>
            <a:r>
              <a:rPr b="1">
                <a:solidFill>
                  <a:srgbClr val="007020"/>
                </a:solidFill>
                <a:latin typeface="Courier"/>
              </a:rPr>
              <a:t>private</a:t>
            </a:r>
            <a:r>
              <a:rPr>
                <a:latin typeface="Courier"/>
              </a:rPr>
              <a:t> </a:t>
            </a:r>
            <a:r>
              <a:rPr>
                <a:solidFill>
                  <a:srgbClr val="902000"/>
                </a:solidFill>
                <a:latin typeface="Courier"/>
              </a:rPr>
              <a:t>int</a:t>
            </a:r>
            <a:r>
              <a:rPr>
                <a:latin typeface="Courier"/>
              </a:rPr>
              <a:t> radius</a:t>
            </a:r>
            <a:r>
              <a:rPr>
                <a:solidFill>
                  <a:srgbClr val="666666"/>
                </a:solidFill>
                <a:latin typeface="Courier"/>
              </a:rPr>
              <a:t>;</a:t>
            </a:r>
            <a:br/>
            <a:br/>
            <a:r>
              <a:rPr>
                <a:latin typeface="Courier"/>
              </a:rPr>
              <a:t>    </a:t>
            </a:r>
            <a:r>
              <a:rPr b="1">
                <a:solidFill>
                  <a:srgbClr val="007020"/>
                </a:solidFill>
                <a:latin typeface="Courier"/>
              </a:rPr>
              <a:t>public</a:t>
            </a:r>
            <a:r>
              <a:rPr>
                <a:latin typeface="Courier"/>
              </a:rPr>
              <a:t> </a:t>
            </a:r>
            <a:r>
              <a:rPr>
                <a:solidFill>
                  <a:srgbClr val="06287E"/>
                </a:solidFill>
                <a:latin typeface="Courier"/>
              </a:rPr>
              <a:t>Circle</a:t>
            </a:r>
            <a:r>
              <a:rPr>
                <a:solidFill>
                  <a:srgbClr val="666666"/>
                </a:solidFill>
                <a:latin typeface="Courier"/>
              </a:rPr>
              <a:t>(</a:t>
            </a:r>
            <a:r>
              <a:rPr>
                <a:solidFill>
                  <a:srgbClr val="902000"/>
                </a:solidFill>
                <a:latin typeface="Courier"/>
              </a:rPr>
              <a:t>int</a:t>
            </a:r>
            <a:r>
              <a:rPr>
                <a:latin typeface="Courier"/>
              </a:rPr>
              <a:t> x</a:t>
            </a:r>
            <a:r>
              <a:rPr>
                <a:solidFill>
                  <a:srgbClr val="666666"/>
                </a:solidFill>
                <a:latin typeface="Courier"/>
              </a:rPr>
              <a:t>,</a:t>
            </a:r>
            <a:r>
              <a:rPr>
                <a:latin typeface="Courier"/>
              </a:rPr>
              <a:t> </a:t>
            </a:r>
            <a:r>
              <a:rPr>
                <a:solidFill>
                  <a:srgbClr val="902000"/>
                </a:solidFill>
                <a:latin typeface="Courier"/>
              </a:rPr>
              <a:t>int</a:t>
            </a:r>
            <a:r>
              <a:rPr>
                <a:latin typeface="Courier"/>
              </a:rPr>
              <a:t> y</a:t>
            </a:r>
            <a:r>
              <a:rPr>
                <a:solidFill>
                  <a:srgbClr val="666666"/>
                </a:solidFill>
                <a:latin typeface="Courier"/>
              </a:rPr>
              <a:t>,</a:t>
            </a:r>
            <a:r>
              <a:rPr>
                <a:latin typeface="Courier"/>
              </a:rPr>
              <a:t> </a:t>
            </a:r>
            <a:r>
              <a:rPr>
                <a:solidFill>
                  <a:srgbClr val="902000"/>
                </a:solidFill>
                <a:latin typeface="Courier"/>
              </a:rPr>
              <a:t>int</a:t>
            </a:r>
            <a:r>
              <a:rPr>
                <a:latin typeface="Courier"/>
              </a:rPr>
              <a:t> radius</a:t>
            </a:r>
            <a:r>
              <a:rPr>
                <a:solidFill>
                  <a:srgbClr val="666666"/>
                </a:solidFill>
                <a:latin typeface="Courier"/>
              </a:rPr>
              <a:t>)</a:t>
            </a:r>
            <a:r>
              <a:rPr>
                <a:latin typeface="Courier"/>
              </a:rPr>
              <a:t> </a:t>
            </a:r>
            <a:r>
              <a:rPr>
                <a:solidFill>
                  <a:srgbClr val="666666"/>
                </a:solidFill>
                <a:latin typeface="Courier"/>
              </a:rPr>
              <a:t>{</a:t>
            </a:r>
            <a:br/>
            <a:r>
              <a:rPr>
                <a:latin typeface="Courier"/>
              </a:rPr>
              <a:t>        </a:t>
            </a:r>
            <a:r>
              <a:rPr b="1">
                <a:solidFill>
                  <a:srgbClr val="007020"/>
                </a:solidFill>
                <a:latin typeface="Courier"/>
              </a:rPr>
              <a:t>super</a:t>
            </a:r>
            <a:r>
              <a:rPr>
                <a:solidFill>
                  <a:srgbClr val="666666"/>
                </a:solidFill>
                <a:latin typeface="Courier"/>
              </a:rPr>
              <a:t>(</a:t>
            </a:r>
            <a:r>
              <a:rPr>
                <a:latin typeface="Courier"/>
              </a:rPr>
              <a:t>x</a:t>
            </a:r>
            <a:r>
              <a:rPr>
                <a:solidFill>
                  <a:srgbClr val="666666"/>
                </a:solidFill>
                <a:latin typeface="Courier"/>
              </a:rPr>
              <a:t>,</a:t>
            </a:r>
            <a:r>
              <a:rPr>
                <a:latin typeface="Courier"/>
              </a:rPr>
              <a:t> y</a:t>
            </a:r>
            <a:r>
              <a:rPr>
                <a:solidFill>
                  <a:srgbClr val="666666"/>
                </a:solidFill>
                <a:latin typeface="Courier"/>
              </a:rPr>
              <a:t>);</a:t>
            </a:r>
            <a:br/>
            <a:r>
              <a:rPr>
                <a:latin typeface="Courier"/>
              </a:rPr>
              <a:t>        </a:t>
            </a:r>
            <a:r>
              <a:rPr b="1">
                <a:solidFill>
                  <a:srgbClr val="007020"/>
                </a:solidFill>
                <a:latin typeface="Courier"/>
              </a:rPr>
              <a:t>this</a:t>
            </a:r>
            <a:r>
              <a:rPr>
                <a:solidFill>
                  <a:srgbClr val="666666"/>
                </a:solidFill>
                <a:latin typeface="Courier"/>
              </a:rPr>
              <a:t>.</a:t>
            </a:r>
            <a:r>
              <a:rPr>
                <a:solidFill>
                  <a:srgbClr val="06287E"/>
                </a:solidFill>
                <a:latin typeface="Courier"/>
              </a:rPr>
              <a:t>radius</a:t>
            </a:r>
            <a:r>
              <a:rPr>
                <a:latin typeface="Courier"/>
              </a:rPr>
              <a:t> </a:t>
            </a:r>
            <a:r>
              <a:rPr>
                <a:solidFill>
                  <a:srgbClr val="666666"/>
                </a:solidFill>
                <a:latin typeface="Courier"/>
              </a:rPr>
              <a:t>=</a:t>
            </a:r>
            <a:r>
              <a:rPr>
                <a:latin typeface="Courier"/>
              </a:rPr>
              <a:t> radius</a:t>
            </a:r>
            <a:r>
              <a:rPr>
                <a:solidFill>
                  <a:srgbClr val="666666"/>
                </a:solidFill>
                <a:latin typeface="Courier"/>
              </a:rPr>
              <a:t>;</a:t>
            </a:r>
            <a:br/>
            <a:r>
              <a:rPr>
                <a:latin typeface="Courier"/>
              </a:rPr>
              <a:t>    </a:t>
            </a:r>
            <a:r>
              <a:rPr>
                <a:solidFill>
                  <a:srgbClr val="666666"/>
                </a:solidFill>
                <a:latin typeface="Courier"/>
              </a:rPr>
              <a:t>}</a:t>
            </a:r>
            <a:br/>
            <a:br/>
            <a:r>
              <a:rPr>
                <a:latin typeface="Courier"/>
              </a:rPr>
              <a:t>    </a:t>
            </a:r>
            <a:r>
              <a:rPr>
                <a:solidFill>
                  <a:srgbClr val="7D9029"/>
                </a:solidFill>
                <a:latin typeface="Courier"/>
              </a:rPr>
              <a:t>@Override</a:t>
            </a:r>
            <a:br/>
            <a:r>
              <a:rPr>
                <a:latin typeface="Courier"/>
              </a:rPr>
              <a:t>    </a:t>
            </a:r>
            <a:r>
              <a:rPr b="1">
                <a:solidFill>
                  <a:srgbClr val="007020"/>
                </a:solidFill>
                <a:latin typeface="Courier"/>
              </a:rPr>
              <a:t>public</a:t>
            </a:r>
            <a:r>
              <a:rPr>
                <a:latin typeface="Courier"/>
              </a:rPr>
              <a:t> </a:t>
            </a:r>
            <a:r>
              <a:rPr>
                <a:solidFill>
                  <a:srgbClr val="902000"/>
                </a:solidFill>
                <a:latin typeface="Courier"/>
              </a:rPr>
              <a:t>void</a:t>
            </a:r>
            <a:r>
              <a:rPr>
                <a:latin typeface="Courier"/>
              </a:rPr>
              <a:t> </a:t>
            </a:r>
            <a:r>
              <a:rPr>
                <a:solidFill>
                  <a:srgbClr val="06287E"/>
                </a:solidFill>
                <a:latin typeface="Courier"/>
              </a:rPr>
              <a:t>draw</a:t>
            </a:r>
            <a:r>
              <a:rPr>
                <a:solidFill>
                  <a:srgbClr val="666666"/>
                </a:solidFill>
                <a:latin typeface="Courier"/>
              </a:rPr>
              <a:t>()</a:t>
            </a:r>
            <a:r>
              <a:rPr>
                <a:latin typeface="Courier"/>
              </a:rPr>
              <a:t> </a:t>
            </a:r>
            <a:r>
              <a:rPr>
                <a:solidFill>
                  <a:srgbClr val="666666"/>
                </a:solidFill>
                <a:latin typeface="Courier"/>
              </a:rPr>
              <a:t>{</a:t>
            </a:r>
            <a:br/>
            <a:r>
              <a:rPr>
                <a:latin typeface="Courier"/>
              </a:rPr>
              <a:t>        </a:t>
            </a:r>
            <a:r>
              <a:rPr>
                <a:solidFill>
                  <a:srgbClr val="008000"/>
                </a:solidFill>
                <a:latin typeface="Courier"/>
              </a:rPr>
              <a:t>System</a:t>
            </a:r>
            <a:r>
              <a:rPr>
                <a:solidFill>
                  <a:srgbClr val="666666"/>
                </a:solidFill>
                <a:latin typeface="Courier"/>
              </a:rPr>
              <a:t>.</a:t>
            </a:r>
            <a:r>
              <a:rPr>
                <a:solidFill>
                  <a:srgbClr val="06287E"/>
                </a:solidFill>
                <a:latin typeface="Courier"/>
              </a:rPr>
              <a:t>out</a:t>
            </a:r>
            <a:r>
              <a:rPr>
                <a:solidFill>
                  <a:srgbClr val="666666"/>
                </a:solidFill>
                <a:latin typeface="Courier"/>
              </a:rPr>
              <a:t>.</a:t>
            </a:r>
            <a:r>
              <a:rPr>
                <a:solidFill>
                  <a:srgbClr val="06287E"/>
                </a:solidFill>
                <a:latin typeface="Courier"/>
              </a:rPr>
              <a:t>println</a:t>
            </a:r>
            <a:r>
              <a:rPr>
                <a:solidFill>
                  <a:srgbClr val="666666"/>
                </a:solidFill>
                <a:latin typeface="Courier"/>
              </a:rPr>
              <a:t>(</a:t>
            </a:r>
            <a:r>
              <a:rPr>
                <a:solidFill>
                  <a:srgbClr val="4070A0"/>
                </a:solidFill>
                <a:latin typeface="Courier"/>
              </a:rPr>
              <a:t>"Draw circle at ("</a:t>
            </a:r>
            <a:r>
              <a:rPr>
                <a:latin typeface="Courier"/>
              </a:rPr>
              <a:t> </a:t>
            </a:r>
            <a:r>
              <a:rPr>
                <a:solidFill>
                  <a:srgbClr val="666666"/>
                </a:solidFill>
                <a:latin typeface="Courier"/>
              </a:rPr>
              <a:t>+</a:t>
            </a:r>
            <a:r>
              <a:rPr>
                <a:latin typeface="Courier"/>
              </a:rPr>
              <a:t> x </a:t>
            </a:r>
            <a:r>
              <a:rPr>
                <a:solidFill>
                  <a:srgbClr val="666666"/>
                </a:solidFill>
                <a:latin typeface="Courier"/>
              </a:rPr>
              <a:t>+</a:t>
            </a:r>
            <a:r>
              <a:rPr>
                <a:latin typeface="Courier"/>
              </a:rPr>
              <a:t> </a:t>
            </a:r>
            <a:r>
              <a:rPr>
                <a:solidFill>
                  <a:srgbClr val="4070A0"/>
                </a:solidFill>
                <a:latin typeface="Courier"/>
              </a:rPr>
              <a:t>", "</a:t>
            </a:r>
            <a:r>
              <a:rPr>
                <a:latin typeface="Courier"/>
              </a:rPr>
              <a:t> </a:t>
            </a:r>
            <a:r>
              <a:rPr>
                <a:solidFill>
                  <a:srgbClr val="666666"/>
                </a:solidFill>
                <a:latin typeface="Courier"/>
              </a:rPr>
              <a:t>+</a:t>
            </a:r>
            <a:r>
              <a:rPr>
                <a:latin typeface="Courier"/>
              </a:rPr>
              <a:t> y</a:t>
            </a:r>
            <a:br/>
            <a:r>
              <a:rPr>
                <a:latin typeface="Courier"/>
              </a:rPr>
              <a:t>            </a:t>
            </a:r>
            <a:r>
              <a:rPr>
                <a:solidFill>
                  <a:srgbClr val="666666"/>
                </a:solidFill>
                <a:latin typeface="Courier"/>
              </a:rPr>
              <a:t>+</a:t>
            </a:r>
            <a:r>
              <a:rPr>
                <a:latin typeface="Courier"/>
              </a:rPr>
              <a:t> </a:t>
            </a:r>
            <a:r>
              <a:rPr>
                <a:solidFill>
                  <a:srgbClr val="4070A0"/>
                </a:solidFill>
                <a:latin typeface="Courier"/>
              </a:rPr>
              <a:t>") with radius "</a:t>
            </a:r>
            <a:r>
              <a:rPr>
                <a:latin typeface="Courier"/>
              </a:rPr>
              <a:t> </a:t>
            </a:r>
            <a:r>
              <a:rPr>
                <a:solidFill>
                  <a:srgbClr val="666666"/>
                </a:solidFill>
                <a:latin typeface="Courier"/>
              </a:rPr>
              <a:t>+</a:t>
            </a:r>
            <a:r>
              <a:rPr>
                <a:latin typeface="Courier"/>
              </a:rPr>
              <a:t> radius</a:t>
            </a:r>
            <a:r>
              <a:rPr>
                <a:solidFill>
                  <a:srgbClr val="666666"/>
                </a:solidFill>
                <a:latin typeface="Courier"/>
              </a:rPr>
              <a:t>);</a:t>
            </a:r>
            <a:br/>
            <a:r>
              <a:rPr>
                <a:latin typeface="Courier"/>
              </a:rPr>
              <a:t>    </a:t>
            </a:r>
            <a:r>
              <a:rPr>
                <a:solidFill>
                  <a:srgbClr val="666666"/>
                </a:solidFill>
                <a:latin typeface="Courier"/>
              </a:rPr>
              <a:t>}</a:t>
            </a:r>
            <a:br/>
            <a:r>
              <a:rPr>
                <a:solidFill>
                  <a:srgbClr val="666666"/>
                </a:solidFill>
                <a:latin typeface="Courier"/>
              </a:rPr>
              <a:t>}</a:t>
            </a:r>
          </a:p>
        </p:txBody>
      </p:sp>
    </p:spTree>
  </p:cSld>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Composite: Java Code Example - Composite</a:t>
            </a:r>
          </a:p>
        </p:txBody>
      </p:sp>
      <p:sp>
        <p:nvSpPr>
          <p:cNvPr id="3" name="Content Placeholder 2"/>
          <p:cNvSpPr>
            <a:spLocks noGrp="1"/>
          </p:cNvSpPr>
          <p:nvPr>
            <p:ph idx="1"/>
          </p:nvPr>
        </p:nvSpPr>
        <p:spPr/>
        <p:txBody>
          <a:bodyPr/>
          <a:lstStyle/>
          <a:p>
            <a:pPr lvl="0" indent="0">
              <a:buNone/>
            </a:pPr>
            <a:r>
              <a:rPr b="1">
                <a:solidFill>
                  <a:srgbClr val="007020"/>
                </a:solidFill>
                <a:latin typeface="Courier"/>
              </a:rPr>
              <a:t>import</a:t>
            </a:r>
            <a:r>
              <a:rPr>
                <a:latin typeface="Courier"/>
              </a:rPr>
              <a:t> </a:t>
            </a:r>
            <a:r>
              <a:rPr b="1">
                <a:solidFill>
                  <a:srgbClr val="008000"/>
                </a:solidFill>
                <a:latin typeface="Courier"/>
              </a:rPr>
              <a:t>java</a:t>
            </a:r>
            <a:r>
              <a:rPr>
                <a:solidFill>
                  <a:srgbClr val="666666"/>
                </a:solidFill>
                <a:latin typeface="Courier"/>
              </a:rPr>
              <a:t>.</a:t>
            </a:r>
            <a:r>
              <a:rPr b="1">
                <a:solidFill>
                  <a:srgbClr val="008000"/>
                </a:solidFill>
                <a:latin typeface="Courier"/>
              </a:rPr>
              <a:t>util</a:t>
            </a:r>
            <a:r>
              <a:rPr>
                <a:solidFill>
                  <a:srgbClr val="666666"/>
                </a:solidFill>
                <a:latin typeface="Courier"/>
              </a:rPr>
              <a:t>.</a:t>
            </a:r>
            <a:r>
              <a:rPr b="1">
                <a:solidFill>
                  <a:srgbClr val="008000"/>
                </a:solidFill>
                <a:latin typeface="Courier"/>
              </a:rPr>
              <a:t>ArrayList</a:t>
            </a:r>
            <a:r>
              <a:rPr>
                <a:solidFill>
                  <a:srgbClr val="666666"/>
                </a:solidFill>
                <a:latin typeface="Courier"/>
              </a:rPr>
              <a:t>;</a:t>
            </a:r>
            <a:br/>
            <a:r>
              <a:rPr b="1">
                <a:solidFill>
                  <a:srgbClr val="007020"/>
                </a:solidFill>
                <a:latin typeface="Courier"/>
              </a:rPr>
              <a:t>import</a:t>
            </a:r>
            <a:r>
              <a:rPr>
                <a:latin typeface="Courier"/>
              </a:rPr>
              <a:t> </a:t>
            </a:r>
            <a:r>
              <a:rPr b="1">
                <a:solidFill>
                  <a:srgbClr val="008000"/>
                </a:solidFill>
                <a:latin typeface="Courier"/>
              </a:rPr>
              <a:t>java</a:t>
            </a:r>
            <a:r>
              <a:rPr>
                <a:solidFill>
                  <a:srgbClr val="666666"/>
                </a:solidFill>
                <a:latin typeface="Courier"/>
              </a:rPr>
              <a:t>.</a:t>
            </a:r>
            <a:r>
              <a:rPr b="1">
                <a:solidFill>
                  <a:srgbClr val="008000"/>
                </a:solidFill>
                <a:latin typeface="Courier"/>
              </a:rPr>
              <a:t>util</a:t>
            </a:r>
            <a:r>
              <a:rPr>
                <a:solidFill>
                  <a:srgbClr val="666666"/>
                </a:solidFill>
                <a:latin typeface="Courier"/>
              </a:rPr>
              <a:t>.</a:t>
            </a:r>
            <a:r>
              <a:rPr b="1">
                <a:solidFill>
                  <a:srgbClr val="008000"/>
                </a:solidFill>
                <a:latin typeface="Courier"/>
              </a:rPr>
              <a:t>List</a:t>
            </a:r>
            <a:r>
              <a:rPr>
                <a:solidFill>
                  <a:srgbClr val="666666"/>
                </a:solidFill>
                <a:latin typeface="Courier"/>
              </a:rPr>
              <a:t>;</a:t>
            </a:r>
            <a:br/>
            <a:br/>
            <a:r>
              <a:rPr i="1">
                <a:solidFill>
                  <a:srgbClr val="60A0B0"/>
                </a:solidFill>
                <a:latin typeface="Courier"/>
              </a:rPr>
              <a:t>// The Composite class represents complex components that may</a:t>
            </a:r>
            <a:br/>
            <a:r>
              <a:rPr i="1">
                <a:solidFill>
                  <a:srgbClr val="60A0B0"/>
                </a:solidFill>
                <a:latin typeface="Courier"/>
              </a:rPr>
              <a:t>// have children. It delegates work to its children and then</a:t>
            </a:r>
            <a:br/>
            <a:r>
              <a:rPr i="1">
                <a:solidFill>
                  <a:srgbClr val="60A0B0"/>
                </a:solidFill>
                <a:latin typeface="Courier"/>
              </a:rPr>
              <a:t>// aggregates the result.</a:t>
            </a:r>
            <a:br/>
            <a:r>
              <a:rPr b="1">
                <a:solidFill>
                  <a:srgbClr val="007020"/>
                </a:solidFill>
                <a:latin typeface="Courier"/>
              </a:rPr>
              <a:t>public</a:t>
            </a:r>
            <a:r>
              <a:rPr>
                <a:latin typeface="Courier"/>
              </a:rPr>
              <a:t> </a:t>
            </a:r>
            <a:r>
              <a:rPr b="1">
                <a:solidFill>
                  <a:srgbClr val="007020"/>
                </a:solidFill>
                <a:latin typeface="Courier"/>
              </a:rPr>
              <a:t>class</a:t>
            </a:r>
            <a:r>
              <a:rPr>
                <a:latin typeface="Courier"/>
              </a:rPr>
              <a:t> CompoundGraphic </a:t>
            </a:r>
            <a:r>
              <a:rPr b="1">
                <a:solidFill>
                  <a:srgbClr val="007020"/>
                </a:solidFill>
                <a:latin typeface="Courier"/>
              </a:rPr>
              <a:t>implements</a:t>
            </a:r>
            <a:r>
              <a:rPr>
                <a:latin typeface="Courier"/>
              </a:rPr>
              <a:t> Graphic </a:t>
            </a:r>
            <a:r>
              <a:rPr>
                <a:solidFill>
                  <a:srgbClr val="666666"/>
                </a:solidFill>
                <a:latin typeface="Courier"/>
              </a:rPr>
              <a:t>{</a:t>
            </a:r>
            <a:br/>
            <a:r>
              <a:rPr>
                <a:latin typeface="Courier"/>
              </a:rPr>
              <a:t>    </a:t>
            </a:r>
            <a:r>
              <a:rPr b="1">
                <a:solidFill>
                  <a:srgbClr val="007020"/>
                </a:solidFill>
                <a:latin typeface="Courier"/>
              </a:rPr>
              <a:t>private</a:t>
            </a:r>
            <a:r>
              <a:rPr>
                <a:latin typeface="Courier"/>
              </a:rPr>
              <a:t> </a:t>
            </a:r>
            <a:r>
              <a:rPr>
                <a:solidFill>
                  <a:srgbClr val="008000"/>
                </a:solidFill>
                <a:latin typeface="Courier"/>
              </a:rPr>
              <a:t>List</a:t>
            </a:r>
            <a:r>
              <a:rPr>
                <a:solidFill>
                  <a:srgbClr val="666666"/>
                </a:solidFill>
                <a:latin typeface="Courier"/>
              </a:rPr>
              <a:t>&lt;</a:t>
            </a:r>
            <a:r>
              <a:rPr>
                <a:latin typeface="Courier"/>
              </a:rPr>
              <a:t>Graphic</a:t>
            </a:r>
            <a:r>
              <a:rPr>
                <a:solidFill>
                  <a:srgbClr val="666666"/>
                </a:solidFill>
                <a:latin typeface="Courier"/>
              </a:rPr>
              <a:t>&gt;</a:t>
            </a:r>
            <a:r>
              <a:rPr>
                <a:latin typeface="Courier"/>
              </a:rPr>
              <a:t> children </a:t>
            </a:r>
            <a:r>
              <a:rPr>
                <a:solidFill>
                  <a:srgbClr val="666666"/>
                </a:solidFill>
                <a:latin typeface="Courier"/>
              </a:rPr>
              <a:t>=</a:t>
            </a:r>
            <a:r>
              <a:rPr>
                <a:latin typeface="Courier"/>
              </a:rPr>
              <a:t> </a:t>
            </a:r>
            <a:r>
              <a:rPr b="1">
                <a:solidFill>
                  <a:srgbClr val="007020"/>
                </a:solidFill>
                <a:latin typeface="Courier"/>
              </a:rPr>
              <a:t>new</a:t>
            </a:r>
            <a:r>
              <a:rPr>
                <a:latin typeface="Courier"/>
              </a:rPr>
              <a:t> </a:t>
            </a:r>
            <a:r>
              <a:rPr>
                <a:solidFill>
                  <a:srgbClr val="008000"/>
                </a:solidFill>
                <a:latin typeface="Courier"/>
              </a:rPr>
              <a:t>ArrayList</a:t>
            </a:r>
            <a:r>
              <a:rPr>
                <a:solidFill>
                  <a:srgbClr val="666666"/>
                </a:solidFill>
                <a:latin typeface="Courier"/>
              </a:rPr>
              <a:t>&lt;&gt;();</a:t>
            </a:r>
            <a:br/>
            <a:br/>
            <a:r>
              <a:rPr>
                <a:latin typeface="Courier"/>
              </a:rPr>
              <a:t>    </a:t>
            </a:r>
            <a:r>
              <a:rPr b="1">
                <a:solidFill>
                  <a:srgbClr val="007020"/>
                </a:solidFill>
                <a:latin typeface="Courier"/>
              </a:rPr>
              <a:t>public</a:t>
            </a:r>
            <a:r>
              <a:rPr>
                <a:latin typeface="Courier"/>
              </a:rPr>
              <a:t> </a:t>
            </a:r>
            <a:r>
              <a:rPr>
                <a:solidFill>
                  <a:srgbClr val="902000"/>
                </a:solidFill>
                <a:latin typeface="Courier"/>
              </a:rPr>
              <a:t>void</a:t>
            </a:r>
            <a:r>
              <a:rPr>
                <a:latin typeface="Courier"/>
              </a:rPr>
              <a:t> </a:t>
            </a:r>
            <a:r>
              <a:rPr>
                <a:solidFill>
                  <a:srgbClr val="06287E"/>
                </a:solidFill>
                <a:latin typeface="Courier"/>
              </a:rPr>
              <a:t>add</a:t>
            </a:r>
            <a:r>
              <a:rPr>
                <a:solidFill>
                  <a:srgbClr val="666666"/>
                </a:solidFill>
                <a:latin typeface="Courier"/>
              </a:rPr>
              <a:t>(</a:t>
            </a:r>
            <a:r>
              <a:rPr>
                <a:latin typeface="Courier"/>
              </a:rPr>
              <a:t>Graphic child</a:t>
            </a:r>
            <a:r>
              <a:rPr>
                <a:solidFill>
                  <a:srgbClr val="666666"/>
                </a:solidFill>
                <a:latin typeface="Courier"/>
              </a:rPr>
              <a:t>)</a:t>
            </a:r>
            <a:r>
              <a:rPr>
                <a:latin typeface="Courier"/>
              </a:rPr>
              <a:t> </a:t>
            </a:r>
            <a:r>
              <a:rPr>
                <a:solidFill>
                  <a:srgbClr val="666666"/>
                </a:solidFill>
                <a:latin typeface="Courier"/>
              </a:rPr>
              <a:t>{</a:t>
            </a:r>
            <a:br/>
            <a:r>
              <a:rPr>
                <a:latin typeface="Courier"/>
              </a:rPr>
              <a:t>        children</a:t>
            </a:r>
            <a:r>
              <a:rPr>
                <a:solidFill>
                  <a:srgbClr val="666666"/>
                </a:solidFill>
                <a:latin typeface="Courier"/>
              </a:rPr>
              <a:t>.</a:t>
            </a:r>
            <a:r>
              <a:rPr>
                <a:solidFill>
                  <a:srgbClr val="06287E"/>
                </a:solidFill>
                <a:latin typeface="Courier"/>
              </a:rPr>
              <a:t>add</a:t>
            </a:r>
            <a:r>
              <a:rPr>
                <a:solidFill>
                  <a:srgbClr val="666666"/>
                </a:solidFill>
                <a:latin typeface="Courier"/>
              </a:rPr>
              <a:t>(</a:t>
            </a:r>
            <a:r>
              <a:rPr>
                <a:latin typeface="Courier"/>
              </a:rPr>
              <a:t>child</a:t>
            </a:r>
            <a:r>
              <a:rPr>
                <a:solidFill>
                  <a:srgbClr val="666666"/>
                </a:solidFill>
                <a:latin typeface="Courier"/>
              </a:rPr>
              <a:t>);</a:t>
            </a:r>
            <a:br/>
            <a:r>
              <a:rPr>
                <a:latin typeface="Courier"/>
              </a:rPr>
              <a:t>    </a:t>
            </a:r>
            <a:r>
              <a:rPr>
                <a:solidFill>
                  <a:srgbClr val="666666"/>
                </a:solidFill>
                <a:latin typeface="Courier"/>
              </a:rPr>
              <a:t>}</a:t>
            </a:r>
            <a:br/>
            <a:br/>
            <a:r>
              <a:rPr>
                <a:latin typeface="Courier"/>
              </a:rPr>
              <a:t>    </a:t>
            </a:r>
            <a:r>
              <a:rPr b="1">
                <a:solidFill>
                  <a:srgbClr val="007020"/>
                </a:solidFill>
                <a:latin typeface="Courier"/>
              </a:rPr>
              <a:t>public</a:t>
            </a:r>
            <a:r>
              <a:rPr>
                <a:latin typeface="Courier"/>
              </a:rPr>
              <a:t> </a:t>
            </a:r>
            <a:r>
              <a:rPr>
                <a:solidFill>
                  <a:srgbClr val="902000"/>
                </a:solidFill>
                <a:latin typeface="Courier"/>
              </a:rPr>
              <a:t>void</a:t>
            </a:r>
            <a:r>
              <a:rPr>
                <a:latin typeface="Courier"/>
              </a:rPr>
              <a:t> </a:t>
            </a:r>
            <a:r>
              <a:rPr>
                <a:solidFill>
                  <a:srgbClr val="06287E"/>
                </a:solidFill>
                <a:latin typeface="Courier"/>
              </a:rPr>
              <a:t>remove</a:t>
            </a:r>
            <a:r>
              <a:rPr>
                <a:solidFill>
                  <a:srgbClr val="666666"/>
                </a:solidFill>
                <a:latin typeface="Courier"/>
              </a:rPr>
              <a:t>(</a:t>
            </a:r>
            <a:r>
              <a:rPr>
                <a:latin typeface="Courier"/>
              </a:rPr>
              <a:t>Graphic child</a:t>
            </a:r>
            <a:r>
              <a:rPr>
                <a:solidFill>
                  <a:srgbClr val="666666"/>
                </a:solidFill>
                <a:latin typeface="Courier"/>
              </a:rPr>
              <a:t>)</a:t>
            </a:r>
            <a:r>
              <a:rPr>
                <a:latin typeface="Courier"/>
              </a:rPr>
              <a:t> </a:t>
            </a:r>
            <a:r>
              <a:rPr>
                <a:solidFill>
                  <a:srgbClr val="666666"/>
                </a:solidFill>
                <a:latin typeface="Courier"/>
              </a:rPr>
              <a:t>{</a:t>
            </a:r>
            <a:br/>
            <a:r>
              <a:rPr>
                <a:latin typeface="Courier"/>
              </a:rPr>
              <a:t>        children</a:t>
            </a:r>
            <a:r>
              <a:rPr>
                <a:solidFill>
                  <a:srgbClr val="666666"/>
                </a:solidFill>
                <a:latin typeface="Courier"/>
              </a:rPr>
              <a:t>.</a:t>
            </a:r>
            <a:r>
              <a:rPr>
                <a:solidFill>
                  <a:srgbClr val="06287E"/>
                </a:solidFill>
                <a:latin typeface="Courier"/>
              </a:rPr>
              <a:t>remove</a:t>
            </a:r>
            <a:r>
              <a:rPr>
                <a:solidFill>
                  <a:srgbClr val="666666"/>
                </a:solidFill>
                <a:latin typeface="Courier"/>
              </a:rPr>
              <a:t>(</a:t>
            </a:r>
            <a:r>
              <a:rPr>
                <a:latin typeface="Courier"/>
              </a:rPr>
              <a:t>child</a:t>
            </a:r>
            <a:r>
              <a:rPr>
                <a:solidFill>
                  <a:srgbClr val="666666"/>
                </a:solidFill>
                <a:latin typeface="Courier"/>
              </a:rPr>
              <a:t>);</a:t>
            </a:r>
            <a:br/>
            <a:r>
              <a:rPr>
                <a:latin typeface="Courier"/>
              </a:rPr>
              <a:t>    </a:t>
            </a:r>
            <a:r>
              <a:rPr>
                <a:solidFill>
                  <a:srgbClr val="666666"/>
                </a:solidFill>
                <a:latin typeface="Courier"/>
              </a:rPr>
              <a:t>}</a:t>
            </a:r>
            <a:br/>
            <a:br/>
            <a:r>
              <a:rPr>
                <a:latin typeface="Courier"/>
              </a:rPr>
              <a:t>    </a:t>
            </a:r>
            <a:r>
              <a:rPr>
                <a:solidFill>
                  <a:srgbClr val="7D9029"/>
                </a:solidFill>
                <a:latin typeface="Courier"/>
              </a:rPr>
              <a:t>@Override</a:t>
            </a:r>
            <a:br/>
            <a:r>
              <a:rPr>
                <a:latin typeface="Courier"/>
              </a:rPr>
              <a:t>    </a:t>
            </a:r>
            <a:r>
              <a:rPr b="1">
                <a:solidFill>
                  <a:srgbClr val="007020"/>
                </a:solidFill>
                <a:latin typeface="Courier"/>
              </a:rPr>
              <a:t>public</a:t>
            </a:r>
            <a:r>
              <a:rPr>
                <a:latin typeface="Courier"/>
              </a:rPr>
              <a:t> </a:t>
            </a:r>
            <a:r>
              <a:rPr>
                <a:solidFill>
                  <a:srgbClr val="902000"/>
                </a:solidFill>
                <a:latin typeface="Courier"/>
              </a:rPr>
              <a:t>void</a:t>
            </a:r>
            <a:r>
              <a:rPr>
                <a:latin typeface="Courier"/>
              </a:rPr>
              <a:t> </a:t>
            </a:r>
            <a:r>
              <a:rPr>
                <a:solidFill>
                  <a:srgbClr val="06287E"/>
                </a:solidFill>
                <a:latin typeface="Courier"/>
              </a:rPr>
              <a:t>move</a:t>
            </a:r>
            <a:r>
              <a:rPr>
                <a:solidFill>
                  <a:srgbClr val="666666"/>
                </a:solidFill>
                <a:latin typeface="Courier"/>
              </a:rPr>
              <a:t>(</a:t>
            </a:r>
            <a:r>
              <a:rPr>
                <a:solidFill>
                  <a:srgbClr val="902000"/>
                </a:solidFill>
                <a:latin typeface="Courier"/>
              </a:rPr>
              <a:t>int</a:t>
            </a:r>
            <a:r>
              <a:rPr>
                <a:latin typeface="Courier"/>
              </a:rPr>
              <a:t> x</a:t>
            </a:r>
            <a:r>
              <a:rPr>
                <a:solidFill>
                  <a:srgbClr val="666666"/>
                </a:solidFill>
                <a:latin typeface="Courier"/>
              </a:rPr>
              <a:t>,</a:t>
            </a:r>
            <a:r>
              <a:rPr>
                <a:latin typeface="Courier"/>
              </a:rPr>
              <a:t> </a:t>
            </a:r>
            <a:r>
              <a:rPr>
                <a:solidFill>
                  <a:srgbClr val="902000"/>
                </a:solidFill>
                <a:latin typeface="Courier"/>
              </a:rPr>
              <a:t>int</a:t>
            </a:r>
            <a:r>
              <a:rPr>
                <a:latin typeface="Courier"/>
              </a:rPr>
              <a:t> y</a:t>
            </a:r>
            <a:r>
              <a:rPr>
                <a:solidFill>
                  <a:srgbClr val="666666"/>
                </a:solidFill>
                <a:latin typeface="Courier"/>
              </a:rPr>
              <a:t>)</a:t>
            </a:r>
            <a:r>
              <a:rPr>
                <a:latin typeface="Courier"/>
              </a:rPr>
              <a:t> </a:t>
            </a:r>
            <a:r>
              <a:rPr>
                <a:solidFill>
                  <a:srgbClr val="666666"/>
                </a:solidFill>
                <a:latin typeface="Courier"/>
              </a:rPr>
              <a:t>{</a:t>
            </a:r>
            <a:br/>
            <a:r>
              <a:rPr>
                <a:latin typeface="Courier"/>
              </a:rPr>
              <a:t>        </a:t>
            </a:r>
            <a:r>
              <a:rPr b="1">
                <a:solidFill>
                  <a:srgbClr val="007020"/>
                </a:solidFill>
                <a:latin typeface="Courier"/>
              </a:rPr>
              <a:t>for</a:t>
            </a:r>
            <a:r>
              <a:rPr>
                <a:latin typeface="Courier"/>
              </a:rPr>
              <a:t> </a:t>
            </a:r>
            <a:r>
              <a:rPr>
                <a:solidFill>
                  <a:srgbClr val="666666"/>
                </a:solidFill>
                <a:latin typeface="Courier"/>
              </a:rPr>
              <a:t>(</a:t>
            </a:r>
            <a:r>
              <a:rPr>
                <a:latin typeface="Courier"/>
              </a:rPr>
              <a:t>Graphic child </a:t>
            </a:r>
            <a:r>
              <a:rPr>
                <a:solidFill>
                  <a:srgbClr val="666666"/>
                </a:solidFill>
                <a:latin typeface="Courier"/>
              </a:rPr>
              <a:t>:</a:t>
            </a:r>
            <a:r>
              <a:rPr>
                <a:latin typeface="Courier"/>
              </a:rPr>
              <a:t> children</a:t>
            </a:r>
            <a:r>
              <a:rPr>
                <a:solidFill>
                  <a:srgbClr val="666666"/>
                </a:solidFill>
                <a:latin typeface="Courier"/>
              </a:rPr>
              <a:t>)</a:t>
            </a:r>
            <a:r>
              <a:rPr>
                <a:latin typeface="Courier"/>
              </a:rPr>
              <a:t> </a:t>
            </a:r>
            <a:r>
              <a:rPr>
                <a:solidFill>
                  <a:srgbClr val="666666"/>
                </a:solidFill>
                <a:latin typeface="Courier"/>
              </a:rPr>
              <a:t>{</a:t>
            </a:r>
            <a:br/>
            <a:r>
              <a:rPr>
                <a:latin typeface="Courier"/>
              </a:rPr>
              <a:t>            child</a:t>
            </a:r>
            <a:r>
              <a:rPr>
                <a:solidFill>
                  <a:srgbClr val="666666"/>
                </a:solidFill>
                <a:latin typeface="Courier"/>
              </a:rPr>
              <a:t>.</a:t>
            </a:r>
            <a:r>
              <a:rPr>
                <a:solidFill>
                  <a:srgbClr val="06287E"/>
                </a:solidFill>
                <a:latin typeface="Courier"/>
              </a:rPr>
              <a:t>move</a:t>
            </a:r>
            <a:r>
              <a:rPr>
                <a:solidFill>
                  <a:srgbClr val="666666"/>
                </a:solidFill>
                <a:latin typeface="Courier"/>
              </a:rPr>
              <a:t>(</a:t>
            </a:r>
            <a:r>
              <a:rPr>
                <a:latin typeface="Courier"/>
              </a:rPr>
              <a:t>x</a:t>
            </a:r>
            <a:r>
              <a:rPr>
                <a:solidFill>
                  <a:srgbClr val="666666"/>
                </a:solidFill>
                <a:latin typeface="Courier"/>
              </a:rPr>
              <a:t>,</a:t>
            </a:r>
            <a:r>
              <a:rPr>
                <a:latin typeface="Courier"/>
              </a:rPr>
              <a:t> y</a:t>
            </a:r>
            <a:r>
              <a:rPr>
                <a:solidFill>
                  <a:srgbClr val="666666"/>
                </a:solidFill>
                <a:latin typeface="Courier"/>
              </a:rPr>
              <a:t>);</a:t>
            </a:r>
            <a:br/>
            <a:r>
              <a:rPr>
                <a:latin typeface="Courier"/>
              </a:rPr>
              <a:t>        </a:t>
            </a:r>
            <a:r>
              <a:rPr>
                <a:solidFill>
                  <a:srgbClr val="666666"/>
                </a:solidFill>
                <a:latin typeface="Courier"/>
              </a:rPr>
              <a:t>}</a:t>
            </a:r>
            <a:br/>
            <a:r>
              <a:rPr>
                <a:latin typeface="Courier"/>
              </a:rPr>
              <a:t>    </a:t>
            </a:r>
            <a:r>
              <a:rPr>
                <a:solidFill>
                  <a:srgbClr val="666666"/>
                </a:solidFill>
                <a:latin typeface="Courier"/>
              </a:rPr>
              <a:t>}</a:t>
            </a:r>
            <a:br/>
            <a:br/>
            <a:r>
              <a:rPr>
                <a:latin typeface="Courier"/>
              </a:rPr>
              <a:t>    </a:t>
            </a:r>
            <a:r>
              <a:rPr>
                <a:solidFill>
                  <a:srgbClr val="7D9029"/>
                </a:solidFill>
                <a:latin typeface="Courier"/>
              </a:rPr>
              <a:t>@Override</a:t>
            </a:r>
            <a:br/>
            <a:r>
              <a:rPr>
                <a:latin typeface="Courier"/>
              </a:rPr>
              <a:t>    </a:t>
            </a:r>
            <a:r>
              <a:rPr b="1">
                <a:solidFill>
                  <a:srgbClr val="007020"/>
                </a:solidFill>
                <a:latin typeface="Courier"/>
              </a:rPr>
              <a:t>public</a:t>
            </a:r>
            <a:r>
              <a:rPr>
                <a:latin typeface="Courier"/>
              </a:rPr>
              <a:t> </a:t>
            </a:r>
            <a:r>
              <a:rPr>
                <a:solidFill>
                  <a:srgbClr val="902000"/>
                </a:solidFill>
                <a:latin typeface="Courier"/>
              </a:rPr>
              <a:t>void</a:t>
            </a:r>
            <a:r>
              <a:rPr>
                <a:latin typeface="Courier"/>
              </a:rPr>
              <a:t> </a:t>
            </a:r>
            <a:r>
              <a:rPr>
                <a:solidFill>
                  <a:srgbClr val="06287E"/>
                </a:solidFill>
                <a:latin typeface="Courier"/>
              </a:rPr>
              <a:t>draw</a:t>
            </a:r>
            <a:r>
              <a:rPr>
                <a:solidFill>
                  <a:srgbClr val="666666"/>
                </a:solidFill>
                <a:latin typeface="Courier"/>
              </a:rPr>
              <a:t>()</a:t>
            </a:r>
            <a:r>
              <a:rPr>
                <a:latin typeface="Courier"/>
              </a:rPr>
              <a:t> </a:t>
            </a:r>
            <a:r>
              <a:rPr>
                <a:solidFill>
                  <a:srgbClr val="666666"/>
                </a:solidFill>
                <a:latin typeface="Courier"/>
              </a:rPr>
              <a:t>{</a:t>
            </a:r>
            <a:br/>
            <a:r>
              <a:rPr>
                <a:latin typeface="Courier"/>
              </a:rPr>
              <a:t>        </a:t>
            </a:r>
            <a:r>
              <a:rPr>
                <a:solidFill>
                  <a:srgbClr val="008000"/>
                </a:solidFill>
                <a:latin typeface="Courier"/>
              </a:rPr>
              <a:t>System</a:t>
            </a:r>
            <a:r>
              <a:rPr>
                <a:solidFill>
                  <a:srgbClr val="666666"/>
                </a:solidFill>
                <a:latin typeface="Courier"/>
              </a:rPr>
              <a:t>.</a:t>
            </a:r>
            <a:r>
              <a:rPr>
                <a:solidFill>
                  <a:srgbClr val="06287E"/>
                </a:solidFill>
                <a:latin typeface="Courier"/>
              </a:rPr>
              <a:t>out</a:t>
            </a:r>
            <a:r>
              <a:rPr>
                <a:solidFill>
                  <a:srgbClr val="666666"/>
                </a:solidFill>
                <a:latin typeface="Courier"/>
              </a:rPr>
              <a:t>.</a:t>
            </a:r>
            <a:r>
              <a:rPr>
                <a:solidFill>
                  <a:srgbClr val="06287E"/>
                </a:solidFill>
                <a:latin typeface="Courier"/>
              </a:rPr>
              <a:t>println</a:t>
            </a:r>
            <a:r>
              <a:rPr>
                <a:solidFill>
                  <a:srgbClr val="666666"/>
                </a:solidFill>
                <a:latin typeface="Courier"/>
              </a:rPr>
              <a:t>(</a:t>
            </a:r>
            <a:r>
              <a:rPr>
                <a:solidFill>
                  <a:srgbClr val="4070A0"/>
                </a:solidFill>
                <a:latin typeface="Courier"/>
              </a:rPr>
              <a:t>"---- CompoundGraphic ----"</a:t>
            </a:r>
            <a:r>
              <a:rPr>
                <a:solidFill>
                  <a:srgbClr val="666666"/>
                </a:solidFill>
                <a:latin typeface="Courier"/>
              </a:rPr>
              <a:t>);</a:t>
            </a:r>
            <a:br/>
            <a:r>
              <a:rPr>
                <a:latin typeface="Courier"/>
              </a:rPr>
              <a:t>        </a:t>
            </a:r>
            <a:r>
              <a:rPr b="1">
                <a:solidFill>
                  <a:srgbClr val="007020"/>
                </a:solidFill>
                <a:latin typeface="Courier"/>
              </a:rPr>
              <a:t>for</a:t>
            </a:r>
            <a:r>
              <a:rPr>
                <a:latin typeface="Courier"/>
              </a:rPr>
              <a:t> </a:t>
            </a:r>
            <a:r>
              <a:rPr>
                <a:solidFill>
                  <a:srgbClr val="666666"/>
                </a:solidFill>
                <a:latin typeface="Courier"/>
              </a:rPr>
              <a:t>(</a:t>
            </a:r>
            <a:r>
              <a:rPr>
                <a:latin typeface="Courier"/>
              </a:rPr>
              <a:t>Graphic child </a:t>
            </a:r>
            <a:r>
              <a:rPr>
                <a:solidFill>
                  <a:srgbClr val="666666"/>
                </a:solidFill>
                <a:latin typeface="Courier"/>
              </a:rPr>
              <a:t>:</a:t>
            </a:r>
            <a:r>
              <a:rPr>
                <a:latin typeface="Courier"/>
              </a:rPr>
              <a:t> children</a:t>
            </a:r>
            <a:r>
              <a:rPr>
                <a:solidFill>
                  <a:srgbClr val="666666"/>
                </a:solidFill>
                <a:latin typeface="Courier"/>
              </a:rPr>
              <a:t>)</a:t>
            </a:r>
            <a:r>
              <a:rPr>
                <a:latin typeface="Courier"/>
              </a:rPr>
              <a:t> </a:t>
            </a:r>
            <a:r>
              <a:rPr>
                <a:solidFill>
                  <a:srgbClr val="666666"/>
                </a:solidFill>
                <a:latin typeface="Courier"/>
              </a:rPr>
              <a:t>{</a:t>
            </a:r>
            <a:br/>
            <a:r>
              <a:rPr>
                <a:latin typeface="Courier"/>
              </a:rPr>
              <a:t>            child</a:t>
            </a:r>
            <a:r>
              <a:rPr>
                <a:solidFill>
                  <a:srgbClr val="666666"/>
                </a:solidFill>
                <a:latin typeface="Courier"/>
              </a:rPr>
              <a:t>.</a:t>
            </a:r>
            <a:r>
              <a:rPr>
                <a:solidFill>
                  <a:srgbClr val="06287E"/>
                </a:solidFill>
                <a:latin typeface="Courier"/>
              </a:rPr>
              <a:t>draw</a:t>
            </a:r>
            <a:r>
              <a:rPr>
                <a:solidFill>
                  <a:srgbClr val="666666"/>
                </a:solidFill>
                <a:latin typeface="Courier"/>
              </a:rPr>
              <a:t>();</a:t>
            </a:r>
            <a:br/>
            <a:r>
              <a:rPr>
                <a:latin typeface="Courier"/>
              </a:rPr>
              <a:t>        </a:t>
            </a:r>
            <a:r>
              <a:rPr>
                <a:solidFill>
                  <a:srgbClr val="666666"/>
                </a:solidFill>
                <a:latin typeface="Courier"/>
              </a:rPr>
              <a:t>}</a:t>
            </a:r>
            <a:br/>
            <a:r>
              <a:rPr>
                <a:latin typeface="Courier"/>
              </a:rPr>
              <a:t>        </a:t>
            </a:r>
            <a:r>
              <a:rPr>
                <a:solidFill>
                  <a:srgbClr val="008000"/>
                </a:solidFill>
                <a:latin typeface="Courier"/>
              </a:rPr>
              <a:t>System</a:t>
            </a:r>
            <a:r>
              <a:rPr>
                <a:solidFill>
                  <a:srgbClr val="666666"/>
                </a:solidFill>
                <a:latin typeface="Courier"/>
              </a:rPr>
              <a:t>.</a:t>
            </a:r>
            <a:r>
              <a:rPr>
                <a:solidFill>
                  <a:srgbClr val="06287E"/>
                </a:solidFill>
                <a:latin typeface="Courier"/>
              </a:rPr>
              <a:t>out</a:t>
            </a:r>
            <a:r>
              <a:rPr>
                <a:solidFill>
                  <a:srgbClr val="666666"/>
                </a:solidFill>
                <a:latin typeface="Courier"/>
              </a:rPr>
              <a:t>.</a:t>
            </a:r>
            <a:r>
              <a:rPr>
                <a:solidFill>
                  <a:srgbClr val="06287E"/>
                </a:solidFill>
                <a:latin typeface="Courier"/>
              </a:rPr>
              <a:t>println</a:t>
            </a:r>
            <a:r>
              <a:rPr>
                <a:solidFill>
                  <a:srgbClr val="666666"/>
                </a:solidFill>
                <a:latin typeface="Courier"/>
              </a:rPr>
              <a:t>(</a:t>
            </a:r>
            <a:r>
              <a:rPr>
                <a:solidFill>
                  <a:srgbClr val="4070A0"/>
                </a:solidFill>
                <a:latin typeface="Courier"/>
              </a:rPr>
              <a:t>"---- End Compound ----"</a:t>
            </a:r>
            <a:r>
              <a:rPr>
                <a:solidFill>
                  <a:srgbClr val="666666"/>
                </a:solidFill>
                <a:latin typeface="Courier"/>
              </a:rPr>
              <a:t>);</a:t>
            </a:r>
            <a:br/>
            <a:r>
              <a:rPr>
                <a:latin typeface="Courier"/>
              </a:rPr>
              <a:t>    </a:t>
            </a:r>
            <a:r>
              <a:rPr>
                <a:solidFill>
                  <a:srgbClr val="666666"/>
                </a:solidFill>
                <a:latin typeface="Courier"/>
              </a:rPr>
              <a:t>}</a:t>
            </a:r>
            <a:br/>
            <a:r>
              <a:rPr>
                <a:solidFill>
                  <a:srgbClr val="666666"/>
                </a:solidFill>
                <a:latin typeface="Courier"/>
              </a:rPr>
              <a:t>}</a:t>
            </a:r>
          </a:p>
        </p:txBody>
      </p:sp>
    </p:spTree>
  </p:cSld>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Composite: Java Code Example - Client</a:t>
            </a:r>
          </a:p>
        </p:txBody>
      </p:sp>
      <p:sp>
        <p:nvSpPr>
          <p:cNvPr id="3" name="Content Placeholder 2"/>
          <p:cNvSpPr>
            <a:spLocks noGrp="1"/>
          </p:cNvSpPr>
          <p:nvPr>
            <p:ph idx="1"/>
          </p:nvPr>
        </p:nvSpPr>
        <p:spPr/>
        <p:txBody>
          <a:bodyPr/>
          <a:lstStyle/>
          <a:p>
            <a:pPr lvl="0" indent="0">
              <a:buNone/>
            </a:pPr>
            <a:r>
              <a:rPr b="1">
                <a:solidFill>
                  <a:srgbClr val="007020"/>
                </a:solidFill>
                <a:latin typeface="Courier"/>
              </a:rPr>
              <a:t>public</a:t>
            </a:r>
            <a:r>
              <a:rPr>
                <a:latin typeface="Courier"/>
              </a:rPr>
              <a:t> </a:t>
            </a:r>
            <a:r>
              <a:rPr b="1">
                <a:solidFill>
                  <a:srgbClr val="007020"/>
                </a:solidFill>
                <a:latin typeface="Courier"/>
              </a:rPr>
              <a:t>class</a:t>
            </a:r>
            <a:r>
              <a:rPr>
                <a:latin typeface="Courier"/>
              </a:rPr>
              <a:t> CompositeDemo </a:t>
            </a:r>
            <a:r>
              <a:rPr>
                <a:solidFill>
                  <a:srgbClr val="666666"/>
                </a:solidFill>
                <a:latin typeface="Courier"/>
              </a:rPr>
              <a:t>{</a:t>
            </a:r>
            <a:br/>
            <a:r>
              <a:rPr>
                <a:latin typeface="Courier"/>
              </a:rPr>
              <a:t>    </a:t>
            </a:r>
            <a:r>
              <a:rPr b="1">
                <a:solidFill>
                  <a:srgbClr val="007020"/>
                </a:solidFill>
                <a:latin typeface="Courier"/>
              </a:rPr>
              <a:t>public</a:t>
            </a:r>
            <a:r>
              <a:rPr>
                <a:latin typeface="Courier"/>
              </a:rPr>
              <a:t> </a:t>
            </a:r>
            <a:r>
              <a:rPr>
                <a:solidFill>
                  <a:srgbClr val="902000"/>
                </a:solidFill>
                <a:latin typeface="Courier"/>
              </a:rPr>
              <a:t>static</a:t>
            </a:r>
            <a:r>
              <a:rPr>
                <a:latin typeface="Courier"/>
              </a:rPr>
              <a:t> </a:t>
            </a:r>
            <a:r>
              <a:rPr>
                <a:solidFill>
                  <a:srgbClr val="902000"/>
                </a:solidFill>
                <a:latin typeface="Courier"/>
              </a:rPr>
              <a:t>void</a:t>
            </a:r>
            <a:r>
              <a:rPr>
                <a:latin typeface="Courier"/>
              </a:rPr>
              <a:t> </a:t>
            </a:r>
            <a:r>
              <a:rPr>
                <a:solidFill>
                  <a:srgbClr val="06287E"/>
                </a:solidFill>
                <a:latin typeface="Courier"/>
              </a:rPr>
              <a:t>main</a:t>
            </a:r>
            <a:r>
              <a:rPr>
                <a:solidFill>
                  <a:srgbClr val="666666"/>
                </a:solidFill>
                <a:latin typeface="Courier"/>
              </a:rPr>
              <a:t>(</a:t>
            </a:r>
            <a:r>
              <a:rPr>
                <a:solidFill>
                  <a:srgbClr val="008000"/>
                </a:solidFill>
                <a:latin typeface="Courier"/>
              </a:rPr>
              <a:t>String</a:t>
            </a:r>
            <a:r>
              <a:rPr>
                <a:solidFill>
                  <a:srgbClr val="666666"/>
                </a:solidFill>
                <a:latin typeface="Courier"/>
              </a:rPr>
              <a:t>[]</a:t>
            </a:r>
            <a:r>
              <a:rPr>
                <a:latin typeface="Courier"/>
              </a:rPr>
              <a:t> args</a:t>
            </a:r>
            <a:r>
              <a:rPr>
                <a:solidFill>
                  <a:srgbClr val="666666"/>
                </a:solidFill>
                <a:latin typeface="Courier"/>
              </a:rPr>
              <a:t>)</a:t>
            </a:r>
            <a:r>
              <a:rPr>
                <a:latin typeface="Courier"/>
              </a:rPr>
              <a:t> </a:t>
            </a:r>
            <a:r>
              <a:rPr>
                <a:solidFill>
                  <a:srgbClr val="666666"/>
                </a:solidFill>
                <a:latin typeface="Courier"/>
              </a:rPr>
              <a:t>{</a:t>
            </a:r>
            <a:br/>
            <a:r>
              <a:rPr>
                <a:latin typeface="Courier"/>
              </a:rPr>
              <a:t>        </a:t>
            </a:r>
            <a:r>
              <a:rPr i="1">
                <a:solidFill>
                  <a:srgbClr val="60A0B0"/>
                </a:solidFill>
                <a:latin typeface="Courier"/>
              </a:rPr>
              <a:t>// Create simple components</a:t>
            </a:r>
            <a:br/>
            <a:r>
              <a:rPr>
                <a:latin typeface="Courier"/>
              </a:rPr>
              <a:t>        Dot dot1 </a:t>
            </a:r>
            <a:r>
              <a:rPr>
                <a:solidFill>
                  <a:srgbClr val="666666"/>
                </a:solidFill>
                <a:latin typeface="Courier"/>
              </a:rPr>
              <a:t>=</a:t>
            </a:r>
            <a:r>
              <a:rPr>
                <a:latin typeface="Courier"/>
              </a:rPr>
              <a:t> </a:t>
            </a:r>
            <a:r>
              <a:rPr b="1">
                <a:solidFill>
                  <a:srgbClr val="007020"/>
                </a:solidFill>
                <a:latin typeface="Courier"/>
              </a:rPr>
              <a:t>new</a:t>
            </a:r>
            <a:r>
              <a:rPr>
                <a:latin typeface="Courier"/>
              </a:rPr>
              <a:t> </a:t>
            </a:r>
            <a:r>
              <a:rPr>
                <a:solidFill>
                  <a:srgbClr val="06287E"/>
                </a:solidFill>
                <a:latin typeface="Courier"/>
              </a:rPr>
              <a:t>Dot</a:t>
            </a:r>
            <a:r>
              <a:rPr>
                <a:solidFill>
                  <a:srgbClr val="666666"/>
                </a:solidFill>
                <a:latin typeface="Courier"/>
              </a:rPr>
              <a:t>(</a:t>
            </a:r>
            <a:r>
              <a:rPr>
                <a:solidFill>
                  <a:srgbClr val="40A070"/>
                </a:solidFill>
                <a:latin typeface="Courier"/>
              </a:rPr>
              <a:t>1</a:t>
            </a:r>
            <a:r>
              <a:rPr>
                <a:solidFill>
                  <a:srgbClr val="666666"/>
                </a:solidFill>
                <a:latin typeface="Courier"/>
              </a:rPr>
              <a:t>,</a:t>
            </a:r>
            <a:r>
              <a:rPr>
                <a:latin typeface="Courier"/>
              </a:rPr>
              <a:t> </a:t>
            </a:r>
            <a:r>
              <a:rPr>
                <a:solidFill>
                  <a:srgbClr val="40A070"/>
                </a:solidFill>
                <a:latin typeface="Courier"/>
              </a:rPr>
              <a:t>2</a:t>
            </a:r>
            <a:r>
              <a:rPr>
                <a:solidFill>
                  <a:srgbClr val="666666"/>
                </a:solidFill>
                <a:latin typeface="Courier"/>
              </a:rPr>
              <a:t>);</a:t>
            </a:r>
            <a:br/>
            <a:r>
              <a:rPr>
                <a:latin typeface="Courier"/>
              </a:rPr>
              <a:t>        Dot dot2 </a:t>
            </a:r>
            <a:r>
              <a:rPr>
                <a:solidFill>
                  <a:srgbClr val="666666"/>
                </a:solidFill>
                <a:latin typeface="Courier"/>
              </a:rPr>
              <a:t>=</a:t>
            </a:r>
            <a:r>
              <a:rPr>
                <a:latin typeface="Courier"/>
              </a:rPr>
              <a:t> </a:t>
            </a:r>
            <a:r>
              <a:rPr b="1">
                <a:solidFill>
                  <a:srgbClr val="007020"/>
                </a:solidFill>
                <a:latin typeface="Courier"/>
              </a:rPr>
              <a:t>new</a:t>
            </a:r>
            <a:r>
              <a:rPr>
                <a:latin typeface="Courier"/>
              </a:rPr>
              <a:t> </a:t>
            </a:r>
            <a:r>
              <a:rPr>
                <a:solidFill>
                  <a:srgbClr val="06287E"/>
                </a:solidFill>
                <a:latin typeface="Courier"/>
              </a:rPr>
              <a:t>Dot</a:t>
            </a:r>
            <a:r>
              <a:rPr>
                <a:solidFill>
                  <a:srgbClr val="666666"/>
                </a:solidFill>
                <a:latin typeface="Courier"/>
              </a:rPr>
              <a:t>(</a:t>
            </a:r>
            <a:r>
              <a:rPr>
                <a:solidFill>
                  <a:srgbClr val="40A070"/>
                </a:solidFill>
                <a:latin typeface="Courier"/>
              </a:rPr>
              <a:t>3</a:t>
            </a:r>
            <a:r>
              <a:rPr>
                <a:solidFill>
                  <a:srgbClr val="666666"/>
                </a:solidFill>
                <a:latin typeface="Courier"/>
              </a:rPr>
              <a:t>,</a:t>
            </a:r>
            <a:r>
              <a:rPr>
                <a:latin typeface="Courier"/>
              </a:rPr>
              <a:t> </a:t>
            </a:r>
            <a:r>
              <a:rPr>
                <a:solidFill>
                  <a:srgbClr val="40A070"/>
                </a:solidFill>
                <a:latin typeface="Courier"/>
              </a:rPr>
              <a:t>4</a:t>
            </a:r>
            <a:r>
              <a:rPr>
                <a:solidFill>
                  <a:srgbClr val="666666"/>
                </a:solidFill>
                <a:latin typeface="Courier"/>
              </a:rPr>
              <a:t>);</a:t>
            </a:r>
            <a:br/>
            <a:r>
              <a:rPr>
                <a:latin typeface="Courier"/>
              </a:rPr>
              <a:t>        Circle circle </a:t>
            </a:r>
            <a:r>
              <a:rPr>
                <a:solidFill>
                  <a:srgbClr val="666666"/>
                </a:solidFill>
                <a:latin typeface="Courier"/>
              </a:rPr>
              <a:t>=</a:t>
            </a:r>
            <a:r>
              <a:rPr>
                <a:latin typeface="Courier"/>
              </a:rPr>
              <a:t> </a:t>
            </a:r>
            <a:r>
              <a:rPr b="1">
                <a:solidFill>
                  <a:srgbClr val="007020"/>
                </a:solidFill>
                <a:latin typeface="Courier"/>
              </a:rPr>
              <a:t>new</a:t>
            </a:r>
            <a:r>
              <a:rPr>
                <a:latin typeface="Courier"/>
              </a:rPr>
              <a:t> </a:t>
            </a:r>
            <a:r>
              <a:rPr>
                <a:solidFill>
                  <a:srgbClr val="06287E"/>
                </a:solidFill>
                <a:latin typeface="Courier"/>
              </a:rPr>
              <a:t>Circle</a:t>
            </a:r>
            <a:r>
              <a:rPr>
                <a:solidFill>
                  <a:srgbClr val="666666"/>
                </a:solidFill>
                <a:latin typeface="Courier"/>
              </a:rPr>
              <a:t>(</a:t>
            </a:r>
            <a:r>
              <a:rPr>
                <a:solidFill>
                  <a:srgbClr val="40A070"/>
                </a:solidFill>
                <a:latin typeface="Courier"/>
              </a:rPr>
              <a:t>5</a:t>
            </a:r>
            <a:r>
              <a:rPr>
                <a:solidFill>
                  <a:srgbClr val="666666"/>
                </a:solidFill>
                <a:latin typeface="Courier"/>
              </a:rPr>
              <a:t>,</a:t>
            </a:r>
            <a:r>
              <a:rPr>
                <a:latin typeface="Courier"/>
              </a:rPr>
              <a:t> </a:t>
            </a:r>
            <a:r>
              <a:rPr>
                <a:solidFill>
                  <a:srgbClr val="40A070"/>
                </a:solidFill>
                <a:latin typeface="Courier"/>
              </a:rPr>
              <a:t>6</a:t>
            </a:r>
            <a:r>
              <a:rPr>
                <a:solidFill>
                  <a:srgbClr val="666666"/>
                </a:solidFill>
                <a:latin typeface="Courier"/>
              </a:rPr>
              <a:t>,</a:t>
            </a:r>
            <a:r>
              <a:rPr>
                <a:latin typeface="Courier"/>
              </a:rPr>
              <a:t> </a:t>
            </a:r>
            <a:r>
              <a:rPr>
                <a:solidFill>
                  <a:srgbClr val="40A070"/>
                </a:solidFill>
                <a:latin typeface="Courier"/>
              </a:rPr>
              <a:t>10</a:t>
            </a:r>
            <a:r>
              <a:rPr>
                <a:solidFill>
                  <a:srgbClr val="666666"/>
                </a:solidFill>
                <a:latin typeface="Courier"/>
              </a:rPr>
              <a:t>);</a:t>
            </a:r>
            <a:br/>
            <a:br/>
            <a:r>
              <a:rPr>
                <a:latin typeface="Courier"/>
              </a:rPr>
              <a:t>        </a:t>
            </a:r>
            <a:r>
              <a:rPr i="1">
                <a:solidFill>
                  <a:srgbClr val="60A0B0"/>
                </a:solidFill>
                <a:latin typeface="Courier"/>
              </a:rPr>
              <a:t>// Create a composite and add components</a:t>
            </a:r>
            <a:br/>
            <a:r>
              <a:rPr>
                <a:latin typeface="Courier"/>
              </a:rPr>
              <a:t>        CompoundGraphic group1 </a:t>
            </a:r>
            <a:r>
              <a:rPr>
                <a:solidFill>
                  <a:srgbClr val="666666"/>
                </a:solidFill>
                <a:latin typeface="Courier"/>
              </a:rPr>
              <a:t>=</a:t>
            </a:r>
            <a:r>
              <a:rPr>
                <a:latin typeface="Courier"/>
              </a:rPr>
              <a:t> </a:t>
            </a:r>
            <a:r>
              <a:rPr b="1">
                <a:solidFill>
                  <a:srgbClr val="007020"/>
                </a:solidFill>
                <a:latin typeface="Courier"/>
              </a:rPr>
              <a:t>new</a:t>
            </a:r>
            <a:r>
              <a:rPr>
                <a:latin typeface="Courier"/>
              </a:rPr>
              <a:t> </a:t>
            </a:r>
            <a:r>
              <a:rPr>
                <a:solidFill>
                  <a:srgbClr val="06287E"/>
                </a:solidFill>
                <a:latin typeface="Courier"/>
              </a:rPr>
              <a:t>CompoundGraphic</a:t>
            </a:r>
            <a:r>
              <a:rPr>
                <a:solidFill>
                  <a:srgbClr val="666666"/>
                </a:solidFill>
                <a:latin typeface="Courier"/>
              </a:rPr>
              <a:t>();</a:t>
            </a:r>
            <a:br/>
            <a:r>
              <a:rPr>
                <a:latin typeface="Courier"/>
              </a:rPr>
              <a:t>        group1</a:t>
            </a:r>
            <a:r>
              <a:rPr>
                <a:solidFill>
                  <a:srgbClr val="666666"/>
                </a:solidFill>
                <a:latin typeface="Courier"/>
              </a:rPr>
              <a:t>.</a:t>
            </a:r>
            <a:r>
              <a:rPr>
                <a:solidFill>
                  <a:srgbClr val="06287E"/>
                </a:solidFill>
                <a:latin typeface="Courier"/>
              </a:rPr>
              <a:t>add</a:t>
            </a:r>
            <a:r>
              <a:rPr>
                <a:solidFill>
                  <a:srgbClr val="666666"/>
                </a:solidFill>
                <a:latin typeface="Courier"/>
              </a:rPr>
              <a:t>(</a:t>
            </a:r>
            <a:r>
              <a:rPr>
                <a:latin typeface="Courier"/>
              </a:rPr>
              <a:t>dot1</a:t>
            </a:r>
            <a:r>
              <a:rPr>
                <a:solidFill>
                  <a:srgbClr val="666666"/>
                </a:solidFill>
                <a:latin typeface="Courier"/>
              </a:rPr>
              <a:t>);</a:t>
            </a:r>
            <a:br/>
            <a:r>
              <a:rPr>
                <a:latin typeface="Courier"/>
              </a:rPr>
              <a:t>        group1</a:t>
            </a:r>
            <a:r>
              <a:rPr>
                <a:solidFill>
                  <a:srgbClr val="666666"/>
                </a:solidFill>
                <a:latin typeface="Courier"/>
              </a:rPr>
              <a:t>.</a:t>
            </a:r>
            <a:r>
              <a:rPr>
                <a:solidFill>
                  <a:srgbClr val="06287E"/>
                </a:solidFill>
                <a:latin typeface="Courier"/>
              </a:rPr>
              <a:t>add</a:t>
            </a:r>
            <a:r>
              <a:rPr>
                <a:solidFill>
                  <a:srgbClr val="666666"/>
                </a:solidFill>
                <a:latin typeface="Courier"/>
              </a:rPr>
              <a:t>(</a:t>
            </a:r>
            <a:r>
              <a:rPr>
                <a:latin typeface="Courier"/>
              </a:rPr>
              <a:t>circle</a:t>
            </a:r>
            <a:r>
              <a:rPr>
                <a:solidFill>
                  <a:srgbClr val="666666"/>
                </a:solidFill>
                <a:latin typeface="Courier"/>
              </a:rPr>
              <a:t>);</a:t>
            </a:r>
            <a:br/>
            <a:br/>
            <a:r>
              <a:rPr>
                <a:latin typeface="Courier"/>
              </a:rPr>
              <a:t>        </a:t>
            </a:r>
            <a:r>
              <a:rPr i="1">
                <a:solidFill>
                  <a:srgbClr val="60A0B0"/>
                </a:solidFill>
                <a:latin typeface="Courier"/>
              </a:rPr>
              <a:t>// Create another composite containing the first</a:t>
            </a:r>
            <a:br/>
            <a:r>
              <a:rPr>
                <a:latin typeface="Courier"/>
              </a:rPr>
              <a:t>        CompoundGraphic group2 </a:t>
            </a:r>
            <a:r>
              <a:rPr>
                <a:solidFill>
                  <a:srgbClr val="666666"/>
                </a:solidFill>
                <a:latin typeface="Courier"/>
              </a:rPr>
              <a:t>=</a:t>
            </a:r>
            <a:r>
              <a:rPr>
                <a:latin typeface="Courier"/>
              </a:rPr>
              <a:t> </a:t>
            </a:r>
            <a:r>
              <a:rPr b="1">
                <a:solidFill>
                  <a:srgbClr val="007020"/>
                </a:solidFill>
                <a:latin typeface="Courier"/>
              </a:rPr>
              <a:t>new</a:t>
            </a:r>
            <a:r>
              <a:rPr>
                <a:latin typeface="Courier"/>
              </a:rPr>
              <a:t> </a:t>
            </a:r>
            <a:r>
              <a:rPr>
                <a:solidFill>
                  <a:srgbClr val="06287E"/>
                </a:solidFill>
                <a:latin typeface="Courier"/>
              </a:rPr>
              <a:t>CompoundGraphic</a:t>
            </a:r>
            <a:r>
              <a:rPr>
                <a:solidFill>
                  <a:srgbClr val="666666"/>
                </a:solidFill>
                <a:latin typeface="Courier"/>
              </a:rPr>
              <a:t>();</a:t>
            </a:r>
            <a:br/>
            <a:r>
              <a:rPr>
                <a:latin typeface="Courier"/>
              </a:rPr>
              <a:t>        group2</a:t>
            </a:r>
            <a:r>
              <a:rPr>
                <a:solidFill>
                  <a:srgbClr val="666666"/>
                </a:solidFill>
                <a:latin typeface="Courier"/>
              </a:rPr>
              <a:t>.</a:t>
            </a:r>
            <a:r>
              <a:rPr>
                <a:solidFill>
                  <a:srgbClr val="06287E"/>
                </a:solidFill>
                <a:latin typeface="Courier"/>
              </a:rPr>
              <a:t>add</a:t>
            </a:r>
            <a:r>
              <a:rPr>
                <a:solidFill>
                  <a:srgbClr val="666666"/>
                </a:solidFill>
                <a:latin typeface="Courier"/>
              </a:rPr>
              <a:t>(</a:t>
            </a:r>
            <a:r>
              <a:rPr>
                <a:latin typeface="Courier"/>
              </a:rPr>
              <a:t>dot2</a:t>
            </a:r>
            <a:r>
              <a:rPr>
                <a:solidFill>
                  <a:srgbClr val="666666"/>
                </a:solidFill>
                <a:latin typeface="Courier"/>
              </a:rPr>
              <a:t>);</a:t>
            </a:r>
            <a:br/>
            <a:r>
              <a:rPr>
                <a:latin typeface="Courier"/>
              </a:rPr>
              <a:t>        group2</a:t>
            </a:r>
            <a:r>
              <a:rPr>
                <a:solidFill>
                  <a:srgbClr val="666666"/>
                </a:solidFill>
                <a:latin typeface="Courier"/>
              </a:rPr>
              <a:t>.</a:t>
            </a:r>
            <a:r>
              <a:rPr>
                <a:solidFill>
                  <a:srgbClr val="06287E"/>
                </a:solidFill>
                <a:latin typeface="Courier"/>
              </a:rPr>
              <a:t>add</a:t>
            </a:r>
            <a:r>
              <a:rPr>
                <a:solidFill>
                  <a:srgbClr val="666666"/>
                </a:solidFill>
                <a:latin typeface="Courier"/>
              </a:rPr>
              <a:t>(</a:t>
            </a:r>
            <a:r>
              <a:rPr>
                <a:latin typeface="Courier"/>
              </a:rPr>
              <a:t>group1</a:t>
            </a:r>
            <a:r>
              <a:rPr>
                <a:solidFill>
                  <a:srgbClr val="666666"/>
                </a:solidFill>
                <a:latin typeface="Courier"/>
              </a:rPr>
              <a:t>);</a:t>
            </a:r>
            <a:r>
              <a:rPr>
                <a:latin typeface="Courier"/>
              </a:rPr>
              <a:t> </a:t>
            </a:r>
            <a:r>
              <a:rPr i="1">
                <a:solidFill>
                  <a:srgbClr val="60A0B0"/>
                </a:solidFill>
                <a:latin typeface="Courier"/>
              </a:rPr>
              <a:t>// Nesting composites</a:t>
            </a:r>
            <a:br/>
            <a:br/>
            <a:r>
              <a:rPr>
                <a:latin typeface="Courier"/>
              </a:rPr>
              <a:t>        </a:t>
            </a:r>
            <a:r>
              <a:rPr i="1">
                <a:solidFill>
                  <a:srgbClr val="60A0B0"/>
                </a:solidFill>
                <a:latin typeface="Courier"/>
              </a:rPr>
              <a:t>// Draw the entire tree</a:t>
            </a:r>
            <a:br/>
            <a:r>
              <a:rPr>
                <a:latin typeface="Courier"/>
              </a:rPr>
              <a:t>        group2</a:t>
            </a:r>
            <a:r>
              <a:rPr>
                <a:solidFill>
                  <a:srgbClr val="666666"/>
                </a:solidFill>
                <a:latin typeface="Courier"/>
              </a:rPr>
              <a:t>.</a:t>
            </a:r>
            <a:r>
              <a:rPr>
                <a:solidFill>
                  <a:srgbClr val="06287E"/>
                </a:solidFill>
                <a:latin typeface="Courier"/>
              </a:rPr>
              <a:t>draw</a:t>
            </a:r>
            <a:r>
              <a:rPr>
                <a:solidFill>
                  <a:srgbClr val="666666"/>
                </a:solidFill>
                <a:latin typeface="Courier"/>
              </a:rPr>
              <a:t>();</a:t>
            </a:r>
            <a:br/>
            <a:br/>
            <a:r>
              <a:rPr>
                <a:latin typeface="Courier"/>
              </a:rPr>
              <a:t>        </a:t>
            </a:r>
            <a:r>
              <a:rPr i="1">
                <a:solidFill>
                  <a:srgbClr val="60A0B0"/>
                </a:solidFill>
                <a:latin typeface="Courier"/>
              </a:rPr>
              <a:t>// Move all elements</a:t>
            </a:r>
            <a:br/>
            <a:r>
              <a:rPr>
                <a:latin typeface="Courier"/>
              </a:rPr>
              <a:t>        group2</a:t>
            </a:r>
            <a:r>
              <a:rPr>
                <a:solidFill>
                  <a:srgbClr val="666666"/>
                </a:solidFill>
                <a:latin typeface="Courier"/>
              </a:rPr>
              <a:t>.</a:t>
            </a:r>
            <a:r>
              <a:rPr>
                <a:solidFill>
                  <a:srgbClr val="06287E"/>
                </a:solidFill>
                <a:latin typeface="Courier"/>
              </a:rPr>
              <a:t>move</a:t>
            </a:r>
            <a:r>
              <a:rPr>
                <a:solidFill>
                  <a:srgbClr val="666666"/>
                </a:solidFill>
                <a:latin typeface="Courier"/>
              </a:rPr>
              <a:t>(</a:t>
            </a:r>
            <a:r>
              <a:rPr>
                <a:solidFill>
                  <a:srgbClr val="40A070"/>
                </a:solidFill>
                <a:latin typeface="Courier"/>
              </a:rPr>
              <a:t>10</a:t>
            </a:r>
            <a:r>
              <a:rPr>
                <a:solidFill>
                  <a:srgbClr val="666666"/>
                </a:solidFill>
                <a:latin typeface="Courier"/>
              </a:rPr>
              <a:t>,</a:t>
            </a:r>
            <a:r>
              <a:rPr>
                <a:latin typeface="Courier"/>
              </a:rPr>
              <a:t> </a:t>
            </a:r>
            <a:r>
              <a:rPr>
                <a:solidFill>
                  <a:srgbClr val="40A070"/>
                </a:solidFill>
                <a:latin typeface="Courier"/>
              </a:rPr>
              <a:t>10</a:t>
            </a:r>
            <a:r>
              <a:rPr>
                <a:solidFill>
                  <a:srgbClr val="666666"/>
                </a:solidFill>
                <a:latin typeface="Courier"/>
              </a:rPr>
              <a:t>);</a:t>
            </a:r>
            <a:br/>
            <a:r>
              <a:rPr>
                <a:latin typeface="Courier"/>
              </a:rPr>
              <a:t>        group2</a:t>
            </a:r>
            <a:r>
              <a:rPr>
                <a:solidFill>
                  <a:srgbClr val="666666"/>
                </a:solidFill>
                <a:latin typeface="Courier"/>
              </a:rPr>
              <a:t>.</a:t>
            </a:r>
            <a:r>
              <a:rPr>
                <a:solidFill>
                  <a:srgbClr val="06287E"/>
                </a:solidFill>
                <a:latin typeface="Courier"/>
              </a:rPr>
              <a:t>draw</a:t>
            </a:r>
            <a:r>
              <a:rPr>
                <a:solidFill>
                  <a:srgbClr val="666666"/>
                </a:solidFill>
                <a:latin typeface="Courier"/>
              </a:rPr>
              <a:t>();</a:t>
            </a:r>
            <a:br/>
            <a:br/>
            <a:r>
              <a:rPr>
                <a:latin typeface="Courier"/>
              </a:rPr>
              <a:t>        </a:t>
            </a:r>
            <a:r>
              <a:rPr i="1">
                <a:solidFill>
                  <a:srgbClr val="60A0B0"/>
                </a:solidFill>
                <a:latin typeface="Courier"/>
              </a:rPr>
              <a:t>// Expected Output:</a:t>
            </a:r>
            <a:br/>
            <a:r>
              <a:rPr>
                <a:latin typeface="Courier"/>
              </a:rPr>
              <a:t>        </a:t>
            </a:r>
            <a:r>
              <a:rPr i="1">
                <a:solidFill>
                  <a:srgbClr val="60A0B0"/>
                </a:solidFill>
                <a:latin typeface="Courier"/>
              </a:rPr>
              <a:t>// ---- Begin Compound ----</a:t>
            </a:r>
            <a:br/>
            <a:r>
              <a:rPr>
                <a:latin typeface="Courier"/>
              </a:rPr>
              <a:t>        </a:t>
            </a:r>
            <a:r>
              <a:rPr i="1">
                <a:solidFill>
                  <a:srgbClr val="60A0B0"/>
                </a:solidFill>
                <a:latin typeface="Courier"/>
              </a:rPr>
              <a:t>// Drawing Dot at (3, 4)</a:t>
            </a:r>
            <a:br/>
            <a:r>
              <a:rPr>
                <a:latin typeface="Courier"/>
              </a:rPr>
              <a:t>        </a:t>
            </a:r>
            <a:r>
              <a:rPr i="1">
                <a:solidFill>
                  <a:srgbClr val="60A0B0"/>
                </a:solidFill>
                <a:latin typeface="Courier"/>
              </a:rPr>
              <a:t>// ---- Begin Compound ----</a:t>
            </a:r>
            <a:br/>
            <a:r>
              <a:rPr>
                <a:latin typeface="Courier"/>
              </a:rPr>
              <a:t>        </a:t>
            </a:r>
            <a:r>
              <a:rPr i="1">
                <a:solidFill>
                  <a:srgbClr val="60A0B0"/>
                </a:solidFill>
                <a:latin typeface="Courier"/>
              </a:rPr>
              <a:t>// Drawing Dot at (1, 2)</a:t>
            </a:r>
            <a:br/>
            <a:r>
              <a:rPr>
                <a:latin typeface="Courier"/>
              </a:rPr>
              <a:t>        </a:t>
            </a:r>
            <a:r>
              <a:rPr i="1">
                <a:solidFill>
                  <a:srgbClr val="60A0B0"/>
                </a:solidFill>
                <a:latin typeface="Courier"/>
              </a:rPr>
              <a:t>// Drawing Circle at (5, 6) with radius 10</a:t>
            </a:r>
            <a:br/>
            <a:r>
              <a:rPr>
                <a:latin typeface="Courier"/>
              </a:rPr>
              <a:t>        </a:t>
            </a:r>
            <a:r>
              <a:rPr i="1">
                <a:solidFill>
                  <a:srgbClr val="60A0B0"/>
                </a:solidFill>
                <a:latin typeface="Courier"/>
              </a:rPr>
              <a:t>// ---- End Compound ----</a:t>
            </a:r>
            <a:br/>
            <a:r>
              <a:rPr>
                <a:latin typeface="Courier"/>
              </a:rPr>
              <a:t>        </a:t>
            </a:r>
            <a:r>
              <a:rPr i="1">
                <a:solidFill>
                  <a:srgbClr val="60A0B0"/>
                </a:solidFill>
                <a:latin typeface="Courier"/>
              </a:rPr>
              <a:t>// ---- End Compound ----</a:t>
            </a:r>
            <a:br/>
            <a:r>
              <a:rPr>
                <a:latin typeface="Courier"/>
              </a:rPr>
              <a:t>        </a:t>
            </a:r>
            <a:r>
              <a:rPr i="1">
                <a:solidFill>
                  <a:srgbClr val="60A0B0"/>
                </a:solidFill>
                <a:latin typeface="Courier"/>
              </a:rPr>
              <a:t>// ---- Begin Compound ----</a:t>
            </a:r>
            <a:br/>
            <a:r>
              <a:rPr>
                <a:latin typeface="Courier"/>
              </a:rPr>
              <a:t>        </a:t>
            </a:r>
            <a:r>
              <a:rPr i="1">
                <a:solidFill>
                  <a:srgbClr val="60A0B0"/>
                </a:solidFill>
                <a:latin typeface="Courier"/>
              </a:rPr>
              <a:t>// Drawing Dot at (13, 14)</a:t>
            </a:r>
            <a:br/>
            <a:r>
              <a:rPr>
                <a:latin typeface="Courier"/>
              </a:rPr>
              <a:t>        </a:t>
            </a:r>
            <a:r>
              <a:rPr i="1">
                <a:solidFill>
                  <a:srgbClr val="60A0B0"/>
                </a:solidFill>
                <a:latin typeface="Courier"/>
              </a:rPr>
              <a:t>// ---- Begin Compound ----</a:t>
            </a:r>
            <a:br/>
            <a:r>
              <a:rPr>
                <a:latin typeface="Courier"/>
              </a:rPr>
              <a:t>        </a:t>
            </a:r>
            <a:r>
              <a:rPr i="1">
                <a:solidFill>
                  <a:srgbClr val="60A0B0"/>
                </a:solidFill>
                <a:latin typeface="Courier"/>
              </a:rPr>
              <a:t>// Drawing Dot at (11, 12)</a:t>
            </a:r>
            <a:br/>
            <a:r>
              <a:rPr>
                <a:latin typeface="Courier"/>
              </a:rPr>
              <a:t>        </a:t>
            </a:r>
            <a:r>
              <a:rPr i="1">
                <a:solidFill>
                  <a:srgbClr val="60A0B0"/>
                </a:solidFill>
                <a:latin typeface="Courier"/>
              </a:rPr>
              <a:t>// Drawing Circle at (15, 16) with radius 10</a:t>
            </a:r>
            <a:br/>
            <a:r>
              <a:rPr>
                <a:latin typeface="Courier"/>
              </a:rPr>
              <a:t>        </a:t>
            </a:r>
            <a:r>
              <a:rPr i="1">
                <a:solidFill>
                  <a:srgbClr val="60A0B0"/>
                </a:solidFill>
                <a:latin typeface="Courier"/>
              </a:rPr>
              <a:t>// ---- End Compound ----</a:t>
            </a:r>
            <a:br/>
            <a:r>
              <a:rPr>
                <a:latin typeface="Courier"/>
              </a:rPr>
              <a:t>        </a:t>
            </a:r>
            <a:r>
              <a:rPr i="1">
                <a:solidFill>
                  <a:srgbClr val="60A0B0"/>
                </a:solidFill>
                <a:latin typeface="Courier"/>
              </a:rPr>
              <a:t>// ---- End Compound ----</a:t>
            </a:r>
            <a:br/>
            <a:r>
              <a:rPr>
                <a:latin typeface="Courier"/>
              </a:rPr>
              <a:t>    </a:t>
            </a:r>
            <a:r>
              <a:rPr>
                <a:solidFill>
                  <a:srgbClr val="666666"/>
                </a:solidFill>
                <a:latin typeface="Courier"/>
              </a:rPr>
              <a:t>}</a:t>
            </a:r>
            <a:br/>
            <a:r>
              <a:rPr>
                <a:solidFill>
                  <a:srgbClr val="666666"/>
                </a:solidFill>
                <a:latin typeface="Courier"/>
              </a:rPr>
              <a:t>}</a:t>
            </a:r>
          </a:p>
        </p:txBody>
      </p:sp>
    </p:spTree>
  </p:cSld>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Composite - Sequence Diagram</a:t>
            </a:r>
          </a:p>
        </p:txBody>
      </p:sp>
      <p:pic>
        <p:nvPicPr>
          <p:cNvPr descr="assets/composite-sequence.png" id="0" name="Picture 1"/>
          <p:cNvPicPr>
            <a:picLocks noGrp="1" noChangeAspect="1"/>
          </p:cNvPicPr>
          <p:nvPr/>
        </p:nvPicPr>
        <p:blipFill>
          <a:blip r:embed="rId2"/>
          <a:stretch>
            <a:fillRect/>
          </a:stretch>
        </p:blipFill>
        <p:spPr bwMode="auto">
          <a:xfrm>
            <a:off x="3568700" y="292100"/>
            <a:ext cx="5105400" cy="37084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a:t>
            </a:r>
          </a:p>
        </p:txBody>
      </p:sp>
    </p:spTree>
  </p:cSld>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Composite: Applicability</a:t>
            </a:r>
          </a:p>
        </p:txBody>
      </p:sp>
      <p:sp>
        <p:nvSpPr>
          <p:cNvPr id="3" name="Content Placeholder 2"/>
          <p:cNvSpPr>
            <a:spLocks noGrp="1"/>
          </p:cNvSpPr>
          <p:nvPr>
            <p:ph idx="1"/>
          </p:nvPr>
        </p:nvSpPr>
        <p:spPr/>
        <p:txBody>
          <a:bodyPr/>
          <a:lstStyle/>
          <a:p>
            <a:pPr lvl="0" indent="0" marL="0">
              <a:buNone/>
            </a:pPr>
            <a:r>
              <a:rPr/>
              <a:t>Use the Composite pattern when:</a:t>
            </a:r>
          </a:p>
          <a:p>
            <a:pPr lvl="0"/>
            <a:r>
              <a:rPr/>
              <a:t>You have to implement a </a:t>
            </a:r>
            <a:r>
              <a:rPr b="1"/>
              <a:t>tree-like object structure</a:t>
            </a:r>
            <a:r>
              <a:rPr/>
              <a:t>. The Composite pattern provides you with two basic element types that share a common interface: simple leaves and complex containers</a:t>
            </a:r>
          </a:p>
          <a:p>
            <a:pPr lvl="0"/>
            <a:r>
              <a:rPr/>
              <a:t>You want the client code to treat both simple and complex elements </a:t>
            </a:r>
            <a:r>
              <a:rPr b="1"/>
              <a:t>uniformly</a:t>
            </a:r>
            <a:r>
              <a:rPr/>
              <a:t>. All elements defined by the Composite pattern share a common interface, so the client does not need to worry about the concrete class of the objects it works with</a:t>
            </a:r>
          </a:p>
        </p:txBody>
      </p:sp>
    </p:spTree>
  </p:cSld>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Composite: How to Implement</a:t>
            </a:r>
          </a:p>
        </p:txBody>
      </p:sp>
      <p:sp>
        <p:nvSpPr>
          <p:cNvPr id="3" name="Content Placeholder 2"/>
          <p:cNvSpPr>
            <a:spLocks noGrp="1"/>
          </p:cNvSpPr>
          <p:nvPr>
            <p:ph idx="1"/>
          </p:nvPr>
        </p:nvSpPr>
        <p:spPr/>
        <p:txBody>
          <a:bodyPr/>
          <a:lstStyle/>
          <a:p>
            <a:pPr lvl="0" indent="-342900" marL="342900">
              <a:buAutoNum type="arabicPeriod"/>
            </a:pPr>
            <a:r>
              <a:rPr/>
              <a:t>Make sure that the core model of your app can be represented as a </a:t>
            </a:r>
            <a:r>
              <a:rPr b="1"/>
              <a:t>tree structure</a:t>
            </a:r>
            <a:r>
              <a:rPr/>
              <a:t>. Try to break it down into simple elements and containers. Remember that containers must be able to contain both simple elements and other containers</a:t>
            </a:r>
          </a:p>
          <a:p>
            <a:pPr lvl="0" indent="-342900" marL="342900">
              <a:buAutoNum type="arabicPeriod"/>
            </a:pPr>
            <a:r>
              <a:rPr/>
              <a:t>Declare the </a:t>
            </a:r>
            <a:r>
              <a:rPr b="1"/>
              <a:t>component interface</a:t>
            </a:r>
            <a:r>
              <a:rPr/>
              <a:t> with a list of methods that make sense for both simple and complex components</a:t>
            </a:r>
          </a:p>
          <a:p>
            <a:pPr lvl="0" indent="-342900" marL="342900">
              <a:buAutoNum type="arabicPeriod"/>
            </a:pPr>
            <a:r>
              <a:rPr/>
              <a:t>Create a </a:t>
            </a:r>
            <a:r>
              <a:rPr b="1"/>
              <a:t>leaf class</a:t>
            </a:r>
            <a:r>
              <a:rPr/>
              <a:t> to represent simple elements. A program may have multiple different leaf classes</a:t>
            </a:r>
          </a:p>
        </p:txBody>
      </p:sp>
    </p:spTree>
  </p:cSld>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Composite: How to Implement (cont.)</a:t>
            </a:r>
          </a:p>
        </p:txBody>
      </p:sp>
      <p:sp>
        <p:nvSpPr>
          <p:cNvPr id="3" name="Content Placeholder 2"/>
          <p:cNvSpPr>
            <a:spLocks noGrp="1"/>
          </p:cNvSpPr>
          <p:nvPr>
            <p:ph idx="1"/>
          </p:nvPr>
        </p:nvSpPr>
        <p:spPr/>
        <p:txBody>
          <a:bodyPr/>
          <a:lstStyle/>
          <a:p>
            <a:pPr lvl="0" indent="-342900" marL="342900">
              <a:buAutoNum startAt="4" type="arabicPeriod"/>
            </a:pPr>
            <a:r>
              <a:rPr/>
              <a:t>Create a </a:t>
            </a:r>
            <a:r>
              <a:rPr b="1"/>
              <a:t>container class</a:t>
            </a:r>
            <a:r>
              <a:rPr/>
              <a:t> to represent complex elements. In this class, provide an array field for storing references to sub-elements. The array must be able to store both leaves and containers, so make sure it is declared with the component interface type</a:t>
            </a:r>
          </a:p>
          <a:p>
            <a:pPr lvl="0" indent="-342900" marL="342900">
              <a:buAutoNum startAt="4" type="arabicPeriod"/>
            </a:pPr>
            <a:r>
              <a:rPr/>
              <a:t>When implementing the methods of the container, remember that a container is supposed to </a:t>
            </a:r>
            <a:r>
              <a:rPr b="1"/>
              <a:t>delegate most of the work to sub-elements</a:t>
            </a:r>
          </a:p>
          <a:p>
            <a:pPr lvl="0" indent="-342900" marL="342900">
              <a:buAutoNum startAt="4" type="arabicPeriod"/>
            </a:pPr>
            <a:r>
              <a:rPr/>
              <a:t>Finally, define the methods for </a:t>
            </a:r>
            <a:r>
              <a:rPr b="1"/>
              <a:t>adding and removing</a:t>
            </a:r>
            <a:r>
              <a:rPr/>
              <a:t> child elements in the container. Keep in mind that these operations can be declared in the component interface, which would violate the Interface Segregation Principle but would let the client treat all elements equally</a:t>
            </a:r>
          </a:p>
        </p:txBody>
      </p:sp>
    </p:spTree>
  </p:cSld>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Composite: Pros and Cons</a:t>
            </a:r>
          </a:p>
        </p:txBody>
      </p:sp>
      <p:sp>
        <p:nvSpPr>
          <p:cNvPr id="3" name="Content Placeholder 2"/>
          <p:cNvSpPr>
            <a:spLocks noGrp="1"/>
          </p:cNvSpPr>
          <p:nvPr>
            <p:ph idx="1"/>
          </p:nvPr>
        </p:nvSpPr>
        <p:spPr/>
        <p:txBody>
          <a:bodyPr/>
          <a:lstStyle/>
          <a:p>
            <a:pPr lvl="0" indent="0" marL="0">
              <a:buNone/>
            </a:pPr>
            <a:r>
              <a:rPr b="1"/>
              <a:t>Pros:</a:t>
            </a:r>
            <a:r>
              <a:rPr/>
              <a:t> - You can work with complex tree structures more conveniently: use </a:t>
            </a:r>
            <a:r>
              <a:rPr b="1"/>
              <a:t>polymorphism and recursion</a:t>
            </a:r>
            <a:r>
              <a:rPr/>
              <a:t> to your advantage - </a:t>
            </a:r>
            <a:r>
              <a:rPr b="1"/>
              <a:t>Open/Closed Principle</a:t>
            </a:r>
            <a:r>
              <a:rPr/>
              <a:t>: You can introduce new element types into the app without breaking the existing code, which now works with the object tree</a:t>
            </a:r>
          </a:p>
          <a:p>
            <a:pPr lvl="0" indent="0" marL="0">
              <a:buNone/>
            </a:pPr>
            <a:r>
              <a:rPr b="1"/>
              <a:t>Cons:</a:t>
            </a:r>
            <a:r>
              <a:rPr/>
              <a:t> - It might be difficult to provide a </a:t>
            </a:r>
            <a:r>
              <a:rPr b="1"/>
              <a:t>common interface</a:t>
            </a:r>
            <a:r>
              <a:rPr/>
              <a:t> for classes whose functionality differs too much. In certain scenarios, you would need to overgeneralize the component interface, making it harder to comprehend</a:t>
            </a:r>
          </a:p>
        </p:txBody>
      </p:sp>
    </p:spTree>
  </p:cSld>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Composite: Relations with Other Patterns</a:t>
            </a:r>
          </a:p>
        </p:txBody>
      </p:sp>
      <p:sp>
        <p:nvSpPr>
          <p:cNvPr id="3" name="Content Placeholder 2"/>
          <p:cNvSpPr>
            <a:spLocks noGrp="1"/>
          </p:cNvSpPr>
          <p:nvPr>
            <p:ph idx="1"/>
          </p:nvPr>
        </p:nvSpPr>
        <p:spPr/>
        <p:txBody>
          <a:bodyPr/>
          <a:lstStyle/>
          <a:p>
            <a:pPr lvl="0"/>
            <a:r>
              <a:rPr/>
              <a:t>You can use </a:t>
            </a:r>
            <a:r>
              <a:rPr b="1"/>
              <a:t>Builder</a:t>
            </a:r>
            <a:r>
              <a:rPr/>
              <a:t> when creating complex Composite trees because you can program its construction steps to work recursively</a:t>
            </a:r>
          </a:p>
          <a:p>
            <a:pPr lvl="0"/>
            <a:r>
              <a:rPr b="1"/>
              <a:t>Chain of Responsibility</a:t>
            </a:r>
            <a:r>
              <a:rPr/>
              <a:t> is often used in conjunction with Composite. When a leaf component gets a request, it can pass it through the chain of all parent components down to the root of the object tree</a:t>
            </a:r>
          </a:p>
          <a:p>
            <a:pPr lvl="0"/>
            <a:r>
              <a:rPr/>
              <a:t>You can use </a:t>
            </a:r>
            <a:r>
              <a:rPr b="1"/>
              <a:t>Iterators</a:t>
            </a:r>
            <a:r>
              <a:rPr/>
              <a:t> to traverse Composite trees</a:t>
            </a:r>
          </a:p>
          <a:p>
            <a:pPr lvl="0"/>
            <a:r>
              <a:rPr/>
              <a:t>You can use </a:t>
            </a:r>
            <a:r>
              <a:rPr b="1"/>
              <a:t>Visitor</a:t>
            </a:r>
            <a:r>
              <a:rPr/>
              <a:t> to execute an operation over an entire Composite tree</a:t>
            </a:r>
          </a:p>
        </p:txBody>
      </p:sp>
    </p:spTree>
  </p:cSld>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Composite: Relations with Other Patterns (cont.)</a:t>
            </a:r>
          </a:p>
        </p:txBody>
      </p:sp>
      <p:sp>
        <p:nvSpPr>
          <p:cNvPr id="3" name="Content Placeholder 2"/>
          <p:cNvSpPr>
            <a:spLocks noGrp="1"/>
          </p:cNvSpPr>
          <p:nvPr>
            <p:ph idx="1"/>
          </p:nvPr>
        </p:nvSpPr>
        <p:spPr/>
        <p:txBody>
          <a:bodyPr/>
          <a:lstStyle/>
          <a:p>
            <a:pPr lvl="0"/>
            <a:r>
              <a:rPr/>
              <a:t>You can implement shared leaf nodes of the Composite tree as </a:t>
            </a:r>
            <a:r>
              <a:rPr b="1"/>
              <a:t>Flyweights</a:t>
            </a:r>
            <a:r>
              <a:rPr/>
              <a:t> to save RAM</a:t>
            </a:r>
          </a:p>
          <a:p>
            <a:pPr lvl="0"/>
            <a:r>
              <a:rPr b="1"/>
              <a:t>Composite</a:t>
            </a:r>
            <a:r>
              <a:rPr/>
              <a:t> and </a:t>
            </a:r>
            <a:r>
              <a:rPr b="1"/>
              <a:t>Decorator</a:t>
            </a:r>
            <a:r>
              <a:rPr/>
              <a:t> have similar structure diagrams since both rely on recursive composition. However, a Decorator is like a Composite that has only one child component. Decorator adds additional responsibilities to the wrapped object, while Composite just “sums up” its children’s results</a:t>
            </a:r>
          </a:p>
          <a:p>
            <a:pPr lvl="0"/>
            <a:r>
              <a:rPr/>
              <a:t>Designs that make heavy use of Composite and Decorator can often benefit from using </a:t>
            </a:r>
            <a:r>
              <a:rPr b="1"/>
              <a:t>Prototype</a:t>
            </a:r>
            <a:r>
              <a:rPr/>
              <a:t>. Applying the pattern lets you clone complex structures instead of re-constructing them from scratch</a:t>
            </a:r>
          </a:p>
        </p:txBody>
      </p:sp>
    </p:spTree>
  </p:cSld>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Module D: Takeaway</a:t>
            </a:r>
          </a:p>
        </p:txBody>
      </p:sp>
      <p:sp>
        <p:nvSpPr>
          <p:cNvPr id="3" name="Content Placeholder 2"/>
          <p:cNvSpPr>
            <a:spLocks noGrp="1"/>
          </p:cNvSpPr>
          <p:nvPr>
            <p:ph idx="1"/>
          </p:nvPr>
        </p:nvSpPr>
        <p:spPr/>
        <p:txBody>
          <a:bodyPr/>
          <a:lstStyle/>
          <a:p>
            <a:pPr lvl="0"/>
            <a:r>
              <a:rPr/>
              <a:t>The Composite pattern lets you compose objects into </a:t>
            </a:r>
            <a:r>
              <a:rPr b="1"/>
              <a:t>tree structures</a:t>
            </a:r>
            <a:r>
              <a:rPr/>
              <a:t> and treat them uniformly</a:t>
            </a:r>
          </a:p>
          <a:p>
            <a:pPr lvl="0"/>
            <a:r>
              <a:rPr/>
              <a:t>It uses a </a:t>
            </a:r>
            <a:r>
              <a:rPr b="1"/>
              <a:t>common interface</a:t>
            </a:r>
            <a:r>
              <a:rPr/>
              <a:t> for both simple (leaf) and complex (composite) elements</a:t>
            </a:r>
          </a:p>
          <a:p>
            <a:pPr lvl="0"/>
            <a:r>
              <a:rPr/>
              <a:t>The pattern enables </a:t>
            </a:r>
            <a:r>
              <a:rPr b="1"/>
              <a:t>recursive composition</a:t>
            </a:r>
            <a:r>
              <a:rPr/>
              <a:t> where containers can hold both leaves and other containers</a:t>
            </a:r>
          </a:p>
          <a:p>
            <a:pPr lvl="0"/>
            <a:r>
              <a:rPr/>
              <a:t>It is ideal for representing </a:t>
            </a:r>
            <a:r>
              <a:rPr b="1"/>
              <a:t>part-whole hierarchies</a:t>
            </a:r>
          </a:p>
          <a:p>
            <a:pPr lvl="0"/>
            <a:r>
              <a:rPr/>
              <a:t>It follows the </a:t>
            </a:r>
            <a:r>
              <a:rPr b="1"/>
              <a:t>Open/Closed Principle</a:t>
            </a:r>
            <a:r>
              <a:rPr/>
              <a:t> by allowing new element types without modifying existing code</a:t>
            </a:r>
          </a:p>
        </p:txBody>
      </p:sp>
    </p:spTree>
  </p:cSld>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b="1"/>
              <a:t>Module E: Decorator Pattern</a:t>
            </a:r>
          </a:p>
        </p:txBody>
      </p:sp>
    </p:spTree>
  </p:cSld>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Module E: Outline</a:t>
            </a:r>
          </a:p>
        </p:txBody>
      </p:sp>
      <p:sp>
        <p:nvSpPr>
          <p:cNvPr id="3" name="Content Placeholder 2"/>
          <p:cNvSpPr>
            <a:spLocks noGrp="1"/>
          </p:cNvSpPr>
          <p:nvPr>
            <p:ph idx="1"/>
          </p:nvPr>
        </p:nvSpPr>
        <p:spPr/>
        <p:txBody>
          <a:bodyPr/>
          <a:lstStyle/>
          <a:p>
            <a:pPr lvl="0"/>
            <a:r>
              <a:rPr/>
              <a:t>Intent</a:t>
            </a:r>
          </a:p>
          <a:p>
            <a:pPr lvl="0"/>
            <a:r>
              <a:rPr/>
              <a:t>Problem</a:t>
            </a:r>
          </a:p>
          <a:p>
            <a:pPr lvl="0"/>
            <a:r>
              <a:rPr/>
              <a:t>Solution</a:t>
            </a:r>
          </a:p>
          <a:p>
            <a:pPr lvl="0"/>
            <a:r>
              <a:rPr/>
              <a:t>Real-World Analogy</a:t>
            </a:r>
          </a:p>
          <a:p>
            <a:pPr lvl="0"/>
            <a:r>
              <a:rPr/>
              <a:t>Structure (UML)</a:t>
            </a:r>
          </a:p>
          <a:p>
            <a:pPr lvl="0"/>
            <a:r>
              <a:rPr/>
              <a:t>Java Code Example</a:t>
            </a:r>
          </a:p>
          <a:p>
            <a:pPr lvl="0"/>
            <a:r>
              <a:rPr/>
              <a:t>Applicability</a:t>
            </a:r>
          </a:p>
          <a:p>
            <a:pPr lvl="0"/>
            <a:r>
              <a:rPr/>
              <a:t>How to Implement</a:t>
            </a:r>
          </a:p>
          <a:p>
            <a:pPr lvl="0"/>
            <a:r>
              <a:rPr/>
              <a:t>Pros and Cons</a:t>
            </a:r>
          </a:p>
          <a:p>
            <a:pPr lvl="0"/>
            <a:r>
              <a:rPr/>
              <a:t>Relations with Other Patterns</a:t>
            </a:r>
          </a:p>
          <a:p>
            <a:pPr lvl="0"/>
            <a:r>
              <a:rPr/>
              <a:t>Module Takeaway</a:t>
            </a:r>
          </a:p>
        </p:txBody>
      </p:sp>
    </p:spTree>
  </p:cSld>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Decorator: Intent</a:t>
            </a:r>
          </a:p>
        </p:txBody>
      </p:sp>
      <p:sp>
        <p:nvSpPr>
          <p:cNvPr id="3" name="Content Placeholder 2"/>
          <p:cNvSpPr>
            <a:spLocks noGrp="1"/>
          </p:cNvSpPr>
          <p:nvPr>
            <p:ph idx="1"/>
          </p:nvPr>
        </p:nvSpPr>
        <p:spPr/>
        <p:txBody>
          <a:bodyPr/>
          <a:lstStyle/>
          <a:p>
            <a:pPr lvl="0" indent="0" marL="0">
              <a:buNone/>
            </a:pPr>
            <a:r>
              <a:rPr b="1"/>
              <a:t>Decorator</a:t>
            </a:r>
            <a:r>
              <a:rPr/>
              <a:t> is a structural design pattern that lets you attach </a:t>
            </a:r>
            <a:r>
              <a:rPr b="1"/>
              <a:t>new behaviors</a:t>
            </a:r>
            <a:r>
              <a:rPr/>
              <a:t> to objects by placing these objects inside special </a:t>
            </a:r>
            <a:r>
              <a:rPr b="1"/>
              <a:t>wrapper objects</a:t>
            </a:r>
            <a:r>
              <a:rPr/>
              <a:t> that contain the behaviors.</a:t>
            </a:r>
          </a:p>
          <a:p>
            <a:pPr lvl="0"/>
            <a:r>
              <a:rPr/>
              <a:t>Also known as: </a:t>
            </a:r>
            <a:r>
              <a:rPr b="1"/>
              <a:t>Wrapper</a:t>
            </a:r>
          </a:p>
          <a:p>
            <a:pPr lvl="0" indent="0" marL="0">
              <a:buNone/>
            </a:pPr>
            <a:r>
              <a:rPr/>
              <a:t>Source: </a:t>
            </a:r>
            <a:r>
              <a:rPr>
                <a:hlinkClick r:id="rId2"/>
              </a:rPr>
              <a:t>refactoring.guru</a:t>
            </a:r>
          </a:p>
        </p:txBody>
      </p:sp>
    </p:spTree>
  </p:cSld>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Decorator: Problem</a:t>
            </a:r>
          </a:p>
        </p:txBody>
      </p:sp>
      <p:sp>
        <p:nvSpPr>
          <p:cNvPr id="3" name="Content Placeholder 2"/>
          <p:cNvSpPr>
            <a:spLocks noGrp="1"/>
          </p:cNvSpPr>
          <p:nvPr>
            <p:ph idx="1"/>
          </p:nvPr>
        </p:nvSpPr>
        <p:spPr/>
        <p:txBody>
          <a:bodyPr/>
          <a:lstStyle/>
          <a:p>
            <a:pPr lvl="0" indent="0" marL="0">
              <a:buNone/>
            </a:pPr>
            <a:r>
              <a:rPr/>
              <a:t>Imagine that you are working on a </a:t>
            </a:r>
            <a:r>
              <a:rPr b="1"/>
              <a:t>notification library</a:t>
            </a:r>
            <a:r>
              <a:rPr/>
              <a:t> which lets other programs notify their users about important events.</a:t>
            </a:r>
          </a:p>
          <a:p>
            <a:pPr lvl="0" indent="0" marL="0">
              <a:buNone/>
            </a:pPr>
            <a:r>
              <a:rPr/>
              <a:t>The initial version of the library was based on the </a:t>
            </a:r>
            <a:r>
              <a:rPr>
                <a:latin typeface="Courier"/>
              </a:rPr>
              <a:t>Notifier</a:t>
            </a:r>
            <a:r>
              <a:rPr/>
              <a:t> class that had only a few fields, a constructor, and a single </a:t>
            </a:r>
            <a:r>
              <a:rPr>
                <a:latin typeface="Courier"/>
              </a:rPr>
              <a:t>send</a:t>
            </a:r>
            <a:r>
              <a:rPr/>
              <a:t> method. The method could accept a message argument from a client and send the message to a list of emails.</a:t>
            </a:r>
          </a:p>
        </p:txBody>
      </p:sp>
    </p:spTree>
  </p:cSld>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Decorator: Problem (cont.)</a:t>
            </a:r>
          </a:p>
        </p:txBody>
      </p:sp>
      <p:sp>
        <p:nvSpPr>
          <p:cNvPr id="3" name="Content Placeholder 2"/>
          <p:cNvSpPr>
            <a:spLocks noGrp="1"/>
          </p:cNvSpPr>
          <p:nvPr>
            <p:ph idx="1"/>
          </p:nvPr>
        </p:nvSpPr>
        <p:spPr/>
        <p:txBody>
          <a:bodyPr/>
          <a:lstStyle/>
          <a:p>
            <a:pPr lvl="0" indent="0" marL="0">
              <a:buNone/>
            </a:pPr>
            <a:r>
              <a:rPr/>
              <a:t>At some point, you realize that users of the library expect more than just email notifications. Many of them would like to receive an </a:t>
            </a:r>
            <a:r>
              <a:rPr b="1"/>
              <a:t>SMS</a:t>
            </a:r>
            <a:r>
              <a:rPr/>
              <a:t> about critical issues. Others would like to be notified on </a:t>
            </a:r>
            <a:r>
              <a:rPr b="1"/>
              <a:t>Facebook</a:t>
            </a:r>
            <a:r>
              <a:rPr/>
              <a:t>. And the corporate users would love to get </a:t>
            </a:r>
            <a:r>
              <a:rPr b="1"/>
              <a:t>Slack</a:t>
            </a:r>
            <a:r>
              <a:rPr/>
              <a:t> notifications.</a:t>
            </a:r>
          </a:p>
          <a:p>
            <a:pPr lvl="0" indent="0" marL="0">
              <a:buNone/>
            </a:pPr>
            <a:r>
              <a:rPr/>
              <a:t>How hard can that be? You extend the </a:t>
            </a:r>
            <a:r>
              <a:rPr>
                <a:latin typeface="Courier"/>
              </a:rPr>
              <a:t>Notifier</a:t>
            </a:r>
            <a:r>
              <a:rPr/>
              <a:t> class and put the additional notification methods into new subclasses. Now the client is supposed to instantiate the desired notification class and use it for all further notifications.</a:t>
            </a:r>
          </a:p>
        </p:txBody>
      </p:sp>
    </p:spTree>
  </p:cSld>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Decorator: Problem (cont.)</a:t>
            </a:r>
          </a:p>
        </p:txBody>
      </p:sp>
      <p:sp>
        <p:nvSpPr>
          <p:cNvPr id="3" name="Content Placeholder 2"/>
          <p:cNvSpPr>
            <a:spLocks noGrp="1"/>
          </p:cNvSpPr>
          <p:nvPr>
            <p:ph idx="1"/>
          </p:nvPr>
        </p:nvSpPr>
        <p:spPr/>
        <p:txBody>
          <a:bodyPr/>
          <a:lstStyle/>
          <a:p>
            <a:pPr lvl="0" indent="0" marL="0">
              <a:buNone/>
            </a:pPr>
            <a:r>
              <a:rPr/>
              <a:t>But then someone asks: “Why can’t you use </a:t>
            </a:r>
            <a:r>
              <a:rPr b="1"/>
              <a:t>several notification types at once</a:t>
            </a:r>
            <a:r>
              <a:rPr/>
              <a:t>?” For example, if your house is on fire, you would probably want to be informed through every channel.</a:t>
            </a:r>
          </a:p>
          <a:p>
            <a:pPr lvl="0" indent="0" marL="0">
              <a:buNone/>
            </a:pPr>
            <a:r>
              <a:rPr/>
              <a:t>You try to address that by creating special subclasses for every combination. But it quickly becomes apparent that this approach bloats the code immensely – </a:t>
            </a:r>
            <a:r>
              <a:rPr b="1"/>
              <a:t>combinatorial explosion</a:t>
            </a:r>
            <a:r>
              <a:rPr/>
              <a:t> of subclasses makes the codebase unmaintainable.</a:t>
            </a:r>
          </a:p>
        </p:txBody>
      </p:sp>
    </p:spTree>
  </p:cSld>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Decorator: Solution</a:t>
            </a:r>
          </a:p>
        </p:txBody>
      </p:sp>
      <p:sp>
        <p:nvSpPr>
          <p:cNvPr id="3" name="Content Placeholder 2"/>
          <p:cNvSpPr>
            <a:spLocks noGrp="1"/>
          </p:cNvSpPr>
          <p:nvPr>
            <p:ph idx="1"/>
          </p:nvPr>
        </p:nvSpPr>
        <p:spPr/>
        <p:txBody>
          <a:bodyPr/>
          <a:lstStyle/>
          <a:p>
            <a:pPr lvl="0" indent="0" marL="0">
              <a:buNone/>
            </a:pPr>
            <a:r>
              <a:rPr/>
              <a:t>When you need to alter an object’s behavior, the first thing that comes to mind is extending a class. However, inheritance has several serious caveats:</a:t>
            </a:r>
          </a:p>
          <a:p>
            <a:pPr lvl="0"/>
            <a:r>
              <a:rPr/>
              <a:t>Inheritance is </a:t>
            </a:r>
            <a:r>
              <a:rPr b="1"/>
              <a:t>static</a:t>
            </a:r>
            <a:r>
              <a:rPr/>
              <a:t> – you cannot alter the behavior of an existing object at runtime</a:t>
            </a:r>
          </a:p>
          <a:p>
            <a:pPr lvl="0"/>
            <a:r>
              <a:rPr/>
              <a:t>Subclasses can have just </a:t>
            </a:r>
            <a:r>
              <a:rPr b="1"/>
              <a:t>one parent class</a:t>
            </a:r>
            <a:r>
              <a:rPr/>
              <a:t> (in most languages)</a:t>
            </a:r>
          </a:p>
          <a:p>
            <a:pPr lvl="0" indent="0" marL="0">
              <a:buNone/>
            </a:pPr>
            <a:r>
              <a:rPr/>
              <a:t>One of the alternatives is to use </a:t>
            </a:r>
            <a:r>
              <a:rPr b="1"/>
              <a:t>Composition/Aggregation</a:t>
            </a:r>
            <a:r>
              <a:rPr/>
              <a:t> instead of Inheritance.</a:t>
            </a:r>
          </a:p>
        </p:txBody>
      </p:sp>
    </p:spTree>
  </p:cSld>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Decorator: Solution (cont.)</a:t>
            </a:r>
          </a:p>
        </p:txBody>
      </p:sp>
      <p:sp>
        <p:nvSpPr>
          <p:cNvPr id="3" name="Content Placeholder 2"/>
          <p:cNvSpPr>
            <a:spLocks noGrp="1"/>
          </p:cNvSpPr>
          <p:nvPr>
            <p:ph idx="1"/>
          </p:nvPr>
        </p:nvSpPr>
        <p:spPr/>
        <p:txBody>
          <a:bodyPr/>
          <a:lstStyle/>
          <a:p>
            <a:pPr lvl="0" indent="0" marL="0">
              <a:buNone/>
            </a:pPr>
            <a:r>
              <a:rPr/>
              <a:t>A </a:t>
            </a:r>
            <a:r>
              <a:rPr b="1"/>
              <a:t>wrapper</a:t>
            </a:r>
            <a:r>
              <a:rPr/>
              <a:t> is an object that can be linked with some </a:t>
            </a:r>
            <a:r>
              <a:rPr b="1"/>
              <a:t>target</a:t>
            </a:r>
            <a:r>
              <a:rPr/>
              <a:t> object. The wrapper contains the same set of methods as the target and delegates all requests it receives to the target. However, the wrapper may alter the result by doing something either </a:t>
            </a:r>
            <a:r>
              <a:rPr b="1"/>
              <a:t>before or after</a:t>
            </a:r>
            <a:r>
              <a:rPr/>
              <a:t> it passes the request to the target.</a:t>
            </a:r>
          </a:p>
          <a:p>
            <a:pPr lvl="0" indent="0" marL="0">
              <a:buNone/>
            </a:pPr>
            <a:r>
              <a:rPr/>
              <a:t>When does a simple wrapper become a real decorator? The wrapper implements the </a:t>
            </a:r>
            <a:r>
              <a:rPr b="1"/>
              <a:t>same interface</a:t>
            </a:r>
            <a:r>
              <a:rPr/>
              <a:t> as the wrapped object. That is why from the client’s perspective these objects are identical.</a:t>
            </a:r>
          </a:p>
        </p:txBody>
      </p:sp>
    </p:spTree>
  </p:cSld>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Decorator: Solution (cont.)</a:t>
            </a:r>
          </a:p>
        </p:txBody>
      </p:sp>
      <p:sp>
        <p:nvSpPr>
          <p:cNvPr id="3" name="Content Placeholder 2"/>
          <p:cNvSpPr>
            <a:spLocks noGrp="1"/>
          </p:cNvSpPr>
          <p:nvPr>
            <p:ph idx="1"/>
          </p:nvPr>
        </p:nvSpPr>
        <p:spPr/>
        <p:txBody>
          <a:bodyPr/>
          <a:lstStyle/>
          <a:p>
            <a:pPr lvl="0" indent="0" marL="0">
              <a:buNone/>
            </a:pPr>
            <a:r>
              <a:rPr/>
              <a:t>Multiple wrappers can be </a:t>
            </a:r>
            <a:r>
              <a:rPr b="1"/>
              <a:t>stacked</a:t>
            </a:r>
            <a:r>
              <a:rPr/>
              <a:t> around a single object, combining all their behaviors:</a:t>
            </a:r>
          </a:p>
          <a:p>
            <a:pPr lvl="0" indent="0">
              <a:buNone/>
            </a:pPr>
            <a:r>
              <a:rPr>
                <a:latin typeface="Courier"/>
              </a:rPr>
              <a:t>Encryption(Compression(FileDataSource))</a:t>
            </a:r>
          </a:p>
          <a:p>
            <a:pPr lvl="0" indent="0" marL="0">
              <a:buNone/>
            </a:pPr>
            <a:r>
              <a:rPr/>
              <a:t>The client can wrap the object with any decorators that follow the same interface. All wrappers combine their behaviors without creating new subclasses.</a:t>
            </a:r>
          </a:p>
        </p:txBody>
      </p:sp>
    </p:spTree>
  </p:cSld>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Decorator: Real-World Analogy</a:t>
            </a:r>
          </a:p>
        </p:txBody>
      </p:sp>
      <p:sp>
        <p:nvSpPr>
          <p:cNvPr id="3" name="Content Placeholder 2"/>
          <p:cNvSpPr>
            <a:spLocks noGrp="1"/>
          </p:cNvSpPr>
          <p:nvPr>
            <p:ph idx="1"/>
          </p:nvPr>
        </p:nvSpPr>
        <p:spPr/>
        <p:txBody>
          <a:bodyPr/>
          <a:lstStyle/>
          <a:p>
            <a:pPr lvl="0" indent="0" marL="0">
              <a:buNone/>
            </a:pPr>
            <a:r>
              <a:rPr b="1"/>
              <a:t>Wearing clothes</a:t>
            </a:r>
            <a:r>
              <a:rPr/>
              <a:t> is an example of using decorators. When you are cold, you wrap yourself in a sweater. If you are still cold, you can wear a jacket on top. If it is raining, you can put on a raincoat.</a:t>
            </a:r>
          </a:p>
          <a:p>
            <a:pPr lvl="0" indent="0" marL="0">
              <a:buNone/>
            </a:pPr>
            <a:r>
              <a:rPr/>
              <a:t>All of these garments </a:t>
            </a:r>
            <a:r>
              <a:rPr b="1"/>
              <a:t>extend</a:t>
            </a:r>
            <a:r>
              <a:rPr/>
              <a:t> your basic behavior but are not part of you, and you can easily </a:t>
            </a:r>
            <a:r>
              <a:rPr b="1"/>
              <a:t>take off</a:t>
            </a:r>
            <a:r>
              <a:rPr/>
              <a:t> any piece of clothing whenever you do not need it.</a:t>
            </a:r>
          </a:p>
        </p:txBody>
      </p:sp>
    </p:spTree>
  </p:cSld>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Decorator: Structure</a:t>
            </a:r>
          </a:p>
        </p:txBody>
      </p:sp>
      <p:sp>
        <p:nvSpPr>
          <p:cNvPr id="3" name="Content Placeholder 2"/>
          <p:cNvSpPr>
            <a:spLocks noGrp="1"/>
          </p:cNvSpPr>
          <p:nvPr>
            <p:ph idx="1"/>
          </p:nvPr>
        </p:nvSpPr>
        <p:spPr/>
        <p:txBody>
          <a:bodyPr/>
          <a:lstStyle/>
          <a:p>
            <a:pPr lvl="0" indent="-342900" marL="342900">
              <a:buAutoNum type="arabicPeriod"/>
            </a:pPr>
            <a:r>
              <a:rPr b="1"/>
              <a:t>Component</a:t>
            </a:r>
            <a:r>
              <a:rPr/>
              <a:t> – Declares the common interface for both wrappers and wrapped objects</a:t>
            </a:r>
          </a:p>
          <a:p>
            <a:pPr lvl="0" indent="-342900" marL="342900">
              <a:buAutoNum type="arabicPeriod"/>
            </a:pPr>
            <a:r>
              <a:rPr b="1"/>
              <a:t>Concrete Component</a:t>
            </a:r>
            <a:r>
              <a:rPr/>
              <a:t> – A class of objects being wrapped. It defines basic behavior, which can be altered by decorators</a:t>
            </a:r>
          </a:p>
          <a:p>
            <a:pPr lvl="0" indent="-342900" marL="342900">
              <a:buAutoNum type="arabicPeriod"/>
            </a:pPr>
            <a:r>
              <a:rPr b="1"/>
              <a:t>Base Decorator</a:t>
            </a:r>
            <a:r>
              <a:rPr/>
              <a:t> – A class that has a field for referencing a wrapped object. The field’s type should be declared as the component interface so it can contain both concrete components and decorators. The base decorator delegates all operations to the wrapped object</a:t>
            </a:r>
          </a:p>
          <a:p>
            <a:pPr lvl="0" indent="-342900" marL="342900">
              <a:buAutoNum type="arabicPeriod"/>
            </a:pPr>
            <a:r>
              <a:rPr b="1"/>
              <a:t>Concrete Decorators</a:t>
            </a:r>
            <a:r>
              <a:rPr/>
              <a:t> – Define extra behaviors that can be added to components dynamically. They override methods of the base decorator and execute their behavior either before or after calling the parent method</a:t>
            </a:r>
          </a:p>
          <a:p>
            <a:pPr lvl="0" indent="-342900" marL="342900">
              <a:buAutoNum type="arabicPeriod"/>
            </a:pPr>
            <a:r>
              <a:rPr b="1"/>
              <a:t>Client</a:t>
            </a:r>
            <a:r>
              <a:rPr/>
              <a:t> – Can wrap components in multiple layers of decorators, as long as it works with all objects via the component interface</a:t>
            </a:r>
          </a:p>
        </p:txBody>
      </p:sp>
    </p:spTree>
  </p:cSld>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Decorator - Class Diagram</a:t>
            </a:r>
          </a:p>
        </p:txBody>
      </p:sp>
      <p:pic>
        <p:nvPicPr>
          <p:cNvPr descr="assets/decorator-structure.png" id="0" name="Picture 1"/>
          <p:cNvPicPr>
            <a:picLocks noGrp="1" noChangeAspect="1"/>
          </p:cNvPicPr>
          <p:nvPr/>
        </p:nvPicPr>
        <p:blipFill>
          <a:blip r:embed="rId2"/>
          <a:stretch>
            <a:fillRect/>
          </a:stretch>
        </p:blipFill>
        <p:spPr bwMode="auto">
          <a:xfrm>
            <a:off x="3568700" y="1104900"/>
            <a:ext cx="5105400" cy="20701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a:t>
            </a:r>
          </a:p>
        </p:txBody>
      </p:sp>
    </p:spTree>
  </p:cSld>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Decorator: Java Code Example - Component Interface</a:t>
            </a:r>
          </a:p>
        </p:txBody>
      </p:sp>
      <p:sp>
        <p:nvSpPr>
          <p:cNvPr id="3" name="Content Placeholder 2"/>
          <p:cNvSpPr>
            <a:spLocks noGrp="1"/>
          </p:cNvSpPr>
          <p:nvPr>
            <p:ph idx="1"/>
          </p:nvPr>
        </p:nvSpPr>
        <p:spPr/>
        <p:txBody>
          <a:bodyPr/>
          <a:lstStyle/>
          <a:p>
            <a:pPr lvl="0" indent="0">
              <a:buNone/>
            </a:pPr>
            <a:r>
              <a:rPr i="1">
                <a:solidFill>
                  <a:srgbClr val="60A0B0"/>
                </a:solidFill>
                <a:latin typeface="Courier"/>
              </a:rPr>
              <a:t>// The component interface defines operations that can be</a:t>
            </a:r>
            <a:br/>
            <a:r>
              <a:rPr i="1">
                <a:solidFill>
                  <a:srgbClr val="60A0B0"/>
                </a:solidFill>
                <a:latin typeface="Courier"/>
              </a:rPr>
              <a:t>// altered by decorators.</a:t>
            </a:r>
            <a:br/>
            <a:r>
              <a:rPr b="1">
                <a:solidFill>
                  <a:srgbClr val="007020"/>
                </a:solidFill>
                <a:latin typeface="Courier"/>
              </a:rPr>
              <a:t>public</a:t>
            </a:r>
            <a:r>
              <a:rPr>
                <a:latin typeface="Courier"/>
              </a:rPr>
              <a:t> </a:t>
            </a:r>
            <a:r>
              <a:rPr b="1">
                <a:solidFill>
                  <a:srgbClr val="007020"/>
                </a:solidFill>
                <a:latin typeface="Courier"/>
              </a:rPr>
              <a:t>interface</a:t>
            </a:r>
            <a:r>
              <a:rPr>
                <a:latin typeface="Courier"/>
              </a:rPr>
              <a:t> </a:t>
            </a:r>
            <a:r>
              <a:rPr>
                <a:solidFill>
                  <a:srgbClr val="008000"/>
                </a:solidFill>
                <a:latin typeface="Courier"/>
              </a:rPr>
              <a:t>DataSource</a:t>
            </a:r>
            <a:r>
              <a:rPr>
                <a:latin typeface="Courier"/>
              </a:rPr>
              <a:t> </a:t>
            </a:r>
            <a:r>
              <a:rPr>
                <a:solidFill>
                  <a:srgbClr val="666666"/>
                </a:solidFill>
                <a:latin typeface="Courier"/>
              </a:rPr>
              <a:t>{</a:t>
            </a:r>
            <a:br/>
            <a:r>
              <a:rPr>
                <a:latin typeface="Courier"/>
              </a:rPr>
              <a:t>    </a:t>
            </a:r>
            <a:r>
              <a:rPr>
                <a:solidFill>
                  <a:srgbClr val="902000"/>
                </a:solidFill>
                <a:latin typeface="Courier"/>
              </a:rPr>
              <a:t>void</a:t>
            </a:r>
            <a:r>
              <a:rPr>
                <a:latin typeface="Courier"/>
              </a:rPr>
              <a:t> </a:t>
            </a:r>
            <a:r>
              <a:rPr>
                <a:solidFill>
                  <a:srgbClr val="06287E"/>
                </a:solidFill>
                <a:latin typeface="Courier"/>
              </a:rPr>
              <a:t>writeData</a:t>
            </a:r>
            <a:r>
              <a:rPr>
                <a:solidFill>
                  <a:srgbClr val="666666"/>
                </a:solidFill>
                <a:latin typeface="Courier"/>
              </a:rPr>
              <a:t>(</a:t>
            </a:r>
            <a:r>
              <a:rPr>
                <a:solidFill>
                  <a:srgbClr val="008000"/>
                </a:solidFill>
                <a:latin typeface="Courier"/>
              </a:rPr>
              <a:t>String</a:t>
            </a:r>
            <a:r>
              <a:rPr>
                <a:latin typeface="Courier"/>
              </a:rPr>
              <a:t> data</a:t>
            </a:r>
            <a:r>
              <a:rPr>
                <a:solidFill>
                  <a:srgbClr val="666666"/>
                </a:solidFill>
                <a:latin typeface="Courier"/>
              </a:rPr>
              <a:t>);</a:t>
            </a:r>
            <a:br/>
            <a:r>
              <a:rPr>
                <a:latin typeface="Courier"/>
              </a:rPr>
              <a:t>    </a:t>
            </a:r>
            <a:r>
              <a:rPr>
                <a:solidFill>
                  <a:srgbClr val="008000"/>
                </a:solidFill>
                <a:latin typeface="Courier"/>
              </a:rPr>
              <a:t>String</a:t>
            </a:r>
            <a:r>
              <a:rPr>
                <a:latin typeface="Courier"/>
              </a:rPr>
              <a:t> </a:t>
            </a:r>
            <a:r>
              <a:rPr>
                <a:solidFill>
                  <a:srgbClr val="06287E"/>
                </a:solidFill>
                <a:latin typeface="Courier"/>
              </a:rPr>
              <a:t>readData</a:t>
            </a:r>
            <a:r>
              <a:rPr>
                <a:solidFill>
                  <a:srgbClr val="666666"/>
                </a:solidFill>
                <a:latin typeface="Courier"/>
              </a:rPr>
              <a:t>();</a:t>
            </a:r>
            <a:br/>
            <a:r>
              <a:rPr>
                <a:solidFill>
                  <a:srgbClr val="666666"/>
                </a:solidFill>
                <a:latin typeface="Courier"/>
              </a:rPr>
              <a:t>}</a:t>
            </a:r>
          </a:p>
        </p:txBody>
      </p:sp>
    </p:spTree>
  </p:cSld>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Decorator: Java Code Example - Concrete Component</a:t>
            </a:r>
          </a:p>
        </p:txBody>
      </p:sp>
      <p:sp>
        <p:nvSpPr>
          <p:cNvPr id="3" name="Content Placeholder 2"/>
          <p:cNvSpPr>
            <a:spLocks noGrp="1"/>
          </p:cNvSpPr>
          <p:nvPr>
            <p:ph idx="1"/>
          </p:nvPr>
        </p:nvSpPr>
        <p:spPr/>
        <p:txBody>
          <a:bodyPr/>
          <a:lstStyle/>
          <a:p>
            <a:pPr lvl="0" indent="0">
              <a:buNone/>
            </a:pPr>
            <a:r>
              <a:rPr b="1">
                <a:solidFill>
                  <a:srgbClr val="007020"/>
                </a:solidFill>
                <a:latin typeface="Courier"/>
              </a:rPr>
              <a:t>import</a:t>
            </a:r>
            <a:r>
              <a:rPr>
                <a:latin typeface="Courier"/>
              </a:rPr>
              <a:t> </a:t>
            </a:r>
            <a:r>
              <a:rPr b="1">
                <a:solidFill>
                  <a:srgbClr val="008000"/>
                </a:solidFill>
                <a:latin typeface="Courier"/>
              </a:rPr>
              <a:t>java</a:t>
            </a:r>
            <a:r>
              <a:rPr>
                <a:solidFill>
                  <a:srgbClr val="666666"/>
                </a:solidFill>
                <a:latin typeface="Courier"/>
              </a:rPr>
              <a:t>.</a:t>
            </a:r>
            <a:r>
              <a:rPr b="1">
                <a:solidFill>
                  <a:srgbClr val="008000"/>
                </a:solidFill>
                <a:latin typeface="Courier"/>
              </a:rPr>
              <a:t>io</a:t>
            </a:r>
            <a:r>
              <a:rPr>
                <a:solidFill>
                  <a:srgbClr val="666666"/>
                </a:solidFill>
                <a:latin typeface="Courier"/>
              </a:rPr>
              <a:t>.*;</a:t>
            </a:r>
            <a:br/>
            <a:br/>
            <a:r>
              <a:rPr i="1">
                <a:solidFill>
                  <a:srgbClr val="60A0B0"/>
                </a:solidFill>
                <a:latin typeface="Courier"/>
              </a:rPr>
              <a:t>// Concrete components provide default implementations</a:t>
            </a:r>
            <a:br/>
            <a:r>
              <a:rPr i="1">
                <a:solidFill>
                  <a:srgbClr val="60A0B0"/>
                </a:solidFill>
                <a:latin typeface="Courier"/>
              </a:rPr>
              <a:t>// of the operations.</a:t>
            </a:r>
            <a:br/>
            <a:r>
              <a:rPr b="1">
                <a:solidFill>
                  <a:srgbClr val="007020"/>
                </a:solidFill>
                <a:latin typeface="Courier"/>
              </a:rPr>
              <a:t>public</a:t>
            </a:r>
            <a:r>
              <a:rPr>
                <a:latin typeface="Courier"/>
              </a:rPr>
              <a:t> </a:t>
            </a:r>
            <a:r>
              <a:rPr b="1">
                <a:solidFill>
                  <a:srgbClr val="007020"/>
                </a:solidFill>
                <a:latin typeface="Courier"/>
              </a:rPr>
              <a:t>class</a:t>
            </a:r>
            <a:r>
              <a:rPr>
                <a:latin typeface="Courier"/>
              </a:rPr>
              <a:t> </a:t>
            </a:r>
            <a:r>
              <a:rPr>
                <a:solidFill>
                  <a:srgbClr val="008000"/>
                </a:solidFill>
                <a:latin typeface="Courier"/>
              </a:rPr>
              <a:t>FileDataSource</a:t>
            </a:r>
            <a:r>
              <a:rPr>
                <a:latin typeface="Courier"/>
              </a:rPr>
              <a:t> </a:t>
            </a:r>
            <a:r>
              <a:rPr b="1">
                <a:solidFill>
                  <a:srgbClr val="007020"/>
                </a:solidFill>
                <a:latin typeface="Courier"/>
              </a:rPr>
              <a:t>implements</a:t>
            </a:r>
            <a:r>
              <a:rPr>
                <a:latin typeface="Courier"/>
              </a:rPr>
              <a:t> </a:t>
            </a:r>
            <a:r>
              <a:rPr>
                <a:solidFill>
                  <a:srgbClr val="008000"/>
                </a:solidFill>
                <a:latin typeface="Courier"/>
              </a:rPr>
              <a:t>DataSource</a:t>
            </a:r>
            <a:r>
              <a:rPr>
                <a:latin typeface="Courier"/>
              </a:rPr>
              <a:t> </a:t>
            </a:r>
            <a:r>
              <a:rPr>
                <a:solidFill>
                  <a:srgbClr val="666666"/>
                </a:solidFill>
                <a:latin typeface="Courier"/>
              </a:rPr>
              <a:t>{</a:t>
            </a:r>
            <a:br/>
            <a:r>
              <a:rPr>
                <a:latin typeface="Courier"/>
              </a:rPr>
              <a:t>    </a:t>
            </a:r>
            <a:r>
              <a:rPr b="1">
                <a:solidFill>
                  <a:srgbClr val="007020"/>
                </a:solidFill>
                <a:latin typeface="Courier"/>
              </a:rPr>
              <a:t>private</a:t>
            </a:r>
            <a:r>
              <a:rPr>
                <a:latin typeface="Courier"/>
              </a:rPr>
              <a:t> </a:t>
            </a:r>
            <a:r>
              <a:rPr>
                <a:solidFill>
                  <a:srgbClr val="008000"/>
                </a:solidFill>
                <a:latin typeface="Courier"/>
              </a:rPr>
              <a:t>String</a:t>
            </a:r>
            <a:r>
              <a:rPr>
                <a:latin typeface="Courier"/>
              </a:rPr>
              <a:t> filename</a:t>
            </a:r>
            <a:r>
              <a:rPr>
                <a:solidFill>
                  <a:srgbClr val="666666"/>
                </a:solidFill>
                <a:latin typeface="Courier"/>
              </a:rPr>
              <a:t>;</a:t>
            </a:r>
            <a:br/>
            <a:br/>
            <a:r>
              <a:rPr>
                <a:latin typeface="Courier"/>
              </a:rPr>
              <a:t>    </a:t>
            </a:r>
            <a:r>
              <a:rPr b="1">
                <a:solidFill>
                  <a:srgbClr val="007020"/>
                </a:solidFill>
                <a:latin typeface="Courier"/>
              </a:rPr>
              <a:t>public</a:t>
            </a:r>
            <a:r>
              <a:rPr>
                <a:latin typeface="Courier"/>
              </a:rPr>
              <a:t> </a:t>
            </a:r>
            <a:r>
              <a:rPr>
                <a:solidFill>
                  <a:srgbClr val="008000"/>
                </a:solidFill>
                <a:latin typeface="Courier"/>
              </a:rPr>
              <a:t>FileDataSource</a:t>
            </a:r>
            <a:r>
              <a:rPr>
                <a:solidFill>
                  <a:srgbClr val="666666"/>
                </a:solidFill>
                <a:latin typeface="Courier"/>
              </a:rPr>
              <a:t>(</a:t>
            </a:r>
            <a:r>
              <a:rPr>
                <a:solidFill>
                  <a:srgbClr val="008000"/>
                </a:solidFill>
                <a:latin typeface="Courier"/>
              </a:rPr>
              <a:t>String</a:t>
            </a:r>
            <a:r>
              <a:rPr>
                <a:latin typeface="Courier"/>
              </a:rPr>
              <a:t> filename</a:t>
            </a:r>
            <a:r>
              <a:rPr>
                <a:solidFill>
                  <a:srgbClr val="666666"/>
                </a:solidFill>
                <a:latin typeface="Courier"/>
              </a:rPr>
              <a:t>)</a:t>
            </a:r>
            <a:r>
              <a:rPr>
                <a:latin typeface="Courier"/>
              </a:rPr>
              <a:t> </a:t>
            </a:r>
            <a:r>
              <a:rPr>
                <a:solidFill>
                  <a:srgbClr val="666666"/>
                </a:solidFill>
                <a:latin typeface="Courier"/>
              </a:rPr>
              <a:t>{</a:t>
            </a:r>
            <a:br/>
            <a:r>
              <a:rPr>
                <a:latin typeface="Courier"/>
              </a:rPr>
              <a:t>        </a:t>
            </a:r>
            <a:r>
              <a:rPr b="1">
                <a:solidFill>
                  <a:srgbClr val="007020"/>
                </a:solidFill>
                <a:latin typeface="Courier"/>
              </a:rPr>
              <a:t>this</a:t>
            </a:r>
            <a:r>
              <a:rPr>
                <a:solidFill>
                  <a:srgbClr val="666666"/>
                </a:solidFill>
                <a:latin typeface="Courier"/>
              </a:rPr>
              <a:t>.</a:t>
            </a:r>
            <a:r>
              <a:rPr>
                <a:solidFill>
                  <a:srgbClr val="06287E"/>
                </a:solidFill>
                <a:latin typeface="Courier"/>
              </a:rPr>
              <a:t>filename</a:t>
            </a:r>
            <a:r>
              <a:rPr>
                <a:latin typeface="Courier"/>
              </a:rPr>
              <a:t> </a:t>
            </a:r>
            <a:r>
              <a:rPr>
                <a:solidFill>
                  <a:srgbClr val="666666"/>
                </a:solidFill>
                <a:latin typeface="Courier"/>
              </a:rPr>
              <a:t>=</a:t>
            </a:r>
            <a:r>
              <a:rPr>
                <a:latin typeface="Courier"/>
              </a:rPr>
              <a:t> filename</a:t>
            </a:r>
            <a:r>
              <a:rPr>
                <a:solidFill>
                  <a:srgbClr val="666666"/>
                </a:solidFill>
                <a:latin typeface="Courier"/>
              </a:rPr>
              <a:t>;</a:t>
            </a:r>
            <a:br/>
            <a:r>
              <a:rPr>
                <a:latin typeface="Courier"/>
              </a:rPr>
              <a:t>    </a:t>
            </a:r>
            <a:r>
              <a:rPr>
                <a:solidFill>
                  <a:srgbClr val="666666"/>
                </a:solidFill>
                <a:latin typeface="Courier"/>
              </a:rPr>
              <a:t>}</a:t>
            </a:r>
            <a:br/>
            <a:br/>
            <a:r>
              <a:rPr>
                <a:latin typeface="Courier"/>
              </a:rPr>
              <a:t>    </a:t>
            </a:r>
            <a:r>
              <a:rPr>
                <a:solidFill>
                  <a:srgbClr val="7D9029"/>
                </a:solidFill>
                <a:latin typeface="Courier"/>
              </a:rPr>
              <a:t>@Override</a:t>
            </a:r>
            <a:br/>
            <a:r>
              <a:rPr>
                <a:latin typeface="Courier"/>
              </a:rPr>
              <a:t>    </a:t>
            </a:r>
            <a:r>
              <a:rPr b="1">
                <a:solidFill>
                  <a:srgbClr val="007020"/>
                </a:solidFill>
                <a:latin typeface="Courier"/>
              </a:rPr>
              <a:t>public</a:t>
            </a:r>
            <a:r>
              <a:rPr>
                <a:latin typeface="Courier"/>
              </a:rPr>
              <a:t> </a:t>
            </a:r>
            <a:r>
              <a:rPr>
                <a:solidFill>
                  <a:srgbClr val="902000"/>
                </a:solidFill>
                <a:latin typeface="Courier"/>
              </a:rPr>
              <a:t>void</a:t>
            </a:r>
            <a:r>
              <a:rPr>
                <a:latin typeface="Courier"/>
              </a:rPr>
              <a:t> </a:t>
            </a:r>
            <a:r>
              <a:rPr>
                <a:solidFill>
                  <a:srgbClr val="06287E"/>
                </a:solidFill>
                <a:latin typeface="Courier"/>
              </a:rPr>
              <a:t>writeData</a:t>
            </a:r>
            <a:r>
              <a:rPr>
                <a:solidFill>
                  <a:srgbClr val="666666"/>
                </a:solidFill>
                <a:latin typeface="Courier"/>
              </a:rPr>
              <a:t>(</a:t>
            </a:r>
            <a:r>
              <a:rPr>
                <a:solidFill>
                  <a:srgbClr val="008000"/>
                </a:solidFill>
                <a:latin typeface="Courier"/>
              </a:rPr>
              <a:t>String</a:t>
            </a:r>
            <a:r>
              <a:rPr>
                <a:latin typeface="Courier"/>
              </a:rPr>
              <a:t> data</a:t>
            </a:r>
            <a:r>
              <a:rPr>
                <a:solidFill>
                  <a:srgbClr val="666666"/>
                </a:solidFill>
                <a:latin typeface="Courier"/>
              </a:rPr>
              <a:t>)</a:t>
            </a:r>
            <a:r>
              <a:rPr>
                <a:latin typeface="Courier"/>
              </a:rPr>
              <a:t> </a:t>
            </a:r>
            <a:r>
              <a:rPr>
                <a:solidFill>
                  <a:srgbClr val="666666"/>
                </a:solidFill>
                <a:latin typeface="Courier"/>
              </a:rPr>
              <a:t>{</a:t>
            </a:r>
            <a:br/>
            <a:r>
              <a:rPr>
                <a:latin typeface="Courier"/>
              </a:rPr>
              <a:t>        </a:t>
            </a:r>
            <a:r>
              <a:rPr b="1">
                <a:solidFill>
                  <a:srgbClr val="007020"/>
                </a:solidFill>
                <a:latin typeface="Courier"/>
              </a:rPr>
              <a:t>try</a:t>
            </a:r>
            <a:r>
              <a:rPr>
                <a:latin typeface="Courier"/>
              </a:rPr>
              <a:t> </a:t>
            </a:r>
            <a:r>
              <a:rPr>
                <a:solidFill>
                  <a:srgbClr val="666666"/>
                </a:solidFill>
                <a:latin typeface="Courier"/>
              </a:rPr>
              <a:t>(</a:t>
            </a:r>
            <a:r>
              <a:rPr>
                <a:solidFill>
                  <a:srgbClr val="008000"/>
                </a:solidFill>
                <a:latin typeface="Courier"/>
              </a:rPr>
              <a:t>FileWriter</a:t>
            </a:r>
            <a:r>
              <a:rPr>
                <a:latin typeface="Courier"/>
              </a:rPr>
              <a:t> writer </a:t>
            </a:r>
            <a:r>
              <a:rPr>
                <a:solidFill>
                  <a:srgbClr val="666666"/>
                </a:solidFill>
                <a:latin typeface="Courier"/>
              </a:rPr>
              <a:t>=</a:t>
            </a:r>
            <a:r>
              <a:rPr>
                <a:latin typeface="Courier"/>
              </a:rPr>
              <a:t> </a:t>
            </a:r>
            <a:r>
              <a:rPr b="1">
                <a:solidFill>
                  <a:srgbClr val="007020"/>
                </a:solidFill>
                <a:latin typeface="Courier"/>
              </a:rPr>
              <a:t>new</a:t>
            </a:r>
            <a:r>
              <a:rPr>
                <a:latin typeface="Courier"/>
              </a:rPr>
              <a:t> </a:t>
            </a:r>
            <a:r>
              <a:rPr>
                <a:solidFill>
                  <a:srgbClr val="008000"/>
                </a:solidFill>
                <a:latin typeface="Courier"/>
              </a:rPr>
              <a:t>FileWriter</a:t>
            </a:r>
            <a:r>
              <a:rPr>
                <a:solidFill>
                  <a:srgbClr val="666666"/>
                </a:solidFill>
                <a:latin typeface="Courier"/>
              </a:rPr>
              <a:t>(</a:t>
            </a:r>
            <a:r>
              <a:rPr>
                <a:latin typeface="Courier"/>
              </a:rPr>
              <a:t>filename</a:t>
            </a:r>
            <a:r>
              <a:rPr>
                <a:solidFill>
                  <a:srgbClr val="666666"/>
                </a:solidFill>
                <a:latin typeface="Courier"/>
              </a:rPr>
              <a:t>))</a:t>
            </a:r>
            <a:r>
              <a:rPr>
                <a:latin typeface="Courier"/>
              </a:rPr>
              <a:t> </a:t>
            </a:r>
            <a:r>
              <a:rPr>
                <a:solidFill>
                  <a:srgbClr val="666666"/>
                </a:solidFill>
                <a:latin typeface="Courier"/>
              </a:rPr>
              <a:t>{</a:t>
            </a:r>
            <a:br/>
            <a:r>
              <a:rPr>
                <a:latin typeface="Courier"/>
              </a:rPr>
              <a:t>            writer</a:t>
            </a:r>
            <a:r>
              <a:rPr>
                <a:solidFill>
                  <a:srgbClr val="666666"/>
                </a:solidFill>
                <a:latin typeface="Courier"/>
              </a:rPr>
              <a:t>.</a:t>
            </a:r>
            <a:r>
              <a:rPr>
                <a:solidFill>
                  <a:srgbClr val="06287E"/>
                </a:solidFill>
                <a:latin typeface="Courier"/>
              </a:rPr>
              <a:t>write</a:t>
            </a:r>
            <a:r>
              <a:rPr>
                <a:solidFill>
                  <a:srgbClr val="666666"/>
                </a:solidFill>
                <a:latin typeface="Courier"/>
              </a:rPr>
              <a:t>(</a:t>
            </a:r>
            <a:r>
              <a:rPr>
                <a:latin typeface="Courier"/>
              </a:rPr>
              <a:t>data</a:t>
            </a:r>
            <a:r>
              <a:rPr>
                <a:solidFill>
                  <a:srgbClr val="666666"/>
                </a:solidFill>
                <a:latin typeface="Courier"/>
              </a:rPr>
              <a:t>);</a:t>
            </a:r>
            <a:br/>
            <a:r>
              <a:rPr>
                <a:latin typeface="Courier"/>
              </a:rPr>
              <a:t>        </a:t>
            </a:r>
            <a:r>
              <a:rPr>
                <a:solidFill>
                  <a:srgbClr val="666666"/>
                </a:solidFill>
                <a:latin typeface="Courier"/>
              </a:rPr>
              <a:t>}</a:t>
            </a:r>
            <a:r>
              <a:rPr>
                <a:latin typeface="Courier"/>
              </a:rPr>
              <a:t> </a:t>
            </a:r>
            <a:r>
              <a:rPr b="1">
                <a:solidFill>
                  <a:srgbClr val="007020"/>
                </a:solidFill>
                <a:latin typeface="Courier"/>
              </a:rPr>
              <a:t>catch</a:t>
            </a:r>
            <a:r>
              <a:rPr>
                <a:latin typeface="Courier"/>
              </a:rPr>
              <a:t> </a:t>
            </a:r>
            <a:r>
              <a:rPr>
                <a:solidFill>
                  <a:srgbClr val="666666"/>
                </a:solidFill>
                <a:latin typeface="Courier"/>
              </a:rPr>
              <a:t>(</a:t>
            </a:r>
            <a:r>
              <a:rPr>
                <a:solidFill>
                  <a:srgbClr val="008000"/>
                </a:solidFill>
                <a:latin typeface="Courier"/>
              </a:rPr>
              <a:t>IOException</a:t>
            </a:r>
            <a:r>
              <a:rPr>
                <a:latin typeface="Courier"/>
              </a:rPr>
              <a:t> e</a:t>
            </a:r>
            <a:r>
              <a:rPr>
                <a:solidFill>
                  <a:srgbClr val="666666"/>
                </a:solidFill>
                <a:latin typeface="Courier"/>
              </a:rPr>
              <a:t>)</a:t>
            </a:r>
            <a:r>
              <a:rPr>
                <a:latin typeface="Courier"/>
              </a:rPr>
              <a:t> </a:t>
            </a:r>
            <a:r>
              <a:rPr>
                <a:solidFill>
                  <a:srgbClr val="666666"/>
                </a:solidFill>
                <a:latin typeface="Courier"/>
              </a:rPr>
              <a:t>{</a:t>
            </a:r>
            <a:br/>
            <a:r>
              <a:rPr>
                <a:latin typeface="Courier"/>
              </a:rPr>
              <a:t>            e</a:t>
            </a:r>
            <a:r>
              <a:rPr>
                <a:solidFill>
                  <a:srgbClr val="666666"/>
                </a:solidFill>
                <a:latin typeface="Courier"/>
              </a:rPr>
              <a:t>.</a:t>
            </a:r>
            <a:r>
              <a:rPr>
                <a:solidFill>
                  <a:srgbClr val="06287E"/>
                </a:solidFill>
                <a:latin typeface="Courier"/>
              </a:rPr>
              <a:t>printStackTrace</a:t>
            </a:r>
            <a:r>
              <a:rPr>
                <a:solidFill>
                  <a:srgbClr val="666666"/>
                </a:solidFill>
                <a:latin typeface="Courier"/>
              </a:rPr>
              <a:t>();</a:t>
            </a:r>
            <a:br/>
            <a:r>
              <a:rPr>
                <a:latin typeface="Courier"/>
              </a:rPr>
              <a:t>        </a:t>
            </a:r>
            <a:r>
              <a:rPr>
                <a:solidFill>
                  <a:srgbClr val="666666"/>
                </a:solidFill>
                <a:latin typeface="Courier"/>
              </a:rPr>
              <a:t>}</a:t>
            </a:r>
            <a:br/>
            <a:r>
              <a:rPr>
                <a:latin typeface="Courier"/>
              </a:rPr>
              <a:t>    </a:t>
            </a:r>
            <a:r>
              <a:rPr>
                <a:solidFill>
                  <a:srgbClr val="666666"/>
                </a:solidFill>
                <a:latin typeface="Courier"/>
              </a:rPr>
              <a:t>}</a:t>
            </a:r>
            <a:br/>
            <a:br/>
            <a:r>
              <a:rPr>
                <a:latin typeface="Courier"/>
              </a:rPr>
              <a:t>    </a:t>
            </a:r>
            <a:r>
              <a:rPr>
                <a:solidFill>
                  <a:srgbClr val="7D9029"/>
                </a:solidFill>
                <a:latin typeface="Courier"/>
              </a:rPr>
              <a:t>@Override</a:t>
            </a:r>
            <a:br/>
            <a:r>
              <a:rPr>
                <a:latin typeface="Courier"/>
              </a:rPr>
              <a:t>    </a:t>
            </a:r>
            <a:r>
              <a:rPr b="1">
                <a:solidFill>
                  <a:srgbClr val="007020"/>
                </a:solidFill>
                <a:latin typeface="Courier"/>
              </a:rPr>
              <a:t>public</a:t>
            </a:r>
            <a:r>
              <a:rPr>
                <a:latin typeface="Courier"/>
              </a:rPr>
              <a:t> </a:t>
            </a:r>
            <a:r>
              <a:rPr>
                <a:solidFill>
                  <a:srgbClr val="008000"/>
                </a:solidFill>
                <a:latin typeface="Courier"/>
              </a:rPr>
              <a:t>String</a:t>
            </a:r>
            <a:r>
              <a:rPr>
                <a:latin typeface="Courier"/>
              </a:rPr>
              <a:t> </a:t>
            </a:r>
            <a:r>
              <a:rPr>
                <a:solidFill>
                  <a:srgbClr val="06287E"/>
                </a:solidFill>
                <a:latin typeface="Courier"/>
              </a:rPr>
              <a:t>readData</a:t>
            </a:r>
            <a:r>
              <a:rPr>
                <a:solidFill>
                  <a:srgbClr val="666666"/>
                </a:solidFill>
                <a:latin typeface="Courier"/>
              </a:rPr>
              <a:t>()</a:t>
            </a:r>
            <a:r>
              <a:rPr>
                <a:latin typeface="Courier"/>
              </a:rPr>
              <a:t> </a:t>
            </a:r>
            <a:r>
              <a:rPr>
                <a:solidFill>
                  <a:srgbClr val="666666"/>
                </a:solidFill>
                <a:latin typeface="Courier"/>
              </a:rPr>
              <a:t>{</a:t>
            </a:r>
            <a:br/>
            <a:r>
              <a:rPr>
                <a:latin typeface="Courier"/>
              </a:rPr>
              <a:t>        </a:t>
            </a:r>
            <a:r>
              <a:rPr b="1">
                <a:solidFill>
                  <a:srgbClr val="007020"/>
                </a:solidFill>
                <a:latin typeface="Courier"/>
              </a:rPr>
              <a:t>try</a:t>
            </a:r>
            <a:r>
              <a:rPr>
                <a:latin typeface="Courier"/>
              </a:rPr>
              <a:t> </a:t>
            </a:r>
            <a:r>
              <a:rPr>
                <a:solidFill>
                  <a:srgbClr val="666666"/>
                </a:solidFill>
                <a:latin typeface="Courier"/>
              </a:rPr>
              <a:t>(</a:t>
            </a:r>
            <a:r>
              <a:rPr>
                <a:solidFill>
                  <a:srgbClr val="008000"/>
                </a:solidFill>
                <a:latin typeface="Courier"/>
              </a:rPr>
              <a:t>BufferedReader</a:t>
            </a:r>
            <a:r>
              <a:rPr>
                <a:latin typeface="Courier"/>
              </a:rPr>
              <a:t> reader </a:t>
            </a:r>
            <a:r>
              <a:rPr>
                <a:solidFill>
                  <a:srgbClr val="666666"/>
                </a:solidFill>
                <a:latin typeface="Courier"/>
              </a:rPr>
              <a:t>=</a:t>
            </a:r>
            <a:br/>
            <a:r>
              <a:rPr>
                <a:latin typeface="Courier"/>
              </a:rPr>
              <a:t>                </a:t>
            </a:r>
            <a:r>
              <a:rPr b="1">
                <a:solidFill>
                  <a:srgbClr val="007020"/>
                </a:solidFill>
                <a:latin typeface="Courier"/>
              </a:rPr>
              <a:t>new</a:t>
            </a:r>
            <a:r>
              <a:rPr>
                <a:latin typeface="Courier"/>
              </a:rPr>
              <a:t> </a:t>
            </a:r>
            <a:r>
              <a:rPr>
                <a:solidFill>
                  <a:srgbClr val="008000"/>
                </a:solidFill>
                <a:latin typeface="Courier"/>
              </a:rPr>
              <a:t>BufferedReader</a:t>
            </a:r>
            <a:r>
              <a:rPr>
                <a:solidFill>
                  <a:srgbClr val="666666"/>
                </a:solidFill>
                <a:latin typeface="Courier"/>
              </a:rPr>
              <a:t>(</a:t>
            </a:r>
            <a:r>
              <a:rPr b="1">
                <a:solidFill>
                  <a:srgbClr val="007020"/>
                </a:solidFill>
                <a:latin typeface="Courier"/>
              </a:rPr>
              <a:t>new</a:t>
            </a:r>
            <a:r>
              <a:rPr>
                <a:latin typeface="Courier"/>
              </a:rPr>
              <a:t> </a:t>
            </a:r>
            <a:r>
              <a:rPr>
                <a:solidFill>
                  <a:srgbClr val="008000"/>
                </a:solidFill>
                <a:latin typeface="Courier"/>
              </a:rPr>
              <a:t>FileReader</a:t>
            </a:r>
            <a:r>
              <a:rPr>
                <a:solidFill>
                  <a:srgbClr val="666666"/>
                </a:solidFill>
                <a:latin typeface="Courier"/>
              </a:rPr>
              <a:t>(</a:t>
            </a:r>
            <a:r>
              <a:rPr>
                <a:latin typeface="Courier"/>
              </a:rPr>
              <a:t>filename</a:t>
            </a:r>
            <a:r>
              <a:rPr>
                <a:solidFill>
                  <a:srgbClr val="666666"/>
                </a:solidFill>
                <a:latin typeface="Courier"/>
              </a:rPr>
              <a:t>)))</a:t>
            </a:r>
            <a:r>
              <a:rPr>
                <a:latin typeface="Courier"/>
              </a:rPr>
              <a:t> </a:t>
            </a:r>
            <a:r>
              <a:rPr>
                <a:solidFill>
                  <a:srgbClr val="666666"/>
                </a:solidFill>
                <a:latin typeface="Courier"/>
              </a:rPr>
              <a:t>{</a:t>
            </a:r>
            <a:br/>
            <a:r>
              <a:rPr>
                <a:latin typeface="Courier"/>
              </a:rPr>
              <a:t>            </a:t>
            </a:r>
            <a:r>
              <a:rPr>
                <a:solidFill>
                  <a:srgbClr val="008000"/>
                </a:solidFill>
                <a:latin typeface="Courier"/>
              </a:rPr>
              <a:t>StringBuilder</a:t>
            </a:r>
            <a:r>
              <a:rPr>
                <a:latin typeface="Courier"/>
              </a:rPr>
              <a:t> sb </a:t>
            </a:r>
            <a:r>
              <a:rPr>
                <a:solidFill>
                  <a:srgbClr val="666666"/>
                </a:solidFill>
                <a:latin typeface="Courier"/>
              </a:rPr>
              <a:t>=</a:t>
            </a:r>
            <a:r>
              <a:rPr>
                <a:latin typeface="Courier"/>
              </a:rPr>
              <a:t> </a:t>
            </a:r>
            <a:r>
              <a:rPr b="1">
                <a:solidFill>
                  <a:srgbClr val="007020"/>
                </a:solidFill>
                <a:latin typeface="Courier"/>
              </a:rPr>
              <a:t>new</a:t>
            </a:r>
            <a:r>
              <a:rPr>
                <a:latin typeface="Courier"/>
              </a:rPr>
              <a:t> </a:t>
            </a:r>
            <a:r>
              <a:rPr>
                <a:solidFill>
                  <a:srgbClr val="008000"/>
                </a:solidFill>
                <a:latin typeface="Courier"/>
              </a:rPr>
              <a:t>StringBuilder</a:t>
            </a:r>
            <a:r>
              <a:rPr>
                <a:solidFill>
                  <a:srgbClr val="666666"/>
                </a:solidFill>
                <a:latin typeface="Courier"/>
              </a:rPr>
              <a:t>();</a:t>
            </a:r>
            <a:br/>
            <a:r>
              <a:rPr>
                <a:latin typeface="Courier"/>
              </a:rPr>
              <a:t>            </a:t>
            </a:r>
            <a:r>
              <a:rPr>
                <a:solidFill>
                  <a:srgbClr val="008000"/>
                </a:solidFill>
                <a:latin typeface="Courier"/>
              </a:rPr>
              <a:t>String</a:t>
            </a:r>
            <a:r>
              <a:rPr>
                <a:latin typeface="Courier"/>
              </a:rPr>
              <a:t> line</a:t>
            </a:r>
            <a:r>
              <a:rPr>
                <a:solidFill>
                  <a:srgbClr val="666666"/>
                </a:solidFill>
                <a:latin typeface="Courier"/>
              </a:rPr>
              <a:t>;</a:t>
            </a:r>
            <a:br/>
            <a:r>
              <a:rPr>
                <a:latin typeface="Courier"/>
              </a:rPr>
              <a:t>            </a:t>
            </a:r>
            <a:r>
              <a:rPr b="1">
                <a:solidFill>
                  <a:srgbClr val="007020"/>
                </a:solidFill>
                <a:latin typeface="Courier"/>
              </a:rPr>
              <a:t>while</a:t>
            </a:r>
            <a:r>
              <a:rPr>
                <a:latin typeface="Courier"/>
              </a:rPr>
              <a:t> </a:t>
            </a:r>
            <a:r>
              <a:rPr>
                <a:solidFill>
                  <a:srgbClr val="666666"/>
                </a:solidFill>
                <a:latin typeface="Courier"/>
              </a:rPr>
              <a:t>((</a:t>
            </a:r>
            <a:r>
              <a:rPr>
                <a:latin typeface="Courier"/>
              </a:rPr>
              <a:t>line </a:t>
            </a:r>
            <a:r>
              <a:rPr>
                <a:solidFill>
                  <a:srgbClr val="666666"/>
                </a:solidFill>
                <a:latin typeface="Courier"/>
              </a:rPr>
              <a:t>=</a:t>
            </a:r>
            <a:r>
              <a:rPr>
                <a:latin typeface="Courier"/>
              </a:rPr>
              <a:t> reader</a:t>
            </a:r>
            <a:r>
              <a:rPr>
                <a:solidFill>
                  <a:srgbClr val="666666"/>
                </a:solidFill>
                <a:latin typeface="Courier"/>
              </a:rPr>
              <a:t>.</a:t>
            </a:r>
            <a:r>
              <a:rPr>
                <a:solidFill>
                  <a:srgbClr val="06287E"/>
                </a:solidFill>
                <a:latin typeface="Courier"/>
              </a:rPr>
              <a:t>readLine</a:t>
            </a:r>
            <a:r>
              <a:rPr>
                <a:solidFill>
                  <a:srgbClr val="666666"/>
                </a:solidFill>
                <a:latin typeface="Courier"/>
              </a:rPr>
              <a:t>())</a:t>
            </a:r>
            <a:r>
              <a:rPr>
                <a:latin typeface="Courier"/>
              </a:rPr>
              <a:t> </a:t>
            </a:r>
            <a:r>
              <a:rPr>
                <a:solidFill>
                  <a:srgbClr val="666666"/>
                </a:solidFill>
                <a:latin typeface="Courier"/>
              </a:rPr>
              <a:t>!=</a:t>
            </a:r>
            <a:r>
              <a:rPr>
                <a:latin typeface="Courier"/>
              </a:rPr>
              <a:t> </a:t>
            </a:r>
            <a:r>
              <a:rPr b="1">
                <a:solidFill>
                  <a:srgbClr val="007020"/>
                </a:solidFill>
                <a:latin typeface="Courier"/>
              </a:rPr>
              <a:t>null</a:t>
            </a:r>
            <a:r>
              <a:rPr>
                <a:solidFill>
                  <a:srgbClr val="666666"/>
                </a:solidFill>
                <a:latin typeface="Courier"/>
              </a:rPr>
              <a:t>)</a:t>
            </a:r>
            <a:r>
              <a:rPr>
                <a:latin typeface="Courier"/>
              </a:rPr>
              <a:t> </a:t>
            </a:r>
            <a:r>
              <a:rPr>
                <a:solidFill>
                  <a:srgbClr val="666666"/>
                </a:solidFill>
                <a:latin typeface="Courier"/>
              </a:rPr>
              <a:t>{</a:t>
            </a:r>
            <a:br/>
            <a:r>
              <a:rPr>
                <a:latin typeface="Courier"/>
              </a:rPr>
              <a:t>                sb</a:t>
            </a:r>
            <a:r>
              <a:rPr>
                <a:solidFill>
                  <a:srgbClr val="666666"/>
                </a:solidFill>
                <a:latin typeface="Courier"/>
              </a:rPr>
              <a:t>.</a:t>
            </a:r>
            <a:r>
              <a:rPr>
                <a:solidFill>
                  <a:srgbClr val="06287E"/>
                </a:solidFill>
                <a:latin typeface="Courier"/>
              </a:rPr>
              <a:t>append</a:t>
            </a:r>
            <a:r>
              <a:rPr>
                <a:solidFill>
                  <a:srgbClr val="666666"/>
                </a:solidFill>
                <a:latin typeface="Courier"/>
              </a:rPr>
              <a:t>(</a:t>
            </a:r>
            <a:r>
              <a:rPr>
                <a:latin typeface="Courier"/>
              </a:rPr>
              <a:t>line</a:t>
            </a:r>
            <a:r>
              <a:rPr>
                <a:solidFill>
                  <a:srgbClr val="666666"/>
                </a:solidFill>
                <a:latin typeface="Courier"/>
              </a:rPr>
              <a:t>);</a:t>
            </a:r>
            <a:br/>
            <a:r>
              <a:rPr>
                <a:latin typeface="Courier"/>
              </a:rPr>
              <a:t>            </a:t>
            </a:r>
            <a:r>
              <a:rPr>
                <a:solidFill>
                  <a:srgbClr val="666666"/>
                </a:solidFill>
                <a:latin typeface="Courier"/>
              </a:rPr>
              <a:t>}</a:t>
            </a:r>
            <a:br/>
            <a:r>
              <a:rPr>
                <a:latin typeface="Courier"/>
              </a:rPr>
              <a:t>            </a:t>
            </a:r>
            <a:r>
              <a:rPr b="1">
                <a:solidFill>
                  <a:srgbClr val="007020"/>
                </a:solidFill>
                <a:latin typeface="Courier"/>
              </a:rPr>
              <a:t>return</a:t>
            </a:r>
            <a:r>
              <a:rPr>
                <a:latin typeface="Courier"/>
              </a:rPr>
              <a:t> sb</a:t>
            </a:r>
            <a:r>
              <a:rPr>
                <a:solidFill>
                  <a:srgbClr val="666666"/>
                </a:solidFill>
                <a:latin typeface="Courier"/>
              </a:rPr>
              <a:t>.</a:t>
            </a:r>
            <a:r>
              <a:rPr>
                <a:solidFill>
                  <a:srgbClr val="06287E"/>
                </a:solidFill>
                <a:latin typeface="Courier"/>
              </a:rPr>
              <a:t>toString</a:t>
            </a:r>
            <a:r>
              <a:rPr>
                <a:solidFill>
                  <a:srgbClr val="666666"/>
                </a:solidFill>
                <a:latin typeface="Courier"/>
              </a:rPr>
              <a:t>();</a:t>
            </a:r>
            <a:br/>
            <a:r>
              <a:rPr>
                <a:latin typeface="Courier"/>
              </a:rPr>
              <a:t>        </a:t>
            </a:r>
            <a:r>
              <a:rPr>
                <a:solidFill>
                  <a:srgbClr val="666666"/>
                </a:solidFill>
                <a:latin typeface="Courier"/>
              </a:rPr>
              <a:t>}</a:t>
            </a:r>
            <a:r>
              <a:rPr>
                <a:latin typeface="Courier"/>
              </a:rPr>
              <a:t> </a:t>
            </a:r>
            <a:r>
              <a:rPr b="1">
                <a:solidFill>
                  <a:srgbClr val="007020"/>
                </a:solidFill>
                <a:latin typeface="Courier"/>
              </a:rPr>
              <a:t>catch</a:t>
            </a:r>
            <a:r>
              <a:rPr>
                <a:latin typeface="Courier"/>
              </a:rPr>
              <a:t> </a:t>
            </a:r>
            <a:r>
              <a:rPr>
                <a:solidFill>
                  <a:srgbClr val="666666"/>
                </a:solidFill>
                <a:latin typeface="Courier"/>
              </a:rPr>
              <a:t>(</a:t>
            </a:r>
            <a:r>
              <a:rPr>
                <a:solidFill>
                  <a:srgbClr val="008000"/>
                </a:solidFill>
                <a:latin typeface="Courier"/>
              </a:rPr>
              <a:t>IOException</a:t>
            </a:r>
            <a:r>
              <a:rPr>
                <a:latin typeface="Courier"/>
              </a:rPr>
              <a:t> e</a:t>
            </a:r>
            <a:r>
              <a:rPr>
                <a:solidFill>
                  <a:srgbClr val="666666"/>
                </a:solidFill>
                <a:latin typeface="Courier"/>
              </a:rPr>
              <a:t>)</a:t>
            </a:r>
            <a:r>
              <a:rPr>
                <a:latin typeface="Courier"/>
              </a:rPr>
              <a:t> </a:t>
            </a:r>
            <a:r>
              <a:rPr>
                <a:solidFill>
                  <a:srgbClr val="666666"/>
                </a:solidFill>
                <a:latin typeface="Courier"/>
              </a:rPr>
              <a:t>{</a:t>
            </a:r>
            <a:br/>
            <a:r>
              <a:rPr>
                <a:latin typeface="Courier"/>
              </a:rPr>
              <a:t>            </a:t>
            </a:r>
            <a:r>
              <a:rPr b="1">
                <a:solidFill>
                  <a:srgbClr val="007020"/>
                </a:solidFill>
                <a:latin typeface="Courier"/>
              </a:rPr>
              <a:t>return</a:t>
            </a:r>
            <a:r>
              <a:rPr>
                <a:latin typeface="Courier"/>
              </a:rPr>
              <a:t> </a:t>
            </a:r>
            <a:r>
              <a:rPr>
                <a:solidFill>
                  <a:srgbClr val="4070A0"/>
                </a:solidFill>
                <a:latin typeface="Courier"/>
              </a:rPr>
              <a:t>""</a:t>
            </a:r>
            <a:r>
              <a:rPr>
                <a:solidFill>
                  <a:srgbClr val="666666"/>
                </a:solidFill>
                <a:latin typeface="Courier"/>
              </a:rPr>
              <a:t>;</a:t>
            </a:r>
            <a:br/>
            <a:r>
              <a:rPr>
                <a:latin typeface="Courier"/>
              </a:rPr>
              <a:t>        </a:t>
            </a:r>
            <a:r>
              <a:rPr>
                <a:solidFill>
                  <a:srgbClr val="666666"/>
                </a:solidFill>
                <a:latin typeface="Courier"/>
              </a:rPr>
              <a:t>}</a:t>
            </a:r>
            <a:br/>
            <a:r>
              <a:rPr>
                <a:latin typeface="Courier"/>
              </a:rPr>
              <a:t>    </a:t>
            </a:r>
            <a:r>
              <a:rPr>
                <a:solidFill>
                  <a:srgbClr val="666666"/>
                </a:solidFill>
                <a:latin typeface="Courier"/>
              </a:rPr>
              <a:t>}</a:t>
            </a:r>
            <a:br/>
            <a:r>
              <a:rPr>
                <a:solidFill>
                  <a:srgbClr val="666666"/>
                </a:solidFill>
                <a:latin typeface="Courier"/>
              </a:rPr>
              <a:t>}</a:t>
            </a:r>
          </a:p>
        </p:txBody>
      </p:sp>
    </p:spTree>
  </p:cSld>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Decorator: Java Code Example - Base Decorator</a:t>
            </a:r>
          </a:p>
        </p:txBody>
      </p:sp>
      <p:sp>
        <p:nvSpPr>
          <p:cNvPr id="3" name="Content Placeholder 2"/>
          <p:cNvSpPr>
            <a:spLocks noGrp="1"/>
          </p:cNvSpPr>
          <p:nvPr>
            <p:ph idx="1"/>
          </p:nvPr>
        </p:nvSpPr>
        <p:spPr/>
        <p:txBody>
          <a:bodyPr/>
          <a:lstStyle/>
          <a:p>
            <a:pPr lvl="0" indent="0">
              <a:buNone/>
            </a:pPr>
            <a:r>
              <a:rPr i="1">
                <a:solidFill>
                  <a:srgbClr val="60A0B0"/>
                </a:solidFill>
                <a:latin typeface="Courier"/>
              </a:rPr>
              <a:t>// The base decorator class follows the same interface as</a:t>
            </a:r>
            <a:br/>
            <a:r>
              <a:rPr i="1">
                <a:solidFill>
                  <a:srgbClr val="60A0B0"/>
                </a:solidFill>
                <a:latin typeface="Courier"/>
              </a:rPr>
              <a:t>// the other components. The primary purpose of this class</a:t>
            </a:r>
            <a:br/>
            <a:r>
              <a:rPr i="1">
                <a:solidFill>
                  <a:srgbClr val="60A0B0"/>
                </a:solidFill>
                <a:latin typeface="Courier"/>
              </a:rPr>
              <a:t>// is to define the wrapping interface for all concrete</a:t>
            </a:r>
            <a:br/>
            <a:r>
              <a:rPr i="1">
                <a:solidFill>
                  <a:srgbClr val="60A0B0"/>
                </a:solidFill>
                <a:latin typeface="Courier"/>
              </a:rPr>
              <a:t>// decorators. The default implementation of the wrapping</a:t>
            </a:r>
            <a:br/>
            <a:r>
              <a:rPr i="1">
                <a:solidFill>
                  <a:srgbClr val="60A0B0"/>
                </a:solidFill>
                <a:latin typeface="Courier"/>
              </a:rPr>
              <a:t>// code might include a field for storing a wrapped</a:t>
            </a:r>
            <a:br/>
            <a:r>
              <a:rPr i="1">
                <a:solidFill>
                  <a:srgbClr val="60A0B0"/>
                </a:solidFill>
                <a:latin typeface="Courier"/>
              </a:rPr>
              <a:t>// component and the means to initialize it.</a:t>
            </a:r>
            <a:br/>
            <a:r>
              <a:rPr b="1">
                <a:solidFill>
                  <a:srgbClr val="007020"/>
                </a:solidFill>
                <a:latin typeface="Courier"/>
              </a:rPr>
              <a:t>public</a:t>
            </a:r>
            <a:r>
              <a:rPr>
                <a:latin typeface="Courier"/>
              </a:rPr>
              <a:t> </a:t>
            </a:r>
            <a:r>
              <a:rPr b="1">
                <a:solidFill>
                  <a:srgbClr val="007020"/>
                </a:solidFill>
                <a:latin typeface="Courier"/>
              </a:rPr>
              <a:t>class</a:t>
            </a:r>
            <a:r>
              <a:rPr>
                <a:latin typeface="Courier"/>
              </a:rPr>
              <a:t> DataSourceDecorator </a:t>
            </a:r>
            <a:r>
              <a:rPr b="1">
                <a:solidFill>
                  <a:srgbClr val="007020"/>
                </a:solidFill>
                <a:latin typeface="Courier"/>
              </a:rPr>
              <a:t>implements</a:t>
            </a:r>
            <a:r>
              <a:rPr>
                <a:latin typeface="Courier"/>
              </a:rPr>
              <a:t> </a:t>
            </a:r>
            <a:r>
              <a:rPr>
                <a:solidFill>
                  <a:srgbClr val="008000"/>
                </a:solidFill>
                <a:latin typeface="Courier"/>
              </a:rPr>
              <a:t>DataSource</a:t>
            </a:r>
            <a:r>
              <a:rPr>
                <a:latin typeface="Courier"/>
              </a:rPr>
              <a:t> </a:t>
            </a:r>
            <a:r>
              <a:rPr>
                <a:solidFill>
                  <a:srgbClr val="666666"/>
                </a:solidFill>
                <a:latin typeface="Courier"/>
              </a:rPr>
              <a:t>{</a:t>
            </a:r>
            <a:br/>
            <a:r>
              <a:rPr>
                <a:latin typeface="Courier"/>
              </a:rPr>
              <a:t>    </a:t>
            </a:r>
            <a:r>
              <a:rPr b="1">
                <a:solidFill>
                  <a:srgbClr val="007020"/>
                </a:solidFill>
                <a:latin typeface="Courier"/>
              </a:rPr>
              <a:t>protected</a:t>
            </a:r>
            <a:r>
              <a:rPr>
                <a:latin typeface="Courier"/>
              </a:rPr>
              <a:t> </a:t>
            </a:r>
            <a:r>
              <a:rPr>
                <a:solidFill>
                  <a:srgbClr val="008000"/>
                </a:solidFill>
                <a:latin typeface="Courier"/>
              </a:rPr>
              <a:t>DataSource</a:t>
            </a:r>
            <a:r>
              <a:rPr>
                <a:latin typeface="Courier"/>
              </a:rPr>
              <a:t> wrappee</a:t>
            </a:r>
            <a:r>
              <a:rPr>
                <a:solidFill>
                  <a:srgbClr val="666666"/>
                </a:solidFill>
                <a:latin typeface="Courier"/>
              </a:rPr>
              <a:t>;</a:t>
            </a:r>
            <a:br/>
            <a:br/>
            <a:r>
              <a:rPr>
                <a:latin typeface="Courier"/>
              </a:rPr>
              <a:t>    </a:t>
            </a:r>
            <a:r>
              <a:rPr b="1">
                <a:solidFill>
                  <a:srgbClr val="007020"/>
                </a:solidFill>
                <a:latin typeface="Courier"/>
              </a:rPr>
              <a:t>public</a:t>
            </a:r>
            <a:r>
              <a:rPr>
                <a:latin typeface="Courier"/>
              </a:rPr>
              <a:t> </a:t>
            </a:r>
            <a:r>
              <a:rPr>
                <a:solidFill>
                  <a:srgbClr val="06287E"/>
                </a:solidFill>
                <a:latin typeface="Courier"/>
              </a:rPr>
              <a:t>DataSourceDecorator</a:t>
            </a:r>
            <a:r>
              <a:rPr>
                <a:solidFill>
                  <a:srgbClr val="666666"/>
                </a:solidFill>
                <a:latin typeface="Courier"/>
              </a:rPr>
              <a:t>(</a:t>
            </a:r>
            <a:r>
              <a:rPr>
                <a:solidFill>
                  <a:srgbClr val="008000"/>
                </a:solidFill>
                <a:latin typeface="Courier"/>
              </a:rPr>
              <a:t>DataSource</a:t>
            </a:r>
            <a:r>
              <a:rPr>
                <a:latin typeface="Courier"/>
              </a:rPr>
              <a:t> source</a:t>
            </a:r>
            <a:r>
              <a:rPr>
                <a:solidFill>
                  <a:srgbClr val="666666"/>
                </a:solidFill>
                <a:latin typeface="Courier"/>
              </a:rPr>
              <a:t>)</a:t>
            </a:r>
            <a:r>
              <a:rPr>
                <a:latin typeface="Courier"/>
              </a:rPr>
              <a:t> </a:t>
            </a:r>
            <a:r>
              <a:rPr>
                <a:solidFill>
                  <a:srgbClr val="666666"/>
                </a:solidFill>
                <a:latin typeface="Courier"/>
              </a:rPr>
              <a:t>{</a:t>
            </a:r>
            <a:br/>
            <a:r>
              <a:rPr>
                <a:latin typeface="Courier"/>
              </a:rPr>
              <a:t>        </a:t>
            </a:r>
            <a:r>
              <a:rPr b="1">
                <a:solidFill>
                  <a:srgbClr val="007020"/>
                </a:solidFill>
                <a:latin typeface="Courier"/>
              </a:rPr>
              <a:t>this</a:t>
            </a:r>
            <a:r>
              <a:rPr>
                <a:solidFill>
                  <a:srgbClr val="666666"/>
                </a:solidFill>
                <a:latin typeface="Courier"/>
              </a:rPr>
              <a:t>.</a:t>
            </a:r>
            <a:r>
              <a:rPr>
                <a:solidFill>
                  <a:srgbClr val="06287E"/>
                </a:solidFill>
                <a:latin typeface="Courier"/>
              </a:rPr>
              <a:t>wrappee</a:t>
            </a:r>
            <a:r>
              <a:rPr>
                <a:latin typeface="Courier"/>
              </a:rPr>
              <a:t> </a:t>
            </a:r>
            <a:r>
              <a:rPr>
                <a:solidFill>
                  <a:srgbClr val="666666"/>
                </a:solidFill>
                <a:latin typeface="Courier"/>
              </a:rPr>
              <a:t>=</a:t>
            </a:r>
            <a:r>
              <a:rPr>
                <a:latin typeface="Courier"/>
              </a:rPr>
              <a:t> source</a:t>
            </a:r>
            <a:r>
              <a:rPr>
                <a:solidFill>
                  <a:srgbClr val="666666"/>
                </a:solidFill>
                <a:latin typeface="Courier"/>
              </a:rPr>
              <a:t>;</a:t>
            </a:r>
            <a:br/>
            <a:r>
              <a:rPr>
                <a:latin typeface="Courier"/>
              </a:rPr>
              <a:t>    </a:t>
            </a:r>
            <a:r>
              <a:rPr>
                <a:solidFill>
                  <a:srgbClr val="666666"/>
                </a:solidFill>
                <a:latin typeface="Courier"/>
              </a:rPr>
              <a:t>}</a:t>
            </a:r>
            <a:br/>
            <a:br/>
            <a:r>
              <a:rPr>
                <a:latin typeface="Courier"/>
              </a:rPr>
              <a:t>    </a:t>
            </a:r>
            <a:r>
              <a:rPr>
                <a:solidFill>
                  <a:srgbClr val="7D9029"/>
                </a:solidFill>
                <a:latin typeface="Courier"/>
              </a:rPr>
              <a:t>@Override</a:t>
            </a:r>
            <a:br/>
            <a:r>
              <a:rPr>
                <a:latin typeface="Courier"/>
              </a:rPr>
              <a:t>    </a:t>
            </a:r>
            <a:r>
              <a:rPr b="1">
                <a:solidFill>
                  <a:srgbClr val="007020"/>
                </a:solidFill>
                <a:latin typeface="Courier"/>
              </a:rPr>
              <a:t>public</a:t>
            </a:r>
            <a:r>
              <a:rPr>
                <a:latin typeface="Courier"/>
              </a:rPr>
              <a:t> </a:t>
            </a:r>
            <a:r>
              <a:rPr>
                <a:solidFill>
                  <a:srgbClr val="902000"/>
                </a:solidFill>
                <a:latin typeface="Courier"/>
              </a:rPr>
              <a:t>void</a:t>
            </a:r>
            <a:r>
              <a:rPr>
                <a:latin typeface="Courier"/>
              </a:rPr>
              <a:t> </a:t>
            </a:r>
            <a:r>
              <a:rPr>
                <a:solidFill>
                  <a:srgbClr val="06287E"/>
                </a:solidFill>
                <a:latin typeface="Courier"/>
              </a:rPr>
              <a:t>writeData</a:t>
            </a:r>
            <a:r>
              <a:rPr>
                <a:solidFill>
                  <a:srgbClr val="666666"/>
                </a:solidFill>
                <a:latin typeface="Courier"/>
              </a:rPr>
              <a:t>(</a:t>
            </a:r>
            <a:r>
              <a:rPr>
                <a:solidFill>
                  <a:srgbClr val="008000"/>
                </a:solidFill>
                <a:latin typeface="Courier"/>
              </a:rPr>
              <a:t>String</a:t>
            </a:r>
            <a:r>
              <a:rPr>
                <a:latin typeface="Courier"/>
              </a:rPr>
              <a:t> data</a:t>
            </a:r>
            <a:r>
              <a:rPr>
                <a:solidFill>
                  <a:srgbClr val="666666"/>
                </a:solidFill>
                <a:latin typeface="Courier"/>
              </a:rPr>
              <a:t>)</a:t>
            </a:r>
            <a:r>
              <a:rPr>
                <a:latin typeface="Courier"/>
              </a:rPr>
              <a:t> </a:t>
            </a:r>
            <a:r>
              <a:rPr>
                <a:solidFill>
                  <a:srgbClr val="666666"/>
                </a:solidFill>
                <a:latin typeface="Courier"/>
              </a:rPr>
              <a:t>{</a:t>
            </a:r>
            <a:br/>
            <a:r>
              <a:rPr>
                <a:latin typeface="Courier"/>
              </a:rPr>
              <a:t>        wrappee</a:t>
            </a:r>
            <a:r>
              <a:rPr>
                <a:solidFill>
                  <a:srgbClr val="666666"/>
                </a:solidFill>
                <a:latin typeface="Courier"/>
              </a:rPr>
              <a:t>.</a:t>
            </a:r>
            <a:r>
              <a:rPr>
                <a:solidFill>
                  <a:srgbClr val="06287E"/>
                </a:solidFill>
                <a:latin typeface="Courier"/>
              </a:rPr>
              <a:t>writeData</a:t>
            </a:r>
            <a:r>
              <a:rPr>
                <a:solidFill>
                  <a:srgbClr val="666666"/>
                </a:solidFill>
                <a:latin typeface="Courier"/>
              </a:rPr>
              <a:t>(</a:t>
            </a:r>
            <a:r>
              <a:rPr>
                <a:latin typeface="Courier"/>
              </a:rPr>
              <a:t>data</a:t>
            </a:r>
            <a:r>
              <a:rPr>
                <a:solidFill>
                  <a:srgbClr val="666666"/>
                </a:solidFill>
                <a:latin typeface="Courier"/>
              </a:rPr>
              <a:t>);</a:t>
            </a:r>
            <a:br/>
            <a:r>
              <a:rPr>
                <a:latin typeface="Courier"/>
              </a:rPr>
              <a:t>    </a:t>
            </a:r>
            <a:r>
              <a:rPr>
                <a:solidFill>
                  <a:srgbClr val="666666"/>
                </a:solidFill>
                <a:latin typeface="Courier"/>
              </a:rPr>
              <a:t>}</a:t>
            </a:r>
            <a:br/>
            <a:br/>
            <a:r>
              <a:rPr>
                <a:latin typeface="Courier"/>
              </a:rPr>
              <a:t>    </a:t>
            </a:r>
            <a:r>
              <a:rPr>
                <a:solidFill>
                  <a:srgbClr val="7D9029"/>
                </a:solidFill>
                <a:latin typeface="Courier"/>
              </a:rPr>
              <a:t>@Override</a:t>
            </a:r>
            <a:br/>
            <a:r>
              <a:rPr>
                <a:latin typeface="Courier"/>
              </a:rPr>
              <a:t>    </a:t>
            </a:r>
            <a:r>
              <a:rPr b="1">
                <a:solidFill>
                  <a:srgbClr val="007020"/>
                </a:solidFill>
                <a:latin typeface="Courier"/>
              </a:rPr>
              <a:t>public</a:t>
            </a:r>
            <a:r>
              <a:rPr>
                <a:latin typeface="Courier"/>
              </a:rPr>
              <a:t> </a:t>
            </a:r>
            <a:r>
              <a:rPr>
                <a:solidFill>
                  <a:srgbClr val="008000"/>
                </a:solidFill>
                <a:latin typeface="Courier"/>
              </a:rPr>
              <a:t>String</a:t>
            </a:r>
            <a:r>
              <a:rPr>
                <a:latin typeface="Courier"/>
              </a:rPr>
              <a:t> </a:t>
            </a:r>
            <a:r>
              <a:rPr>
                <a:solidFill>
                  <a:srgbClr val="06287E"/>
                </a:solidFill>
                <a:latin typeface="Courier"/>
              </a:rPr>
              <a:t>readData</a:t>
            </a:r>
            <a:r>
              <a:rPr>
                <a:solidFill>
                  <a:srgbClr val="666666"/>
                </a:solidFill>
                <a:latin typeface="Courier"/>
              </a:rPr>
              <a:t>()</a:t>
            </a:r>
            <a:r>
              <a:rPr>
                <a:latin typeface="Courier"/>
              </a:rPr>
              <a:t> </a:t>
            </a:r>
            <a:r>
              <a:rPr>
                <a:solidFill>
                  <a:srgbClr val="666666"/>
                </a:solidFill>
                <a:latin typeface="Courier"/>
              </a:rPr>
              <a:t>{</a:t>
            </a:r>
            <a:br/>
            <a:r>
              <a:rPr>
                <a:latin typeface="Courier"/>
              </a:rPr>
              <a:t>        </a:t>
            </a:r>
            <a:r>
              <a:rPr b="1">
                <a:solidFill>
                  <a:srgbClr val="007020"/>
                </a:solidFill>
                <a:latin typeface="Courier"/>
              </a:rPr>
              <a:t>return</a:t>
            </a:r>
            <a:r>
              <a:rPr>
                <a:latin typeface="Courier"/>
              </a:rPr>
              <a:t> wrappee</a:t>
            </a:r>
            <a:r>
              <a:rPr>
                <a:solidFill>
                  <a:srgbClr val="666666"/>
                </a:solidFill>
                <a:latin typeface="Courier"/>
              </a:rPr>
              <a:t>.</a:t>
            </a:r>
            <a:r>
              <a:rPr>
                <a:solidFill>
                  <a:srgbClr val="06287E"/>
                </a:solidFill>
                <a:latin typeface="Courier"/>
              </a:rPr>
              <a:t>readData</a:t>
            </a:r>
            <a:r>
              <a:rPr>
                <a:solidFill>
                  <a:srgbClr val="666666"/>
                </a:solidFill>
                <a:latin typeface="Courier"/>
              </a:rPr>
              <a:t>();</a:t>
            </a:r>
            <a:br/>
            <a:r>
              <a:rPr>
                <a:latin typeface="Courier"/>
              </a:rPr>
              <a:t>    </a:t>
            </a:r>
            <a:r>
              <a:rPr>
                <a:solidFill>
                  <a:srgbClr val="666666"/>
                </a:solidFill>
                <a:latin typeface="Courier"/>
              </a:rPr>
              <a:t>}</a:t>
            </a:r>
            <a:br/>
            <a:r>
              <a:rPr>
                <a:solidFill>
                  <a:srgbClr val="666666"/>
                </a:solidFill>
                <a:latin typeface="Courier"/>
              </a:rPr>
              <a:t>}</a:t>
            </a:r>
          </a:p>
        </p:txBody>
      </p:sp>
    </p:spTree>
  </p:cSld>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Decorator: Java Code Example - Concrete Decorators</a:t>
            </a:r>
          </a:p>
        </p:txBody>
      </p:sp>
      <p:sp>
        <p:nvSpPr>
          <p:cNvPr id="3" name="Content Placeholder 2"/>
          <p:cNvSpPr>
            <a:spLocks noGrp="1"/>
          </p:cNvSpPr>
          <p:nvPr>
            <p:ph idx="1"/>
          </p:nvPr>
        </p:nvSpPr>
        <p:spPr/>
        <p:txBody>
          <a:bodyPr/>
          <a:lstStyle/>
          <a:p>
            <a:pPr lvl="0" indent="0">
              <a:buNone/>
            </a:pPr>
            <a:r>
              <a:rPr b="1">
                <a:solidFill>
                  <a:srgbClr val="007020"/>
                </a:solidFill>
                <a:latin typeface="Courier"/>
              </a:rPr>
              <a:t>import</a:t>
            </a:r>
            <a:r>
              <a:rPr>
                <a:latin typeface="Courier"/>
              </a:rPr>
              <a:t> </a:t>
            </a:r>
            <a:r>
              <a:rPr b="1">
                <a:solidFill>
                  <a:srgbClr val="008000"/>
                </a:solidFill>
                <a:latin typeface="Courier"/>
              </a:rPr>
              <a:t>java</a:t>
            </a:r>
            <a:r>
              <a:rPr>
                <a:solidFill>
                  <a:srgbClr val="666666"/>
                </a:solidFill>
                <a:latin typeface="Courier"/>
              </a:rPr>
              <a:t>.</a:t>
            </a:r>
            <a:r>
              <a:rPr b="1">
                <a:solidFill>
                  <a:srgbClr val="008000"/>
                </a:solidFill>
                <a:latin typeface="Courier"/>
              </a:rPr>
              <a:t>util</a:t>
            </a:r>
            <a:r>
              <a:rPr>
                <a:solidFill>
                  <a:srgbClr val="666666"/>
                </a:solidFill>
                <a:latin typeface="Courier"/>
              </a:rPr>
              <a:t>.</a:t>
            </a:r>
            <a:r>
              <a:rPr b="1">
                <a:solidFill>
                  <a:srgbClr val="008000"/>
                </a:solidFill>
                <a:latin typeface="Courier"/>
              </a:rPr>
              <a:t>Base64</a:t>
            </a:r>
            <a:r>
              <a:rPr>
                <a:solidFill>
                  <a:srgbClr val="666666"/>
                </a:solidFill>
                <a:latin typeface="Courier"/>
              </a:rPr>
              <a:t>;</a:t>
            </a:r>
            <a:br/>
            <a:br/>
            <a:r>
              <a:rPr i="1">
                <a:solidFill>
                  <a:srgbClr val="60A0B0"/>
                </a:solidFill>
                <a:latin typeface="Courier"/>
              </a:rPr>
              <a:t>// Concrete decorators must call methods on the wrapped</a:t>
            </a:r>
            <a:br/>
            <a:r>
              <a:rPr i="1">
                <a:solidFill>
                  <a:srgbClr val="60A0B0"/>
                </a:solidFill>
                <a:latin typeface="Courier"/>
              </a:rPr>
              <a:t>// object, but may add something of their own to the result.</a:t>
            </a:r>
            <a:br/>
            <a:r>
              <a:rPr b="1">
                <a:solidFill>
                  <a:srgbClr val="007020"/>
                </a:solidFill>
                <a:latin typeface="Courier"/>
              </a:rPr>
              <a:t>public</a:t>
            </a:r>
            <a:r>
              <a:rPr>
                <a:latin typeface="Courier"/>
              </a:rPr>
              <a:t> </a:t>
            </a:r>
            <a:r>
              <a:rPr b="1">
                <a:solidFill>
                  <a:srgbClr val="007020"/>
                </a:solidFill>
                <a:latin typeface="Courier"/>
              </a:rPr>
              <a:t>class</a:t>
            </a:r>
            <a:r>
              <a:rPr>
                <a:latin typeface="Courier"/>
              </a:rPr>
              <a:t> EncryptionDecorator </a:t>
            </a:r>
            <a:r>
              <a:rPr b="1">
                <a:solidFill>
                  <a:srgbClr val="007020"/>
                </a:solidFill>
                <a:latin typeface="Courier"/>
              </a:rPr>
              <a:t>extends</a:t>
            </a:r>
            <a:r>
              <a:rPr>
                <a:latin typeface="Courier"/>
              </a:rPr>
              <a:t> DataSourceDecorator </a:t>
            </a:r>
            <a:r>
              <a:rPr>
                <a:solidFill>
                  <a:srgbClr val="666666"/>
                </a:solidFill>
                <a:latin typeface="Courier"/>
              </a:rPr>
              <a:t>{</a:t>
            </a:r>
            <a:br/>
            <a:r>
              <a:rPr>
                <a:latin typeface="Courier"/>
              </a:rPr>
              <a:t>    </a:t>
            </a:r>
            <a:r>
              <a:rPr b="1">
                <a:solidFill>
                  <a:srgbClr val="007020"/>
                </a:solidFill>
                <a:latin typeface="Courier"/>
              </a:rPr>
              <a:t>public</a:t>
            </a:r>
            <a:r>
              <a:rPr>
                <a:latin typeface="Courier"/>
              </a:rPr>
              <a:t> </a:t>
            </a:r>
            <a:r>
              <a:rPr>
                <a:solidFill>
                  <a:srgbClr val="06287E"/>
                </a:solidFill>
                <a:latin typeface="Courier"/>
              </a:rPr>
              <a:t>EncryptionDecorator</a:t>
            </a:r>
            <a:r>
              <a:rPr>
                <a:solidFill>
                  <a:srgbClr val="666666"/>
                </a:solidFill>
                <a:latin typeface="Courier"/>
              </a:rPr>
              <a:t>(</a:t>
            </a:r>
            <a:r>
              <a:rPr>
                <a:solidFill>
                  <a:srgbClr val="008000"/>
                </a:solidFill>
                <a:latin typeface="Courier"/>
              </a:rPr>
              <a:t>DataSource</a:t>
            </a:r>
            <a:r>
              <a:rPr>
                <a:latin typeface="Courier"/>
              </a:rPr>
              <a:t> source</a:t>
            </a:r>
            <a:r>
              <a:rPr>
                <a:solidFill>
                  <a:srgbClr val="666666"/>
                </a:solidFill>
                <a:latin typeface="Courier"/>
              </a:rPr>
              <a:t>)</a:t>
            </a:r>
            <a:r>
              <a:rPr>
                <a:latin typeface="Courier"/>
              </a:rPr>
              <a:t> </a:t>
            </a:r>
            <a:r>
              <a:rPr>
                <a:solidFill>
                  <a:srgbClr val="666666"/>
                </a:solidFill>
                <a:latin typeface="Courier"/>
              </a:rPr>
              <a:t>{</a:t>
            </a:r>
            <a:br/>
            <a:r>
              <a:rPr>
                <a:latin typeface="Courier"/>
              </a:rPr>
              <a:t>        </a:t>
            </a:r>
            <a:r>
              <a:rPr b="1">
                <a:solidFill>
                  <a:srgbClr val="007020"/>
                </a:solidFill>
                <a:latin typeface="Courier"/>
              </a:rPr>
              <a:t>super</a:t>
            </a:r>
            <a:r>
              <a:rPr>
                <a:solidFill>
                  <a:srgbClr val="666666"/>
                </a:solidFill>
                <a:latin typeface="Courier"/>
              </a:rPr>
              <a:t>(</a:t>
            </a:r>
            <a:r>
              <a:rPr>
                <a:latin typeface="Courier"/>
              </a:rPr>
              <a:t>source</a:t>
            </a:r>
            <a:r>
              <a:rPr>
                <a:solidFill>
                  <a:srgbClr val="666666"/>
                </a:solidFill>
                <a:latin typeface="Courier"/>
              </a:rPr>
              <a:t>);</a:t>
            </a:r>
            <a:br/>
            <a:r>
              <a:rPr>
                <a:latin typeface="Courier"/>
              </a:rPr>
              <a:t>    </a:t>
            </a:r>
            <a:r>
              <a:rPr>
                <a:solidFill>
                  <a:srgbClr val="666666"/>
                </a:solidFill>
                <a:latin typeface="Courier"/>
              </a:rPr>
              <a:t>}</a:t>
            </a:r>
            <a:br/>
            <a:br/>
            <a:r>
              <a:rPr>
                <a:latin typeface="Courier"/>
              </a:rPr>
              <a:t>    </a:t>
            </a:r>
            <a:r>
              <a:rPr>
                <a:solidFill>
                  <a:srgbClr val="7D9029"/>
                </a:solidFill>
                <a:latin typeface="Courier"/>
              </a:rPr>
              <a:t>@Override</a:t>
            </a:r>
            <a:br/>
            <a:r>
              <a:rPr>
                <a:latin typeface="Courier"/>
              </a:rPr>
              <a:t>    </a:t>
            </a:r>
            <a:r>
              <a:rPr b="1">
                <a:solidFill>
                  <a:srgbClr val="007020"/>
                </a:solidFill>
                <a:latin typeface="Courier"/>
              </a:rPr>
              <a:t>public</a:t>
            </a:r>
            <a:r>
              <a:rPr>
                <a:latin typeface="Courier"/>
              </a:rPr>
              <a:t> </a:t>
            </a:r>
            <a:r>
              <a:rPr>
                <a:solidFill>
                  <a:srgbClr val="902000"/>
                </a:solidFill>
                <a:latin typeface="Courier"/>
              </a:rPr>
              <a:t>void</a:t>
            </a:r>
            <a:r>
              <a:rPr>
                <a:latin typeface="Courier"/>
              </a:rPr>
              <a:t> </a:t>
            </a:r>
            <a:r>
              <a:rPr>
                <a:solidFill>
                  <a:srgbClr val="06287E"/>
                </a:solidFill>
                <a:latin typeface="Courier"/>
              </a:rPr>
              <a:t>writeData</a:t>
            </a:r>
            <a:r>
              <a:rPr>
                <a:solidFill>
                  <a:srgbClr val="666666"/>
                </a:solidFill>
                <a:latin typeface="Courier"/>
              </a:rPr>
              <a:t>(</a:t>
            </a:r>
            <a:r>
              <a:rPr>
                <a:solidFill>
                  <a:srgbClr val="008000"/>
                </a:solidFill>
                <a:latin typeface="Courier"/>
              </a:rPr>
              <a:t>String</a:t>
            </a:r>
            <a:r>
              <a:rPr>
                <a:latin typeface="Courier"/>
              </a:rPr>
              <a:t> data</a:t>
            </a:r>
            <a:r>
              <a:rPr>
                <a:solidFill>
                  <a:srgbClr val="666666"/>
                </a:solidFill>
                <a:latin typeface="Courier"/>
              </a:rPr>
              <a:t>)</a:t>
            </a:r>
            <a:r>
              <a:rPr>
                <a:latin typeface="Courier"/>
              </a:rPr>
              <a:t> </a:t>
            </a:r>
            <a:r>
              <a:rPr>
                <a:solidFill>
                  <a:srgbClr val="666666"/>
                </a:solidFill>
                <a:latin typeface="Courier"/>
              </a:rPr>
              <a:t>{</a:t>
            </a:r>
            <a:br/>
            <a:r>
              <a:rPr>
                <a:latin typeface="Courier"/>
              </a:rPr>
              <a:t>        </a:t>
            </a:r>
            <a:r>
              <a:rPr i="1">
                <a:solidFill>
                  <a:srgbClr val="60A0B0"/>
                </a:solidFill>
                <a:latin typeface="Courier"/>
              </a:rPr>
              <a:t>// Encrypt data before writing</a:t>
            </a:r>
            <a:br/>
            <a:r>
              <a:rPr>
                <a:latin typeface="Courier"/>
              </a:rPr>
              <a:t>        </a:t>
            </a:r>
            <a:r>
              <a:rPr>
                <a:solidFill>
                  <a:srgbClr val="008000"/>
                </a:solidFill>
                <a:latin typeface="Courier"/>
              </a:rPr>
              <a:t>String</a:t>
            </a:r>
            <a:r>
              <a:rPr>
                <a:latin typeface="Courier"/>
              </a:rPr>
              <a:t> encrypted </a:t>
            </a:r>
            <a:r>
              <a:rPr>
                <a:solidFill>
                  <a:srgbClr val="666666"/>
                </a:solidFill>
                <a:latin typeface="Courier"/>
              </a:rPr>
              <a:t>=</a:t>
            </a:r>
            <a:r>
              <a:rPr>
                <a:latin typeface="Courier"/>
              </a:rPr>
              <a:t> Base64</a:t>
            </a:r>
            <a:r>
              <a:rPr>
                <a:solidFill>
                  <a:srgbClr val="666666"/>
                </a:solidFill>
                <a:latin typeface="Courier"/>
              </a:rPr>
              <a:t>.</a:t>
            </a:r>
            <a:r>
              <a:rPr>
                <a:solidFill>
                  <a:srgbClr val="06287E"/>
                </a:solidFill>
                <a:latin typeface="Courier"/>
              </a:rPr>
              <a:t>getEncoder</a:t>
            </a:r>
            <a:r>
              <a:rPr>
                <a:solidFill>
                  <a:srgbClr val="666666"/>
                </a:solidFill>
                <a:latin typeface="Courier"/>
              </a:rPr>
              <a:t>()</a:t>
            </a:r>
            <a:br/>
            <a:r>
              <a:rPr>
                <a:latin typeface="Courier"/>
              </a:rPr>
              <a:t>            </a:t>
            </a:r>
            <a:r>
              <a:rPr>
                <a:solidFill>
                  <a:srgbClr val="666666"/>
                </a:solidFill>
                <a:latin typeface="Courier"/>
              </a:rPr>
              <a:t>.</a:t>
            </a:r>
            <a:r>
              <a:rPr>
                <a:solidFill>
                  <a:srgbClr val="06287E"/>
                </a:solidFill>
                <a:latin typeface="Courier"/>
              </a:rPr>
              <a:t>encodeToString</a:t>
            </a:r>
            <a:r>
              <a:rPr>
                <a:solidFill>
                  <a:srgbClr val="666666"/>
                </a:solidFill>
                <a:latin typeface="Courier"/>
              </a:rPr>
              <a:t>(</a:t>
            </a:r>
            <a:r>
              <a:rPr>
                <a:latin typeface="Courier"/>
              </a:rPr>
              <a:t>data</a:t>
            </a:r>
            <a:r>
              <a:rPr>
                <a:solidFill>
                  <a:srgbClr val="666666"/>
                </a:solidFill>
                <a:latin typeface="Courier"/>
              </a:rPr>
              <a:t>.</a:t>
            </a:r>
            <a:r>
              <a:rPr>
                <a:solidFill>
                  <a:srgbClr val="06287E"/>
                </a:solidFill>
                <a:latin typeface="Courier"/>
              </a:rPr>
              <a:t>getBytes</a:t>
            </a:r>
            <a:r>
              <a:rPr>
                <a:solidFill>
                  <a:srgbClr val="666666"/>
                </a:solidFill>
                <a:latin typeface="Courier"/>
              </a:rPr>
              <a:t>());</a:t>
            </a:r>
            <a:br/>
            <a:r>
              <a:rPr>
                <a:latin typeface="Courier"/>
              </a:rPr>
              <a:t>        </a:t>
            </a:r>
            <a:r>
              <a:rPr b="1">
                <a:solidFill>
                  <a:srgbClr val="007020"/>
                </a:solidFill>
                <a:latin typeface="Courier"/>
              </a:rPr>
              <a:t>super</a:t>
            </a:r>
            <a:r>
              <a:rPr>
                <a:solidFill>
                  <a:srgbClr val="666666"/>
                </a:solidFill>
                <a:latin typeface="Courier"/>
              </a:rPr>
              <a:t>.</a:t>
            </a:r>
            <a:r>
              <a:rPr>
                <a:solidFill>
                  <a:srgbClr val="06287E"/>
                </a:solidFill>
                <a:latin typeface="Courier"/>
              </a:rPr>
              <a:t>writeData</a:t>
            </a:r>
            <a:r>
              <a:rPr>
                <a:solidFill>
                  <a:srgbClr val="666666"/>
                </a:solidFill>
                <a:latin typeface="Courier"/>
              </a:rPr>
              <a:t>(</a:t>
            </a:r>
            <a:r>
              <a:rPr>
                <a:latin typeface="Courier"/>
              </a:rPr>
              <a:t>encrypted</a:t>
            </a:r>
            <a:r>
              <a:rPr>
                <a:solidFill>
                  <a:srgbClr val="666666"/>
                </a:solidFill>
                <a:latin typeface="Courier"/>
              </a:rPr>
              <a:t>);</a:t>
            </a:r>
            <a:br/>
            <a:r>
              <a:rPr>
                <a:latin typeface="Courier"/>
              </a:rPr>
              <a:t>    </a:t>
            </a:r>
            <a:r>
              <a:rPr>
                <a:solidFill>
                  <a:srgbClr val="666666"/>
                </a:solidFill>
                <a:latin typeface="Courier"/>
              </a:rPr>
              <a:t>}</a:t>
            </a:r>
            <a:br/>
            <a:br/>
            <a:r>
              <a:rPr>
                <a:latin typeface="Courier"/>
              </a:rPr>
              <a:t>    </a:t>
            </a:r>
            <a:r>
              <a:rPr>
                <a:solidFill>
                  <a:srgbClr val="7D9029"/>
                </a:solidFill>
                <a:latin typeface="Courier"/>
              </a:rPr>
              <a:t>@Override</a:t>
            </a:r>
            <a:br/>
            <a:r>
              <a:rPr>
                <a:latin typeface="Courier"/>
              </a:rPr>
              <a:t>    </a:t>
            </a:r>
            <a:r>
              <a:rPr b="1">
                <a:solidFill>
                  <a:srgbClr val="007020"/>
                </a:solidFill>
                <a:latin typeface="Courier"/>
              </a:rPr>
              <a:t>public</a:t>
            </a:r>
            <a:r>
              <a:rPr>
                <a:latin typeface="Courier"/>
              </a:rPr>
              <a:t> </a:t>
            </a:r>
            <a:r>
              <a:rPr>
                <a:solidFill>
                  <a:srgbClr val="008000"/>
                </a:solidFill>
                <a:latin typeface="Courier"/>
              </a:rPr>
              <a:t>String</a:t>
            </a:r>
            <a:r>
              <a:rPr>
                <a:latin typeface="Courier"/>
              </a:rPr>
              <a:t> </a:t>
            </a:r>
            <a:r>
              <a:rPr>
                <a:solidFill>
                  <a:srgbClr val="06287E"/>
                </a:solidFill>
                <a:latin typeface="Courier"/>
              </a:rPr>
              <a:t>readData</a:t>
            </a:r>
            <a:r>
              <a:rPr>
                <a:solidFill>
                  <a:srgbClr val="666666"/>
                </a:solidFill>
                <a:latin typeface="Courier"/>
              </a:rPr>
              <a:t>()</a:t>
            </a:r>
            <a:r>
              <a:rPr>
                <a:latin typeface="Courier"/>
              </a:rPr>
              <a:t> </a:t>
            </a:r>
            <a:r>
              <a:rPr>
                <a:solidFill>
                  <a:srgbClr val="666666"/>
                </a:solidFill>
                <a:latin typeface="Courier"/>
              </a:rPr>
              <a:t>{</a:t>
            </a:r>
            <a:br/>
            <a:r>
              <a:rPr>
                <a:latin typeface="Courier"/>
              </a:rPr>
              <a:t>        </a:t>
            </a:r>
            <a:r>
              <a:rPr i="1">
                <a:solidFill>
                  <a:srgbClr val="60A0B0"/>
                </a:solidFill>
                <a:latin typeface="Courier"/>
              </a:rPr>
              <a:t>// Decrypt data after reading</a:t>
            </a:r>
            <a:br/>
            <a:r>
              <a:rPr>
                <a:latin typeface="Courier"/>
              </a:rPr>
              <a:t>        </a:t>
            </a:r>
            <a:r>
              <a:rPr>
                <a:solidFill>
                  <a:srgbClr val="008000"/>
                </a:solidFill>
                <a:latin typeface="Courier"/>
              </a:rPr>
              <a:t>String</a:t>
            </a:r>
            <a:r>
              <a:rPr>
                <a:latin typeface="Courier"/>
              </a:rPr>
              <a:t> data </a:t>
            </a:r>
            <a:r>
              <a:rPr>
                <a:solidFill>
                  <a:srgbClr val="666666"/>
                </a:solidFill>
                <a:latin typeface="Courier"/>
              </a:rPr>
              <a:t>=</a:t>
            </a:r>
            <a:r>
              <a:rPr>
                <a:latin typeface="Courier"/>
              </a:rPr>
              <a:t> </a:t>
            </a:r>
            <a:r>
              <a:rPr b="1">
                <a:solidFill>
                  <a:srgbClr val="007020"/>
                </a:solidFill>
                <a:latin typeface="Courier"/>
              </a:rPr>
              <a:t>super</a:t>
            </a:r>
            <a:r>
              <a:rPr>
                <a:solidFill>
                  <a:srgbClr val="666666"/>
                </a:solidFill>
                <a:latin typeface="Courier"/>
              </a:rPr>
              <a:t>.</a:t>
            </a:r>
            <a:r>
              <a:rPr>
                <a:solidFill>
                  <a:srgbClr val="06287E"/>
                </a:solidFill>
                <a:latin typeface="Courier"/>
              </a:rPr>
              <a:t>readData</a:t>
            </a:r>
            <a:r>
              <a:rPr>
                <a:solidFill>
                  <a:srgbClr val="666666"/>
                </a:solidFill>
                <a:latin typeface="Courier"/>
              </a:rPr>
              <a:t>();</a:t>
            </a:r>
            <a:br/>
            <a:r>
              <a:rPr>
                <a:latin typeface="Courier"/>
              </a:rPr>
              <a:t>        </a:t>
            </a:r>
            <a:r>
              <a:rPr b="1">
                <a:solidFill>
                  <a:srgbClr val="007020"/>
                </a:solidFill>
                <a:latin typeface="Courier"/>
              </a:rPr>
              <a:t>return</a:t>
            </a:r>
            <a:r>
              <a:rPr>
                <a:latin typeface="Courier"/>
              </a:rPr>
              <a:t> </a:t>
            </a:r>
            <a:r>
              <a:rPr b="1">
                <a:solidFill>
                  <a:srgbClr val="007020"/>
                </a:solidFill>
                <a:latin typeface="Courier"/>
              </a:rPr>
              <a:t>new</a:t>
            </a:r>
            <a:r>
              <a:rPr>
                <a:latin typeface="Courier"/>
              </a:rPr>
              <a:t> </a:t>
            </a:r>
            <a:r>
              <a:rPr>
                <a:solidFill>
                  <a:srgbClr val="008000"/>
                </a:solidFill>
                <a:latin typeface="Courier"/>
              </a:rPr>
              <a:t>String</a:t>
            </a:r>
            <a:r>
              <a:rPr>
                <a:solidFill>
                  <a:srgbClr val="666666"/>
                </a:solidFill>
                <a:latin typeface="Courier"/>
              </a:rPr>
              <a:t>(</a:t>
            </a:r>
            <a:r>
              <a:rPr>
                <a:latin typeface="Courier"/>
              </a:rPr>
              <a:t>Base64</a:t>
            </a:r>
            <a:r>
              <a:rPr>
                <a:solidFill>
                  <a:srgbClr val="666666"/>
                </a:solidFill>
                <a:latin typeface="Courier"/>
              </a:rPr>
              <a:t>.</a:t>
            </a:r>
            <a:r>
              <a:rPr>
                <a:solidFill>
                  <a:srgbClr val="06287E"/>
                </a:solidFill>
                <a:latin typeface="Courier"/>
              </a:rPr>
              <a:t>getDecoder</a:t>
            </a:r>
            <a:r>
              <a:rPr>
                <a:solidFill>
                  <a:srgbClr val="666666"/>
                </a:solidFill>
                <a:latin typeface="Courier"/>
              </a:rPr>
              <a:t>().</a:t>
            </a:r>
            <a:r>
              <a:rPr>
                <a:solidFill>
                  <a:srgbClr val="06287E"/>
                </a:solidFill>
                <a:latin typeface="Courier"/>
              </a:rPr>
              <a:t>decode</a:t>
            </a:r>
            <a:r>
              <a:rPr>
                <a:solidFill>
                  <a:srgbClr val="666666"/>
                </a:solidFill>
                <a:latin typeface="Courier"/>
              </a:rPr>
              <a:t>(</a:t>
            </a:r>
            <a:r>
              <a:rPr>
                <a:latin typeface="Courier"/>
              </a:rPr>
              <a:t>data</a:t>
            </a:r>
            <a:r>
              <a:rPr>
                <a:solidFill>
                  <a:srgbClr val="666666"/>
                </a:solidFill>
                <a:latin typeface="Courier"/>
              </a:rPr>
              <a:t>));</a:t>
            </a:r>
            <a:br/>
            <a:r>
              <a:rPr>
                <a:latin typeface="Courier"/>
              </a:rPr>
              <a:t>    </a:t>
            </a:r>
            <a:r>
              <a:rPr>
                <a:solidFill>
                  <a:srgbClr val="666666"/>
                </a:solidFill>
                <a:latin typeface="Courier"/>
              </a:rPr>
              <a:t>}</a:t>
            </a:r>
            <a:br/>
            <a:r>
              <a:rPr>
                <a:solidFill>
                  <a:srgbClr val="666666"/>
                </a:solidFill>
                <a:latin typeface="Courier"/>
              </a:rPr>
              <a:t>}</a:t>
            </a:r>
          </a:p>
        </p:txBody>
      </p:sp>
    </p:spTree>
  </p:cSld>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Decorator: Java Code Example - Concrete Decorators (cont.)</a:t>
            </a:r>
          </a:p>
        </p:txBody>
      </p:sp>
      <p:sp>
        <p:nvSpPr>
          <p:cNvPr id="3" name="Content Placeholder 2"/>
          <p:cNvSpPr>
            <a:spLocks noGrp="1"/>
          </p:cNvSpPr>
          <p:nvPr>
            <p:ph idx="1"/>
          </p:nvPr>
        </p:nvSpPr>
        <p:spPr/>
        <p:txBody>
          <a:bodyPr/>
          <a:lstStyle/>
          <a:p>
            <a:pPr lvl="0" indent="0">
              <a:buNone/>
            </a:pPr>
            <a:r>
              <a:rPr b="1">
                <a:solidFill>
                  <a:srgbClr val="007020"/>
                </a:solidFill>
                <a:latin typeface="Courier"/>
              </a:rPr>
              <a:t>import</a:t>
            </a:r>
            <a:r>
              <a:rPr>
                <a:latin typeface="Courier"/>
              </a:rPr>
              <a:t> </a:t>
            </a:r>
            <a:r>
              <a:rPr b="1">
                <a:solidFill>
                  <a:srgbClr val="008000"/>
                </a:solidFill>
                <a:latin typeface="Courier"/>
              </a:rPr>
              <a:t>java</a:t>
            </a:r>
            <a:r>
              <a:rPr>
                <a:solidFill>
                  <a:srgbClr val="666666"/>
                </a:solidFill>
                <a:latin typeface="Courier"/>
              </a:rPr>
              <a:t>.</a:t>
            </a:r>
            <a:r>
              <a:rPr b="1">
                <a:solidFill>
                  <a:srgbClr val="008000"/>
                </a:solidFill>
                <a:latin typeface="Courier"/>
              </a:rPr>
              <a:t>io</a:t>
            </a:r>
            <a:r>
              <a:rPr>
                <a:solidFill>
                  <a:srgbClr val="666666"/>
                </a:solidFill>
                <a:latin typeface="Courier"/>
              </a:rPr>
              <a:t>.</a:t>
            </a:r>
            <a:r>
              <a:rPr b="1">
                <a:solidFill>
                  <a:srgbClr val="008000"/>
                </a:solidFill>
                <a:latin typeface="Courier"/>
              </a:rPr>
              <a:t>ByteArrayOutputStream</a:t>
            </a:r>
            <a:r>
              <a:rPr>
                <a:solidFill>
                  <a:srgbClr val="666666"/>
                </a:solidFill>
                <a:latin typeface="Courier"/>
              </a:rPr>
              <a:t>;</a:t>
            </a:r>
            <a:br/>
            <a:r>
              <a:rPr b="1">
                <a:solidFill>
                  <a:srgbClr val="007020"/>
                </a:solidFill>
                <a:latin typeface="Courier"/>
              </a:rPr>
              <a:t>import</a:t>
            </a:r>
            <a:r>
              <a:rPr>
                <a:latin typeface="Courier"/>
              </a:rPr>
              <a:t> </a:t>
            </a:r>
            <a:r>
              <a:rPr b="1">
                <a:solidFill>
                  <a:srgbClr val="008000"/>
                </a:solidFill>
                <a:latin typeface="Courier"/>
              </a:rPr>
              <a:t>java</a:t>
            </a:r>
            <a:r>
              <a:rPr>
                <a:solidFill>
                  <a:srgbClr val="666666"/>
                </a:solidFill>
                <a:latin typeface="Courier"/>
              </a:rPr>
              <a:t>.</a:t>
            </a:r>
            <a:r>
              <a:rPr b="1">
                <a:solidFill>
                  <a:srgbClr val="008000"/>
                </a:solidFill>
                <a:latin typeface="Courier"/>
              </a:rPr>
              <a:t>util</a:t>
            </a:r>
            <a:r>
              <a:rPr>
                <a:solidFill>
                  <a:srgbClr val="666666"/>
                </a:solidFill>
                <a:latin typeface="Courier"/>
              </a:rPr>
              <a:t>.</a:t>
            </a:r>
            <a:r>
              <a:rPr b="1">
                <a:solidFill>
                  <a:srgbClr val="008000"/>
                </a:solidFill>
                <a:latin typeface="Courier"/>
              </a:rPr>
              <a:t>zip</a:t>
            </a:r>
            <a:r>
              <a:rPr>
                <a:solidFill>
                  <a:srgbClr val="666666"/>
                </a:solidFill>
                <a:latin typeface="Courier"/>
              </a:rPr>
              <a:t>.*;</a:t>
            </a:r>
            <a:br/>
            <a:br/>
            <a:r>
              <a:rPr b="1">
                <a:solidFill>
                  <a:srgbClr val="007020"/>
                </a:solidFill>
                <a:latin typeface="Courier"/>
              </a:rPr>
              <a:t>public</a:t>
            </a:r>
            <a:r>
              <a:rPr>
                <a:latin typeface="Courier"/>
              </a:rPr>
              <a:t> </a:t>
            </a:r>
            <a:r>
              <a:rPr b="1">
                <a:solidFill>
                  <a:srgbClr val="007020"/>
                </a:solidFill>
                <a:latin typeface="Courier"/>
              </a:rPr>
              <a:t>class</a:t>
            </a:r>
            <a:r>
              <a:rPr>
                <a:latin typeface="Courier"/>
              </a:rPr>
              <a:t> CompressionDecorator </a:t>
            </a:r>
            <a:r>
              <a:rPr b="1">
                <a:solidFill>
                  <a:srgbClr val="007020"/>
                </a:solidFill>
                <a:latin typeface="Courier"/>
              </a:rPr>
              <a:t>extends</a:t>
            </a:r>
            <a:r>
              <a:rPr>
                <a:latin typeface="Courier"/>
              </a:rPr>
              <a:t> DataSourceDecorator </a:t>
            </a:r>
            <a:r>
              <a:rPr>
                <a:solidFill>
                  <a:srgbClr val="666666"/>
                </a:solidFill>
                <a:latin typeface="Courier"/>
              </a:rPr>
              <a:t>{</a:t>
            </a:r>
            <a:br/>
            <a:r>
              <a:rPr>
                <a:latin typeface="Courier"/>
              </a:rPr>
              <a:t>    </a:t>
            </a:r>
            <a:r>
              <a:rPr b="1">
                <a:solidFill>
                  <a:srgbClr val="007020"/>
                </a:solidFill>
                <a:latin typeface="Courier"/>
              </a:rPr>
              <a:t>public</a:t>
            </a:r>
            <a:r>
              <a:rPr>
                <a:latin typeface="Courier"/>
              </a:rPr>
              <a:t> </a:t>
            </a:r>
            <a:r>
              <a:rPr>
                <a:solidFill>
                  <a:srgbClr val="06287E"/>
                </a:solidFill>
                <a:latin typeface="Courier"/>
              </a:rPr>
              <a:t>CompressionDecorator</a:t>
            </a:r>
            <a:r>
              <a:rPr>
                <a:solidFill>
                  <a:srgbClr val="666666"/>
                </a:solidFill>
                <a:latin typeface="Courier"/>
              </a:rPr>
              <a:t>(</a:t>
            </a:r>
            <a:r>
              <a:rPr>
                <a:solidFill>
                  <a:srgbClr val="008000"/>
                </a:solidFill>
                <a:latin typeface="Courier"/>
              </a:rPr>
              <a:t>DataSource</a:t>
            </a:r>
            <a:r>
              <a:rPr>
                <a:latin typeface="Courier"/>
              </a:rPr>
              <a:t> source</a:t>
            </a:r>
            <a:r>
              <a:rPr>
                <a:solidFill>
                  <a:srgbClr val="666666"/>
                </a:solidFill>
                <a:latin typeface="Courier"/>
              </a:rPr>
              <a:t>)</a:t>
            </a:r>
            <a:r>
              <a:rPr>
                <a:latin typeface="Courier"/>
              </a:rPr>
              <a:t> </a:t>
            </a:r>
            <a:r>
              <a:rPr>
                <a:solidFill>
                  <a:srgbClr val="666666"/>
                </a:solidFill>
                <a:latin typeface="Courier"/>
              </a:rPr>
              <a:t>{</a:t>
            </a:r>
            <a:br/>
            <a:r>
              <a:rPr>
                <a:latin typeface="Courier"/>
              </a:rPr>
              <a:t>        </a:t>
            </a:r>
            <a:r>
              <a:rPr b="1">
                <a:solidFill>
                  <a:srgbClr val="007020"/>
                </a:solidFill>
                <a:latin typeface="Courier"/>
              </a:rPr>
              <a:t>super</a:t>
            </a:r>
            <a:r>
              <a:rPr>
                <a:solidFill>
                  <a:srgbClr val="666666"/>
                </a:solidFill>
                <a:latin typeface="Courier"/>
              </a:rPr>
              <a:t>(</a:t>
            </a:r>
            <a:r>
              <a:rPr>
                <a:latin typeface="Courier"/>
              </a:rPr>
              <a:t>source</a:t>
            </a:r>
            <a:r>
              <a:rPr>
                <a:solidFill>
                  <a:srgbClr val="666666"/>
                </a:solidFill>
                <a:latin typeface="Courier"/>
              </a:rPr>
              <a:t>);</a:t>
            </a:r>
            <a:br/>
            <a:r>
              <a:rPr>
                <a:latin typeface="Courier"/>
              </a:rPr>
              <a:t>    </a:t>
            </a:r>
            <a:r>
              <a:rPr>
                <a:solidFill>
                  <a:srgbClr val="666666"/>
                </a:solidFill>
                <a:latin typeface="Courier"/>
              </a:rPr>
              <a:t>}</a:t>
            </a:r>
            <a:br/>
            <a:br/>
            <a:r>
              <a:rPr>
                <a:latin typeface="Courier"/>
              </a:rPr>
              <a:t>    </a:t>
            </a:r>
            <a:r>
              <a:rPr>
                <a:solidFill>
                  <a:srgbClr val="7D9029"/>
                </a:solidFill>
                <a:latin typeface="Courier"/>
              </a:rPr>
              <a:t>@Override</a:t>
            </a:r>
            <a:br/>
            <a:r>
              <a:rPr>
                <a:latin typeface="Courier"/>
              </a:rPr>
              <a:t>    </a:t>
            </a:r>
            <a:r>
              <a:rPr b="1">
                <a:solidFill>
                  <a:srgbClr val="007020"/>
                </a:solidFill>
                <a:latin typeface="Courier"/>
              </a:rPr>
              <a:t>public</a:t>
            </a:r>
            <a:r>
              <a:rPr>
                <a:latin typeface="Courier"/>
              </a:rPr>
              <a:t> </a:t>
            </a:r>
            <a:r>
              <a:rPr>
                <a:solidFill>
                  <a:srgbClr val="902000"/>
                </a:solidFill>
                <a:latin typeface="Courier"/>
              </a:rPr>
              <a:t>void</a:t>
            </a:r>
            <a:r>
              <a:rPr>
                <a:latin typeface="Courier"/>
              </a:rPr>
              <a:t> </a:t>
            </a:r>
            <a:r>
              <a:rPr>
                <a:solidFill>
                  <a:srgbClr val="06287E"/>
                </a:solidFill>
                <a:latin typeface="Courier"/>
              </a:rPr>
              <a:t>writeData</a:t>
            </a:r>
            <a:r>
              <a:rPr>
                <a:solidFill>
                  <a:srgbClr val="666666"/>
                </a:solidFill>
                <a:latin typeface="Courier"/>
              </a:rPr>
              <a:t>(</a:t>
            </a:r>
            <a:r>
              <a:rPr>
                <a:solidFill>
                  <a:srgbClr val="008000"/>
                </a:solidFill>
                <a:latin typeface="Courier"/>
              </a:rPr>
              <a:t>String</a:t>
            </a:r>
            <a:r>
              <a:rPr>
                <a:latin typeface="Courier"/>
              </a:rPr>
              <a:t> data</a:t>
            </a:r>
            <a:r>
              <a:rPr>
                <a:solidFill>
                  <a:srgbClr val="666666"/>
                </a:solidFill>
                <a:latin typeface="Courier"/>
              </a:rPr>
              <a:t>)</a:t>
            </a:r>
            <a:r>
              <a:rPr>
                <a:latin typeface="Courier"/>
              </a:rPr>
              <a:t> </a:t>
            </a:r>
            <a:r>
              <a:rPr>
                <a:solidFill>
                  <a:srgbClr val="666666"/>
                </a:solidFill>
                <a:latin typeface="Courier"/>
              </a:rPr>
              <a:t>{</a:t>
            </a:r>
            <a:br/>
            <a:r>
              <a:rPr>
                <a:latin typeface="Courier"/>
              </a:rPr>
              <a:t>        </a:t>
            </a:r>
            <a:r>
              <a:rPr i="1">
                <a:solidFill>
                  <a:srgbClr val="60A0B0"/>
                </a:solidFill>
                <a:latin typeface="Courier"/>
              </a:rPr>
              <a:t>// Compress data before writing</a:t>
            </a:r>
            <a:br/>
            <a:r>
              <a:rPr>
                <a:latin typeface="Courier"/>
              </a:rPr>
              <a:t>        </a:t>
            </a:r>
            <a:r>
              <a:rPr>
                <a:solidFill>
                  <a:srgbClr val="008000"/>
                </a:solidFill>
                <a:latin typeface="Courier"/>
              </a:rPr>
              <a:t>String</a:t>
            </a:r>
            <a:r>
              <a:rPr>
                <a:latin typeface="Courier"/>
              </a:rPr>
              <a:t> compressed </a:t>
            </a:r>
            <a:r>
              <a:rPr>
                <a:solidFill>
                  <a:srgbClr val="666666"/>
                </a:solidFill>
                <a:latin typeface="Courier"/>
              </a:rPr>
              <a:t>=</a:t>
            </a:r>
            <a:r>
              <a:rPr>
                <a:latin typeface="Courier"/>
              </a:rPr>
              <a:t> </a:t>
            </a:r>
            <a:r>
              <a:rPr>
                <a:solidFill>
                  <a:srgbClr val="06287E"/>
                </a:solidFill>
                <a:latin typeface="Courier"/>
              </a:rPr>
              <a:t>compress</a:t>
            </a:r>
            <a:r>
              <a:rPr>
                <a:solidFill>
                  <a:srgbClr val="666666"/>
                </a:solidFill>
                <a:latin typeface="Courier"/>
              </a:rPr>
              <a:t>(</a:t>
            </a:r>
            <a:r>
              <a:rPr>
                <a:latin typeface="Courier"/>
              </a:rPr>
              <a:t>data</a:t>
            </a:r>
            <a:r>
              <a:rPr>
                <a:solidFill>
                  <a:srgbClr val="666666"/>
                </a:solidFill>
                <a:latin typeface="Courier"/>
              </a:rPr>
              <a:t>);</a:t>
            </a:r>
            <a:br/>
            <a:r>
              <a:rPr>
                <a:latin typeface="Courier"/>
              </a:rPr>
              <a:t>        </a:t>
            </a:r>
            <a:r>
              <a:rPr b="1">
                <a:solidFill>
                  <a:srgbClr val="007020"/>
                </a:solidFill>
                <a:latin typeface="Courier"/>
              </a:rPr>
              <a:t>super</a:t>
            </a:r>
            <a:r>
              <a:rPr>
                <a:solidFill>
                  <a:srgbClr val="666666"/>
                </a:solidFill>
                <a:latin typeface="Courier"/>
              </a:rPr>
              <a:t>.</a:t>
            </a:r>
            <a:r>
              <a:rPr>
                <a:solidFill>
                  <a:srgbClr val="06287E"/>
                </a:solidFill>
                <a:latin typeface="Courier"/>
              </a:rPr>
              <a:t>writeData</a:t>
            </a:r>
            <a:r>
              <a:rPr>
                <a:solidFill>
                  <a:srgbClr val="666666"/>
                </a:solidFill>
                <a:latin typeface="Courier"/>
              </a:rPr>
              <a:t>(</a:t>
            </a:r>
            <a:r>
              <a:rPr>
                <a:latin typeface="Courier"/>
              </a:rPr>
              <a:t>compressed</a:t>
            </a:r>
            <a:r>
              <a:rPr>
                <a:solidFill>
                  <a:srgbClr val="666666"/>
                </a:solidFill>
                <a:latin typeface="Courier"/>
              </a:rPr>
              <a:t>);</a:t>
            </a:r>
            <a:br/>
            <a:r>
              <a:rPr>
                <a:latin typeface="Courier"/>
              </a:rPr>
              <a:t>    </a:t>
            </a:r>
            <a:r>
              <a:rPr>
                <a:solidFill>
                  <a:srgbClr val="666666"/>
                </a:solidFill>
                <a:latin typeface="Courier"/>
              </a:rPr>
              <a:t>}</a:t>
            </a:r>
            <a:br/>
            <a:br/>
            <a:r>
              <a:rPr>
                <a:latin typeface="Courier"/>
              </a:rPr>
              <a:t>    </a:t>
            </a:r>
            <a:r>
              <a:rPr>
                <a:solidFill>
                  <a:srgbClr val="7D9029"/>
                </a:solidFill>
                <a:latin typeface="Courier"/>
              </a:rPr>
              <a:t>@Override</a:t>
            </a:r>
            <a:br/>
            <a:r>
              <a:rPr>
                <a:latin typeface="Courier"/>
              </a:rPr>
              <a:t>    </a:t>
            </a:r>
            <a:r>
              <a:rPr b="1">
                <a:solidFill>
                  <a:srgbClr val="007020"/>
                </a:solidFill>
                <a:latin typeface="Courier"/>
              </a:rPr>
              <a:t>public</a:t>
            </a:r>
            <a:r>
              <a:rPr>
                <a:latin typeface="Courier"/>
              </a:rPr>
              <a:t> </a:t>
            </a:r>
            <a:r>
              <a:rPr>
                <a:solidFill>
                  <a:srgbClr val="008000"/>
                </a:solidFill>
                <a:latin typeface="Courier"/>
              </a:rPr>
              <a:t>String</a:t>
            </a:r>
            <a:r>
              <a:rPr>
                <a:latin typeface="Courier"/>
              </a:rPr>
              <a:t> </a:t>
            </a:r>
            <a:r>
              <a:rPr>
                <a:solidFill>
                  <a:srgbClr val="06287E"/>
                </a:solidFill>
                <a:latin typeface="Courier"/>
              </a:rPr>
              <a:t>readData</a:t>
            </a:r>
            <a:r>
              <a:rPr>
                <a:solidFill>
                  <a:srgbClr val="666666"/>
                </a:solidFill>
                <a:latin typeface="Courier"/>
              </a:rPr>
              <a:t>()</a:t>
            </a:r>
            <a:r>
              <a:rPr>
                <a:latin typeface="Courier"/>
              </a:rPr>
              <a:t> </a:t>
            </a:r>
            <a:r>
              <a:rPr>
                <a:solidFill>
                  <a:srgbClr val="666666"/>
                </a:solidFill>
                <a:latin typeface="Courier"/>
              </a:rPr>
              <a:t>{</a:t>
            </a:r>
            <a:br/>
            <a:r>
              <a:rPr>
                <a:latin typeface="Courier"/>
              </a:rPr>
              <a:t>        </a:t>
            </a:r>
            <a:r>
              <a:rPr i="1">
                <a:solidFill>
                  <a:srgbClr val="60A0B0"/>
                </a:solidFill>
                <a:latin typeface="Courier"/>
              </a:rPr>
              <a:t>// Decompress data after reading</a:t>
            </a:r>
            <a:br/>
            <a:r>
              <a:rPr>
                <a:latin typeface="Courier"/>
              </a:rPr>
              <a:t>        </a:t>
            </a:r>
            <a:r>
              <a:rPr>
                <a:solidFill>
                  <a:srgbClr val="008000"/>
                </a:solidFill>
                <a:latin typeface="Courier"/>
              </a:rPr>
              <a:t>String</a:t>
            </a:r>
            <a:r>
              <a:rPr>
                <a:latin typeface="Courier"/>
              </a:rPr>
              <a:t> data </a:t>
            </a:r>
            <a:r>
              <a:rPr>
                <a:solidFill>
                  <a:srgbClr val="666666"/>
                </a:solidFill>
                <a:latin typeface="Courier"/>
              </a:rPr>
              <a:t>=</a:t>
            </a:r>
            <a:r>
              <a:rPr>
                <a:latin typeface="Courier"/>
              </a:rPr>
              <a:t> </a:t>
            </a:r>
            <a:r>
              <a:rPr b="1">
                <a:solidFill>
                  <a:srgbClr val="007020"/>
                </a:solidFill>
                <a:latin typeface="Courier"/>
              </a:rPr>
              <a:t>super</a:t>
            </a:r>
            <a:r>
              <a:rPr>
                <a:solidFill>
                  <a:srgbClr val="666666"/>
                </a:solidFill>
                <a:latin typeface="Courier"/>
              </a:rPr>
              <a:t>.</a:t>
            </a:r>
            <a:r>
              <a:rPr>
                <a:solidFill>
                  <a:srgbClr val="06287E"/>
                </a:solidFill>
                <a:latin typeface="Courier"/>
              </a:rPr>
              <a:t>readData</a:t>
            </a:r>
            <a:r>
              <a:rPr>
                <a:solidFill>
                  <a:srgbClr val="666666"/>
                </a:solidFill>
                <a:latin typeface="Courier"/>
              </a:rPr>
              <a:t>();</a:t>
            </a:r>
            <a:br/>
            <a:r>
              <a:rPr>
                <a:latin typeface="Courier"/>
              </a:rPr>
              <a:t>        </a:t>
            </a:r>
            <a:r>
              <a:rPr b="1">
                <a:solidFill>
                  <a:srgbClr val="007020"/>
                </a:solidFill>
                <a:latin typeface="Courier"/>
              </a:rPr>
              <a:t>return</a:t>
            </a:r>
            <a:r>
              <a:rPr>
                <a:latin typeface="Courier"/>
              </a:rPr>
              <a:t> </a:t>
            </a:r>
            <a:r>
              <a:rPr>
                <a:solidFill>
                  <a:srgbClr val="06287E"/>
                </a:solidFill>
                <a:latin typeface="Courier"/>
              </a:rPr>
              <a:t>decompress</a:t>
            </a:r>
            <a:r>
              <a:rPr>
                <a:solidFill>
                  <a:srgbClr val="666666"/>
                </a:solidFill>
                <a:latin typeface="Courier"/>
              </a:rPr>
              <a:t>(</a:t>
            </a:r>
            <a:r>
              <a:rPr>
                <a:latin typeface="Courier"/>
              </a:rPr>
              <a:t>data</a:t>
            </a:r>
            <a:r>
              <a:rPr>
                <a:solidFill>
                  <a:srgbClr val="666666"/>
                </a:solidFill>
                <a:latin typeface="Courier"/>
              </a:rPr>
              <a:t>);</a:t>
            </a:r>
            <a:br/>
            <a:r>
              <a:rPr>
                <a:latin typeface="Courier"/>
              </a:rPr>
              <a:t>    </a:t>
            </a:r>
            <a:r>
              <a:rPr>
                <a:solidFill>
                  <a:srgbClr val="666666"/>
                </a:solidFill>
                <a:latin typeface="Courier"/>
              </a:rPr>
              <a:t>}</a:t>
            </a:r>
            <a:br/>
            <a:br/>
            <a:r>
              <a:rPr>
                <a:latin typeface="Courier"/>
              </a:rPr>
              <a:t>    </a:t>
            </a:r>
            <a:r>
              <a:rPr b="1">
                <a:solidFill>
                  <a:srgbClr val="007020"/>
                </a:solidFill>
                <a:latin typeface="Courier"/>
              </a:rPr>
              <a:t>private</a:t>
            </a:r>
            <a:r>
              <a:rPr>
                <a:latin typeface="Courier"/>
              </a:rPr>
              <a:t> </a:t>
            </a:r>
            <a:r>
              <a:rPr>
                <a:solidFill>
                  <a:srgbClr val="008000"/>
                </a:solidFill>
                <a:latin typeface="Courier"/>
              </a:rPr>
              <a:t>String</a:t>
            </a:r>
            <a:r>
              <a:rPr>
                <a:latin typeface="Courier"/>
              </a:rPr>
              <a:t> </a:t>
            </a:r>
            <a:r>
              <a:rPr>
                <a:solidFill>
                  <a:srgbClr val="06287E"/>
                </a:solidFill>
                <a:latin typeface="Courier"/>
              </a:rPr>
              <a:t>compress</a:t>
            </a:r>
            <a:r>
              <a:rPr>
                <a:solidFill>
                  <a:srgbClr val="666666"/>
                </a:solidFill>
                <a:latin typeface="Courier"/>
              </a:rPr>
              <a:t>(</a:t>
            </a:r>
            <a:r>
              <a:rPr>
                <a:solidFill>
                  <a:srgbClr val="008000"/>
                </a:solidFill>
                <a:latin typeface="Courier"/>
              </a:rPr>
              <a:t>String</a:t>
            </a:r>
            <a:r>
              <a:rPr>
                <a:latin typeface="Courier"/>
              </a:rPr>
              <a:t> data</a:t>
            </a:r>
            <a:r>
              <a:rPr>
                <a:solidFill>
                  <a:srgbClr val="666666"/>
                </a:solidFill>
                <a:latin typeface="Courier"/>
              </a:rPr>
              <a:t>)</a:t>
            </a:r>
            <a:r>
              <a:rPr>
                <a:latin typeface="Courier"/>
              </a:rPr>
              <a:t> </a:t>
            </a:r>
            <a:r>
              <a:rPr>
                <a:solidFill>
                  <a:srgbClr val="666666"/>
                </a:solidFill>
                <a:latin typeface="Courier"/>
              </a:rPr>
              <a:t>{</a:t>
            </a:r>
            <a:br/>
            <a:r>
              <a:rPr>
                <a:latin typeface="Courier"/>
              </a:rPr>
              <a:t>        </a:t>
            </a:r>
            <a:r>
              <a:rPr i="1">
                <a:solidFill>
                  <a:srgbClr val="60A0B0"/>
                </a:solidFill>
                <a:latin typeface="Courier"/>
              </a:rPr>
              <a:t>// Compression logic here</a:t>
            </a:r>
            <a:br/>
            <a:r>
              <a:rPr>
                <a:latin typeface="Courier"/>
              </a:rPr>
              <a:t>        </a:t>
            </a:r>
            <a:r>
              <a:rPr b="1">
                <a:solidFill>
                  <a:srgbClr val="007020"/>
                </a:solidFill>
                <a:latin typeface="Courier"/>
              </a:rPr>
              <a:t>return</a:t>
            </a:r>
            <a:r>
              <a:rPr>
                <a:latin typeface="Courier"/>
              </a:rPr>
              <a:t> data</a:t>
            </a:r>
            <a:r>
              <a:rPr>
                <a:solidFill>
                  <a:srgbClr val="666666"/>
                </a:solidFill>
                <a:latin typeface="Courier"/>
              </a:rPr>
              <a:t>;</a:t>
            </a:r>
            <a:r>
              <a:rPr>
                <a:latin typeface="Courier"/>
              </a:rPr>
              <a:t> </a:t>
            </a:r>
            <a:r>
              <a:rPr i="1">
                <a:solidFill>
                  <a:srgbClr val="60A0B0"/>
                </a:solidFill>
                <a:latin typeface="Courier"/>
              </a:rPr>
              <a:t>// Simplified</a:t>
            </a:r>
            <a:br/>
            <a:r>
              <a:rPr>
                <a:latin typeface="Courier"/>
              </a:rPr>
              <a:t>    </a:t>
            </a:r>
            <a:r>
              <a:rPr>
                <a:solidFill>
                  <a:srgbClr val="666666"/>
                </a:solidFill>
                <a:latin typeface="Courier"/>
              </a:rPr>
              <a:t>}</a:t>
            </a:r>
            <a:br/>
            <a:br/>
            <a:r>
              <a:rPr>
                <a:latin typeface="Courier"/>
              </a:rPr>
              <a:t>    </a:t>
            </a:r>
            <a:r>
              <a:rPr b="1">
                <a:solidFill>
                  <a:srgbClr val="007020"/>
                </a:solidFill>
                <a:latin typeface="Courier"/>
              </a:rPr>
              <a:t>private</a:t>
            </a:r>
            <a:r>
              <a:rPr>
                <a:latin typeface="Courier"/>
              </a:rPr>
              <a:t> </a:t>
            </a:r>
            <a:r>
              <a:rPr>
                <a:solidFill>
                  <a:srgbClr val="008000"/>
                </a:solidFill>
                <a:latin typeface="Courier"/>
              </a:rPr>
              <a:t>String</a:t>
            </a:r>
            <a:r>
              <a:rPr>
                <a:latin typeface="Courier"/>
              </a:rPr>
              <a:t> </a:t>
            </a:r>
            <a:r>
              <a:rPr>
                <a:solidFill>
                  <a:srgbClr val="06287E"/>
                </a:solidFill>
                <a:latin typeface="Courier"/>
              </a:rPr>
              <a:t>decompress</a:t>
            </a:r>
            <a:r>
              <a:rPr>
                <a:solidFill>
                  <a:srgbClr val="666666"/>
                </a:solidFill>
                <a:latin typeface="Courier"/>
              </a:rPr>
              <a:t>(</a:t>
            </a:r>
            <a:r>
              <a:rPr>
                <a:solidFill>
                  <a:srgbClr val="008000"/>
                </a:solidFill>
                <a:latin typeface="Courier"/>
              </a:rPr>
              <a:t>String</a:t>
            </a:r>
            <a:r>
              <a:rPr>
                <a:latin typeface="Courier"/>
              </a:rPr>
              <a:t> data</a:t>
            </a:r>
            <a:r>
              <a:rPr>
                <a:solidFill>
                  <a:srgbClr val="666666"/>
                </a:solidFill>
                <a:latin typeface="Courier"/>
              </a:rPr>
              <a:t>)</a:t>
            </a:r>
            <a:r>
              <a:rPr>
                <a:latin typeface="Courier"/>
              </a:rPr>
              <a:t> </a:t>
            </a:r>
            <a:r>
              <a:rPr>
                <a:solidFill>
                  <a:srgbClr val="666666"/>
                </a:solidFill>
                <a:latin typeface="Courier"/>
              </a:rPr>
              <a:t>{</a:t>
            </a:r>
            <a:br/>
            <a:r>
              <a:rPr>
                <a:latin typeface="Courier"/>
              </a:rPr>
              <a:t>        </a:t>
            </a:r>
            <a:r>
              <a:rPr i="1">
                <a:solidFill>
                  <a:srgbClr val="60A0B0"/>
                </a:solidFill>
                <a:latin typeface="Courier"/>
              </a:rPr>
              <a:t>// Decompression logic here</a:t>
            </a:r>
            <a:br/>
            <a:r>
              <a:rPr>
                <a:latin typeface="Courier"/>
              </a:rPr>
              <a:t>        </a:t>
            </a:r>
            <a:r>
              <a:rPr b="1">
                <a:solidFill>
                  <a:srgbClr val="007020"/>
                </a:solidFill>
                <a:latin typeface="Courier"/>
              </a:rPr>
              <a:t>return</a:t>
            </a:r>
            <a:r>
              <a:rPr>
                <a:latin typeface="Courier"/>
              </a:rPr>
              <a:t> data</a:t>
            </a:r>
            <a:r>
              <a:rPr>
                <a:solidFill>
                  <a:srgbClr val="666666"/>
                </a:solidFill>
                <a:latin typeface="Courier"/>
              </a:rPr>
              <a:t>;</a:t>
            </a:r>
            <a:r>
              <a:rPr>
                <a:latin typeface="Courier"/>
              </a:rPr>
              <a:t> </a:t>
            </a:r>
            <a:r>
              <a:rPr i="1">
                <a:solidFill>
                  <a:srgbClr val="60A0B0"/>
                </a:solidFill>
                <a:latin typeface="Courier"/>
              </a:rPr>
              <a:t>// Simplified</a:t>
            </a:r>
            <a:br/>
            <a:r>
              <a:rPr>
                <a:latin typeface="Courier"/>
              </a:rPr>
              <a:t>    </a:t>
            </a:r>
            <a:r>
              <a:rPr>
                <a:solidFill>
                  <a:srgbClr val="666666"/>
                </a:solidFill>
                <a:latin typeface="Courier"/>
              </a:rPr>
              <a:t>}</a:t>
            </a:r>
            <a:br/>
            <a:r>
              <a:rPr>
                <a:solidFill>
                  <a:srgbClr val="666666"/>
                </a:solidFill>
                <a:latin typeface="Courier"/>
              </a:rPr>
              <a:t>}</a:t>
            </a:r>
          </a:p>
        </p:txBody>
      </p:sp>
    </p:spTree>
  </p:cSld>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Decorator: Java Code Example - Client</a:t>
            </a:r>
          </a:p>
        </p:txBody>
      </p:sp>
      <p:sp>
        <p:nvSpPr>
          <p:cNvPr id="3" name="Content Placeholder 2"/>
          <p:cNvSpPr>
            <a:spLocks noGrp="1"/>
          </p:cNvSpPr>
          <p:nvPr>
            <p:ph idx="1"/>
          </p:nvPr>
        </p:nvSpPr>
        <p:spPr/>
        <p:txBody>
          <a:bodyPr/>
          <a:lstStyle/>
          <a:p>
            <a:pPr lvl="0" indent="0">
              <a:buNone/>
            </a:pPr>
            <a:r>
              <a:rPr b="1">
                <a:solidFill>
                  <a:srgbClr val="007020"/>
                </a:solidFill>
                <a:latin typeface="Courier"/>
              </a:rPr>
              <a:t>public</a:t>
            </a:r>
            <a:r>
              <a:rPr>
                <a:latin typeface="Courier"/>
              </a:rPr>
              <a:t> </a:t>
            </a:r>
            <a:r>
              <a:rPr b="1">
                <a:solidFill>
                  <a:srgbClr val="007020"/>
                </a:solidFill>
                <a:latin typeface="Courier"/>
              </a:rPr>
              <a:t>class</a:t>
            </a:r>
            <a:r>
              <a:rPr>
                <a:latin typeface="Courier"/>
              </a:rPr>
              <a:t> DecoratorDemo </a:t>
            </a:r>
            <a:r>
              <a:rPr>
                <a:solidFill>
                  <a:srgbClr val="666666"/>
                </a:solidFill>
                <a:latin typeface="Courier"/>
              </a:rPr>
              <a:t>{</a:t>
            </a:r>
            <a:br/>
            <a:r>
              <a:rPr>
                <a:latin typeface="Courier"/>
              </a:rPr>
              <a:t>    </a:t>
            </a:r>
            <a:r>
              <a:rPr b="1">
                <a:solidFill>
                  <a:srgbClr val="007020"/>
                </a:solidFill>
                <a:latin typeface="Courier"/>
              </a:rPr>
              <a:t>public</a:t>
            </a:r>
            <a:r>
              <a:rPr>
                <a:latin typeface="Courier"/>
              </a:rPr>
              <a:t> </a:t>
            </a:r>
            <a:r>
              <a:rPr>
                <a:solidFill>
                  <a:srgbClr val="902000"/>
                </a:solidFill>
                <a:latin typeface="Courier"/>
              </a:rPr>
              <a:t>static</a:t>
            </a:r>
            <a:r>
              <a:rPr>
                <a:latin typeface="Courier"/>
              </a:rPr>
              <a:t> </a:t>
            </a:r>
            <a:r>
              <a:rPr>
                <a:solidFill>
                  <a:srgbClr val="902000"/>
                </a:solidFill>
                <a:latin typeface="Courier"/>
              </a:rPr>
              <a:t>void</a:t>
            </a:r>
            <a:r>
              <a:rPr>
                <a:latin typeface="Courier"/>
              </a:rPr>
              <a:t> </a:t>
            </a:r>
            <a:r>
              <a:rPr>
                <a:solidFill>
                  <a:srgbClr val="06287E"/>
                </a:solidFill>
                <a:latin typeface="Courier"/>
              </a:rPr>
              <a:t>main</a:t>
            </a:r>
            <a:r>
              <a:rPr>
                <a:solidFill>
                  <a:srgbClr val="666666"/>
                </a:solidFill>
                <a:latin typeface="Courier"/>
              </a:rPr>
              <a:t>(</a:t>
            </a:r>
            <a:r>
              <a:rPr>
                <a:solidFill>
                  <a:srgbClr val="008000"/>
                </a:solidFill>
                <a:latin typeface="Courier"/>
              </a:rPr>
              <a:t>String</a:t>
            </a:r>
            <a:r>
              <a:rPr>
                <a:solidFill>
                  <a:srgbClr val="666666"/>
                </a:solidFill>
                <a:latin typeface="Courier"/>
              </a:rPr>
              <a:t>[]</a:t>
            </a:r>
            <a:r>
              <a:rPr>
                <a:latin typeface="Courier"/>
              </a:rPr>
              <a:t> args</a:t>
            </a:r>
            <a:r>
              <a:rPr>
                <a:solidFill>
                  <a:srgbClr val="666666"/>
                </a:solidFill>
                <a:latin typeface="Courier"/>
              </a:rPr>
              <a:t>)</a:t>
            </a:r>
            <a:r>
              <a:rPr>
                <a:latin typeface="Courier"/>
              </a:rPr>
              <a:t> </a:t>
            </a:r>
            <a:r>
              <a:rPr>
                <a:solidFill>
                  <a:srgbClr val="666666"/>
                </a:solidFill>
                <a:latin typeface="Courier"/>
              </a:rPr>
              <a:t>{</a:t>
            </a:r>
            <a:br/>
            <a:r>
              <a:rPr>
                <a:latin typeface="Courier"/>
              </a:rPr>
              <a:t>        </a:t>
            </a:r>
            <a:r>
              <a:rPr>
                <a:solidFill>
                  <a:srgbClr val="008000"/>
                </a:solidFill>
                <a:latin typeface="Courier"/>
              </a:rPr>
              <a:t>String</a:t>
            </a:r>
            <a:r>
              <a:rPr>
                <a:latin typeface="Courier"/>
              </a:rPr>
              <a:t> salaryRecords </a:t>
            </a:r>
            <a:r>
              <a:rPr>
                <a:solidFill>
                  <a:srgbClr val="666666"/>
                </a:solidFill>
                <a:latin typeface="Courier"/>
              </a:rPr>
              <a:t>=</a:t>
            </a:r>
            <a:br/>
            <a:r>
              <a:rPr>
                <a:latin typeface="Courier"/>
              </a:rPr>
              <a:t>            </a:t>
            </a:r>
            <a:r>
              <a:rPr>
                <a:solidFill>
                  <a:srgbClr val="4070A0"/>
                </a:solidFill>
                <a:latin typeface="Courier"/>
              </a:rPr>
              <a:t>"Name,Salary\nJohn Smith,100000\nSteven Jobs,912000"</a:t>
            </a:r>
            <a:r>
              <a:rPr>
                <a:solidFill>
                  <a:srgbClr val="666666"/>
                </a:solidFill>
                <a:latin typeface="Courier"/>
              </a:rPr>
              <a:t>;</a:t>
            </a:r>
            <a:br/>
            <a:br/>
            <a:r>
              <a:rPr>
                <a:latin typeface="Courier"/>
              </a:rPr>
              <a:t>        </a:t>
            </a:r>
            <a:r>
              <a:rPr i="1">
                <a:solidFill>
                  <a:srgbClr val="60A0B0"/>
                </a:solidFill>
                <a:latin typeface="Courier"/>
              </a:rPr>
              <a:t>// Simple writing without any decorators</a:t>
            </a:r>
            <a:br/>
            <a:r>
              <a:rPr>
                <a:latin typeface="Courier"/>
              </a:rPr>
              <a:t>        </a:t>
            </a:r>
            <a:r>
              <a:rPr>
                <a:solidFill>
                  <a:srgbClr val="008000"/>
                </a:solidFill>
                <a:latin typeface="Courier"/>
              </a:rPr>
              <a:t>DataSource</a:t>
            </a:r>
            <a:r>
              <a:rPr>
                <a:latin typeface="Courier"/>
              </a:rPr>
              <a:t> source </a:t>
            </a:r>
            <a:r>
              <a:rPr>
                <a:solidFill>
                  <a:srgbClr val="666666"/>
                </a:solidFill>
                <a:latin typeface="Courier"/>
              </a:rPr>
              <a:t>=</a:t>
            </a:r>
            <a:r>
              <a:rPr>
                <a:latin typeface="Courier"/>
              </a:rPr>
              <a:t> </a:t>
            </a:r>
            <a:r>
              <a:rPr b="1">
                <a:solidFill>
                  <a:srgbClr val="007020"/>
                </a:solidFill>
                <a:latin typeface="Courier"/>
              </a:rPr>
              <a:t>new</a:t>
            </a:r>
            <a:r>
              <a:rPr>
                <a:latin typeface="Courier"/>
              </a:rPr>
              <a:t> </a:t>
            </a:r>
            <a:r>
              <a:rPr>
                <a:solidFill>
                  <a:srgbClr val="008000"/>
                </a:solidFill>
                <a:latin typeface="Courier"/>
              </a:rPr>
              <a:t>FileDataSource</a:t>
            </a:r>
            <a:r>
              <a:rPr>
                <a:solidFill>
                  <a:srgbClr val="666666"/>
                </a:solidFill>
                <a:latin typeface="Courier"/>
              </a:rPr>
              <a:t>(</a:t>
            </a:r>
            <a:r>
              <a:rPr>
                <a:solidFill>
                  <a:srgbClr val="4070A0"/>
                </a:solidFill>
                <a:latin typeface="Courier"/>
              </a:rPr>
              <a:t>"output.txt"</a:t>
            </a:r>
            <a:r>
              <a:rPr>
                <a:solidFill>
                  <a:srgbClr val="666666"/>
                </a:solidFill>
                <a:latin typeface="Courier"/>
              </a:rPr>
              <a:t>);</a:t>
            </a:r>
            <a:br/>
            <a:r>
              <a:rPr>
                <a:latin typeface="Courier"/>
              </a:rPr>
              <a:t>        source</a:t>
            </a:r>
            <a:r>
              <a:rPr>
                <a:solidFill>
                  <a:srgbClr val="666666"/>
                </a:solidFill>
                <a:latin typeface="Courier"/>
              </a:rPr>
              <a:t>.</a:t>
            </a:r>
            <a:r>
              <a:rPr>
                <a:solidFill>
                  <a:srgbClr val="06287E"/>
                </a:solidFill>
                <a:latin typeface="Courier"/>
              </a:rPr>
              <a:t>writeData</a:t>
            </a:r>
            <a:r>
              <a:rPr>
                <a:solidFill>
                  <a:srgbClr val="666666"/>
                </a:solidFill>
                <a:latin typeface="Courier"/>
              </a:rPr>
              <a:t>(</a:t>
            </a:r>
            <a:r>
              <a:rPr>
                <a:latin typeface="Courier"/>
              </a:rPr>
              <a:t>salaryRecords</a:t>
            </a:r>
            <a:r>
              <a:rPr>
                <a:solidFill>
                  <a:srgbClr val="666666"/>
                </a:solidFill>
                <a:latin typeface="Courier"/>
              </a:rPr>
              <a:t>);</a:t>
            </a:r>
            <a:br/>
            <a:br/>
            <a:r>
              <a:rPr>
                <a:latin typeface="Courier"/>
              </a:rPr>
              <a:t>        </a:t>
            </a:r>
            <a:r>
              <a:rPr i="1">
                <a:solidFill>
                  <a:srgbClr val="60A0B0"/>
                </a:solidFill>
                <a:latin typeface="Courier"/>
              </a:rPr>
              <a:t>// Writing with encryption</a:t>
            </a:r>
            <a:br/>
            <a:r>
              <a:rPr>
                <a:latin typeface="Courier"/>
              </a:rPr>
              <a:t>        </a:t>
            </a:r>
            <a:r>
              <a:rPr>
                <a:solidFill>
                  <a:srgbClr val="008000"/>
                </a:solidFill>
                <a:latin typeface="Courier"/>
              </a:rPr>
              <a:t>DataSource</a:t>
            </a:r>
            <a:r>
              <a:rPr>
                <a:latin typeface="Courier"/>
              </a:rPr>
              <a:t> encrypted </a:t>
            </a:r>
            <a:r>
              <a:rPr>
                <a:solidFill>
                  <a:srgbClr val="666666"/>
                </a:solidFill>
                <a:latin typeface="Courier"/>
              </a:rPr>
              <a:t>=</a:t>
            </a:r>
            <a:r>
              <a:rPr>
                <a:latin typeface="Courier"/>
              </a:rPr>
              <a:t> </a:t>
            </a:r>
            <a:r>
              <a:rPr b="1">
                <a:solidFill>
                  <a:srgbClr val="007020"/>
                </a:solidFill>
                <a:latin typeface="Courier"/>
              </a:rPr>
              <a:t>new</a:t>
            </a:r>
            <a:r>
              <a:rPr>
                <a:latin typeface="Courier"/>
              </a:rPr>
              <a:t> </a:t>
            </a:r>
            <a:r>
              <a:rPr>
                <a:solidFill>
                  <a:srgbClr val="06287E"/>
                </a:solidFill>
                <a:latin typeface="Courier"/>
              </a:rPr>
              <a:t>EncryptionDecorator</a:t>
            </a:r>
            <a:r>
              <a:rPr>
                <a:solidFill>
                  <a:srgbClr val="666666"/>
                </a:solidFill>
                <a:latin typeface="Courier"/>
              </a:rPr>
              <a:t>(</a:t>
            </a:r>
            <a:br/>
            <a:r>
              <a:rPr>
                <a:latin typeface="Courier"/>
              </a:rPr>
              <a:t>            </a:t>
            </a:r>
            <a:r>
              <a:rPr b="1">
                <a:solidFill>
                  <a:srgbClr val="007020"/>
                </a:solidFill>
                <a:latin typeface="Courier"/>
              </a:rPr>
              <a:t>new</a:t>
            </a:r>
            <a:r>
              <a:rPr>
                <a:latin typeface="Courier"/>
              </a:rPr>
              <a:t> </a:t>
            </a:r>
            <a:r>
              <a:rPr>
                <a:solidFill>
                  <a:srgbClr val="008000"/>
                </a:solidFill>
                <a:latin typeface="Courier"/>
              </a:rPr>
              <a:t>FileDataSource</a:t>
            </a:r>
            <a:r>
              <a:rPr>
                <a:solidFill>
                  <a:srgbClr val="666666"/>
                </a:solidFill>
                <a:latin typeface="Courier"/>
              </a:rPr>
              <a:t>(</a:t>
            </a:r>
            <a:r>
              <a:rPr>
                <a:solidFill>
                  <a:srgbClr val="4070A0"/>
                </a:solidFill>
                <a:latin typeface="Courier"/>
              </a:rPr>
              <a:t>"encrypted.txt"</a:t>
            </a:r>
            <a:r>
              <a:rPr>
                <a:solidFill>
                  <a:srgbClr val="666666"/>
                </a:solidFill>
                <a:latin typeface="Courier"/>
              </a:rPr>
              <a:t>));</a:t>
            </a:r>
            <a:br/>
            <a:r>
              <a:rPr>
                <a:latin typeface="Courier"/>
              </a:rPr>
              <a:t>        encrypted</a:t>
            </a:r>
            <a:r>
              <a:rPr>
                <a:solidFill>
                  <a:srgbClr val="666666"/>
                </a:solidFill>
                <a:latin typeface="Courier"/>
              </a:rPr>
              <a:t>.</a:t>
            </a:r>
            <a:r>
              <a:rPr>
                <a:solidFill>
                  <a:srgbClr val="06287E"/>
                </a:solidFill>
                <a:latin typeface="Courier"/>
              </a:rPr>
              <a:t>writeData</a:t>
            </a:r>
            <a:r>
              <a:rPr>
                <a:solidFill>
                  <a:srgbClr val="666666"/>
                </a:solidFill>
                <a:latin typeface="Courier"/>
              </a:rPr>
              <a:t>(</a:t>
            </a:r>
            <a:r>
              <a:rPr>
                <a:latin typeface="Courier"/>
              </a:rPr>
              <a:t>salaryRecords</a:t>
            </a:r>
            <a:r>
              <a:rPr>
                <a:solidFill>
                  <a:srgbClr val="666666"/>
                </a:solidFill>
                <a:latin typeface="Courier"/>
              </a:rPr>
              <a:t>);</a:t>
            </a:r>
            <a:br/>
            <a:br/>
            <a:r>
              <a:rPr>
                <a:latin typeface="Courier"/>
              </a:rPr>
              <a:t>        </a:t>
            </a:r>
            <a:r>
              <a:rPr i="1">
                <a:solidFill>
                  <a:srgbClr val="60A0B0"/>
                </a:solidFill>
                <a:latin typeface="Courier"/>
              </a:rPr>
              <a:t>// Writing with compression AND encryption</a:t>
            </a:r>
            <a:br/>
            <a:r>
              <a:rPr>
                <a:latin typeface="Courier"/>
              </a:rPr>
              <a:t>        </a:t>
            </a:r>
            <a:r>
              <a:rPr i="1">
                <a:solidFill>
                  <a:srgbClr val="60A0B0"/>
                </a:solidFill>
                <a:latin typeface="Courier"/>
              </a:rPr>
              <a:t>// Note how decorators are stacked</a:t>
            </a:r>
            <a:br/>
            <a:r>
              <a:rPr>
                <a:latin typeface="Courier"/>
              </a:rPr>
              <a:t>        </a:t>
            </a:r>
            <a:r>
              <a:rPr>
                <a:solidFill>
                  <a:srgbClr val="008000"/>
                </a:solidFill>
                <a:latin typeface="Courier"/>
              </a:rPr>
              <a:t>DataSource</a:t>
            </a:r>
            <a:r>
              <a:rPr>
                <a:latin typeface="Courier"/>
              </a:rPr>
              <a:t> compressedAndEncrypted </a:t>
            </a:r>
            <a:r>
              <a:rPr>
                <a:solidFill>
                  <a:srgbClr val="666666"/>
                </a:solidFill>
                <a:latin typeface="Courier"/>
              </a:rPr>
              <a:t>=</a:t>
            </a:r>
            <a:br/>
            <a:r>
              <a:rPr>
                <a:latin typeface="Courier"/>
              </a:rPr>
              <a:t>            </a:t>
            </a:r>
            <a:r>
              <a:rPr b="1">
                <a:solidFill>
                  <a:srgbClr val="007020"/>
                </a:solidFill>
                <a:latin typeface="Courier"/>
              </a:rPr>
              <a:t>new</a:t>
            </a:r>
            <a:r>
              <a:rPr>
                <a:latin typeface="Courier"/>
              </a:rPr>
              <a:t> </a:t>
            </a:r>
            <a:r>
              <a:rPr>
                <a:solidFill>
                  <a:srgbClr val="06287E"/>
                </a:solidFill>
                <a:latin typeface="Courier"/>
              </a:rPr>
              <a:t>EncryptionDecorator</a:t>
            </a:r>
            <a:r>
              <a:rPr>
                <a:solidFill>
                  <a:srgbClr val="666666"/>
                </a:solidFill>
                <a:latin typeface="Courier"/>
              </a:rPr>
              <a:t>(</a:t>
            </a:r>
            <a:br/>
            <a:r>
              <a:rPr>
                <a:latin typeface="Courier"/>
              </a:rPr>
              <a:t>                </a:t>
            </a:r>
            <a:r>
              <a:rPr b="1">
                <a:solidFill>
                  <a:srgbClr val="007020"/>
                </a:solidFill>
                <a:latin typeface="Courier"/>
              </a:rPr>
              <a:t>new</a:t>
            </a:r>
            <a:r>
              <a:rPr>
                <a:latin typeface="Courier"/>
              </a:rPr>
              <a:t> </a:t>
            </a:r>
            <a:r>
              <a:rPr>
                <a:solidFill>
                  <a:srgbClr val="06287E"/>
                </a:solidFill>
                <a:latin typeface="Courier"/>
              </a:rPr>
              <a:t>CompressionDecorator</a:t>
            </a:r>
            <a:r>
              <a:rPr>
                <a:solidFill>
                  <a:srgbClr val="666666"/>
                </a:solidFill>
                <a:latin typeface="Courier"/>
              </a:rPr>
              <a:t>(</a:t>
            </a:r>
            <a:br/>
            <a:r>
              <a:rPr>
                <a:latin typeface="Courier"/>
              </a:rPr>
              <a:t>                    </a:t>
            </a:r>
            <a:r>
              <a:rPr b="1">
                <a:solidFill>
                  <a:srgbClr val="007020"/>
                </a:solidFill>
                <a:latin typeface="Courier"/>
              </a:rPr>
              <a:t>new</a:t>
            </a:r>
            <a:r>
              <a:rPr>
                <a:latin typeface="Courier"/>
              </a:rPr>
              <a:t> </a:t>
            </a:r>
            <a:r>
              <a:rPr>
                <a:solidFill>
                  <a:srgbClr val="008000"/>
                </a:solidFill>
                <a:latin typeface="Courier"/>
              </a:rPr>
              <a:t>FileDataSource</a:t>
            </a:r>
            <a:r>
              <a:rPr>
                <a:solidFill>
                  <a:srgbClr val="666666"/>
                </a:solidFill>
                <a:latin typeface="Courier"/>
              </a:rPr>
              <a:t>(</a:t>
            </a:r>
            <a:r>
              <a:rPr>
                <a:solidFill>
                  <a:srgbClr val="4070A0"/>
                </a:solidFill>
                <a:latin typeface="Courier"/>
              </a:rPr>
              <a:t>"compressed.txt"</a:t>
            </a:r>
            <a:r>
              <a:rPr>
                <a:solidFill>
                  <a:srgbClr val="666666"/>
                </a:solidFill>
                <a:latin typeface="Courier"/>
              </a:rPr>
              <a:t>)));</a:t>
            </a:r>
            <a:br/>
            <a:r>
              <a:rPr>
                <a:latin typeface="Courier"/>
              </a:rPr>
              <a:t>        compressedAndEncrypted</a:t>
            </a:r>
            <a:r>
              <a:rPr>
                <a:solidFill>
                  <a:srgbClr val="666666"/>
                </a:solidFill>
                <a:latin typeface="Courier"/>
              </a:rPr>
              <a:t>.</a:t>
            </a:r>
            <a:r>
              <a:rPr>
                <a:solidFill>
                  <a:srgbClr val="06287E"/>
                </a:solidFill>
                <a:latin typeface="Courier"/>
              </a:rPr>
              <a:t>writeData</a:t>
            </a:r>
            <a:r>
              <a:rPr>
                <a:solidFill>
                  <a:srgbClr val="666666"/>
                </a:solidFill>
                <a:latin typeface="Courier"/>
              </a:rPr>
              <a:t>(</a:t>
            </a:r>
            <a:r>
              <a:rPr>
                <a:latin typeface="Courier"/>
              </a:rPr>
              <a:t>salaryRecords</a:t>
            </a:r>
            <a:r>
              <a:rPr>
                <a:solidFill>
                  <a:srgbClr val="666666"/>
                </a:solidFill>
                <a:latin typeface="Courier"/>
              </a:rPr>
              <a:t>);</a:t>
            </a:r>
            <a:br/>
            <a:br/>
            <a:r>
              <a:rPr>
                <a:latin typeface="Courier"/>
              </a:rPr>
              <a:t>        </a:t>
            </a:r>
            <a:r>
              <a:rPr i="1">
                <a:solidFill>
                  <a:srgbClr val="60A0B0"/>
                </a:solidFill>
                <a:latin typeface="Courier"/>
              </a:rPr>
              <a:t>// Reading decrypts and decompresses automatically</a:t>
            </a:r>
            <a:br/>
            <a:r>
              <a:rPr>
                <a:latin typeface="Courier"/>
              </a:rPr>
              <a:t>        </a:t>
            </a:r>
            <a:r>
              <a:rPr>
                <a:solidFill>
                  <a:srgbClr val="008000"/>
                </a:solidFill>
                <a:latin typeface="Courier"/>
              </a:rPr>
              <a:t>System</a:t>
            </a:r>
            <a:r>
              <a:rPr>
                <a:solidFill>
                  <a:srgbClr val="666666"/>
                </a:solidFill>
                <a:latin typeface="Courier"/>
              </a:rPr>
              <a:t>.</a:t>
            </a:r>
            <a:r>
              <a:rPr>
                <a:solidFill>
                  <a:srgbClr val="06287E"/>
                </a:solidFill>
                <a:latin typeface="Courier"/>
              </a:rPr>
              <a:t>out</a:t>
            </a:r>
            <a:r>
              <a:rPr>
                <a:solidFill>
                  <a:srgbClr val="666666"/>
                </a:solidFill>
                <a:latin typeface="Courier"/>
              </a:rPr>
              <a:t>.</a:t>
            </a:r>
            <a:r>
              <a:rPr>
                <a:solidFill>
                  <a:srgbClr val="06287E"/>
                </a:solidFill>
                <a:latin typeface="Courier"/>
              </a:rPr>
              <a:t>println</a:t>
            </a:r>
            <a:r>
              <a:rPr>
                <a:solidFill>
                  <a:srgbClr val="666666"/>
                </a:solidFill>
                <a:latin typeface="Courier"/>
              </a:rPr>
              <a:t>(</a:t>
            </a:r>
            <a:r>
              <a:rPr>
                <a:latin typeface="Courier"/>
              </a:rPr>
              <a:t>compressedAndEncrypted</a:t>
            </a:r>
            <a:r>
              <a:rPr>
                <a:solidFill>
                  <a:srgbClr val="666666"/>
                </a:solidFill>
                <a:latin typeface="Courier"/>
              </a:rPr>
              <a:t>.</a:t>
            </a:r>
            <a:r>
              <a:rPr>
                <a:solidFill>
                  <a:srgbClr val="06287E"/>
                </a:solidFill>
                <a:latin typeface="Courier"/>
              </a:rPr>
              <a:t>readData</a:t>
            </a:r>
            <a:r>
              <a:rPr>
                <a:solidFill>
                  <a:srgbClr val="666666"/>
                </a:solidFill>
                <a:latin typeface="Courier"/>
              </a:rPr>
              <a:t>());</a:t>
            </a:r>
            <a:br/>
            <a:br/>
            <a:r>
              <a:rPr>
                <a:latin typeface="Courier"/>
              </a:rPr>
              <a:t>        </a:t>
            </a:r>
            <a:r>
              <a:rPr i="1">
                <a:solidFill>
                  <a:srgbClr val="60A0B0"/>
                </a:solidFill>
                <a:latin typeface="Courier"/>
              </a:rPr>
              <a:t>// Expected Output:</a:t>
            </a:r>
            <a:br/>
            <a:r>
              <a:rPr>
                <a:latin typeface="Courier"/>
              </a:rPr>
              <a:t>        </a:t>
            </a:r>
            <a:r>
              <a:rPr i="1">
                <a:solidFill>
                  <a:srgbClr val="60A0B0"/>
                </a:solidFill>
                <a:latin typeface="Courier"/>
              </a:rPr>
              <a:t>// Name,Salary</a:t>
            </a:r>
            <a:br/>
            <a:r>
              <a:rPr>
                <a:latin typeface="Courier"/>
              </a:rPr>
              <a:t>        </a:t>
            </a:r>
            <a:r>
              <a:rPr i="1">
                <a:solidFill>
                  <a:srgbClr val="60A0B0"/>
                </a:solidFill>
                <a:latin typeface="Courier"/>
              </a:rPr>
              <a:t>// John Smith,100000</a:t>
            </a:r>
            <a:br/>
            <a:r>
              <a:rPr>
                <a:latin typeface="Courier"/>
              </a:rPr>
              <a:t>        </a:t>
            </a:r>
            <a:r>
              <a:rPr i="1">
                <a:solidFill>
                  <a:srgbClr val="60A0B0"/>
                </a:solidFill>
                <a:latin typeface="Courier"/>
              </a:rPr>
              <a:t>// Steven Jobs,912000</a:t>
            </a:r>
            <a:br/>
            <a:r>
              <a:rPr>
                <a:latin typeface="Courier"/>
              </a:rPr>
              <a:t>    </a:t>
            </a:r>
            <a:r>
              <a:rPr>
                <a:solidFill>
                  <a:srgbClr val="666666"/>
                </a:solidFill>
                <a:latin typeface="Courier"/>
              </a:rPr>
              <a:t>}</a:t>
            </a:r>
            <a:br/>
            <a:r>
              <a:rPr>
                <a:solidFill>
                  <a:srgbClr val="666666"/>
                </a:solidFill>
                <a:latin typeface="Courier"/>
              </a:rPr>
              <a:t>}</a:t>
            </a:r>
          </a:p>
        </p:txBody>
      </p:sp>
    </p:spTree>
  </p:cSld>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Decorator - Sequence Diagram</a:t>
            </a:r>
          </a:p>
        </p:txBody>
      </p:sp>
      <p:pic>
        <p:nvPicPr>
          <p:cNvPr descr="assets/decorator-sequence.png" id="0" name="Picture 1"/>
          <p:cNvPicPr>
            <a:picLocks noGrp="1" noChangeAspect="1"/>
          </p:cNvPicPr>
          <p:nvPr/>
        </p:nvPicPr>
        <p:blipFill>
          <a:blip r:embed="rId2"/>
          <a:stretch>
            <a:fillRect/>
          </a:stretch>
        </p:blipFill>
        <p:spPr bwMode="auto">
          <a:xfrm>
            <a:off x="4686300" y="203200"/>
            <a:ext cx="2857500" cy="3873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a:t>
            </a:r>
          </a:p>
        </p:txBody>
      </p:sp>
    </p:spTree>
  </p:cSld>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Decorator: Applicability</a:t>
            </a:r>
          </a:p>
        </p:txBody>
      </p:sp>
      <p:sp>
        <p:nvSpPr>
          <p:cNvPr id="3" name="Content Placeholder 2"/>
          <p:cNvSpPr>
            <a:spLocks noGrp="1"/>
          </p:cNvSpPr>
          <p:nvPr>
            <p:ph idx="1"/>
          </p:nvPr>
        </p:nvSpPr>
        <p:spPr/>
        <p:txBody>
          <a:bodyPr/>
          <a:lstStyle/>
          <a:p>
            <a:pPr lvl="0" indent="0" marL="0">
              <a:buNone/>
            </a:pPr>
            <a:r>
              <a:rPr/>
              <a:t>Use the Decorator pattern when:</a:t>
            </a:r>
          </a:p>
          <a:p>
            <a:pPr lvl="0"/>
            <a:r>
              <a:rPr/>
              <a:t>You need to be able to assign </a:t>
            </a:r>
            <a:r>
              <a:rPr b="1"/>
              <a:t>extra behaviors to objects at runtime</a:t>
            </a:r>
            <a:r>
              <a:rPr/>
              <a:t> without breaking the code that uses these objects</a:t>
            </a:r>
          </a:p>
          <a:p>
            <a:pPr lvl="0"/>
            <a:r>
              <a:rPr/>
              <a:t>It is awkward or not possible to extend an object’s behavior using </a:t>
            </a:r>
            <a:r>
              <a:rPr b="1"/>
              <a:t>inheritance</a:t>
            </a:r>
            <a:r>
              <a:rPr/>
              <a:t> (e.g., </a:t>
            </a:r>
            <a:r>
              <a:rPr>
                <a:latin typeface="Courier"/>
              </a:rPr>
              <a:t>final</a:t>
            </a:r>
            <a:r>
              <a:rPr/>
              <a:t> classes)</a:t>
            </a:r>
          </a:p>
          <a:p>
            <a:pPr lvl="0"/>
            <a:r>
              <a:rPr/>
              <a:t>You need to </a:t>
            </a:r>
            <a:r>
              <a:rPr b="1"/>
              <a:t>combine several behaviors</a:t>
            </a:r>
            <a:r>
              <a:rPr/>
              <a:t> by wrapping an object in multiple decorators</a:t>
            </a:r>
          </a:p>
        </p:txBody>
      </p:sp>
    </p:spTree>
  </p:cSld>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Decorator: Applicability (cont.)</a:t>
            </a:r>
          </a:p>
        </p:txBody>
      </p:sp>
      <p:sp>
        <p:nvSpPr>
          <p:cNvPr id="3" name="Content Placeholder 2"/>
          <p:cNvSpPr>
            <a:spLocks noGrp="1"/>
          </p:cNvSpPr>
          <p:nvPr>
            <p:ph idx="1"/>
          </p:nvPr>
        </p:nvSpPr>
        <p:spPr/>
        <p:txBody>
          <a:bodyPr/>
          <a:lstStyle/>
          <a:p>
            <a:pPr lvl="0" indent="0" marL="0">
              <a:buNone/>
            </a:pPr>
            <a:r>
              <a:rPr/>
              <a:t>The Decorator lets you structure your business logic into </a:t>
            </a:r>
            <a:r>
              <a:rPr b="1"/>
              <a:t>layers</a:t>
            </a:r>
            <a:r>
              <a:rPr/>
              <a:t>, create a decorator for each layer, and compose objects with various combinations of this logic at runtime. The client code can treat all these objects in the same way, since they all follow a common interface.</a:t>
            </a:r>
          </a:p>
        </p:txBody>
      </p:sp>
    </p:spTree>
  </p:cSld>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Decorator: How to Implement</a:t>
            </a:r>
          </a:p>
        </p:txBody>
      </p:sp>
      <p:sp>
        <p:nvSpPr>
          <p:cNvPr id="3" name="Content Placeholder 2"/>
          <p:cNvSpPr>
            <a:spLocks noGrp="1"/>
          </p:cNvSpPr>
          <p:nvPr>
            <p:ph idx="1"/>
          </p:nvPr>
        </p:nvSpPr>
        <p:spPr/>
        <p:txBody>
          <a:bodyPr/>
          <a:lstStyle/>
          <a:p>
            <a:pPr lvl="0" indent="-342900" marL="342900">
              <a:buAutoNum type="arabicPeriod"/>
            </a:pPr>
            <a:r>
              <a:rPr/>
              <a:t>Make sure your business domain can be represented as a </a:t>
            </a:r>
            <a:r>
              <a:rPr b="1"/>
              <a:t>primary component</a:t>
            </a:r>
            <a:r>
              <a:rPr/>
              <a:t> with multiple optional layers over it</a:t>
            </a:r>
          </a:p>
          <a:p>
            <a:pPr lvl="0" indent="-342900" marL="342900">
              <a:buAutoNum type="arabicPeriod"/>
            </a:pPr>
            <a:r>
              <a:rPr/>
              <a:t>Figure out what methods are common to both the primary component and the optional layers. Create a </a:t>
            </a:r>
            <a:r>
              <a:rPr b="1"/>
              <a:t>component interface</a:t>
            </a:r>
            <a:r>
              <a:rPr/>
              <a:t> and declare those methods there</a:t>
            </a:r>
          </a:p>
          <a:p>
            <a:pPr lvl="0" indent="-342900" marL="342900">
              <a:buAutoNum type="arabicPeriod"/>
            </a:pPr>
            <a:r>
              <a:rPr/>
              <a:t>Create a </a:t>
            </a:r>
            <a:r>
              <a:rPr b="1"/>
              <a:t>concrete component</a:t>
            </a:r>
            <a:r>
              <a:rPr/>
              <a:t> class and define the base behavior in it</a:t>
            </a:r>
          </a:p>
        </p:txBody>
      </p:sp>
    </p:spTree>
  </p:cSld>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Decorator: How to Implement (cont.)</a:t>
            </a:r>
          </a:p>
        </p:txBody>
      </p:sp>
      <p:sp>
        <p:nvSpPr>
          <p:cNvPr id="3" name="Content Placeholder 2"/>
          <p:cNvSpPr>
            <a:spLocks noGrp="1"/>
          </p:cNvSpPr>
          <p:nvPr>
            <p:ph idx="1"/>
          </p:nvPr>
        </p:nvSpPr>
        <p:spPr/>
        <p:txBody>
          <a:bodyPr/>
          <a:lstStyle/>
          <a:p>
            <a:pPr lvl="0" indent="-342900" marL="342900">
              <a:buAutoNum startAt="4" type="arabicPeriod"/>
            </a:pPr>
            <a:r>
              <a:rPr/>
              <a:t>Create a </a:t>
            </a:r>
            <a:r>
              <a:rPr b="1"/>
              <a:t>base decorator</a:t>
            </a:r>
            <a:r>
              <a:rPr/>
              <a:t> class. It should have a field for storing a reference to a wrapped object. The field should be declared with the component interface type to allow linking to concrete components as well as decorators. The base decorator must delegate all work to the wrapped object</a:t>
            </a:r>
          </a:p>
          <a:p>
            <a:pPr lvl="0" indent="-342900" marL="342900">
              <a:buAutoNum startAt="4" type="arabicPeriod"/>
            </a:pPr>
            <a:r>
              <a:rPr/>
              <a:t>Make sure all classes implement the </a:t>
            </a:r>
            <a:r>
              <a:rPr b="1"/>
              <a:t>component interface</a:t>
            </a:r>
          </a:p>
          <a:p>
            <a:pPr lvl="0" indent="-342900" marL="342900">
              <a:buAutoNum startAt="4" type="arabicPeriod"/>
            </a:pPr>
            <a:r>
              <a:rPr/>
              <a:t>Create </a:t>
            </a:r>
            <a:r>
              <a:rPr b="1"/>
              <a:t>concrete decorators</a:t>
            </a:r>
            <a:r>
              <a:rPr/>
              <a:t> by extending them from the base decorator. A concrete decorator must execute its behavior before or after the call to the parent method (which always delegates to the wrapped object)</a:t>
            </a:r>
          </a:p>
          <a:p>
            <a:pPr lvl="0" indent="-342900" marL="342900">
              <a:buAutoNum startAt="4" type="arabicPeriod"/>
            </a:pPr>
            <a:r>
              <a:rPr/>
              <a:t>The </a:t>
            </a:r>
            <a:r>
              <a:rPr b="1"/>
              <a:t>client code</a:t>
            </a:r>
            <a:r>
              <a:rPr/>
              <a:t> must be responsible for creating decorators and composing them in the way the client needs</a:t>
            </a:r>
          </a:p>
        </p:txBody>
      </p:sp>
    </p:spTree>
  </p:cSld>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Decorator: Pros and Cons</a:t>
            </a:r>
          </a:p>
        </p:txBody>
      </p:sp>
      <p:sp>
        <p:nvSpPr>
          <p:cNvPr id="3" name="Content Placeholder 2"/>
          <p:cNvSpPr>
            <a:spLocks noGrp="1"/>
          </p:cNvSpPr>
          <p:nvPr>
            <p:ph idx="1"/>
          </p:nvPr>
        </p:nvSpPr>
        <p:spPr/>
        <p:txBody>
          <a:bodyPr/>
          <a:lstStyle/>
          <a:p>
            <a:pPr lvl="0" indent="0" marL="0">
              <a:buNone/>
            </a:pPr>
            <a:r>
              <a:rPr b="1"/>
              <a:t>Pros:</a:t>
            </a:r>
            <a:r>
              <a:rPr/>
              <a:t> - You can extend an object’s behavior </a:t>
            </a:r>
            <a:r>
              <a:rPr b="1"/>
              <a:t>without making a new subclass</a:t>
            </a:r>
            <a:r>
              <a:rPr/>
              <a:t> - You can add or remove responsibilities from an object </a:t>
            </a:r>
            <a:r>
              <a:rPr b="1"/>
              <a:t>at runtime</a:t>
            </a:r>
            <a:r>
              <a:rPr/>
              <a:t> - You can </a:t>
            </a:r>
            <a:r>
              <a:rPr b="1"/>
              <a:t>combine</a:t>
            </a:r>
            <a:r>
              <a:rPr/>
              <a:t> several behaviors by wrapping an object into multiple decorators - </a:t>
            </a:r>
            <a:r>
              <a:rPr b="1"/>
              <a:t>Single Responsibility Principle</a:t>
            </a:r>
            <a:r>
              <a:rPr/>
              <a:t>: You can divide a monolithic class that implements many possible variants of behavior into several smaller classes</a:t>
            </a:r>
          </a:p>
          <a:p>
            <a:pPr lvl="0" indent="0" marL="0">
              <a:buNone/>
            </a:pPr>
            <a:r>
              <a:rPr b="1"/>
              <a:t>Cons:</a:t>
            </a:r>
            <a:r>
              <a:rPr/>
              <a:t> - It is hard to </a:t>
            </a:r>
            <a:r>
              <a:rPr b="1"/>
              <a:t>remove a specific wrapper</a:t>
            </a:r>
            <a:r>
              <a:rPr/>
              <a:t> from the wrappers stack - It is hard to implement a decorator in such a way that its behavior does </a:t>
            </a:r>
            <a:r>
              <a:rPr b="1"/>
              <a:t>not depend on the order</a:t>
            </a:r>
            <a:r>
              <a:rPr/>
              <a:t> in the decorators stack - The initial </a:t>
            </a:r>
            <a:r>
              <a:rPr b="1"/>
              <a:t>configuration code</a:t>
            </a:r>
            <a:r>
              <a:rPr/>
              <a:t> of layers might look pretty ugly</a:t>
            </a:r>
          </a:p>
        </p:txBody>
      </p:sp>
    </p:spTree>
  </p:cSld>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Decorator: Relations with Other Patterns</a:t>
            </a:r>
          </a:p>
        </p:txBody>
      </p:sp>
      <p:sp>
        <p:nvSpPr>
          <p:cNvPr id="3" name="Content Placeholder 2"/>
          <p:cNvSpPr>
            <a:spLocks noGrp="1"/>
          </p:cNvSpPr>
          <p:nvPr>
            <p:ph idx="1"/>
          </p:nvPr>
        </p:nvSpPr>
        <p:spPr/>
        <p:txBody>
          <a:bodyPr/>
          <a:lstStyle/>
          <a:p>
            <a:pPr lvl="0"/>
            <a:r>
              <a:rPr b="1"/>
              <a:t>Adapter</a:t>
            </a:r>
            <a:r>
              <a:rPr/>
              <a:t> provides a completely different interface for accessing an existing object. With Decorator, the interface either stays the same or gets extended. In addition, Decorator supports recursive composition, which is not possible when you use Adapter</a:t>
            </a:r>
          </a:p>
          <a:p>
            <a:pPr lvl="0"/>
            <a:r>
              <a:rPr b="1"/>
              <a:t>Adapter</a:t>
            </a:r>
            <a:r>
              <a:rPr/>
              <a:t> changes the interface of an existing object, while </a:t>
            </a:r>
            <a:r>
              <a:rPr b="1"/>
              <a:t>Decorator</a:t>
            </a:r>
            <a:r>
              <a:rPr/>
              <a:t> enhances an object without changing its interface</a:t>
            </a:r>
          </a:p>
          <a:p>
            <a:pPr lvl="0"/>
            <a:r>
              <a:rPr b="1"/>
              <a:t>Proxy</a:t>
            </a:r>
            <a:r>
              <a:rPr/>
              <a:t> usually manages the full lifecycle of its service object on its own, whereas the composition of </a:t>
            </a:r>
            <a:r>
              <a:rPr b="1"/>
              <a:t>Decorators</a:t>
            </a:r>
            <a:r>
              <a:rPr/>
              <a:t> is always controlled by the client</a:t>
            </a:r>
          </a:p>
        </p:txBody>
      </p:sp>
    </p:spTree>
  </p:cSld>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Decorator: Relations with Other Patterns (cont.)</a:t>
            </a:r>
          </a:p>
        </p:txBody>
      </p:sp>
      <p:sp>
        <p:nvSpPr>
          <p:cNvPr id="3" name="Content Placeholder 2"/>
          <p:cNvSpPr>
            <a:spLocks noGrp="1"/>
          </p:cNvSpPr>
          <p:nvPr>
            <p:ph idx="1"/>
          </p:nvPr>
        </p:nvSpPr>
        <p:spPr/>
        <p:txBody>
          <a:bodyPr/>
          <a:lstStyle/>
          <a:p>
            <a:pPr lvl="0"/>
            <a:r>
              <a:rPr b="1"/>
              <a:t>Chain of Responsibility</a:t>
            </a:r>
            <a:r>
              <a:rPr/>
              <a:t> and </a:t>
            </a:r>
            <a:r>
              <a:rPr b="1"/>
              <a:t>Decorator</a:t>
            </a:r>
            <a:r>
              <a:rPr/>
              <a:t> have very similar class structures. Both patterns rely on recursive composition to pass execution through a series of objects. However, there are several crucial differences. CoR handlers can execute arbitrary operations independently of each other. They can also stop passing the request further at any point. Decorators extend the object’s behavior while keeping it consistent with the base interface</a:t>
            </a:r>
          </a:p>
          <a:p>
            <a:pPr lvl="0"/>
            <a:r>
              <a:rPr b="1"/>
              <a:t>Composite</a:t>
            </a:r>
            <a:r>
              <a:rPr/>
              <a:t> and </a:t>
            </a:r>
            <a:r>
              <a:rPr b="1"/>
              <a:t>Decorator</a:t>
            </a:r>
            <a:r>
              <a:rPr/>
              <a:t> have similar structure diagrams since both rely on recursive composition. A Decorator is like a Composite that has only one child component. Decorator adds additional responsibilities to the wrapped object, while Composite just “sums up” its children’s results</a:t>
            </a:r>
          </a:p>
          <a:p>
            <a:pPr lvl="0"/>
            <a:r>
              <a:rPr b="1"/>
              <a:t>Strategy</a:t>
            </a:r>
            <a:r>
              <a:rPr/>
              <a:t> lets you change the insides of an object, while </a:t>
            </a:r>
            <a:r>
              <a:rPr b="1"/>
              <a:t>Decorator</a:t>
            </a:r>
            <a:r>
              <a:rPr/>
              <a:t> lets you change the skin</a:t>
            </a:r>
          </a:p>
        </p:txBody>
      </p:sp>
    </p:spTree>
  </p:cSld>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Module E: Takeaway</a:t>
            </a:r>
          </a:p>
        </p:txBody>
      </p:sp>
      <p:sp>
        <p:nvSpPr>
          <p:cNvPr id="3" name="Content Placeholder 2"/>
          <p:cNvSpPr>
            <a:spLocks noGrp="1"/>
          </p:cNvSpPr>
          <p:nvPr>
            <p:ph idx="1"/>
          </p:nvPr>
        </p:nvSpPr>
        <p:spPr/>
        <p:txBody>
          <a:bodyPr/>
          <a:lstStyle/>
          <a:p>
            <a:pPr lvl="0"/>
            <a:r>
              <a:rPr/>
              <a:t>The Decorator pattern allows adding behavior to objects </a:t>
            </a:r>
            <a:r>
              <a:rPr b="1"/>
              <a:t>dynamically</a:t>
            </a:r>
            <a:r>
              <a:rPr/>
              <a:t> through wrapping</a:t>
            </a:r>
          </a:p>
          <a:p>
            <a:pPr lvl="0"/>
            <a:r>
              <a:rPr/>
              <a:t>It avoids the </a:t>
            </a:r>
            <a:r>
              <a:rPr b="1"/>
              <a:t>combinatorial explosion</a:t>
            </a:r>
            <a:r>
              <a:rPr/>
              <a:t> of subclasses caused by inheritance</a:t>
            </a:r>
          </a:p>
          <a:p>
            <a:pPr lvl="0"/>
            <a:r>
              <a:rPr/>
              <a:t>Multiple decorators can be </a:t>
            </a:r>
            <a:r>
              <a:rPr b="1"/>
              <a:t>stacked</a:t>
            </a:r>
            <a:r>
              <a:rPr/>
              <a:t> to combine behaviors</a:t>
            </a:r>
          </a:p>
          <a:p>
            <a:pPr lvl="0"/>
            <a:r>
              <a:rPr/>
              <a:t>It follows the </a:t>
            </a:r>
            <a:r>
              <a:rPr b="1"/>
              <a:t>Single Responsibility</a:t>
            </a:r>
            <a:r>
              <a:rPr/>
              <a:t> and </a:t>
            </a:r>
            <a:r>
              <a:rPr b="1"/>
              <a:t>Open/Closed</a:t>
            </a:r>
            <a:r>
              <a:rPr/>
              <a:t> principles</a:t>
            </a:r>
          </a:p>
          <a:p>
            <a:pPr lvl="0"/>
            <a:r>
              <a:rPr/>
              <a:t>Prefer composition over inheritance when behaviors need to be added </a:t>
            </a:r>
            <a:r>
              <a:rPr b="1"/>
              <a:t>at runtime</a:t>
            </a:r>
          </a:p>
        </p:txBody>
      </p:sp>
    </p:spTree>
  </p:cSld>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b="1"/>
              <a:t>Module F: Facade Pattern</a:t>
            </a:r>
          </a:p>
        </p:txBody>
      </p:sp>
    </p:spTree>
  </p:cSld>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Module F: Outline</a:t>
            </a:r>
          </a:p>
        </p:txBody>
      </p:sp>
      <p:sp>
        <p:nvSpPr>
          <p:cNvPr id="3" name="Content Placeholder 2"/>
          <p:cNvSpPr>
            <a:spLocks noGrp="1"/>
          </p:cNvSpPr>
          <p:nvPr>
            <p:ph idx="1"/>
          </p:nvPr>
        </p:nvSpPr>
        <p:spPr/>
        <p:txBody>
          <a:bodyPr/>
          <a:lstStyle/>
          <a:p>
            <a:pPr lvl="0"/>
            <a:r>
              <a:rPr/>
              <a:t>Intent</a:t>
            </a:r>
          </a:p>
          <a:p>
            <a:pPr lvl="0"/>
            <a:r>
              <a:rPr/>
              <a:t>Problem</a:t>
            </a:r>
          </a:p>
          <a:p>
            <a:pPr lvl="0"/>
            <a:r>
              <a:rPr/>
              <a:t>Solution</a:t>
            </a:r>
          </a:p>
          <a:p>
            <a:pPr lvl="0"/>
            <a:r>
              <a:rPr/>
              <a:t>Real-World Analogy</a:t>
            </a:r>
          </a:p>
          <a:p>
            <a:pPr lvl="0"/>
            <a:r>
              <a:rPr/>
              <a:t>Structure (UML)</a:t>
            </a:r>
          </a:p>
          <a:p>
            <a:pPr lvl="0"/>
            <a:r>
              <a:rPr/>
              <a:t>Java Code Example</a:t>
            </a:r>
          </a:p>
          <a:p>
            <a:pPr lvl="0"/>
            <a:r>
              <a:rPr/>
              <a:t>Applicability</a:t>
            </a:r>
          </a:p>
          <a:p>
            <a:pPr lvl="0"/>
            <a:r>
              <a:rPr/>
              <a:t>How to Implement</a:t>
            </a:r>
          </a:p>
          <a:p>
            <a:pPr lvl="0"/>
            <a:r>
              <a:rPr/>
              <a:t>Pros and Cons</a:t>
            </a:r>
          </a:p>
          <a:p>
            <a:pPr lvl="0"/>
            <a:r>
              <a:rPr/>
              <a:t>Relations with Other Patterns</a:t>
            </a:r>
          </a:p>
          <a:p>
            <a:pPr lvl="0"/>
            <a:r>
              <a:rPr/>
              <a:t>Module Takeaway</a:t>
            </a:r>
          </a:p>
        </p:txBody>
      </p:sp>
    </p:spTree>
  </p:cSld>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Facade: Intent</a:t>
            </a:r>
          </a:p>
        </p:txBody>
      </p:sp>
      <p:sp>
        <p:nvSpPr>
          <p:cNvPr id="3" name="Content Placeholder 2"/>
          <p:cNvSpPr>
            <a:spLocks noGrp="1"/>
          </p:cNvSpPr>
          <p:nvPr>
            <p:ph idx="1"/>
          </p:nvPr>
        </p:nvSpPr>
        <p:spPr/>
        <p:txBody>
          <a:bodyPr/>
          <a:lstStyle/>
          <a:p>
            <a:pPr lvl="0" indent="0" marL="0">
              <a:buNone/>
            </a:pPr>
            <a:r>
              <a:rPr b="1"/>
              <a:t>Facade</a:t>
            </a:r>
            <a:r>
              <a:rPr/>
              <a:t> is a structural design pattern that provides a </a:t>
            </a:r>
            <a:r>
              <a:rPr b="1"/>
              <a:t>simplified interface</a:t>
            </a:r>
            <a:r>
              <a:rPr/>
              <a:t> to a library, a framework, or any other complex set of classes.</a:t>
            </a:r>
          </a:p>
          <a:p>
            <a:pPr lvl="0" indent="0" marL="0">
              <a:buNone/>
            </a:pPr>
            <a:r>
              <a:rPr/>
              <a:t>Source: </a:t>
            </a:r>
            <a:r>
              <a:rPr>
                <a:hlinkClick r:id="rId2"/>
              </a:rPr>
              <a:t>refactoring.guru</a:t>
            </a:r>
          </a:p>
        </p:txBody>
      </p:sp>
    </p:spTree>
  </p:cSld>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Facade: Problem</a:t>
            </a:r>
          </a:p>
        </p:txBody>
      </p:sp>
      <p:sp>
        <p:nvSpPr>
          <p:cNvPr id="3" name="Content Placeholder 2"/>
          <p:cNvSpPr>
            <a:spLocks noGrp="1"/>
          </p:cNvSpPr>
          <p:nvPr>
            <p:ph idx="1"/>
          </p:nvPr>
        </p:nvSpPr>
        <p:spPr/>
        <p:txBody>
          <a:bodyPr/>
          <a:lstStyle/>
          <a:p>
            <a:pPr lvl="0" indent="0" marL="0">
              <a:buNone/>
            </a:pPr>
            <a:r>
              <a:rPr/>
              <a:t>Imagine that you must make your code work with a broad set of objects that belong to a sophisticated library or framework. Ordinarily, you would need to </a:t>
            </a:r>
            <a:r>
              <a:rPr b="1"/>
              <a:t>initialize all of those objects</a:t>
            </a:r>
            <a:r>
              <a:rPr/>
              <a:t>, keep track of </a:t>
            </a:r>
            <a:r>
              <a:rPr b="1"/>
              <a:t>dependencies</a:t>
            </a:r>
            <a:r>
              <a:rPr/>
              <a:t>, execute methods in the </a:t>
            </a:r>
            <a:r>
              <a:rPr b="1"/>
              <a:t>correct order</a:t>
            </a:r>
            <a:r>
              <a:rPr/>
              <a:t>, and so on.</a:t>
            </a:r>
          </a:p>
          <a:p>
            <a:pPr lvl="0" indent="0" marL="0">
              <a:buNone/>
            </a:pPr>
            <a:r>
              <a:rPr/>
              <a:t>As a result, the business logic of your classes would become </a:t>
            </a:r>
            <a:r>
              <a:rPr b="1"/>
              <a:t>tightly coupled</a:t>
            </a:r>
            <a:r>
              <a:rPr/>
              <a:t> to the implementation details of third-party classes, making it hard to comprehend and maintain.</a:t>
            </a:r>
          </a:p>
        </p:txBody>
      </p:sp>
    </p:spTree>
  </p:cSld>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Facade: Solution</a:t>
            </a:r>
          </a:p>
        </p:txBody>
      </p:sp>
      <p:sp>
        <p:nvSpPr>
          <p:cNvPr id="3" name="Content Placeholder 2"/>
          <p:cNvSpPr>
            <a:spLocks noGrp="1"/>
          </p:cNvSpPr>
          <p:nvPr>
            <p:ph idx="1"/>
          </p:nvPr>
        </p:nvSpPr>
        <p:spPr/>
        <p:txBody>
          <a:bodyPr/>
          <a:lstStyle/>
          <a:p>
            <a:pPr lvl="0" indent="0" marL="0">
              <a:buNone/>
            </a:pPr>
            <a:r>
              <a:rPr/>
              <a:t>A facade is a class that provides a </a:t>
            </a:r>
            <a:r>
              <a:rPr b="1"/>
              <a:t>simple interface</a:t>
            </a:r>
            <a:r>
              <a:rPr/>
              <a:t> to a complex subsystem which contains lots of moving parts. A facade might provide limited functionality in comparison to working with the subsystem directly. However, it includes only those features that </a:t>
            </a:r>
            <a:r>
              <a:rPr b="1"/>
              <a:t>clients really care about</a:t>
            </a:r>
            <a:r>
              <a:rPr/>
              <a:t>.</a:t>
            </a:r>
          </a:p>
          <a:p>
            <a:pPr lvl="0" indent="0" marL="0">
              <a:buNone/>
            </a:pPr>
            <a:r>
              <a:rPr/>
              <a:t>Having a facade is handy when you need to integrate your app with a sophisticated library that has dozens of features, but you just need a tiny bit of its functionality.</a:t>
            </a:r>
          </a:p>
        </p:txBody>
      </p:sp>
    </p:spTree>
  </p:cSld>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Facade: Solution (cont.)</a:t>
            </a:r>
          </a:p>
        </p:txBody>
      </p:sp>
      <p:sp>
        <p:nvSpPr>
          <p:cNvPr id="3" name="Content Placeholder 2"/>
          <p:cNvSpPr>
            <a:spLocks noGrp="1"/>
          </p:cNvSpPr>
          <p:nvPr>
            <p:ph idx="1"/>
          </p:nvPr>
        </p:nvSpPr>
        <p:spPr/>
        <p:txBody>
          <a:bodyPr/>
          <a:lstStyle/>
          <a:p>
            <a:pPr lvl="0" indent="0" marL="0">
              <a:buNone/>
            </a:pPr>
            <a:r>
              <a:rPr/>
              <a:t>For instance, an app that uploads short funny videos with cats to social media could potentially use a professional video conversion library. However, all that it really needs is a class with the single method </a:t>
            </a:r>
            <a:r>
              <a:rPr>
                <a:latin typeface="Courier"/>
              </a:rPr>
              <a:t>encode(filename, format)</a:t>
            </a:r>
            <a:r>
              <a:rPr/>
              <a:t>.</a:t>
            </a:r>
          </a:p>
          <a:p>
            <a:pPr lvl="0" indent="0" marL="0">
              <a:buNone/>
            </a:pPr>
            <a:r>
              <a:rPr/>
              <a:t>After creating such a class and connecting it with the video conversion library, you will have your first </a:t>
            </a:r>
            <a:r>
              <a:rPr b="1"/>
              <a:t>facade</a:t>
            </a:r>
            <a:r>
              <a:rPr/>
              <a:t>.</a:t>
            </a:r>
          </a:p>
        </p:txBody>
      </p:sp>
    </p:spTree>
  </p:cSld>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Facade: Real-World Analogy</a:t>
            </a:r>
          </a:p>
        </p:txBody>
      </p:sp>
      <p:sp>
        <p:nvSpPr>
          <p:cNvPr id="3" name="Content Placeholder 2"/>
          <p:cNvSpPr>
            <a:spLocks noGrp="1"/>
          </p:cNvSpPr>
          <p:nvPr>
            <p:ph idx="1"/>
          </p:nvPr>
        </p:nvSpPr>
        <p:spPr/>
        <p:txBody>
          <a:bodyPr/>
          <a:lstStyle/>
          <a:p>
            <a:pPr lvl="0" indent="0" marL="0">
              <a:buNone/>
            </a:pPr>
            <a:r>
              <a:rPr/>
              <a:t>When you call a shop to place a phone order, an </a:t>
            </a:r>
            <a:r>
              <a:rPr b="1"/>
              <a:t>operator</a:t>
            </a:r>
            <a:r>
              <a:rPr/>
              <a:t> is your facade to all services and departments of the shop. The operator provides you with a simple voice interface to the ordering system, payment gateways, and various delivery services.</a:t>
            </a:r>
          </a:p>
          <a:p>
            <a:pPr lvl="0" indent="0" marL="0">
              <a:buNone/>
            </a:pPr>
            <a:r>
              <a:rPr/>
              <a:t>You do not need to navigate through the shop’s internal systems yourself – the operator handles everything through a simple interface.</a:t>
            </a:r>
          </a:p>
        </p:txBody>
      </p:sp>
    </p:spTree>
  </p:cSld>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Facade: Structure</a:t>
            </a:r>
          </a:p>
        </p:txBody>
      </p:sp>
      <p:sp>
        <p:nvSpPr>
          <p:cNvPr id="3" name="Content Placeholder 2"/>
          <p:cNvSpPr>
            <a:spLocks noGrp="1"/>
          </p:cNvSpPr>
          <p:nvPr>
            <p:ph idx="1"/>
          </p:nvPr>
        </p:nvSpPr>
        <p:spPr/>
        <p:txBody>
          <a:bodyPr/>
          <a:lstStyle/>
          <a:p>
            <a:pPr lvl="0" indent="-342900" marL="342900">
              <a:buAutoNum type="arabicPeriod"/>
            </a:pPr>
            <a:r>
              <a:rPr b="1"/>
              <a:t>Facade</a:t>
            </a:r>
            <a:r>
              <a:rPr/>
              <a:t> – Provides convenient access to a particular part of the subsystem’s functionality. It knows where to direct the client’s request and how to operate all the moving parts</a:t>
            </a:r>
          </a:p>
          <a:p>
            <a:pPr lvl="0" indent="-342900" marL="342900">
              <a:buAutoNum type="arabicPeriod"/>
            </a:pPr>
            <a:r>
              <a:rPr b="1"/>
              <a:t>Additional Facade</a:t>
            </a:r>
            <a:r>
              <a:rPr/>
              <a:t> – Can be created to prevent polluting a single facade with unrelated features that would make it yet another complex structure. Additional facades can be used by both clients and other facades</a:t>
            </a:r>
          </a:p>
          <a:p>
            <a:pPr lvl="0" indent="-342900" marL="342900">
              <a:buAutoNum type="arabicPeriod"/>
            </a:pPr>
            <a:r>
              <a:rPr b="1"/>
              <a:t>Complex Subsystem</a:t>
            </a:r>
            <a:r>
              <a:rPr/>
              <a:t> – Consists of dozens of various objects. To make them all do something meaningful, you have to dive deep into the subsystem’s implementation details. Subsystem classes are not aware of the facade’s existence</a:t>
            </a:r>
          </a:p>
          <a:p>
            <a:pPr lvl="0" indent="-342900" marL="342900">
              <a:buAutoNum type="arabicPeriod"/>
            </a:pPr>
            <a:r>
              <a:rPr b="1"/>
              <a:t>Client</a:t>
            </a:r>
            <a:r>
              <a:rPr/>
              <a:t> – Uses the facade instead of calling the subsystem objects directly</a:t>
            </a:r>
          </a:p>
        </p:txBody>
      </p:sp>
    </p:spTree>
  </p:cSld>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Facade - Class Diagram</a:t>
            </a:r>
          </a:p>
        </p:txBody>
      </p:sp>
      <p:pic>
        <p:nvPicPr>
          <p:cNvPr descr="assets/facade-structure.png" id="0" name="Picture 1"/>
          <p:cNvPicPr>
            <a:picLocks noGrp="1" noChangeAspect="1"/>
          </p:cNvPicPr>
          <p:nvPr/>
        </p:nvPicPr>
        <p:blipFill>
          <a:blip r:embed="rId2"/>
          <a:stretch>
            <a:fillRect/>
          </a:stretch>
        </p:blipFill>
        <p:spPr bwMode="auto">
          <a:xfrm>
            <a:off x="3568700" y="1130300"/>
            <a:ext cx="5105400" cy="20193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a:t>
            </a:r>
          </a:p>
        </p:txBody>
      </p:sp>
    </p:spTree>
  </p:cSld>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Facade: Java Code Example - Subsystem Classes</a:t>
            </a:r>
          </a:p>
        </p:txBody>
      </p:sp>
      <p:sp>
        <p:nvSpPr>
          <p:cNvPr id="3" name="Content Placeholder 2"/>
          <p:cNvSpPr>
            <a:spLocks noGrp="1"/>
          </p:cNvSpPr>
          <p:nvPr>
            <p:ph idx="1"/>
          </p:nvPr>
        </p:nvSpPr>
        <p:spPr/>
        <p:txBody>
          <a:bodyPr/>
          <a:lstStyle/>
          <a:p>
            <a:pPr lvl="0" indent="0">
              <a:buNone/>
            </a:pPr>
            <a:r>
              <a:rPr i="1">
                <a:solidFill>
                  <a:srgbClr val="60A0B0"/>
                </a:solidFill>
                <a:latin typeface="Courier"/>
              </a:rPr>
              <a:t>// These are some of the classes of a complex third-party</a:t>
            </a:r>
            <a:br/>
            <a:r>
              <a:rPr i="1">
                <a:solidFill>
                  <a:srgbClr val="60A0B0"/>
                </a:solidFill>
                <a:latin typeface="Courier"/>
              </a:rPr>
              <a:t>// video conversion framework.</a:t>
            </a:r>
            <a:br/>
            <a:r>
              <a:rPr b="1">
                <a:solidFill>
                  <a:srgbClr val="007020"/>
                </a:solidFill>
                <a:latin typeface="Courier"/>
              </a:rPr>
              <a:t>public</a:t>
            </a:r>
            <a:r>
              <a:rPr>
                <a:latin typeface="Courier"/>
              </a:rPr>
              <a:t> </a:t>
            </a:r>
            <a:r>
              <a:rPr b="1">
                <a:solidFill>
                  <a:srgbClr val="007020"/>
                </a:solidFill>
                <a:latin typeface="Courier"/>
              </a:rPr>
              <a:t>class</a:t>
            </a:r>
            <a:r>
              <a:rPr>
                <a:latin typeface="Courier"/>
              </a:rPr>
              <a:t> VideoFile </a:t>
            </a:r>
            <a:r>
              <a:rPr>
                <a:solidFill>
                  <a:srgbClr val="666666"/>
                </a:solidFill>
                <a:latin typeface="Courier"/>
              </a:rPr>
              <a:t>{</a:t>
            </a:r>
            <a:br/>
            <a:r>
              <a:rPr>
                <a:latin typeface="Courier"/>
              </a:rPr>
              <a:t>    </a:t>
            </a:r>
            <a:r>
              <a:rPr b="1">
                <a:solidFill>
                  <a:srgbClr val="007020"/>
                </a:solidFill>
                <a:latin typeface="Courier"/>
              </a:rPr>
              <a:t>private</a:t>
            </a:r>
            <a:r>
              <a:rPr>
                <a:latin typeface="Courier"/>
              </a:rPr>
              <a:t> </a:t>
            </a:r>
            <a:r>
              <a:rPr>
                <a:solidFill>
                  <a:srgbClr val="008000"/>
                </a:solidFill>
                <a:latin typeface="Courier"/>
              </a:rPr>
              <a:t>String</a:t>
            </a:r>
            <a:r>
              <a:rPr>
                <a:latin typeface="Courier"/>
              </a:rPr>
              <a:t> name</a:t>
            </a:r>
            <a:r>
              <a:rPr>
                <a:solidFill>
                  <a:srgbClr val="666666"/>
                </a:solidFill>
                <a:latin typeface="Courier"/>
              </a:rPr>
              <a:t>;</a:t>
            </a:r>
            <a:br/>
            <a:r>
              <a:rPr>
                <a:latin typeface="Courier"/>
              </a:rPr>
              <a:t>    </a:t>
            </a:r>
            <a:r>
              <a:rPr b="1">
                <a:solidFill>
                  <a:srgbClr val="007020"/>
                </a:solidFill>
                <a:latin typeface="Courier"/>
              </a:rPr>
              <a:t>private</a:t>
            </a:r>
            <a:r>
              <a:rPr>
                <a:latin typeface="Courier"/>
              </a:rPr>
              <a:t> </a:t>
            </a:r>
            <a:r>
              <a:rPr>
                <a:solidFill>
                  <a:srgbClr val="008000"/>
                </a:solidFill>
                <a:latin typeface="Courier"/>
              </a:rPr>
              <a:t>String</a:t>
            </a:r>
            <a:r>
              <a:rPr>
                <a:latin typeface="Courier"/>
              </a:rPr>
              <a:t> codecType</a:t>
            </a:r>
            <a:r>
              <a:rPr>
                <a:solidFill>
                  <a:srgbClr val="666666"/>
                </a:solidFill>
                <a:latin typeface="Courier"/>
              </a:rPr>
              <a:t>;</a:t>
            </a:r>
            <a:br/>
            <a:br/>
            <a:r>
              <a:rPr>
                <a:latin typeface="Courier"/>
              </a:rPr>
              <a:t>    </a:t>
            </a:r>
            <a:r>
              <a:rPr b="1">
                <a:solidFill>
                  <a:srgbClr val="007020"/>
                </a:solidFill>
                <a:latin typeface="Courier"/>
              </a:rPr>
              <a:t>public</a:t>
            </a:r>
            <a:r>
              <a:rPr>
                <a:latin typeface="Courier"/>
              </a:rPr>
              <a:t> </a:t>
            </a:r>
            <a:r>
              <a:rPr>
                <a:solidFill>
                  <a:srgbClr val="06287E"/>
                </a:solidFill>
                <a:latin typeface="Courier"/>
              </a:rPr>
              <a:t>VideoFile</a:t>
            </a:r>
            <a:r>
              <a:rPr>
                <a:solidFill>
                  <a:srgbClr val="666666"/>
                </a:solidFill>
                <a:latin typeface="Courier"/>
              </a:rPr>
              <a:t>(</a:t>
            </a:r>
            <a:r>
              <a:rPr>
                <a:solidFill>
                  <a:srgbClr val="008000"/>
                </a:solidFill>
                <a:latin typeface="Courier"/>
              </a:rPr>
              <a:t>String</a:t>
            </a:r>
            <a:r>
              <a:rPr>
                <a:latin typeface="Courier"/>
              </a:rPr>
              <a:t> name</a:t>
            </a:r>
            <a:r>
              <a:rPr>
                <a:solidFill>
                  <a:srgbClr val="666666"/>
                </a:solidFill>
                <a:latin typeface="Courier"/>
              </a:rPr>
              <a:t>)</a:t>
            </a:r>
            <a:r>
              <a:rPr>
                <a:latin typeface="Courier"/>
              </a:rPr>
              <a:t> </a:t>
            </a:r>
            <a:r>
              <a:rPr>
                <a:solidFill>
                  <a:srgbClr val="666666"/>
                </a:solidFill>
                <a:latin typeface="Courier"/>
              </a:rPr>
              <a:t>{</a:t>
            </a:r>
            <a:br/>
            <a:r>
              <a:rPr>
                <a:latin typeface="Courier"/>
              </a:rPr>
              <a:t>        </a:t>
            </a:r>
            <a:r>
              <a:rPr b="1">
                <a:solidFill>
                  <a:srgbClr val="007020"/>
                </a:solidFill>
                <a:latin typeface="Courier"/>
              </a:rPr>
              <a:t>this</a:t>
            </a:r>
            <a:r>
              <a:rPr>
                <a:solidFill>
                  <a:srgbClr val="666666"/>
                </a:solidFill>
                <a:latin typeface="Courier"/>
              </a:rPr>
              <a:t>.</a:t>
            </a:r>
            <a:r>
              <a:rPr>
                <a:solidFill>
                  <a:srgbClr val="06287E"/>
                </a:solidFill>
                <a:latin typeface="Courier"/>
              </a:rPr>
              <a:t>name</a:t>
            </a:r>
            <a:r>
              <a:rPr>
                <a:latin typeface="Courier"/>
              </a:rPr>
              <a:t> </a:t>
            </a:r>
            <a:r>
              <a:rPr>
                <a:solidFill>
                  <a:srgbClr val="666666"/>
                </a:solidFill>
                <a:latin typeface="Courier"/>
              </a:rPr>
              <a:t>=</a:t>
            </a:r>
            <a:r>
              <a:rPr>
                <a:latin typeface="Courier"/>
              </a:rPr>
              <a:t> name</a:t>
            </a:r>
            <a:r>
              <a:rPr>
                <a:solidFill>
                  <a:srgbClr val="666666"/>
                </a:solidFill>
                <a:latin typeface="Courier"/>
              </a:rPr>
              <a:t>;</a:t>
            </a:r>
            <a:br/>
            <a:r>
              <a:rPr>
                <a:latin typeface="Courier"/>
              </a:rPr>
              <a:t>        </a:t>
            </a:r>
            <a:r>
              <a:rPr b="1">
                <a:solidFill>
                  <a:srgbClr val="007020"/>
                </a:solidFill>
                <a:latin typeface="Courier"/>
              </a:rPr>
              <a:t>this</a:t>
            </a:r>
            <a:r>
              <a:rPr>
                <a:solidFill>
                  <a:srgbClr val="666666"/>
                </a:solidFill>
                <a:latin typeface="Courier"/>
              </a:rPr>
              <a:t>.</a:t>
            </a:r>
            <a:r>
              <a:rPr>
                <a:solidFill>
                  <a:srgbClr val="06287E"/>
                </a:solidFill>
                <a:latin typeface="Courier"/>
              </a:rPr>
              <a:t>codecType</a:t>
            </a:r>
            <a:r>
              <a:rPr>
                <a:latin typeface="Courier"/>
              </a:rPr>
              <a:t> </a:t>
            </a:r>
            <a:r>
              <a:rPr>
                <a:solidFill>
                  <a:srgbClr val="666666"/>
                </a:solidFill>
                <a:latin typeface="Courier"/>
              </a:rPr>
              <a:t>=</a:t>
            </a:r>
            <a:r>
              <a:rPr>
                <a:latin typeface="Courier"/>
              </a:rPr>
              <a:t> name</a:t>
            </a:r>
            <a:r>
              <a:rPr>
                <a:solidFill>
                  <a:srgbClr val="666666"/>
                </a:solidFill>
                <a:latin typeface="Courier"/>
              </a:rPr>
              <a:t>.</a:t>
            </a:r>
            <a:r>
              <a:rPr>
                <a:solidFill>
                  <a:srgbClr val="06287E"/>
                </a:solidFill>
                <a:latin typeface="Courier"/>
              </a:rPr>
              <a:t>substring</a:t>
            </a:r>
            <a:r>
              <a:rPr>
                <a:solidFill>
                  <a:srgbClr val="666666"/>
                </a:solidFill>
                <a:latin typeface="Courier"/>
              </a:rPr>
              <a:t>(</a:t>
            </a:r>
            <a:br/>
            <a:r>
              <a:rPr>
                <a:latin typeface="Courier"/>
              </a:rPr>
              <a:t>            name</a:t>
            </a:r>
            <a:r>
              <a:rPr>
                <a:solidFill>
                  <a:srgbClr val="666666"/>
                </a:solidFill>
                <a:latin typeface="Courier"/>
              </a:rPr>
              <a:t>.</a:t>
            </a:r>
            <a:r>
              <a:rPr>
                <a:solidFill>
                  <a:srgbClr val="06287E"/>
                </a:solidFill>
                <a:latin typeface="Courier"/>
              </a:rPr>
              <a:t>indexOf</a:t>
            </a:r>
            <a:r>
              <a:rPr>
                <a:solidFill>
                  <a:srgbClr val="666666"/>
                </a:solidFill>
                <a:latin typeface="Courier"/>
              </a:rPr>
              <a:t>(</a:t>
            </a:r>
            <a:r>
              <a:rPr>
                <a:solidFill>
                  <a:srgbClr val="4070A0"/>
                </a:solidFill>
                <a:latin typeface="Courier"/>
              </a:rPr>
              <a:t>"."</a:t>
            </a:r>
            <a:r>
              <a:rPr>
                <a:solidFill>
                  <a:srgbClr val="666666"/>
                </a:solidFill>
                <a:latin typeface="Courier"/>
              </a:rPr>
              <a:t>)</a:t>
            </a:r>
            <a:r>
              <a:rPr>
                <a:latin typeface="Courier"/>
              </a:rPr>
              <a:t> </a:t>
            </a:r>
            <a:r>
              <a:rPr>
                <a:solidFill>
                  <a:srgbClr val="666666"/>
                </a:solidFill>
                <a:latin typeface="Courier"/>
              </a:rPr>
              <a:t>+</a:t>
            </a:r>
            <a:r>
              <a:rPr>
                <a:latin typeface="Courier"/>
              </a:rPr>
              <a:t> </a:t>
            </a:r>
            <a:r>
              <a:rPr>
                <a:solidFill>
                  <a:srgbClr val="40A070"/>
                </a:solidFill>
                <a:latin typeface="Courier"/>
              </a:rPr>
              <a:t>1</a:t>
            </a:r>
            <a:r>
              <a:rPr>
                <a:solidFill>
                  <a:srgbClr val="666666"/>
                </a:solidFill>
                <a:latin typeface="Courier"/>
              </a:rPr>
              <a:t>);</a:t>
            </a:r>
            <a:br/>
            <a:r>
              <a:rPr>
                <a:latin typeface="Courier"/>
              </a:rPr>
              <a:t>    </a:t>
            </a:r>
            <a:r>
              <a:rPr>
                <a:solidFill>
                  <a:srgbClr val="666666"/>
                </a:solidFill>
                <a:latin typeface="Courier"/>
              </a:rPr>
              <a:t>}</a:t>
            </a:r>
            <a:br/>
            <a:br/>
            <a:r>
              <a:rPr>
                <a:latin typeface="Courier"/>
              </a:rPr>
              <a:t>    </a:t>
            </a:r>
            <a:r>
              <a:rPr b="1">
                <a:solidFill>
                  <a:srgbClr val="007020"/>
                </a:solidFill>
                <a:latin typeface="Courier"/>
              </a:rPr>
              <a:t>public</a:t>
            </a:r>
            <a:r>
              <a:rPr>
                <a:latin typeface="Courier"/>
              </a:rPr>
              <a:t> </a:t>
            </a:r>
            <a:r>
              <a:rPr>
                <a:solidFill>
                  <a:srgbClr val="008000"/>
                </a:solidFill>
                <a:latin typeface="Courier"/>
              </a:rPr>
              <a:t>String</a:t>
            </a:r>
            <a:r>
              <a:rPr>
                <a:latin typeface="Courier"/>
              </a:rPr>
              <a:t> </a:t>
            </a:r>
            <a:r>
              <a:rPr>
                <a:solidFill>
                  <a:srgbClr val="06287E"/>
                </a:solidFill>
                <a:latin typeface="Courier"/>
              </a:rPr>
              <a:t>getName</a:t>
            </a:r>
            <a:r>
              <a:rPr>
                <a:solidFill>
                  <a:srgbClr val="666666"/>
                </a:solidFill>
                <a:latin typeface="Courier"/>
              </a:rPr>
              <a:t>()</a:t>
            </a:r>
            <a:r>
              <a:rPr>
                <a:latin typeface="Courier"/>
              </a:rPr>
              <a:t> </a:t>
            </a:r>
            <a:r>
              <a:rPr>
                <a:solidFill>
                  <a:srgbClr val="666666"/>
                </a:solidFill>
                <a:latin typeface="Courier"/>
              </a:rPr>
              <a:t>{</a:t>
            </a:r>
            <a:r>
              <a:rPr>
                <a:latin typeface="Courier"/>
              </a:rPr>
              <a:t> </a:t>
            </a:r>
            <a:r>
              <a:rPr b="1">
                <a:solidFill>
                  <a:srgbClr val="007020"/>
                </a:solidFill>
                <a:latin typeface="Courier"/>
              </a:rPr>
              <a:t>return</a:t>
            </a:r>
            <a:r>
              <a:rPr>
                <a:latin typeface="Courier"/>
              </a:rPr>
              <a:t> name</a:t>
            </a:r>
            <a:r>
              <a:rPr>
                <a:solidFill>
                  <a:srgbClr val="666666"/>
                </a:solidFill>
                <a:latin typeface="Courier"/>
              </a:rPr>
              <a:t>;</a:t>
            </a:r>
            <a:r>
              <a:rPr>
                <a:latin typeface="Courier"/>
              </a:rPr>
              <a:t> </a:t>
            </a:r>
            <a:r>
              <a:rPr>
                <a:solidFill>
                  <a:srgbClr val="666666"/>
                </a:solidFill>
                <a:latin typeface="Courier"/>
              </a:rPr>
              <a:t>}</a:t>
            </a:r>
            <a:br/>
            <a:r>
              <a:rPr>
                <a:latin typeface="Courier"/>
              </a:rPr>
              <a:t>    </a:t>
            </a:r>
            <a:r>
              <a:rPr b="1">
                <a:solidFill>
                  <a:srgbClr val="007020"/>
                </a:solidFill>
                <a:latin typeface="Courier"/>
              </a:rPr>
              <a:t>public</a:t>
            </a:r>
            <a:r>
              <a:rPr>
                <a:latin typeface="Courier"/>
              </a:rPr>
              <a:t> </a:t>
            </a:r>
            <a:r>
              <a:rPr>
                <a:solidFill>
                  <a:srgbClr val="008000"/>
                </a:solidFill>
                <a:latin typeface="Courier"/>
              </a:rPr>
              <a:t>String</a:t>
            </a:r>
            <a:r>
              <a:rPr>
                <a:latin typeface="Courier"/>
              </a:rPr>
              <a:t> </a:t>
            </a:r>
            <a:r>
              <a:rPr>
                <a:solidFill>
                  <a:srgbClr val="06287E"/>
                </a:solidFill>
                <a:latin typeface="Courier"/>
              </a:rPr>
              <a:t>getCodecType</a:t>
            </a:r>
            <a:r>
              <a:rPr>
                <a:solidFill>
                  <a:srgbClr val="666666"/>
                </a:solidFill>
                <a:latin typeface="Courier"/>
              </a:rPr>
              <a:t>()</a:t>
            </a:r>
            <a:r>
              <a:rPr>
                <a:latin typeface="Courier"/>
              </a:rPr>
              <a:t> </a:t>
            </a:r>
            <a:r>
              <a:rPr>
                <a:solidFill>
                  <a:srgbClr val="666666"/>
                </a:solidFill>
                <a:latin typeface="Courier"/>
              </a:rPr>
              <a:t>{</a:t>
            </a:r>
            <a:r>
              <a:rPr>
                <a:latin typeface="Courier"/>
              </a:rPr>
              <a:t> </a:t>
            </a:r>
            <a:r>
              <a:rPr b="1">
                <a:solidFill>
                  <a:srgbClr val="007020"/>
                </a:solidFill>
                <a:latin typeface="Courier"/>
              </a:rPr>
              <a:t>return</a:t>
            </a:r>
            <a:r>
              <a:rPr>
                <a:latin typeface="Courier"/>
              </a:rPr>
              <a:t> codecType</a:t>
            </a:r>
            <a:r>
              <a:rPr>
                <a:solidFill>
                  <a:srgbClr val="666666"/>
                </a:solidFill>
                <a:latin typeface="Courier"/>
              </a:rPr>
              <a:t>;</a:t>
            </a:r>
            <a:r>
              <a:rPr>
                <a:latin typeface="Courier"/>
              </a:rPr>
              <a:t> </a:t>
            </a:r>
            <a:r>
              <a:rPr>
                <a:solidFill>
                  <a:srgbClr val="666666"/>
                </a:solidFill>
                <a:latin typeface="Courier"/>
              </a:rPr>
              <a:t>}</a:t>
            </a:r>
            <a:br/>
            <a:r>
              <a:rPr>
                <a:solidFill>
                  <a:srgbClr val="666666"/>
                </a:solidFill>
                <a:latin typeface="Courier"/>
              </a:rPr>
              <a:t>}</a:t>
            </a:r>
            <a:br/>
            <a:br/>
            <a:r>
              <a:rPr b="1">
                <a:solidFill>
                  <a:srgbClr val="007020"/>
                </a:solidFill>
                <a:latin typeface="Courier"/>
              </a:rPr>
              <a:t>public</a:t>
            </a:r>
            <a:r>
              <a:rPr>
                <a:latin typeface="Courier"/>
              </a:rPr>
              <a:t> </a:t>
            </a:r>
            <a:r>
              <a:rPr b="1">
                <a:solidFill>
                  <a:srgbClr val="007020"/>
                </a:solidFill>
                <a:latin typeface="Courier"/>
              </a:rPr>
              <a:t>interface</a:t>
            </a:r>
            <a:r>
              <a:rPr>
                <a:latin typeface="Courier"/>
              </a:rPr>
              <a:t> </a:t>
            </a:r>
            <a:r>
              <a:rPr>
                <a:solidFill>
                  <a:srgbClr val="008000"/>
                </a:solidFill>
                <a:latin typeface="Courier"/>
              </a:rPr>
              <a:t>Codec</a:t>
            </a:r>
            <a:r>
              <a:rPr>
                <a:latin typeface="Courier"/>
              </a:rPr>
              <a:t> </a:t>
            </a:r>
            <a:r>
              <a:rPr>
                <a:solidFill>
                  <a:srgbClr val="666666"/>
                </a:solidFill>
                <a:latin typeface="Courier"/>
              </a:rPr>
              <a:t>{</a:t>
            </a:r>
            <a:r>
              <a:rPr>
                <a:latin typeface="Courier"/>
              </a:rPr>
              <a:t> </a:t>
            </a:r>
            <a:r>
              <a:rPr>
                <a:solidFill>
                  <a:srgbClr val="666666"/>
                </a:solidFill>
                <a:latin typeface="Courier"/>
              </a:rPr>
              <a:t>}</a:t>
            </a:r>
            <a:br/>
            <a:br/>
            <a:r>
              <a:rPr b="1">
                <a:solidFill>
                  <a:srgbClr val="007020"/>
                </a:solidFill>
                <a:latin typeface="Courier"/>
              </a:rPr>
              <a:t>public</a:t>
            </a:r>
            <a:r>
              <a:rPr>
                <a:latin typeface="Courier"/>
              </a:rPr>
              <a:t> </a:t>
            </a:r>
            <a:r>
              <a:rPr b="1">
                <a:solidFill>
                  <a:srgbClr val="007020"/>
                </a:solidFill>
                <a:latin typeface="Courier"/>
              </a:rPr>
              <a:t>class</a:t>
            </a:r>
            <a:r>
              <a:rPr>
                <a:latin typeface="Courier"/>
              </a:rPr>
              <a:t> MPEG4CompressionCodec </a:t>
            </a:r>
            <a:r>
              <a:rPr b="1">
                <a:solidFill>
                  <a:srgbClr val="007020"/>
                </a:solidFill>
                <a:latin typeface="Courier"/>
              </a:rPr>
              <a:t>implements</a:t>
            </a:r>
            <a:r>
              <a:rPr>
                <a:latin typeface="Courier"/>
              </a:rPr>
              <a:t> </a:t>
            </a:r>
            <a:r>
              <a:rPr>
                <a:solidFill>
                  <a:srgbClr val="008000"/>
                </a:solidFill>
                <a:latin typeface="Courier"/>
              </a:rPr>
              <a:t>Codec</a:t>
            </a:r>
            <a:r>
              <a:rPr>
                <a:latin typeface="Courier"/>
              </a:rPr>
              <a:t> </a:t>
            </a:r>
            <a:r>
              <a:rPr>
                <a:solidFill>
                  <a:srgbClr val="666666"/>
                </a:solidFill>
                <a:latin typeface="Courier"/>
              </a:rPr>
              <a:t>{</a:t>
            </a:r>
            <a:br/>
            <a:r>
              <a:rPr>
                <a:latin typeface="Courier"/>
              </a:rPr>
              <a:t>    </a:t>
            </a:r>
            <a:r>
              <a:rPr b="1">
                <a:solidFill>
                  <a:srgbClr val="007020"/>
                </a:solidFill>
                <a:latin typeface="Courier"/>
              </a:rPr>
              <a:t>public</a:t>
            </a:r>
            <a:r>
              <a:rPr>
                <a:latin typeface="Courier"/>
              </a:rPr>
              <a:t> </a:t>
            </a:r>
            <a:r>
              <a:rPr>
                <a:solidFill>
                  <a:srgbClr val="008000"/>
                </a:solidFill>
                <a:latin typeface="Courier"/>
              </a:rPr>
              <a:t>String</a:t>
            </a:r>
            <a:r>
              <a:rPr>
                <a:latin typeface="Courier"/>
              </a:rPr>
              <a:t> type </a:t>
            </a:r>
            <a:r>
              <a:rPr>
                <a:solidFill>
                  <a:srgbClr val="666666"/>
                </a:solidFill>
                <a:latin typeface="Courier"/>
              </a:rPr>
              <a:t>=</a:t>
            </a:r>
            <a:r>
              <a:rPr>
                <a:latin typeface="Courier"/>
              </a:rPr>
              <a:t> </a:t>
            </a:r>
            <a:r>
              <a:rPr>
                <a:solidFill>
                  <a:srgbClr val="4070A0"/>
                </a:solidFill>
                <a:latin typeface="Courier"/>
              </a:rPr>
              <a:t>"mp4"</a:t>
            </a:r>
            <a:r>
              <a:rPr>
                <a:solidFill>
                  <a:srgbClr val="666666"/>
                </a:solidFill>
                <a:latin typeface="Courier"/>
              </a:rPr>
              <a:t>;</a:t>
            </a:r>
            <a:br/>
            <a:r>
              <a:rPr>
                <a:solidFill>
                  <a:srgbClr val="666666"/>
                </a:solidFill>
                <a:latin typeface="Courier"/>
              </a:rPr>
              <a:t>}</a:t>
            </a:r>
            <a:br/>
            <a:br/>
            <a:r>
              <a:rPr b="1">
                <a:solidFill>
                  <a:srgbClr val="007020"/>
                </a:solidFill>
                <a:latin typeface="Courier"/>
              </a:rPr>
              <a:t>public</a:t>
            </a:r>
            <a:r>
              <a:rPr>
                <a:latin typeface="Courier"/>
              </a:rPr>
              <a:t> </a:t>
            </a:r>
            <a:r>
              <a:rPr b="1">
                <a:solidFill>
                  <a:srgbClr val="007020"/>
                </a:solidFill>
                <a:latin typeface="Courier"/>
              </a:rPr>
              <a:t>class</a:t>
            </a:r>
            <a:r>
              <a:rPr>
                <a:latin typeface="Courier"/>
              </a:rPr>
              <a:t> OggCompressionCodec </a:t>
            </a:r>
            <a:r>
              <a:rPr b="1">
                <a:solidFill>
                  <a:srgbClr val="007020"/>
                </a:solidFill>
                <a:latin typeface="Courier"/>
              </a:rPr>
              <a:t>implements</a:t>
            </a:r>
            <a:r>
              <a:rPr>
                <a:latin typeface="Courier"/>
              </a:rPr>
              <a:t> </a:t>
            </a:r>
            <a:r>
              <a:rPr>
                <a:solidFill>
                  <a:srgbClr val="008000"/>
                </a:solidFill>
                <a:latin typeface="Courier"/>
              </a:rPr>
              <a:t>Codec</a:t>
            </a:r>
            <a:r>
              <a:rPr>
                <a:latin typeface="Courier"/>
              </a:rPr>
              <a:t> </a:t>
            </a:r>
            <a:r>
              <a:rPr>
                <a:solidFill>
                  <a:srgbClr val="666666"/>
                </a:solidFill>
                <a:latin typeface="Courier"/>
              </a:rPr>
              <a:t>{</a:t>
            </a:r>
            <a:br/>
            <a:r>
              <a:rPr>
                <a:latin typeface="Courier"/>
              </a:rPr>
              <a:t>    </a:t>
            </a:r>
            <a:r>
              <a:rPr b="1">
                <a:solidFill>
                  <a:srgbClr val="007020"/>
                </a:solidFill>
                <a:latin typeface="Courier"/>
              </a:rPr>
              <a:t>public</a:t>
            </a:r>
            <a:r>
              <a:rPr>
                <a:latin typeface="Courier"/>
              </a:rPr>
              <a:t> </a:t>
            </a:r>
            <a:r>
              <a:rPr>
                <a:solidFill>
                  <a:srgbClr val="008000"/>
                </a:solidFill>
                <a:latin typeface="Courier"/>
              </a:rPr>
              <a:t>String</a:t>
            </a:r>
            <a:r>
              <a:rPr>
                <a:latin typeface="Courier"/>
              </a:rPr>
              <a:t> type </a:t>
            </a:r>
            <a:r>
              <a:rPr>
                <a:solidFill>
                  <a:srgbClr val="666666"/>
                </a:solidFill>
                <a:latin typeface="Courier"/>
              </a:rPr>
              <a:t>=</a:t>
            </a:r>
            <a:r>
              <a:rPr>
                <a:latin typeface="Courier"/>
              </a:rPr>
              <a:t> </a:t>
            </a:r>
            <a:r>
              <a:rPr>
                <a:solidFill>
                  <a:srgbClr val="4070A0"/>
                </a:solidFill>
                <a:latin typeface="Courier"/>
              </a:rPr>
              <a:t>"ogg"</a:t>
            </a:r>
            <a:r>
              <a:rPr>
                <a:solidFill>
                  <a:srgbClr val="666666"/>
                </a:solidFill>
                <a:latin typeface="Courier"/>
              </a:rPr>
              <a:t>;</a:t>
            </a:r>
            <a:br/>
            <a:r>
              <a:rPr>
                <a:solidFill>
                  <a:srgbClr val="666666"/>
                </a:solidFill>
                <a:latin typeface="Courier"/>
              </a:rPr>
              <a:t>}</a:t>
            </a:r>
          </a:p>
        </p:txBody>
      </p:sp>
    </p:spTree>
  </p:cSld>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Facade: Java Code Example - Subsystem Classes (cont.)</a:t>
            </a:r>
          </a:p>
        </p:txBody>
      </p:sp>
      <p:sp>
        <p:nvSpPr>
          <p:cNvPr id="3" name="Content Placeholder 2"/>
          <p:cNvSpPr>
            <a:spLocks noGrp="1"/>
          </p:cNvSpPr>
          <p:nvPr>
            <p:ph idx="1"/>
          </p:nvPr>
        </p:nvSpPr>
        <p:spPr/>
        <p:txBody>
          <a:bodyPr/>
          <a:lstStyle/>
          <a:p>
            <a:pPr lvl="0" indent="0">
              <a:buNone/>
            </a:pPr>
            <a:r>
              <a:rPr b="1">
                <a:solidFill>
                  <a:srgbClr val="007020"/>
                </a:solidFill>
                <a:latin typeface="Courier"/>
              </a:rPr>
              <a:t>public</a:t>
            </a:r>
            <a:r>
              <a:rPr>
                <a:latin typeface="Courier"/>
              </a:rPr>
              <a:t> </a:t>
            </a:r>
            <a:r>
              <a:rPr b="1">
                <a:solidFill>
                  <a:srgbClr val="007020"/>
                </a:solidFill>
                <a:latin typeface="Courier"/>
              </a:rPr>
              <a:t>class</a:t>
            </a:r>
            <a:r>
              <a:rPr>
                <a:latin typeface="Courier"/>
              </a:rPr>
              <a:t> </a:t>
            </a:r>
            <a:r>
              <a:rPr>
                <a:solidFill>
                  <a:srgbClr val="008000"/>
                </a:solidFill>
                <a:latin typeface="Courier"/>
              </a:rPr>
              <a:t>CodecFactory</a:t>
            </a:r>
            <a:r>
              <a:rPr>
                <a:latin typeface="Courier"/>
              </a:rPr>
              <a:t> </a:t>
            </a:r>
            <a:r>
              <a:rPr>
                <a:solidFill>
                  <a:srgbClr val="666666"/>
                </a:solidFill>
                <a:latin typeface="Courier"/>
              </a:rPr>
              <a:t>{</a:t>
            </a:r>
            <a:br/>
            <a:r>
              <a:rPr>
                <a:latin typeface="Courier"/>
              </a:rPr>
              <a:t>    </a:t>
            </a:r>
            <a:r>
              <a:rPr b="1">
                <a:solidFill>
                  <a:srgbClr val="007020"/>
                </a:solidFill>
                <a:latin typeface="Courier"/>
              </a:rPr>
              <a:t>public</a:t>
            </a:r>
            <a:r>
              <a:rPr>
                <a:latin typeface="Courier"/>
              </a:rPr>
              <a:t> </a:t>
            </a:r>
            <a:r>
              <a:rPr>
                <a:solidFill>
                  <a:srgbClr val="902000"/>
                </a:solidFill>
                <a:latin typeface="Courier"/>
              </a:rPr>
              <a:t>static</a:t>
            </a:r>
            <a:r>
              <a:rPr>
                <a:latin typeface="Courier"/>
              </a:rPr>
              <a:t> </a:t>
            </a:r>
            <a:r>
              <a:rPr>
                <a:solidFill>
                  <a:srgbClr val="008000"/>
                </a:solidFill>
                <a:latin typeface="Courier"/>
              </a:rPr>
              <a:t>Codec</a:t>
            </a:r>
            <a:r>
              <a:rPr>
                <a:latin typeface="Courier"/>
              </a:rPr>
              <a:t> </a:t>
            </a:r>
            <a:r>
              <a:rPr>
                <a:solidFill>
                  <a:srgbClr val="06287E"/>
                </a:solidFill>
                <a:latin typeface="Courier"/>
              </a:rPr>
              <a:t>extract</a:t>
            </a:r>
            <a:r>
              <a:rPr>
                <a:solidFill>
                  <a:srgbClr val="666666"/>
                </a:solidFill>
                <a:latin typeface="Courier"/>
              </a:rPr>
              <a:t>(</a:t>
            </a:r>
            <a:r>
              <a:rPr>
                <a:latin typeface="Courier"/>
              </a:rPr>
              <a:t>VideoFile file</a:t>
            </a:r>
            <a:r>
              <a:rPr>
                <a:solidFill>
                  <a:srgbClr val="666666"/>
                </a:solidFill>
                <a:latin typeface="Courier"/>
              </a:rPr>
              <a:t>)</a:t>
            </a:r>
            <a:r>
              <a:rPr>
                <a:latin typeface="Courier"/>
              </a:rPr>
              <a:t> </a:t>
            </a:r>
            <a:r>
              <a:rPr>
                <a:solidFill>
                  <a:srgbClr val="666666"/>
                </a:solidFill>
                <a:latin typeface="Courier"/>
              </a:rPr>
              <a:t>{</a:t>
            </a:r>
            <a:br/>
            <a:r>
              <a:rPr>
                <a:latin typeface="Courier"/>
              </a:rPr>
              <a:t>        </a:t>
            </a:r>
            <a:r>
              <a:rPr>
                <a:solidFill>
                  <a:srgbClr val="008000"/>
                </a:solidFill>
                <a:latin typeface="Courier"/>
              </a:rPr>
              <a:t>String</a:t>
            </a:r>
            <a:r>
              <a:rPr>
                <a:latin typeface="Courier"/>
              </a:rPr>
              <a:t> type </a:t>
            </a:r>
            <a:r>
              <a:rPr>
                <a:solidFill>
                  <a:srgbClr val="666666"/>
                </a:solidFill>
                <a:latin typeface="Courier"/>
              </a:rPr>
              <a:t>=</a:t>
            </a:r>
            <a:r>
              <a:rPr>
                <a:latin typeface="Courier"/>
              </a:rPr>
              <a:t> file</a:t>
            </a:r>
            <a:r>
              <a:rPr>
                <a:solidFill>
                  <a:srgbClr val="666666"/>
                </a:solidFill>
                <a:latin typeface="Courier"/>
              </a:rPr>
              <a:t>.</a:t>
            </a:r>
            <a:r>
              <a:rPr>
                <a:solidFill>
                  <a:srgbClr val="06287E"/>
                </a:solidFill>
                <a:latin typeface="Courier"/>
              </a:rPr>
              <a:t>getCodecType</a:t>
            </a:r>
            <a:r>
              <a:rPr>
                <a:solidFill>
                  <a:srgbClr val="666666"/>
                </a:solidFill>
                <a:latin typeface="Courier"/>
              </a:rPr>
              <a:t>();</a:t>
            </a:r>
            <a:br/>
            <a:r>
              <a:rPr>
                <a:latin typeface="Courier"/>
              </a:rPr>
              <a:t>        </a:t>
            </a:r>
            <a:r>
              <a:rPr b="1">
                <a:solidFill>
                  <a:srgbClr val="007020"/>
                </a:solidFill>
                <a:latin typeface="Courier"/>
              </a:rPr>
              <a:t>if</a:t>
            </a:r>
            <a:r>
              <a:rPr>
                <a:latin typeface="Courier"/>
              </a:rPr>
              <a:t> </a:t>
            </a:r>
            <a:r>
              <a:rPr>
                <a:solidFill>
                  <a:srgbClr val="666666"/>
                </a:solidFill>
                <a:latin typeface="Courier"/>
              </a:rPr>
              <a:t>(</a:t>
            </a:r>
            <a:r>
              <a:rPr>
                <a:latin typeface="Courier"/>
              </a:rPr>
              <a:t>type</a:t>
            </a:r>
            <a:r>
              <a:rPr>
                <a:solidFill>
                  <a:srgbClr val="666666"/>
                </a:solidFill>
                <a:latin typeface="Courier"/>
              </a:rPr>
              <a:t>.</a:t>
            </a:r>
            <a:r>
              <a:rPr>
                <a:solidFill>
                  <a:srgbClr val="06287E"/>
                </a:solidFill>
                <a:latin typeface="Courier"/>
              </a:rPr>
              <a:t>equals</a:t>
            </a:r>
            <a:r>
              <a:rPr>
                <a:solidFill>
                  <a:srgbClr val="666666"/>
                </a:solidFill>
                <a:latin typeface="Courier"/>
              </a:rPr>
              <a:t>(</a:t>
            </a:r>
            <a:r>
              <a:rPr>
                <a:solidFill>
                  <a:srgbClr val="4070A0"/>
                </a:solidFill>
                <a:latin typeface="Courier"/>
              </a:rPr>
              <a:t>"mp4"</a:t>
            </a:r>
            <a:r>
              <a:rPr>
                <a:solidFill>
                  <a:srgbClr val="666666"/>
                </a:solidFill>
                <a:latin typeface="Courier"/>
              </a:rPr>
              <a:t>))</a:t>
            </a:r>
            <a:r>
              <a:rPr>
                <a:latin typeface="Courier"/>
              </a:rPr>
              <a:t> </a:t>
            </a:r>
            <a:r>
              <a:rPr>
                <a:solidFill>
                  <a:srgbClr val="666666"/>
                </a:solidFill>
                <a:latin typeface="Courier"/>
              </a:rPr>
              <a:t>{</a:t>
            </a:r>
            <a:br/>
            <a:r>
              <a:rPr>
                <a:latin typeface="Courier"/>
              </a:rPr>
              <a:t>            </a:t>
            </a:r>
            <a:r>
              <a:rPr>
                <a:solidFill>
                  <a:srgbClr val="008000"/>
                </a:solidFill>
                <a:latin typeface="Courier"/>
              </a:rPr>
              <a:t>System</a:t>
            </a:r>
            <a:r>
              <a:rPr>
                <a:solidFill>
                  <a:srgbClr val="666666"/>
                </a:solidFill>
                <a:latin typeface="Courier"/>
              </a:rPr>
              <a:t>.</a:t>
            </a:r>
            <a:r>
              <a:rPr>
                <a:solidFill>
                  <a:srgbClr val="06287E"/>
                </a:solidFill>
                <a:latin typeface="Courier"/>
              </a:rPr>
              <a:t>out</a:t>
            </a:r>
            <a:r>
              <a:rPr>
                <a:solidFill>
                  <a:srgbClr val="666666"/>
                </a:solidFill>
                <a:latin typeface="Courier"/>
              </a:rPr>
              <a:t>.</a:t>
            </a:r>
            <a:r>
              <a:rPr>
                <a:solidFill>
                  <a:srgbClr val="06287E"/>
                </a:solidFill>
                <a:latin typeface="Courier"/>
              </a:rPr>
              <a:t>println</a:t>
            </a:r>
            <a:r>
              <a:rPr>
                <a:solidFill>
                  <a:srgbClr val="666666"/>
                </a:solidFill>
                <a:latin typeface="Courier"/>
              </a:rPr>
              <a:t>(</a:t>
            </a:r>
            <a:r>
              <a:rPr>
                <a:solidFill>
                  <a:srgbClr val="4070A0"/>
                </a:solidFill>
                <a:latin typeface="Courier"/>
              </a:rPr>
              <a:t>"CodecFactory: extracting "</a:t>
            </a:r>
            <a:r>
              <a:rPr>
                <a:latin typeface="Courier"/>
              </a:rPr>
              <a:t> </a:t>
            </a:r>
            <a:r>
              <a:rPr>
                <a:solidFill>
                  <a:srgbClr val="666666"/>
                </a:solidFill>
                <a:latin typeface="Courier"/>
              </a:rPr>
              <a:t>+</a:t>
            </a:r>
            <a:br/>
            <a:r>
              <a:rPr>
                <a:latin typeface="Courier"/>
              </a:rPr>
              <a:t>                </a:t>
            </a:r>
            <a:r>
              <a:rPr>
                <a:solidFill>
                  <a:srgbClr val="4070A0"/>
                </a:solidFill>
                <a:latin typeface="Courier"/>
              </a:rPr>
              <a:t>"MPEG4 audio..."</a:t>
            </a:r>
            <a:r>
              <a:rPr>
                <a:solidFill>
                  <a:srgbClr val="666666"/>
                </a:solidFill>
                <a:latin typeface="Courier"/>
              </a:rPr>
              <a:t>);</a:t>
            </a:r>
            <a:br/>
            <a:r>
              <a:rPr>
                <a:latin typeface="Courier"/>
              </a:rPr>
              <a:t>            </a:t>
            </a:r>
            <a:r>
              <a:rPr b="1">
                <a:solidFill>
                  <a:srgbClr val="007020"/>
                </a:solidFill>
                <a:latin typeface="Courier"/>
              </a:rPr>
              <a:t>return</a:t>
            </a:r>
            <a:r>
              <a:rPr>
                <a:latin typeface="Courier"/>
              </a:rPr>
              <a:t> </a:t>
            </a:r>
            <a:r>
              <a:rPr b="1">
                <a:solidFill>
                  <a:srgbClr val="007020"/>
                </a:solidFill>
                <a:latin typeface="Courier"/>
              </a:rPr>
              <a:t>new</a:t>
            </a:r>
            <a:r>
              <a:rPr>
                <a:latin typeface="Courier"/>
              </a:rPr>
              <a:t> </a:t>
            </a:r>
            <a:r>
              <a:rPr>
                <a:solidFill>
                  <a:srgbClr val="06287E"/>
                </a:solidFill>
                <a:latin typeface="Courier"/>
              </a:rPr>
              <a:t>MPEG4CompressionCodec</a:t>
            </a:r>
            <a:r>
              <a:rPr>
                <a:solidFill>
                  <a:srgbClr val="666666"/>
                </a:solidFill>
                <a:latin typeface="Courier"/>
              </a:rPr>
              <a:t>();</a:t>
            </a:r>
            <a:br/>
            <a:r>
              <a:rPr>
                <a:latin typeface="Courier"/>
              </a:rPr>
              <a:t>        </a:t>
            </a:r>
            <a:r>
              <a:rPr>
                <a:solidFill>
                  <a:srgbClr val="666666"/>
                </a:solidFill>
                <a:latin typeface="Courier"/>
              </a:rPr>
              <a:t>}</a:t>
            </a:r>
            <a:r>
              <a:rPr>
                <a:latin typeface="Courier"/>
              </a:rPr>
              <a:t> </a:t>
            </a:r>
            <a:r>
              <a:rPr b="1">
                <a:solidFill>
                  <a:srgbClr val="007020"/>
                </a:solidFill>
                <a:latin typeface="Courier"/>
              </a:rPr>
              <a:t>else</a:t>
            </a:r>
            <a:r>
              <a:rPr>
                <a:latin typeface="Courier"/>
              </a:rPr>
              <a:t> </a:t>
            </a:r>
            <a:r>
              <a:rPr>
                <a:solidFill>
                  <a:srgbClr val="666666"/>
                </a:solidFill>
                <a:latin typeface="Courier"/>
              </a:rPr>
              <a:t>{</a:t>
            </a:r>
            <a:br/>
            <a:r>
              <a:rPr>
                <a:latin typeface="Courier"/>
              </a:rPr>
              <a:t>            </a:t>
            </a:r>
            <a:r>
              <a:rPr>
                <a:solidFill>
                  <a:srgbClr val="008000"/>
                </a:solidFill>
                <a:latin typeface="Courier"/>
              </a:rPr>
              <a:t>System</a:t>
            </a:r>
            <a:r>
              <a:rPr>
                <a:solidFill>
                  <a:srgbClr val="666666"/>
                </a:solidFill>
                <a:latin typeface="Courier"/>
              </a:rPr>
              <a:t>.</a:t>
            </a:r>
            <a:r>
              <a:rPr>
                <a:solidFill>
                  <a:srgbClr val="06287E"/>
                </a:solidFill>
                <a:latin typeface="Courier"/>
              </a:rPr>
              <a:t>out</a:t>
            </a:r>
            <a:r>
              <a:rPr>
                <a:solidFill>
                  <a:srgbClr val="666666"/>
                </a:solidFill>
                <a:latin typeface="Courier"/>
              </a:rPr>
              <a:t>.</a:t>
            </a:r>
            <a:r>
              <a:rPr>
                <a:solidFill>
                  <a:srgbClr val="06287E"/>
                </a:solidFill>
                <a:latin typeface="Courier"/>
              </a:rPr>
              <a:t>println</a:t>
            </a:r>
            <a:r>
              <a:rPr>
                <a:solidFill>
                  <a:srgbClr val="666666"/>
                </a:solidFill>
                <a:latin typeface="Courier"/>
              </a:rPr>
              <a:t>(</a:t>
            </a:r>
            <a:r>
              <a:rPr>
                <a:solidFill>
                  <a:srgbClr val="4070A0"/>
                </a:solidFill>
                <a:latin typeface="Courier"/>
              </a:rPr>
              <a:t>"CodecFactory: extracting "</a:t>
            </a:r>
            <a:r>
              <a:rPr>
                <a:latin typeface="Courier"/>
              </a:rPr>
              <a:t> </a:t>
            </a:r>
            <a:r>
              <a:rPr>
                <a:solidFill>
                  <a:srgbClr val="666666"/>
                </a:solidFill>
                <a:latin typeface="Courier"/>
              </a:rPr>
              <a:t>+</a:t>
            </a:r>
            <a:br/>
            <a:r>
              <a:rPr>
                <a:latin typeface="Courier"/>
              </a:rPr>
              <a:t>                </a:t>
            </a:r>
            <a:r>
              <a:rPr>
                <a:solidFill>
                  <a:srgbClr val="4070A0"/>
                </a:solidFill>
                <a:latin typeface="Courier"/>
              </a:rPr>
              <a:t>"Ogg audio..."</a:t>
            </a:r>
            <a:r>
              <a:rPr>
                <a:solidFill>
                  <a:srgbClr val="666666"/>
                </a:solidFill>
                <a:latin typeface="Courier"/>
              </a:rPr>
              <a:t>);</a:t>
            </a:r>
            <a:br/>
            <a:r>
              <a:rPr>
                <a:latin typeface="Courier"/>
              </a:rPr>
              <a:t>            </a:t>
            </a:r>
            <a:r>
              <a:rPr b="1">
                <a:solidFill>
                  <a:srgbClr val="007020"/>
                </a:solidFill>
                <a:latin typeface="Courier"/>
              </a:rPr>
              <a:t>return</a:t>
            </a:r>
            <a:r>
              <a:rPr>
                <a:latin typeface="Courier"/>
              </a:rPr>
              <a:t> </a:t>
            </a:r>
            <a:r>
              <a:rPr b="1">
                <a:solidFill>
                  <a:srgbClr val="007020"/>
                </a:solidFill>
                <a:latin typeface="Courier"/>
              </a:rPr>
              <a:t>new</a:t>
            </a:r>
            <a:r>
              <a:rPr>
                <a:latin typeface="Courier"/>
              </a:rPr>
              <a:t> </a:t>
            </a:r>
            <a:r>
              <a:rPr>
                <a:solidFill>
                  <a:srgbClr val="06287E"/>
                </a:solidFill>
                <a:latin typeface="Courier"/>
              </a:rPr>
              <a:t>OggCompressionCodec</a:t>
            </a:r>
            <a:r>
              <a:rPr>
                <a:solidFill>
                  <a:srgbClr val="666666"/>
                </a:solidFill>
                <a:latin typeface="Courier"/>
              </a:rPr>
              <a:t>();</a:t>
            </a:r>
            <a:br/>
            <a:r>
              <a:rPr>
                <a:latin typeface="Courier"/>
              </a:rPr>
              <a:t>        </a:t>
            </a:r>
            <a:r>
              <a:rPr>
                <a:solidFill>
                  <a:srgbClr val="666666"/>
                </a:solidFill>
                <a:latin typeface="Courier"/>
              </a:rPr>
              <a:t>}</a:t>
            </a:r>
            <a:br/>
            <a:r>
              <a:rPr>
                <a:latin typeface="Courier"/>
              </a:rPr>
              <a:t>    </a:t>
            </a:r>
            <a:r>
              <a:rPr>
                <a:solidFill>
                  <a:srgbClr val="666666"/>
                </a:solidFill>
                <a:latin typeface="Courier"/>
              </a:rPr>
              <a:t>}</a:t>
            </a:r>
            <a:br/>
            <a:r>
              <a:rPr>
                <a:solidFill>
                  <a:srgbClr val="666666"/>
                </a:solidFill>
                <a:latin typeface="Courier"/>
              </a:rPr>
              <a:t>}</a:t>
            </a:r>
            <a:br/>
            <a:br/>
            <a:r>
              <a:rPr b="1">
                <a:solidFill>
                  <a:srgbClr val="007020"/>
                </a:solidFill>
                <a:latin typeface="Courier"/>
              </a:rPr>
              <a:t>public</a:t>
            </a:r>
            <a:r>
              <a:rPr>
                <a:latin typeface="Courier"/>
              </a:rPr>
              <a:t> </a:t>
            </a:r>
            <a:r>
              <a:rPr b="1">
                <a:solidFill>
                  <a:srgbClr val="007020"/>
                </a:solidFill>
                <a:latin typeface="Courier"/>
              </a:rPr>
              <a:t>class</a:t>
            </a:r>
            <a:r>
              <a:rPr>
                <a:latin typeface="Courier"/>
              </a:rPr>
              <a:t> BitrateReader </a:t>
            </a:r>
            <a:r>
              <a:rPr>
                <a:solidFill>
                  <a:srgbClr val="666666"/>
                </a:solidFill>
                <a:latin typeface="Courier"/>
              </a:rPr>
              <a:t>{</a:t>
            </a:r>
            <a:br/>
            <a:r>
              <a:rPr>
                <a:latin typeface="Courier"/>
              </a:rPr>
              <a:t>    </a:t>
            </a:r>
            <a:r>
              <a:rPr b="1">
                <a:solidFill>
                  <a:srgbClr val="007020"/>
                </a:solidFill>
                <a:latin typeface="Courier"/>
              </a:rPr>
              <a:t>public</a:t>
            </a:r>
            <a:r>
              <a:rPr>
                <a:latin typeface="Courier"/>
              </a:rPr>
              <a:t> </a:t>
            </a:r>
            <a:r>
              <a:rPr>
                <a:solidFill>
                  <a:srgbClr val="902000"/>
                </a:solidFill>
                <a:latin typeface="Courier"/>
              </a:rPr>
              <a:t>static</a:t>
            </a:r>
            <a:r>
              <a:rPr>
                <a:latin typeface="Courier"/>
              </a:rPr>
              <a:t> VideoFile </a:t>
            </a:r>
            <a:r>
              <a:rPr>
                <a:solidFill>
                  <a:srgbClr val="06287E"/>
                </a:solidFill>
                <a:latin typeface="Courier"/>
              </a:rPr>
              <a:t>read</a:t>
            </a:r>
            <a:r>
              <a:rPr>
                <a:solidFill>
                  <a:srgbClr val="666666"/>
                </a:solidFill>
                <a:latin typeface="Courier"/>
              </a:rPr>
              <a:t>(</a:t>
            </a:r>
            <a:r>
              <a:rPr>
                <a:latin typeface="Courier"/>
              </a:rPr>
              <a:t>VideoFile file</a:t>
            </a:r>
            <a:r>
              <a:rPr>
                <a:solidFill>
                  <a:srgbClr val="666666"/>
                </a:solidFill>
                <a:latin typeface="Courier"/>
              </a:rPr>
              <a:t>,</a:t>
            </a:r>
            <a:r>
              <a:rPr>
                <a:latin typeface="Courier"/>
              </a:rPr>
              <a:t> </a:t>
            </a:r>
            <a:r>
              <a:rPr>
                <a:solidFill>
                  <a:srgbClr val="008000"/>
                </a:solidFill>
                <a:latin typeface="Courier"/>
              </a:rPr>
              <a:t>Codec</a:t>
            </a:r>
            <a:r>
              <a:rPr>
                <a:latin typeface="Courier"/>
              </a:rPr>
              <a:t> codec</a:t>
            </a:r>
            <a:r>
              <a:rPr>
                <a:solidFill>
                  <a:srgbClr val="666666"/>
                </a:solidFill>
                <a:latin typeface="Courier"/>
              </a:rPr>
              <a:t>)</a:t>
            </a:r>
            <a:r>
              <a:rPr>
                <a:latin typeface="Courier"/>
              </a:rPr>
              <a:t> </a:t>
            </a:r>
            <a:r>
              <a:rPr>
                <a:solidFill>
                  <a:srgbClr val="666666"/>
                </a:solidFill>
                <a:latin typeface="Courier"/>
              </a:rPr>
              <a:t>{</a:t>
            </a:r>
            <a:br/>
            <a:r>
              <a:rPr>
                <a:latin typeface="Courier"/>
              </a:rPr>
              <a:t>        </a:t>
            </a:r>
            <a:r>
              <a:rPr>
                <a:solidFill>
                  <a:srgbClr val="008000"/>
                </a:solidFill>
                <a:latin typeface="Courier"/>
              </a:rPr>
              <a:t>System</a:t>
            </a:r>
            <a:r>
              <a:rPr>
                <a:solidFill>
                  <a:srgbClr val="666666"/>
                </a:solidFill>
                <a:latin typeface="Courier"/>
              </a:rPr>
              <a:t>.</a:t>
            </a:r>
            <a:r>
              <a:rPr>
                <a:solidFill>
                  <a:srgbClr val="06287E"/>
                </a:solidFill>
                <a:latin typeface="Courier"/>
              </a:rPr>
              <a:t>out</a:t>
            </a:r>
            <a:r>
              <a:rPr>
                <a:solidFill>
                  <a:srgbClr val="666666"/>
                </a:solidFill>
                <a:latin typeface="Courier"/>
              </a:rPr>
              <a:t>.</a:t>
            </a:r>
            <a:r>
              <a:rPr>
                <a:solidFill>
                  <a:srgbClr val="06287E"/>
                </a:solidFill>
                <a:latin typeface="Courier"/>
              </a:rPr>
              <a:t>println</a:t>
            </a:r>
            <a:r>
              <a:rPr>
                <a:solidFill>
                  <a:srgbClr val="666666"/>
                </a:solidFill>
                <a:latin typeface="Courier"/>
              </a:rPr>
              <a:t>(</a:t>
            </a:r>
            <a:r>
              <a:rPr>
                <a:solidFill>
                  <a:srgbClr val="4070A0"/>
                </a:solidFill>
                <a:latin typeface="Courier"/>
              </a:rPr>
              <a:t>"BitrateReader: reading file..."</a:t>
            </a:r>
            <a:r>
              <a:rPr>
                <a:solidFill>
                  <a:srgbClr val="666666"/>
                </a:solidFill>
                <a:latin typeface="Courier"/>
              </a:rPr>
              <a:t>);</a:t>
            </a:r>
            <a:br/>
            <a:r>
              <a:rPr>
                <a:latin typeface="Courier"/>
              </a:rPr>
              <a:t>        </a:t>
            </a:r>
            <a:r>
              <a:rPr b="1">
                <a:solidFill>
                  <a:srgbClr val="007020"/>
                </a:solidFill>
                <a:latin typeface="Courier"/>
              </a:rPr>
              <a:t>return</a:t>
            </a:r>
            <a:r>
              <a:rPr>
                <a:latin typeface="Courier"/>
              </a:rPr>
              <a:t> file</a:t>
            </a:r>
            <a:r>
              <a:rPr>
                <a:solidFill>
                  <a:srgbClr val="666666"/>
                </a:solidFill>
                <a:latin typeface="Courier"/>
              </a:rPr>
              <a:t>;</a:t>
            </a:r>
            <a:br/>
            <a:r>
              <a:rPr>
                <a:latin typeface="Courier"/>
              </a:rPr>
              <a:t>    </a:t>
            </a:r>
            <a:r>
              <a:rPr>
                <a:solidFill>
                  <a:srgbClr val="666666"/>
                </a:solidFill>
                <a:latin typeface="Courier"/>
              </a:rPr>
              <a:t>}</a:t>
            </a:r>
            <a:br/>
            <a:br/>
            <a:r>
              <a:rPr>
                <a:latin typeface="Courier"/>
              </a:rPr>
              <a:t>    </a:t>
            </a:r>
            <a:r>
              <a:rPr b="1">
                <a:solidFill>
                  <a:srgbClr val="007020"/>
                </a:solidFill>
                <a:latin typeface="Courier"/>
              </a:rPr>
              <a:t>public</a:t>
            </a:r>
            <a:r>
              <a:rPr>
                <a:latin typeface="Courier"/>
              </a:rPr>
              <a:t> </a:t>
            </a:r>
            <a:r>
              <a:rPr>
                <a:solidFill>
                  <a:srgbClr val="902000"/>
                </a:solidFill>
                <a:latin typeface="Courier"/>
              </a:rPr>
              <a:t>static</a:t>
            </a:r>
            <a:r>
              <a:rPr>
                <a:latin typeface="Courier"/>
              </a:rPr>
              <a:t> VideoFile </a:t>
            </a:r>
            <a:r>
              <a:rPr>
                <a:solidFill>
                  <a:srgbClr val="06287E"/>
                </a:solidFill>
                <a:latin typeface="Courier"/>
              </a:rPr>
              <a:t>convert</a:t>
            </a:r>
            <a:r>
              <a:rPr>
                <a:solidFill>
                  <a:srgbClr val="666666"/>
                </a:solidFill>
                <a:latin typeface="Courier"/>
              </a:rPr>
              <a:t>(</a:t>
            </a:r>
            <a:r>
              <a:rPr>
                <a:latin typeface="Courier"/>
              </a:rPr>
              <a:t>VideoFile buffer</a:t>
            </a:r>
            <a:r>
              <a:rPr>
                <a:solidFill>
                  <a:srgbClr val="666666"/>
                </a:solidFill>
                <a:latin typeface="Courier"/>
              </a:rPr>
              <a:t>,</a:t>
            </a:r>
            <a:br/>
            <a:r>
              <a:rPr>
                <a:latin typeface="Courier"/>
              </a:rPr>
              <a:t>                                     </a:t>
            </a:r>
            <a:r>
              <a:rPr>
                <a:solidFill>
                  <a:srgbClr val="008000"/>
                </a:solidFill>
                <a:latin typeface="Courier"/>
              </a:rPr>
              <a:t>Codec</a:t>
            </a:r>
            <a:r>
              <a:rPr>
                <a:latin typeface="Courier"/>
              </a:rPr>
              <a:t> codec</a:t>
            </a:r>
            <a:r>
              <a:rPr>
                <a:solidFill>
                  <a:srgbClr val="666666"/>
                </a:solidFill>
                <a:latin typeface="Courier"/>
              </a:rPr>
              <a:t>)</a:t>
            </a:r>
            <a:r>
              <a:rPr>
                <a:latin typeface="Courier"/>
              </a:rPr>
              <a:t> </a:t>
            </a:r>
            <a:r>
              <a:rPr>
                <a:solidFill>
                  <a:srgbClr val="666666"/>
                </a:solidFill>
                <a:latin typeface="Courier"/>
              </a:rPr>
              <a:t>{</a:t>
            </a:r>
            <a:br/>
            <a:r>
              <a:rPr>
                <a:latin typeface="Courier"/>
              </a:rPr>
              <a:t>        </a:t>
            </a:r>
            <a:r>
              <a:rPr>
                <a:solidFill>
                  <a:srgbClr val="008000"/>
                </a:solidFill>
                <a:latin typeface="Courier"/>
              </a:rPr>
              <a:t>System</a:t>
            </a:r>
            <a:r>
              <a:rPr>
                <a:solidFill>
                  <a:srgbClr val="666666"/>
                </a:solidFill>
                <a:latin typeface="Courier"/>
              </a:rPr>
              <a:t>.</a:t>
            </a:r>
            <a:r>
              <a:rPr>
                <a:solidFill>
                  <a:srgbClr val="06287E"/>
                </a:solidFill>
                <a:latin typeface="Courier"/>
              </a:rPr>
              <a:t>out</a:t>
            </a:r>
            <a:r>
              <a:rPr>
                <a:solidFill>
                  <a:srgbClr val="666666"/>
                </a:solidFill>
                <a:latin typeface="Courier"/>
              </a:rPr>
              <a:t>.</a:t>
            </a:r>
            <a:r>
              <a:rPr>
                <a:solidFill>
                  <a:srgbClr val="06287E"/>
                </a:solidFill>
                <a:latin typeface="Courier"/>
              </a:rPr>
              <a:t>println</a:t>
            </a:r>
            <a:r>
              <a:rPr>
                <a:solidFill>
                  <a:srgbClr val="666666"/>
                </a:solidFill>
                <a:latin typeface="Courier"/>
              </a:rPr>
              <a:t>(</a:t>
            </a:r>
            <a:r>
              <a:rPr>
                <a:solidFill>
                  <a:srgbClr val="4070A0"/>
                </a:solidFill>
                <a:latin typeface="Courier"/>
              </a:rPr>
              <a:t>"BitrateReader: writing file..."</a:t>
            </a:r>
            <a:r>
              <a:rPr>
                <a:solidFill>
                  <a:srgbClr val="666666"/>
                </a:solidFill>
                <a:latin typeface="Courier"/>
              </a:rPr>
              <a:t>);</a:t>
            </a:r>
            <a:br/>
            <a:r>
              <a:rPr>
                <a:latin typeface="Courier"/>
              </a:rPr>
              <a:t>        </a:t>
            </a:r>
            <a:r>
              <a:rPr b="1">
                <a:solidFill>
                  <a:srgbClr val="007020"/>
                </a:solidFill>
                <a:latin typeface="Courier"/>
              </a:rPr>
              <a:t>return</a:t>
            </a:r>
            <a:r>
              <a:rPr>
                <a:latin typeface="Courier"/>
              </a:rPr>
              <a:t> buffer</a:t>
            </a:r>
            <a:r>
              <a:rPr>
                <a:solidFill>
                  <a:srgbClr val="666666"/>
                </a:solidFill>
                <a:latin typeface="Courier"/>
              </a:rPr>
              <a:t>;</a:t>
            </a:r>
            <a:br/>
            <a:r>
              <a:rPr>
                <a:latin typeface="Courier"/>
              </a:rPr>
              <a:t>    </a:t>
            </a:r>
            <a:r>
              <a:rPr>
                <a:solidFill>
                  <a:srgbClr val="666666"/>
                </a:solidFill>
                <a:latin typeface="Courier"/>
              </a:rPr>
              <a:t>}</a:t>
            </a:r>
            <a:br/>
            <a:r>
              <a:rPr>
                <a:solidFill>
                  <a:srgbClr val="666666"/>
                </a:solidFill>
                <a:latin typeface="Courier"/>
              </a:rPr>
              <a:t>}</a:t>
            </a:r>
            <a:br/>
            <a:br/>
            <a:r>
              <a:rPr b="1">
                <a:solidFill>
                  <a:srgbClr val="007020"/>
                </a:solidFill>
                <a:latin typeface="Courier"/>
              </a:rPr>
              <a:t>public</a:t>
            </a:r>
            <a:r>
              <a:rPr>
                <a:latin typeface="Courier"/>
              </a:rPr>
              <a:t> </a:t>
            </a:r>
            <a:r>
              <a:rPr b="1">
                <a:solidFill>
                  <a:srgbClr val="007020"/>
                </a:solidFill>
                <a:latin typeface="Courier"/>
              </a:rPr>
              <a:t>class</a:t>
            </a:r>
            <a:r>
              <a:rPr>
                <a:latin typeface="Courier"/>
              </a:rPr>
              <a:t> AudioMixer </a:t>
            </a:r>
            <a:r>
              <a:rPr>
                <a:solidFill>
                  <a:srgbClr val="666666"/>
                </a:solidFill>
                <a:latin typeface="Courier"/>
              </a:rPr>
              <a:t>{</a:t>
            </a:r>
            <a:br/>
            <a:r>
              <a:rPr>
                <a:latin typeface="Courier"/>
              </a:rPr>
              <a:t>    </a:t>
            </a:r>
            <a:r>
              <a:rPr b="1">
                <a:solidFill>
                  <a:srgbClr val="007020"/>
                </a:solidFill>
                <a:latin typeface="Courier"/>
              </a:rPr>
              <a:t>public</a:t>
            </a:r>
            <a:r>
              <a:rPr>
                <a:latin typeface="Courier"/>
              </a:rPr>
              <a:t> VideoFile </a:t>
            </a:r>
            <a:r>
              <a:rPr>
                <a:solidFill>
                  <a:srgbClr val="06287E"/>
                </a:solidFill>
                <a:latin typeface="Courier"/>
              </a:rPr>
              <a:t>fix</a:t>
            </a:r>
            <a:r>
              <a:rPr>
                <a:solidFill>
                  <a:srgbClr val="666666"/>
                </a:solidFill>
                <a:latin typeface="Courier"/>
              </a:rPr>
              <a:t>(</a:t>
            </a:r>
            <a:r>
              <a:rPr>
                <a:latin typeface="Courier"/>
              </a:rPr>
              <a:t>VideoFile result</a:t>
            </a:r>
            <a:r>
              <a:rPr>
                <a:solidFill>
                  <a:srgbClr val="666666"/>
                </a:solidFill>
                <a:latin typeface="Courier"/>
              </a:rPr>
              <a:t>)</a:t>
            </a:r>
            <a:r>
              <a:rPr>
                <a:latin typeface="Courier"/>
              </a:rPr>
              <a:t> </a:t>
            </a:r>
            <a:r>
              <a:rPr>
                <a:solidFill>
                  <a:srgbClr val="666666"/>
                </a:solidFill>
                <a:latin typeface="Courier"/>
              </a:rPr>
              <a:t>{</a:t>
            </a:r>
            <a:br/>
            <a:r>
              <a:rPr>
                <a:latin typeface="Courier"/>
              </a:rPr>
              <a:t>        </a:t>
            </a:r>
            <a:r>
              <a:rPr>
                <a:solidFill>
                  <a:srgbClr val="008000"/>
                </a:solidFill>
                <a:latin typeface="Courier"/>
              </a:rPr>
              <a:t>System</a:t>
            </a:r>
            <a:r>
              <a:rPr>
                <a:solidFill>
                  <a:srgbClr val="666666"/>
                </a:solidFill>
                <a:latin typeface="Courier"/>
              </a:rPr>
              <a:t>.</a:t>
            </a:r>
            <a:r>
              <a:rPr>
                <a:solidFill>
                  <a:srgbClr val="06287E"/>
                </a:solidFill>
                <a:latin typeface="Courier"/>
              </a:rPr>
              <a:t>out</a:t>
            </a:r>
            <a:r>
              <a:rPr>
                <a:solidFill>
                  <a:srgbClr val="666666"/>
                </a:solidFill>
                <a:latin typeface="Courier"/>
              </a:rPr>
              <a:t>.</a:t>
            </a:r>
            <a:r>
              <a:rPr>
                <a:solidFill>
                  <a:srgbClr val="06287E"/>
                </a:solidFill>
                <a:latin typeface="Courier"/>
              </a:rPr>
              <a:t>println</a:t>
            </a:r>
            <a:r>
              <a:rPr>
                <a:solidFill>
                  <a:srgbClr val="666666"/>
                </a:solidFill>
                <a:latin typeface="Courier"/>
              </a:rPr>
              <a:t>(</a:t>
            </a:r>
            <a:r>
              <a:rPr>
                <a:solidFill>
                  <a:srgbClr val="4070A0"/>
                </a:solidFill>
                <a:latin typeface="Courier"/>
              </a:rPr>
              <a:t>"AudioMixer: fixing audio..."</a:t>
            </a:r>
            <a:r>
              <a:rPr>
                <a:solidFill>
                  <a:srgbClr val="666666"/>
                </a:solidFill>
                <a:latin typeface="Courier"/>
              </a:rPr>
              <a:t>);</a:t>
            </a:r>
            <a:br/>
            <a:r>
              <a:rPr>
                <a:latin typeface="Courier"/>
              </a:rPr>
              <a:t>        </a:t>
            </a:r>
            <a:r>
              <a:rPr b="1">
                <a:solidFill>
                  <a:srgbClr val="007020"/>
                </a:solidFill>
                <a:latin typeface="Courier"/>
              </a:rPr>
              <a:t>return</a:t>
            </a:r>
            <a:r>
              <a:rPr>
                <a:latin typeface="Courier"/>
              </a:rPr>
              <a:t> result</a:t>
            </a:r>
            <a:r>
              <a:rPr>
                <a:solidFill>
                  <a:srgbClr val="666666"/>
                </a:solidFill>
                <a:latin typeface="Courier"/>
              </a:rPr>
              <a:t>;</a:t>
            </a:r>
            <a:br/>
            <a:r>
              <a:rPr>
                <a:latin typeface="Courier"/>
              </a:rPr>
              <a:t>    </a:t>
            </a:r>
            <a:r>
              <a:rPr>
                <a:solidFill>
                  <a:srgbClr val="666666"/>
                </a:solidFill>
                <a:latin typeface="Courier"/>
              </a:rPr>
              <a:t>}</a:t>
            </a:r>
            <a:br/>
            <a:r>
              <a:rPr>
                <a:solidFill>
                  <a:srgbClr val="666666"/>
                </a:solidFill>
                <a:latin typeface="Courier"/>
              </a:rPr>
              <a:t>}</a:t>
            </a:r>
          </a:p>
        </p:txBody>
      </p:sp>
    </p:spTree>
  </p:cSld>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Facade: Java Code Example - Facade Class</a:t>
            </a:r>
          </a:p>
        </p:txBody>
      </p:sp>
      <p:sp>
        <p:nvSpPr>
          <p:cNvPr id="3" name="Content Placeholder 2"/>
          <p:cNvSpPr>
            <a:spLocks noGrp="1"/>
          </p:cNvSpPr>
          <p:nvPr>
            <p:ph idx="1"/>
          </p:nvPr>
        </p:nvSpPr>
        <p:spPr/>
        <p:txBody>
          <a:bodyPr/>
          <a:lstStyle/>
          <a:p>
            <a:pPr lvl="0" indent="0">
              <a:buNone/>
            </a:pPr>
            <a:r>
              <a:rPr i="1">
                <a:solidFill>
                  <a:srgbClr val="60A0B0"/>
                </a:solidFill>
                <a:latin typeface="Courier"/>
              </a:rPr>
              <a:t>// The Facade class provides a simple interface to the</a:t>
            </a:r>
            <a:br/>
            <a:r>
              <a:rPr i="1">
                <a:solidFill>
                  <a:srgbClr val="60A0B0"/>
                </a:solidFill>
                <a:latin typeface="Courier"/>
              </a:rPr>
              <a:t>// complex logic of one or several subsystems. The Facade</a:t>
            </a:r>
            <a:br/>
            <a:r>
              <a:rPr i="1">
                <a:solidFill>
                  <a:srgbClr val="60A0B0"/>
                </a:solidFill>
                <a:latin typeface="Courier"/>
              </a:rPr>
              <a:t>// delegates the client requests to the appropriate objects</a:t>
            </a:r>
            <a:br/>
            <a:r>
              <a:rPr i="1">
                <a:solidFill>
                  <a:srgbClr val="60A0B0"/>
                </a:solidFill>
                <a:latin typeface="Courier"/>
              </a:rPr>
              <a:t>// within the subsystem and is also responsible for managing</a:t>
            </a:r>
            <a:br/>
            <a:r>
              <a:rPr i="1">
                <a:solidFill>
                  <a:srgbClr val="60A0B0"/>
                </a:solidFill>
                <a:latin typeface="Courier"/>
              </a:rPr>
              <a:t>// their lifecycle.</a:t>
            </a:r>
            <a:br/>
            <a:r>
              <a:rPr b="1">
                <a:solidFill>
                  <a:srgbClr val="007020"/>
                </a:solidFill>
                <a:latin typeface="Courier"/>
              </a:rPr>
              <a:t>public</a:t>
            </a:r>
            <a:r>
              <a:rPr>
                <a:latin typeface="Courier"/>
              </a:rPr>
              <a:t> </a:t>
            </a:r>
            <a:r>
              <a:rPr b="1">
                <a:solidFill>
                  <a:srgbClr val="007020"/>
                </a:solidFill>
                <a:latin typeface="Courier"/>
              </a:rPr>
              <a:t>class</a:t>
            </a:r>
            <a:r>
              <a:rPr>
                <a:latin typeface="Courier"/>
              </a:rPr>
              <a:t> VideoConversionFacade </a:t>
            </a:r>
            <a:r>
              <a:rPr>
                <a:solidFill>
                  <a:srgbClr val="666666"/>
                </a:solidFill>
                <a:latin typeface="Courier"/>
              </a:rPr>
              <a:t>{</a:t>
            </a:r>
            <a:br/>
            <a:br/>
            <a:r>
              <a:rPr>
                <a:latin typeface="Courier"/>
              </a:rPr>
              <a:t>    </a:t>
            </a:r>
            <a:r>
              <a:rPr b="1">
                <a:solidFill>
                  <a:srgbClr val="007020"/>
                </a:solidFill>
                <a:latin typeface="Courier"/>
              </a:rPr>
              <a:t>public</a:t>
            </a:r>
            <a:r>
              <a:rPr>
                <a:latin typeface="Courier"/>
              </a:rPr>
              <a:t> VideoFile </a:t>
            </a:r>
            <a:r>
              <a:rPr>
                <a:solidFill>
                  <a:srgbClr val="06287E"/>
                </a:solidFill>
                <a:latin typeface="Courier"/>
              </a:rPr>
              <a:t>convert</a:t>
            </a:r>
            <a:r>
              <a:rPr>
                <a:solidFill>
                  <a:srgbClr val="666666"/>
                </a:solidFill>
                <a:latin typeface="Courier"/>
              </a:rPr>
              <a:t>(</a:t>
            </a:r>
            <a:r>
              <a:rPr>
                <a:solidFill>
                  <a:srgbClr val="008000"/>
                </a:solidFill>
                <a:latin typeface="Courier"/>
              </a:rPr>
              <a:t>String</a:t>
            </a:r>
            <a:r>
              <a:rPr>
                <a:latin typeface="Courier"/>
              </a:rPr>
              <a:t> filename</a:t>
            </a:r>
            <a:r>
              <a:rPr>
                <a:solidFill>
                  <a:srgbClr val="666666"/>
                </a:solidFill>
                <a:latin typeface="Courier"/>
              </a:rPr>
              <a:t>,</a:t>
            </a:r>
            <a:r>
              <a:rPr>
                <a:latin typeface="Courier"/>
              </a:rPr>
              <a:t> </a:t>
            </a:r>
            <a:r>
              <a:rPr>
                <a:solidFill>
                  <a:srgbClr val="008000"/>
                </a:solidFill>
                <a:latin typeface="Courier"/>
              </a:rPr>
              <a:t>String</a:t>
            </a:r>
            <a:r>
              <a:rPr>
                <a:latin typeface="Courier"/>
              </a:rPr>
              <a:t> format</a:t>
            </a:r>
            <a:r>
              <a:rPr>
                <a:solidFill>
                  <a:srgbClr val="666666"/>
                </a:solidFill>
                <a:latin typeface="Courier"/>
              </a:rPr>
              <a:t>)</a:t>
            </a:r>
            <a:r>
              <a:rPr>
                <a:latin typeface="Courier"/>
              </a:rPr>
              <a:t> </a:t>
            </a:r>
            <a:r>
              <a:rPr>
                <a:solidFill>
                  <a:srgbClr val="666666"/>
                </a:solidFill>
                <a:latin typeface="Courier"/>
              </a:rPr>
              <a:t>{</a:t>
            </a:r>
            <a:br/>
            <a:r>
              <a:rPr>
                <a:latin typeface="Courier"/>
              </a:rPr>
              <a:t>        </a:t>
            </a:r>
            <a:r>
              <a:rPr>
                <a:solidFill>
                  <a:srgbClr val="008000"/>
                </a:solidFill>
                <a:latin typeface="Courier"/>
              </a:rPr>
              <a:t>System</a:t>
            </a:r>
            <a:r>
              <a:rPr>
                <a:solidFill>
                  <a:srgbClr val="666666"/>
                </a:solidFill>
                <a:latin typeface="Courier"/>
              </a:rPr>
              <a:t>.</a:t>
            </a:r>
            <a:r>
              <a:rPr>
                <a:solidFill>
                  <a:srgbClr val="06287E"/>
                </a:solidFill>
                <a:latin typeface="Courier"/>
              </a:rPr>
              <a:t>out</a:t>
            </a:r>
            <a:r>
              <a:rPr>
                <a:solidFill>
                  <a:srgbClr val="666666"/>
                </a:solidFill>
                <a:latin typeface="Courier"/>
              </a:rPr>
              <a:t>.</a:t>
            </a:r>
            <a:r>
              <a:rPr>
                <a:solidFill>
                  <a:srgbClr val="06287E"/>
                </a:solidFill>
                <a:latin typeface="Courier"/>
              </a:rPr>
              <a:t>println</a:t>
            </a:r>
            <a:r>
              <a:rPr>
                <a:solidFill>
                  <a:srgbClr val="666666"/>
                </a:solidFill>
                <a:latin typeface="Courier"/>
              </a:rPr>
              <a:t>(</a:t>
            </a:r>
            <a:r>
              <a:rPr>
                <a:solidFill>
                  <a:srgbClr val="4070A0"/>
                </a:solidFill>
                <a:latin typeface="Courier"/>
              </a:rPr>
              <a:t>"VideoConversionFacade: "</a:t>
            </a:r>
            <a:r>
              <a:rPr>
                <a:latin typeface="Courier"/>
              </a:rPr>
              <a:t> </a:t>
            </a:r>
            <a:r>
              <a:rPr>
                <a:solidFill>
                  <a:srgbClr val="666666"/>
                </a:solidFill>
                <a:latin typeface="Courier"/>
              </a:rPr>
              <a:t>+</a:t>
            </a:r>
            <a:br/>
            <a:r>
              <a:rPr>
                <a:latin typeface="Courier"/>
              </a:rPr>
              <a:t>            </a:t>
            </a:r>
            <a:r>
              <a:rPr>
                <a:solidFill>
                  <a:srgbClr val="4070A0"/>
                </a:solidFill>
                <a:latin typeface="Courier"/>
              </a:rPr>
              <a:t>"conversion started."</a:t>
            </a:r>
            <a:r>
              <a:rPr>
                <a:solidFill>
                  <a:srgbClr val="666666"/>
                </a:solidFill>
                <a:latin typeface="Courier"/>
              </a:rPr>
              <a:t>);</a:t>
            </a:r>
            <a:br/>
            <a:r>
              <a:rPr>
                <a:latin typeface="Courier"/>
              </a:rPr>
              <a:t>        VideoFile file </a:t>
            </a:r>
            <a:r>
              <a:rPr>
                <a:solidFill>
                  <a:srgbClr val="666666"/>
                </a:solidFill>
                <a:latin typeface="Courier"/>
              </a:rPr>
              <a:t>=</a:t>
            </a:r>
            <a:r>
              <a:rPr>
                <a:latin typeface="Courier"/>
              </a:rPr>
              <a:t> </a:t>
            </a:r>
            <a:r>
              <a:rPr b="1">
                <a:solidFill>
                  <a:srgbClr val="007020"/>
                </a:solidFill>
                <a:latin typeface="Courier"/>
              </a:rPr>
              <a:t>new</a:t>
            </a:r>
            <a:r>
              <a:rPr>
                <a:latin typeface="Courier"/>
              </a:rPr>
              <a:t> </a:t>
            </a:r>
            <a:r>
              <a:rPr>
                <a:solidFill>
                  <a:srgbClr val="06287E"/>
                </a:solidFill>
                <a:latin typeface="Courier"/>
              </a:rPr>
              <a:t>VideoFile</a:t>
            </a:r>
            <a:r>
              <a:rPr>
                <a:solidFill>
                  <a:srgbClr val="666666"/>
                </a:solidFill>
                <a:latin typeface="Courier"/>
              </a:rPr>
              <a:t>(</a:t>
            </a:r>
            <a:r>
              <a:rPr>
                <a:latin typeface="Courier"/>
              </a:rPr>
              <a:t>filename</a:t>
            </a:r>
            <a:r>
              <a:rPr>
                <a:solidFill>
                  <a:srgbClr val="666666"/>
                </a:solidFill>
                <a:latin typeface="Courier"/>
              </a:rPr>
              <a:t>);</a:t>
            </a:r>
            <a:br/>
            <a:r>
              <a:rPr>
                <a:latin typeface="Courier"/>
              </a:rPr>
              <a:t>        </a:t>
            </a:r>
            <a:r>
              <a:rPr>
                <a:solidFill>
                  <a:srgbClr val="008000"/>
                </a:solidFill>
                <a:latin typeface="Courier"/>
              </a:rPr>
              <a:t>Codec</a:t>
            </a:r>
            <a:r>
              <a:rPr>
                <a:latin typeface="Courier"/>
              </a:rPr>
              <a:t> sourceCodec </a:t>
            </a:r>
            <a:r>
              <a:rPr>
                <a:solidFill>
                  <a:srgbClr val="666666"/>
                </a:solidFill>
                <a:latin typeface="Courier"/>
              </a:rPr>
              <a:t>=</a:t>
            </a:r>
            <a:r>
              <a:rPr>
                <a:latin typeface="Courier"/>
              </a:rPr>
              <a:t> </a:t>
            </a:r>
            <a:r>
              <a:rPr>
                <a:solidFill>
                  <a:srgbClr val="008000"/>
                </a:solidFill>
                <a:latin typeface="Courier"/>
              </a:rPr>
              <a:t>CodecFactory</a:t>
            </a:r>
            <a:r>
              <a:rPr>
                <a:solidFill>
                  <a:srgbClr val="666666"/>
                </a:solidFill>
                <a:latin typeface="Courier"/>
              </a:rPr>
              <a:t>.</a:t>
            </a:r>
            <a:r>
              <a:rPr>
                <a:solidFill>
                  <a:srgbClr val="06287E"/>
                </a:solidFill>
                <a:latin typeface="Courier"/>
              </a:rPr>
              <a:t>extract</a:t>
            </a:r>
            <a:r>
              <a:rPr>
                <a:solidFill>
                  <a:srgbClr val="666666"/>
                </a:solidFill>
                <a:latin typeface="Courier"/>
              </a:rPr>
              <a:t>(</a:t>
            </a:r>
            <a:r>
              <a:rPr>
                <a:latin typeface="Courier"/>
              </a:rPr>
              <a:t>file</a:t>
            </a:r>
            <a:r>
              <a:rPr>
                <a:solidFill>
                  <a:srgbClr val="666666"/>
                </a:solidFill>
                <a:latin typeface="Courier"/>
              </a:rPr>
              <a:t>);</a:t>
            </a:r>
            <a:br/>
            <a:br/>
            <a:r>
              <a:rPr>
                <a:latin typeface="Courier"/>
              </a:rPr>
              <a:t>        </a:t>
            </a:r>
            <a:r>
              <a:rPr>
                <a:solidFill>
                  <a:srgbClr val="008000"/>
                </a:solidFill>
                <a:latin typeface="Courier"/>
              </a:rPr>
              <a:t>Codec</a:t>
            </a:r>
            <a:r>
              <a:rPr>
                <a:latin typeface="Courier"/>
              </a:rPr>
              <a:t> destinationCodec</a:t>
            </a:r>
            <a:r>
              <a:rPr>
                <a:solidFill>
                  <a:srgbClr val="666666"/>
                </a:solidFill>
                <a:latin typeface="Courier"/>
              </a:rPr>
              <a:t>;</a:t>
            </a:r>
            <a:br/>
            <a:r>
              <a:rPr>
                <a:latin typeface="Courier"/>
              </a:rPr>
              <a:t>        </a:t>
            </a:r>
            <a:r>
              <a:rPr b="1">
                <a:solidFill>
                  <a:srgbClr val="007020"/>
                </a:solidFill>
                <a:latin typeface="Courier"/>
              </a:rPr>
              <a:t>if</a:t>
            </a:r>
            <a:r>
              <a:rPr>
                <a:latin typeface="Courier"/>
              </a:rPr>
              <a:t> </a:t>
            </a:r>
            <a:r>
              <a:rPr>
                <a:solidFill>
                  <a:srgbClr val="666666"/>
                </a:solidFill>
                <a:latin typeface="Courier"/>
              </a:rPr>
              <a:t>(</a:t>
            </a:r>
            <a:r>
              <a:rPr>
                <a:latin typeface="Courier"/>
              </a:rPr>
              <a:t>format</a:t>
            </a:r>
            <a:r>
              <a:rPr>
                <a:solidFill>
                  <a:srgbClr val="666666"/>
                </a:solidFill>
                <a:latin typeface="Courier"/>
              </a:rPr>
              <a:t>.</a:t>
            </a:r>
            <a:r>
              <a:rPr>
                <a:solidFill>
                  <a:srgbClr val="06287E"/>
                </a:solidFill>
                <a:latin typeface="Courier"/>
              </a:rPr>
              <a:t>equals</a:t>
            </a:r>
            <a:r>
              <a:rPr>
                <a:solidFill>
                  <a:srgbClr val="666666"/>
                </a:solidFill>
                <a:latin typeface="Courier"/>
              </a:rPr>
              <a:t>(</a:t>
            </a:r>
            <a:r>
              <a:rPr>
                <a:solidFill>
                  <a:srgbClr val="4070A0"/>
                </a:solidFill>
                <a:latin typeface="Courier"/>
              </a:rPr>
              <a:t>"mp4"</a:t>
            </a:r>
            <a:r>
              <a:rPr>
                <a:solidFill>
                  <a:srgbClr val="666666"/>
                </a:solidFill>
                <a:latin typeface="Courier"/>
              </a:rPr>
              <a:t>))</a:t>
            </a:r>
            <a:r>
              <a:rPr>
                <a:latin typeface="Courier"/>
              </a:rPr>
              <a:t> </a:t>
            </a:r>
            <a:r>
              <a:rPr>
                <a:solidFill>
                  <a:srgbClr val="666666"/>
                </a:solidFill>
                <a:latin typeface="Courier"/>
              </a:rPr>
              <a:t>{</a:t>
            </a:r>
            <a:br/>
            <a:r>
              <a:rPr>
                <a:latin typeface="Courier"/>
              </a:rPr>
              <a:t>            destinationCodec </a:t>
            </a:r>
            <a:r>
              <a:rPr>
                <a:solidFill>
                  <a:srgbClr val="666666"/>
                </a:solidFill>
                <a:latin typeface="Courier"/>
              </a:rPr>
              <a:t>=</a:t>
            </a:r>
            <a:r>
              <a:rPr>
                <a:latin typeface="Courier"/>
              </a:rPr>
              <a:t> </a:t>
            </a:r>
            <a:r>
              <a:rPr b="1">
                <a:solidFill>
                  <a:srgbClr val="007020"/>
                </a:solidFill>
                <a:latin typeface="Courier"/>
              </a:rPr>
              <a:t>new</a:t>
            </a:r>
            <a:r>
              <a:rPr>
                <a:latin typeface="Courier"/>
              </a:rPr>
              <a:t> </a:t>
            </a:r>
            <a:r>
              <a:rPr>
                <a:solidFill>
                  <a:srgbClr val="06287E"/>
                </a:solidFill>
                <a:latin typeface="Courier"/>
              </a:rPr>
              <a:t>MPEG4CompressionCodec</a:t>
            </a:r>
            <a:r>
              <a:rPr>
                <a:solidFill>
                  <a:srgbClr val="666666"/>
                </a:solidFill>
                <a:latin typeface="Courier"/>
              </a:rPr>
              <a:t>();</a:t>
            </a:r>
            <a:br/>
            <a:r>
              <a:rPr>
                <a:latin typeface="Courier"/>
              </a:rPr>
              <a:t>        </a:t>
            </a:r>
            <a:r>
              <a:rPr>
                <a:solidFill>
                  <a:srgbClr val="666666"/>
                </a:solidFill>
                <a:latin typeface="Courier"/>
              </a:rPr>
              <a:t>}</a:t>
            </a:r>
            <a:r>
              <a:rPr>
                <a:latin typeface="Courier"/>
              </a:rPr>
              <a:t> </a:t>
            </a:r>
            <a:r>
              <a:rPr b="1">
                <a:solidFill>
                  <a:srgbClr val="007020"/>
                </a:solidFill>
                <a:latin typeface="Courier"/>
              </a:rPr>
              <a:t>else</a:t>
            </a:r>
            <a:r>
              <a:rPr>
                <a:latin typeface="Courier"/>
              </a:rPr>
              <a:t> </a:t>
            </a:r>
            <a:r>
              <a:rPr>
                <a:solidFill>
                  <a:srgbClr val="666666"/>
                </a:solidFill>
                <a:latin typeface="Courier"/>
              </a:rPr>
              <a:t>{</a:t>
            </a:r>
            <a:br/>
            <a:r>
              <a:rPr>
                <a:latin typeface="Courier"/>
              </a:rPr>
              <a:t>            destinationCodec </a:t>
            </a:r>
            <a:r>
              <a:rPr>
                <a:solidFill>
                  <a:srgbClr val="666666"/>
                </a:solidFill>
                <a:latin typeface="Courier"/>
              </a:rPr>
              <a:t>=</a:t>
            </a:r>
            <a:r>
              <a:rPr>
                <a:latin typeface="Courier"/>
              </a:rPr>
              <a:t> </a:t>
            </a:r>
            <a:r>
              <a:rPr b="1">
                <a:solidFill>
                  <a:srgbClr val="007020"/>
                </a:solidFill>
                <a:latin typeface="Courier"/>
              </a:rPr>
              <a:t>new</a:t>
            </a:r>
            <a:r>
              <a:rPr>
                <a:latin typeface="Courier"/>
              </a:rPr>
              <a:t> </a:t>
            </a:r>
            <a:r>
              <a:rPr>
                <a:solidFill>
                  <a:srgbClr val="06287E"/>
                </a:solidFill>
                <a:latin typeface="Courier"/>
              </a:rPr>
              <a:t>OggCompressionCodec</a:t>
            </a:r>
            <a:r>
              <a:rPr>
                <a:solidFill>
                  <a:srgbClr val="666666"/>
                </a:solidFill>
                <a:latin typeface="Courier"/>
              </a:rPr>
              <a:t>();</a:t>
            </a:r>
            <a:br/>
            <a:r>
              <a:rPr>
                <a:latin typeface="Courier"/>
              </a:rPr>
              <a:t>        </a:t>
            </a:r>
            <a:r>
              <a:rPr>
                <a:solidFill>
                  <a:srgbClr val="666666"/>
                </a:solidFill>
                <a:latin typeface="Courier"/>
              </a:rPr>
              <a:t>}</a:t>
            </a:r>
            <a:br/>
            <a:br/>
            <a:r>
              <a:rPr>
                <a:latin typeface="Courier"/>
              </a:rPr>
              <a:t>        VideoFile buffer </a:t>
            </a:r>
            <a:r>
              <a:rPr>
                <a:solidFill>
                  <a:srgbClr val="666666"/>
                </a:solidFill>
                <a:latin typeface="Courier"/>
              </a:rPr>
              <a:t>=</a:t>
            </a:r>
            <a:r>
              <a:rPr>
                <a:latin typeface="Courier"/>
              </a:rPr>
              <a:t> BitrateReader</a:t>
            </a:r>
            <a:r>
              <a:rPr>
                <a:solidFill>
                  <a:srgbClr val="666666"/>
                </a:solidFill>
                <a:latin typeface="Courier"/>
              </a:rPr>
              <a:t>.</a:t>
            </a:r>
            <a:r>
              <a:rPr>
                <a:solidFill>
                  <a:srgbClr val="06287E"/>
                </a:solidFill>
                <a:latin typeface="Courier"/>
              </a:rPr>
              <a:t>read</a:t>
            </a:r>
            <a:r>
              <a:rPr>
                <a:solidFill>
                  <a:srgbClr val="666666"/>
                </a:solidFill>
                <a:latin typeface="Courier"/>
              </a:rPr>
              <a:t>(</a:t>
            </a:r>
            <a:r>
              <a:rPr>
                <a:latin typeface="Courier"/>
              </a:rPr>
              <a:t>file</a:t>
            </a:r>
            <a:r>
              <a:rPr>
                <a:solidFill>
                  <a:srgbClr val="666666"/>
                </a:solidFill>
                <a:latin typeface="Courier"/>
              </a:rPr>
              <a:t>,</a:t>
            </a:r>
            <a:br/>
            <a:r>
              <a:rPr>
                <a:latin typeface="Courier"/>
              </a:rPr>
              <a:t>            sourceCodec</a:t>
            </a:r>
            <a:r>
              <a:rPr>
                <a:solidFill>
                  <a:srgbClr val="666666"/>
                </a:solidFill>
                <a:latin typeface="Courier"/>
              </a:rPr>
              <a:t>);</a:t>
            </a:r>
            <a:br/>
            <a:r>
              <a:rPr>
                <a:latin typeface="Courier"/>
              </a:rPr>
              <a:t>        VideoFile result </a:t>
            </a:r>
            <a:r>
              <a:rPr>
                <a:solidFill>
                  <a:srgbClr val="666666"/>
                </a:solidFill>
                <a:latin typeface="Courier"/>
              </a:rPr>
              <a:t>=</a:t>
            </a:r>
            <a:r>
              <a:rPr>
                <a:latin typeface="Courier"/>
              </a:rPr>
              <a:t> BitrateReader</a:t>
            </a:r>
            <a:r>
              <a:rPr>
                <a:solidFill>
                  <a:srgbClr val="666666"/>
                </a:solidFill>
                <a:latin typeface="Courier"/>
              </a:rPr>
              <a:t>.</a:t>
            </a:r>
            <a:r>
              <a:rPr>
                <a:solidFill>
                  <a:srgbClr val="06287E"/>
                </a:solidFill>
                <a:latin typeface="Courier"/>
              </a:rPr>
              <a:t>convert</a:t>
            </a:r>
            <a:r>
              <a:rPr>
                <a:solidFill>
                  <a:srgbClr val="666666"/>
                </a:solidFill>
                <a:latin typeface="Courier"/>
              </a:rPr>
              <a:t>(</a:t>
            </a:r>
            <a:r>
              <a:rPr>
                <a:latin typeface="Courier"/>
              </a:rPr>
              <a:t>buffer</a:t>
            </a:r>
            <a:r>
              <a:rPr>
                <a:solidFill>
                  <a:srgbClr val="666666"/>
                </a:solidFill>
                <a:latin typeface="Courier"/>
              </a:rPr>
              <a:t>,</a:t>
            </a:r>
            <a:br/>
            <a:r>
              <a:rPr>
                <a:latin typeface="Courier"/>
              </a:rPr>
              <a:t>            destinationCodec</a:t>
            </a:r>
            <a:r>
              <a:rPr>
                <a:solidFill>
                  <a:srgbClr val="666666"/>
                </a:solidFill>
                <a:latin typeface="Courier"/>
              </a:rPr>
              <a:t>);</a:t>
            </a:r>
            <a:br/>
            <a:r>
              <a:rPr>
                <a:latin typeface="Courier"/>
              </a:rPr>
              <a:t>        result </a:t>
            </a:r>
            <a:r>
              <a:rPr>
                <a:solidFill>
                  <a:srgbClr val="666666"/>
                </a:solidFill>
                <a:latin typeface="Courier"/>
              </a:rPr>
              <a:t>=</a:t>
            </a:r>
            <a:r>
              <a:rPr>
                <a:latin typeface="Courier"/>
              </a:rPr>
              <a:t> </a:t>
            </a:r>
            <a:r>
              <a:rPr b="1">
                <a:solidFill>
                  <a:srgbClr val="007020"/>
                </a:solidFill>
                <a:latin typeface="Courier"/>
              </a:rPr>
              <a:t>new</a:t>
            </a:r>
            <a:r>
              <a:rPr>
                <a:latin typeface="Courier"/>
              </a:rPr>
              <a:t> </a:t>
            </a:r>
            <a:r>
              <a:rPr>
                <a:solidFill>
                  <a:srgbClr val="06287E"/>
                </a:solidFill>
                <a:latin typeface="Courier"/>
              </a:rPr>
              <a:t>AudioMixer</a:t>
            </a:r>
            <a:r>
              <a:rPr>
                <a:solidFill>
                  <a:srgbClr val="666666"/>
                </a:solidFill>
                <a:latin typeface="Courier"/>
              </a:rPr>
              <a:t>().</a:t>
            </a:r>
            <a:r>
              <a:rPr>
                <a:solidFill>
                  <a:srgbClr val="06287E"/>
                </a:solidFill>
                <a:latin typeface="Courier"/>
              </a:rPr>
              <a:t>fix</a:t>
            </a:r>
            <a:r>
              <a:rPr>
                <a:solidFill>
                  <a:srgbClr val="666666"/>
                </a:solidFill>
                <a:latin typeface="Courier"/>
              </a:rPr>
              <a:t>(</a:t>
            </a:r>
            <a:r>
              <a:rPr>
                <a:latin typeface="Courier"/>
              </a:rPr>
              <a:t>result</a:t>
            </a:r>
            <a:r>
              <a:rPr>
                <a:solidFill>
                  <a:srgbClr val="666666"/>
                </a:solidFill>
                <a:latin typeface="Courier"/>
              </a:rPr>
              <a:t>);</a:t>
            </a:r>
            <a:br/>
            <a:br/>
            <a:r>
              <a:rPr>
                <a:latin typeface="Courier"/>
              </a:rPr>
              <a:t>        </a:t>
            </a:r>
            <a:r>
              <a:rPr>
                <a:solidFill>
                  <a:srgbClr val="008000"/>
                </a:solidFill>
                <a:latin typeface="Courier"/>
              </a:rPr>
              <a:t>System</a:t>
            </a:r>
            <a:r>
              <a:rPr>
                <a:solidFill>
                  <a:srgbClr val="666666"/>
                </a:solidFill>
                <a:latin typeface="Courier"/>
              </a:rPr>
              <a:t>.</a:t>
            </a:r>
            <a:r>
              <a:rPr>
                <a:solidFill>
                  <a:srgbClr val="06287E"/>
                </a:solidFill>
                <a:latin typeface="Courier"/>
              </a:rPr>
              <a:t>out</a:t>
            </a:r>
            <a:r>
              <a:rPr>
                <a:solidFill>
                  <a:srgbClr val="666666"/>
                </a:solidFill>
                <a:latin typeface="Courier"/>
              </a:rPr>
              <a:t>.</a:t>
            </a:r>
            <a:r>
              <a:rPr>
                <a:solidFill>
                  <a:srgbClr val="06287E"/>
                </a:solidFill>
                <a:latin typeface="Courier"/>
              </a:rPr>
              <a:t>println</a:t>
            </a:r>
            <a:r>
              <a:rPr>
                <a:solidFill>
                  <a:srgbClr val="666666"/>
                </a:solidFill>
                <a:latin typeface="Courier"/>
              </a:rPr>
              <a:t>(</a:t>
            </a:r>
            <a:r>
              <a:rPr>
                <a:solidFill>
                  <a:srgbClr val="4070A0"/>
                </a:solidFill>
                <a:latin typeface="Courier"/>
              </a:rPr>
              <a:t>"VideoConversionFacade: "</a:t>
            </a:r>
            <a:r>
              <a:rPr>
                <a:latin typeface="Courier"/>
              </a:rPr>
              <a:t> </a:t>
            </a:r>
            <a:r>
              <a:rPr>
                <a:solidFill>
                  <a:srgbClr val="666666"/>
                </a:solidFill>
                <a:latin typeface="Courier"/>
              </a:rPr>
              <a:t>+</a:t>
            </a:r>
            <a:br/>
            <a:r>
              <a:rPr>
                <a:latin typeface="Courier"/>
              </a:rPr>
              <a:t>            </a:t>
            </a:r>
            <a:r>
              <a:rPr>
                <a:solidFill>
                  <a:srgbClr val="4070A0"/>
                </a:solidFill>
                <a:latin typeface="Courier"/>
              </a:rPr>
              <a:t>"conversion completed."</a:t>
            </a:r>
            <a:r>
              <a:rPr>
                <a:solidFill>
                  <a:srgbClr val="666666"/>
                </a:solidFill>
                <a:latin typeface="Courier"/>
              </a:rPr>
              <a:t>);</a:t>
            </a:r>
            <a:br/>
            <a:r>
              <a:rPr>
                <a:latin typeface="Courier"/>
              </a:rPr>
              <a:t>        </a:t>
            </a:r>
            <a:r>
              <a:rPr b="1">
                <a:solidFill>
                  <a:srgbClr val="007020"/>
                </a:solidFill>
                <a:latin typeface="Courier"/>
              </a:rPr>
              <a:t>return</a:t>
            </a:r>
            <a:r>
              <a:rPr>
                <a:latin typeface="Courier"/>
              </a:rPr>
              <a:t> result</a:t>
            </a:r>
            <a:r>
              <a:rPr>
                <a:solidFill>
                  <a:srgbClr val="666666"/>
                </a:solidFill>
                <a:latin typeface="Courier"/>
              </a:rPr>
              <a:t>;</a:t>
            </a:r>
            <a:br/>
            <a:r>
              <a:rPr>
                <a:latin typeface="Courier"/>
              </a:rPr>
              <a:t>    </a:t>
            </a:r>
            <a:r>
              <a:rPr>
                <a:solidFill>
                  <a:srgbClr val="666666"/>
                </a:solidFill>
                <a:latin typeface="Courier"/>
              </a:rPr>
              <a:t>}</a:t>
            </a:r>
            <a:br/>
            <a:r>
              <a:rPr>
                <a:solidFill>
                  <a:srgbClr val="666666"/>
                </a:solidFill>
                <a:latin typeface="Courier"/>
              </a:rPr>
              <a:t>}</a:t>
            </a:r>
          </a:p>
        </p:txBody>
      </p:sp>
    </p:spTree>
  </p:cSld>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Facade: Java Code Example - Client</a:t>
            </a:r>
          </a:p>
        </p:txBody>
      </p:sp>
      <p:sp>
        <p:nvSpPr>
          <p:cNvPr id="3" name="Content Placeholder 2"/>
          <p:cNvSpPr>
            <a:spLocks noGrp="1"/>
          </p:cNvSpPr>
          <p:nvPr>
            <p:ph idx="1"/>
          </p:nvPr>
        </p:nvSpPr>
        <p:spPr/>
        <p:txBody>
          <a:bodyPr/>
          <a:lstStyle/>
          <a:p>
            <a:pPr lvl="0" indent="0">
              <a:buNone/>
            </a:pPr>
            <a:r>
              <a:rPr i="1">
                <a:solidFill>
                  <a:srgbClr val="60A0B0"/>
                </a:solidFill>
                <a:latin typeface="Courier"/>
              </a:rPr>
              <a:t>// The client code does not depend on any subsystem classes.</a:t>
            </a:r>
            <a:br/>
            <a:r>
              <a:rPr i="1">
                <a:solidFill>
                  <a:srgbClr val="60A0B0"/>
                </a:solidFill>
                <a:latin typeface="Courier"/>
              </a:rPr>
              <a:t>// Any changes to the subsystem's code will not affect the</a:t>
            </a:r>
            <a:br/>
            <a:r>
              <a:rPr i="1">
                <a:solidFill>
                  <a:srgbClr val="60A0B0"/>
                </a:solidFill>
                <a:latin typeface="Courier"/>
              </a:rPr>
              <a:t>// client code. You would only need to update the Facade.</a:t>
            </a:r>
            <a:br/>
            <a:r>
              <a:rPr b="1">
                <a:solidFill>
                  <a:srgbClr val="007020"/>
                </a:solidFill>
                <a:latin typeface="Courier"/>
              </a:rPr>
              <a:t>public</a:t>
            </a:r>
            <a:r>
              <a:rPr>
                <a:latin typeface="Courier"/>
              </a:rPr>
              <a:t> </a:t>
            </a:r>
            <a:r>
              <a:rPr b="1">
                <a:solidFill>
                  <a:srgbClr val="007020"/>
                </a:solidFill>
                <a:latin typeface="Courier"/>
              </a:rPr>
              <a:t>class</a:t>
            </a:r>
            <a:r>
              <a:rPr>
                <a:latin typeface="Courier"/>
              </a:rPr>
              <a:t> FacadeDemo </a:t>
            </a:r>
            <a:r>
              <a:rPr>
                <a:solidFill>
                  <a:srgbClr val="666666"/>
                </a:solidFill>
                <a:latin typeface="Courier"/>
              </a:rPr>
              <a:t>{</a:t>
            </a:r>
            <a:br/>
            <a:r>
              <a:rPr>
                <a:latin typeface="Courier"/>
              </a:rPr>
              <a:t>    </a:t>
            </a:r>
            <a:r>
              <a:rPr b="1">
                <a:solidFill>
                  <a:srgbClr val="007020"/>
                </a:solidFill>
                <a:latin typeface="Courier"/>
              </a:rPr>
              <a:t>public</a:t>
            </a:r>
            <a:r>
              <a:rPr>
                <a:latin typeface="Courier"/>
              </a:rPr>
              <a:t> </a:t>
            </a:r>
            <a:r>
              <a:rPr>
                <a:solidFill>
                  <a:srgbClr val="902000"/>
                </a:solidFill>
                <a:latin typeface="Courier"/>
              </a:rPr>
              <a:t>static</a:t>
            </a:r>
            <a:r>
              <a:rPr>
                <a:latin typeface="Courier"/>
              </a:rPr>
              <a:t> </a:t>
            </a:r>
            <a:r>
              <a:rPr>
                <a:solidFill>
                  <a:srgbClr val="902000"/>
                </a:solidFill>
                <a:latin typeface="Courier"/>
              </a:rPr>
              <a:t>void</a:t>
            </a:r>
            <a:r>
              <a:rPr>
                <a:latin typeface="Courier"/>
              </a:rPr>
              <a:t> </a:t>
            </a:r>
            <a:r>
              <a:rPr>
                <a:solidFill>
                  <a:srgbClr val="06287E"/>
                </a:solidFill>
                <a:latin typeface="Courier"/>
              </a:rPr>
              <a:t>main</a:t>
            </a:r>
            <a:r>
              <a:rPr>
                <a:solidFill>
                  <a:srgbClr val="666666"/>
                </a:solidFill>
                <a:latin typeface="Courier"/>
              </a:rPr>
              <a:t>(</a:t>
            </a:r>
            <a:r>
              <a:rPr>
                <a:solidFill>
                  <a:srgbClr val="008000"/>
                </a:solidFill>
                <a:latin typeface="Courier"/>
              </a:rPr>
              <a:t>String</a:t>
            </a:r>
            <a:r>
              <a:rPr>
                <a:solidFill>
                  <a:srgbClr val="666666"/>
                </a:solidFill>
                <a:latin typeface="Courier"/>
              </a:rPr>
              <a:t>[]</a:t>
            </a:r>
            <a:r>
              <a:rPr>
                <a:latin typeface="Courier"/>
              </a:rPr>
              <a:t> args</a:t>
            </a:r>
            <a:r>
              <a:rPr>
                <a:solidFill>
                  <a:srgbClr val="666666"/>
                </a:solidFill>
                <a:latin typeface="Courier"/>
              </a:rPr>
              <a:t>)</a:t>
            </a:r>
            <a:r>
              <a:rPr>
                <a:latin typeface="Courier"/>
              </a:rPr>
              <a:t> </a:t>
            </a:r>
            <a:r>
              <a:rPr>
                <a:solidFill>
                  <a:srgbClr val="666666"/>
                </a:solidFill>
                <a:latin typeface="Courier"/>
              </a:rPr>
              <a:t>{</a:t>
            </a:r>
            <a:br/>
            <a:r>
              <a:rPr>
                <a:latin typeface="Courier"/>
              </a:rPr>
              <a:t>        VideoConversionFacade converter </a:t>
            </a:r>
            <a:r>
              <a:rPr>
                <a:solidFill>
                  <a:srgbClr val="666666"/>
                </a:solidFill>
                <a:latin typeface="Courier"/>
              </a:rPr>
              <a:t>=</a:t>
            </a:r>
            <a:br/>
            <a:r>
              <a:rPr>
                <a:latin typeface="Courier"/>
              </a:rPr>
              <a:t>            </a:t>
            </a:r>
            <a:r>
              <a:rPr b="1">
                <a:solidFill>
                  <a:srgbClr val="007020"/>
                </a:solidFill>
                <a:latin typeface="Courier"/>
              </a:rPr>
              <a:t>new</a:t>
            </a:r>
            <a:r>
              <a:rPr>
                <a:latin typeface="Courier"/>
              </a:rPr>
              <a:t> </a:t>
            </a:r>
            <a:r>
              <a:rPr>
                <a:solidFill>
                  <a:srgbClr val="06287E"/>
                </a:solidFill>
                <a:latin typeface="Courier"/>
              </a:rPr>
              <a:t>VideoConversionFacade</a:t>
            </a:r>
            <a:r>
              <a:rPr>
                <a:solidFill>
                  <a:srgbClr val="666666"/>
                </a:solidFill>
                <a:latin typeface="Courier"/>
              </a:rPr>
              <a:t>();</a:t>
            </a:r>
            <a:br/>
            <a:br/>
            <a:r>
              <a:rPr>
                <a:latin typeface="Courier"/>
              </a:rPr>
              <a:t>        VideoFile mp4Video </a:t>
            </a:r>
            <a:r>
              <a:rPr>
                <a:solidFill>
                  <a:srgbClr val="666666"/>
                </a:solidFill>
                <a:latin typeface="Courier"/>
              </a:rPr>
              <a:t>=</a:t>
            </a:r>
            <a:r>
              <a:rPr>
                <a:latin typeface="Courier"/>
              </a:rPr>
              <a:t> converter</a:t>
            </a:r>
            <a:r>
              <a:rPr>
                <a:solidFill>
                  <a:srgbClr val="666666"/>
                </a:solidFill>
                <a:latin typeface="Courier"/>
              </a:rPr>
              <a:t>.</a:t>
            </a:r>
            <a:r>
              <a:rPr>
                <a:solidFill>
                  <a:srgbClr val="06287E"/>
                </a:solidFill>
                <a:latin typeface="Courier"/>
              </a:rPr>
              <a:t>convert</a:t>
            </a:r>
            <a:r>
              <a:rPr>
                <a:solidFill>
                  <a:srgbClr val="666666"/>
                </a:solidFill>
                <a:latin typeface="Courier"/>
              </a:rPr>
              <a:t>(</a:t>
            </a:r>
            <a:br/>
            <a:r>
              <a:rPr>
                <a:latin typeface="Courier"/>
              </a:rPr>
              <a:t>            </a:t>
            </a:r>
            <a:r>
              <a:rPr>
                <a:solidFill>
                  <a:srgbClr val="4070A0"/>
                </a:solidFill>
                <a:latin typeface="Courier"/>
              </a:rPr>
              <a:t>"funny-cats-video.ogg"</a:t>
            </a:r>
            <a:r>
              <a:rPr>
                <a:solidFill>
                  <a:srgbClr val="666666"/>
                </a:solidFill>
                <a:latin typeface="Courier"/>
              </a:rPr>
              <a:t>,</a:t>
            </a:r>
            <a:r>
              <a:rPr>
                <a:latin typeface="Courier"/>
              </a:rPr>
              <a:t> </a:t>
            </a:r>
            <a:r>
              <a:rPr>
                <a:solidFill>
                  <a:srgbClr val="4070A0"/>
                </a:solidFill>
                <a:latin typeface="Courier"/>
              </a:rPr>
              <a:t>"mp4"</a:t>
            </a:r>
            <a:r>
              <a:rPr>
                <a:solidFill>
                  <a:srgbClr val="666666"/>
                </a:solidFill>
                <a:latin typeface="Courier"/>
              </a:rPr>
              <a:t>);</a:t>
            </a:r>
            <a:br/>
            <a:br/>
            <a:r>
              <a:rPr>
                <a:latin typeface="Courier"/>
              </a:rPr>
              <a:t>        </a:t>
            </a:r>
            <a:r>
              <a:rPr>
                <a:solidFill>
                  <a:srgbClr val="008000"/>
                </a:solidFill>
                <a:latin typeface="Courier"/>
              </a:rPr>
              <a:t>System</a:t>
            </a:r>
            <a:r>
              <a:rPr>
                <a:solidFill>
                  <a:srgbClr val="666666"/>
                </a:solidFill>
                <a:latin typeface="Courier"/>
              </a:rPr>
              <a:t>.</a:t>
            </a:r>
            <a:r>
              <a:rPr>
                <a:solidFill>
                  <a:srgbClr val="06287E"/>
                </a:solidFill>
                <a:latin typeface="Courier"/>
              </a:rPr>
              <a:t>out</a:t>
            </a:r>
            <a:r>
              <a:rPr>
                <a:solidFill>
                  <a:srgbClr val="666666"/>
                </a:solidFill>
                <a:latin typeface="Courier"/>
              </a:rPr>
              <a:t>.</a:t>
            </a:r>
            <a:r>
              <a:rPr>
                <a:solidFill>
                  <a:srgbClr val="06287E"/>
                </a:solidFill>
                <a:latin typeface="Courier"/>
              </a:rPr>
              <a:t>println</a:t>
            </a:r>
            <a:r>
              <a:rPr>
                <a:solidFill>
                  <a:srgbClr val="666666"/>
                </a:solidFill>
                <a:latin typeface="Courier"/>
              </a:rPr>
              <a:t>(</a:t>
            </a:r>
            <a:r>
              <a:rPr>
                <a:solidFill>
                  <a:srgbClr val="4070A0"/>
                </a:solidFill>
                <a:latin typeface="Courier"/>
              </a:rPr>
              <a:t>"Converted: "</a:t>
            </a:r>
            <a:r>
              <a:rPr>
                <a:latin typeface="Courier"/>
              </a:rPr>
              <a:t> </a:t>
            </a:r>
            <a:r>
              <a:rPr>
                <a:solidFill>
                  <a:srgbClr val="666666"/>
                </a:solidFill>
                <a:latin typeface="Courier"/>
              </a:rPr>
              <a:t>+</a:t>
            </a:r>
            <a:br/>
            <a:r>
              <a:rPr>
                <a:latin typeface="Courier"/>
              </a:rPr>
              <a:t>            mp4Video</a:t>
            </a:r>
            <a:r>
              <a:rPr>
                <a:solidFill>
                  <a:srgbClr val="666666"/>
                </a:solidFill>
                <a:latin typeface="Courier"/>
              </a:rPr>
              <a:t>.</a:t>
            </a:r>
            <a:r>
              <a:rPr>
                <a:solidFill>
                  <a:srgbClr val="06287E"/>
                </a:solidFill>
                <a:latin typeface="Courier"/>
              </a:rPr>
              <a:t>getName</a:t>
            </a:r>
            <a:r>
              <a:rPr>
                <a:solidFill>
                  <a:srgbClr val="666666"/>
                </a:solidFill>
                <a:latin typeface="Courier"/>
              </a:rPr>
              <a:t>());</a:t>
            </a:r>
            <a:br/>
            <a:br/>
            <a:r>
              <a:rPr>
                <a:latin typeface="Courier"/>
              </a:rPr>
              <a:t>        </a:t>
            </a:r>
            <a:r>
              <a:rPr i="1">
                <a:solidFill>
                  <a:srgbClr val="60A0B0"/>
                </a:solidFill>
                <a:latin typeface="Courier"/>
              </a:rPr>
              <a:t>// The client only interacts with the simple facade</a:t>
            </a:r>
            <a:br/>
            <a:r>
              <a:rPr>
                <a:latin typeface="Courier"/>
              </a:rPr>
              <a:t>        </a:t>
            </a:r>
            <a:r>
              <a:rPr i="1">
                <a:solidFill>
                  <a:srgbClr val="60A0B0"/>
                </a:solidFill>
                <a:latin typeface="Courier"/>
              </a:rPr>
              <a:t>// interface, without knowing about dozens of</a:t>
            </a:r>
            <a:br/>
            <a:r>
              <a:rPr>
                <a:latin typeface="Courier"/>
              </a:rPr>
              <a:t>        </a:t>
            </a:r>
            <a:r>
              <a:rPr i="1">
                <a:solidFill>
                  <a:srgbClr val="60A0B0"/>
                </a:solidFill>
                <a:latin typeface="Courier"/>
              </a:rPr>
              <a:t>// subsystem classes.</a:t>
            </a:r>
            <a:br/>
            <a:br/>
            <a:r>
              <a:rPr>
                <a:latin typeface="Courier"/>
              </a:rPr>
              <a:t>        </a:t>
            </a:r>
            <a:r>
              <a:rPr i="1">
                <a:solidFill>
                  <a:srgbClr val="60A0B0"/>
                </a:solidFill>
                <a:latin typeface="Courier"/>
              </a:rPr>
              <a:t>// Expected Output:</a:t>
            </a:r>
            <a:br/>
            <a:r>
              <a:rPr>
                <a:latin typeface="Courier"/>
              </a:rPr>
              <a:t>        </a:t>
            </a:r>
            <a:r>
              <a:rPr i="1">
                <a:solidFill>
                  <a:srgbClr val="60A0B0"/>
                </a:solidFill>
                <a:latin typeface="Courier"/>
              </a:rPr>
              <a:t>// VideoConversionFacade: conversion started.</a:t>
            </a:r>
            <a:br/>
            <a:r>
              <a:rPr>
                <a:latin typeface="Courier"/>
              </a:rPr>
              <a:t>        </a:t>
            </a:r>
            <a:r>
              <a:rPr i="1">
                <a:solidFill>
                  <a:srgbClr val="60A0B0"/>
                </a:solidFill>
                <a:latin typeface="Courier"/>
              </a:rPr>
              <a:t>// VideoConversionFacade: conversion completed.</a:t>
            </a:r>
            <a:br/>
            <a:r>
              <a:rPr>
                <a:latin typeface="Courier"/>
              </a:rPr>
              <a:t>        </a:t>
            </a:r>
            <a:r>
              <a:rPr i="1">
                <a:solidFill>
                  <a:srgbClr val="60A0B0"/>
                </a:solidFill>
                <a:latin typeface="Courier"/>
              </a:rPr>
              <a:t>// Converted: funny-cats-video.mp4</a:t>
            </a:r>
            <a:br/>
            <a:r>
              <a:rPr>
                <a:latin typeface="Courier"/>
              </a:rPr>
              <a:t>    </a:t>
            </a:r>
            <a:r>
              <a:rPr>
                <a:solidFill>
                  <a:srgbClr val="666666"/>
                </a:solidFill>
                <a:latin typeface="Courier"/>
              </a:rPr>
              <a:t>}</a:t>
            </a:r>
            <a:br/>
            <a:r>
              <a:rPr>
                <a:solidFill>
                  <a:srgbClr val="666666"/>
                </a:solidFill>
                <a:latin typeface="Courier"/>
              </a:rPr>
              <a:t>}</a:t>
            </a:r>
          </a:p>
        </p:txBody>
      </p:sp>
    </p:spTree>
  </p:cSld>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Facade - Sequence Diagram</a:t>
            </a:r>
          </a:p>
        </p:txBody>
      </p:sp>
      <p:pic>
        <p:nvPicPr>
          <p:cNvPr descr="assets/facade-sequence.png" id="0" name="Picture 1"/>
          <p:cNvPicPr>
            <a:picLocks noGrp="1" noChangeAspect="1"/>
          </p:cNvPicPr>
          <p:nvPr/>
        </p:nvPicPr>
        <p:blipFill>
          <a:blip r:embed="rId2"/>
          <a:stretch>
            <a:fillRect/>
          </a:stretch>
        </p:blipFill>
        <p:spPr bwMode="auto">
          <a:xfrm>
            <a:off x="3581400" y="203200"/>
            <a:ext cx="5067300" cy="3873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a:t>
            </a:r>
          </a:p>
        </p:txBody>
      </p:sp>
    </p:spTree>
  </p:cSld>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Facade: Applicability</a:t>
            </a:r>
          </a:p>
        </p:txBody>
      </p:sp>
      <p:sp>
        <p:nvSpPr>
          <p:cNvPr id="3" name="Content Placeholder 2"/>
          <p:cNvSpPr>
            <a:spLocks noGrp="1"/>
          </p:cNvSpPr>
          <p:nvPr>
            <p:ph idx="1"/>
          </p:nvPr>
        </p:nvSpPr>
        <p:spPr/>
        <p:txBody>
          <a:bodyPr/>
          <a:lstStyle/>
          <a:p>
            <a:pPr lvl="0" indent="0" marL="0">
              <a:buNone/>
            </a:pPr>
            <a:r>
              <a:rPr/>
              <a:t>Use the Facade pattern when:</a:t>
            </a:r>
          </a:p>
          <a:p>
            <a:pPr lvl="0"/>
            <a:r>
              <a:rPr/>
              <a:t>You need to have a </a:t>
            </a:r>
            <a:r>
              <a:rPr b="1"/>
              <a:t>limited but straightforward interface</a:t>
            </a:r>
            <a:r>
              <a:rPr/>
              <a:t> to a complex subsystem. Often, subsystems get more complex over time. Even applying design patterns typically leads to creating more classes. A subsystem may become more flexible and easier to reuse in various contexts, but the amount of configuration and boilerplate code it demands from a client grows ever larger. The Facade attempts to provide a shortcut to the most-used features of the subsystem</a:t>
            </a:r>
          </a:p>
        </p:txBody>
      </p:sp>
    </p:spTree>
  </p:cSld>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Facade: Applicability (cont.)</a:t>
            </a:r>
          </a:p>
        </p:txBody>
      </p:sp>
      <p:sp>
        <p:nvSpPr>
          <p:cNvPr id="3" name="Content Placeholder 2"/>
          <p:cNvSpPr>
            <a:spLocks noGrp="1"/>
          </p:cNvSpPr>
          <p:nvPr>
            <p:ph idx="1"/>
          </p:nvPr>
        </p:nvSpPr>
        <p:spPr/>
        <p:txBody>
          <a:bodyPr/>
          <a:lstStyle/>
          <a:p>
            <a:pPr lvl="0"/>
            <a:r>
              <a:rPr/>
              <a:t>You want to </a:t>
            </a:r>
            <a:r>
              <a:rPr b="1"/>
              <a:t>structure a subsystem into layers</a:t>
            </a:r>
            <a:r>
              <a:rPr/>
              <a:t>. Create facades to define entry points to each level of a subsystem. You can reduce coupling between multiple subsystems by requiring them to communicate only through facades. This approach is similar to the Mediator pattern</a:t>
            </a:r>
          </a:p>
        </p:txBody>
      </p:sp>
    </p:spTree>
  </p:cSld>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Facade: How to Implement</a:t>
            </a:r>
          </a:p>
        </p:txBody>
      </p:sp>
      <p:sp>
        <p:nvSpPr>
          <p:cNvPr id="3" name="Content Placeholder 2"/>
          <p:cNvSpPr>
            <a:spLocks noGrp="1"/>
          </p:cNvSpPr>
          <p:nvPr>
            <p:ph idx="1"/>
          </p:nvPr>
        </p:nvSpPr>
        <p:spPr/>
        <p:txBody>
          <a:bodyPr/>
          <a:lstStyle/>
          <a:p>
            <a:pPr lvl="0" indent="-342900" marL="342900">
              <a:buAutoNum type="arabicPeriod"/>
            </a:pPr>
            <a:r>
              <a:rPr/>
              <a:t>Check whether it is possible to provide a </a:t>
            </a:r>
            <a:r>
              <a:rPr b="1"/>
              <a:t>simpler interface</a:t>
            </a:r>
            <a:r>
              <a:rPr/>
              <a:t> than what an existing subsystem already provides. You are on the right track if this interface makes the client code independent from many of the subsystem’s classes</a:t>
            </a:r>
          </a:p>
          <a:p>
            <a:pPr lvl="0" indent="-342900" marL="342900">
              <a:buAutoNum type="arabicPeriod"/>
            </a:pPr>
            <a:r>
              <a:rPr/>
              <a:t>Declare and implement this interface in a new </a:t>
            </a:r>
            <a:r>
              <a:rPr b="1"/>
              <a:t>facade class</a:t>
            </a:r>
            <a:r>
              <a:rPr/>
              <a:t>. The facade should redirect the calls from the client code to appropriate objects of the subsystem. The facade should be responsible for initializing the subsystem and managing its further life cycle unless the client code already does this</a:t>
            </a:r>
          </a:p>
        </p:txBody>
      </p:sp>
    </p:spTree>
  </p:cSld>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Facade: How to Implement (cont.)</a:t>
            </a:r>
          </a:p>
        </p:txBody>
      </p:sp>
      <p:sp>
        <p:nvSpPr>
          <p:cNvPr id="3" name="Content Placeholder 2"/>
          <p:cNvSpPr>
            <a:spLocks noGrp="1"/>
          </p:cNvSpPr>
          <p:nvPr>
            <p:ph idx="1"/>
          </p:nvPr>
        </p:nvSpPr>
        <p:spPr/>
        <p:txBody>
          <a:bodyPr/>
          <a:lstStyle/>
          <a:p>
            <a:pPr lvl="0" indent="-342900" marL="342900">
              <a:buAutoNum startAt="3" type="arabicPeriod"/>
            </a:pPr>
            <a:r>
              <a:rPr/>
              <a:t>To get the full benefit from the pattern, make all the client code communicate with the subsystem </a:t>
            </a:r>
            <a:r>
              <a:rPr b="1"/>
              <a:t>only via the facade</a:t>
            </a:r>
            <a:r>
              <a:rPr/>
              <a:t>. Now the client code is protected from any changes in the subsystem code. For example, when a subsystem gets upgraded to a new version, you will only need to modify the code in the facade</a:t>
            </a:r>
          </a:p>
          <a:p>
            <a:pPr lvl="0" indent="-342900" marL="342900">
              <a:buAutoNum startAt="3" type="arabicPeriod"/>
            </a:pPr>
            <a:r>
              <a:rPr/>
              <a:t>If the facade becomes </a:t>
            </a:r>
            <a:r>
              <a:rPr b="1"/>
              <a:t>too big</a:t>
            </a:r>
            <a:r>
              <a:rPr/>
              <a:t>, consider extracting part of its behavior to a new, refined facade class</a:t>
            </a:r>
          </a:p>
        </p:txBody>
      </p:sp>
    </p:spTree>
  </p:cSld>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Facade: Pros and Cons</a:t>
            </a:r>
          </a:p>
        </p:txBody>
      </p:sp>
      <p:sp>
        <p:nvSpPr>
          <p:cNvPr id="3" name="Content Placeholder 2"/>
          <p:cNvSpPr>
            <a:spLocks noGrp="1"/>
          </p:cNvSpPr>
          <p:nvPr>
            <p:ph idx="1"/>
          </p:nvPr>
        </p:nvSpPr>
        <p:spPr/>
        <p:txBody>
          <a:bodyPr/>
          <a:lstStyle/>
          <a:p>
            <a:pPr lvl="0" indent="0" marL="0">
              <a:buNone/>
            </a:pPr>
            <a:r>
              <a:rPr b="1"/>
              <a:t>Pros:</a:t>
            </a:r>
            <a:r>
              <a:rPr/>
              <a:t> - You can </a:t>
            </a:r>
            <a:r>
              <a:rPr b="1"/>
              <a:t>isolate</a:t>
            </a:r>
            <a:r>
              <a:rPr/>
              <a:t> your code from the complexity of a subsystem - You provide a </a:t>
            </a:r>
            <a:r>
              <a:rPr b="1"/>
              <a:t>simple</a:t>
            </a:r>
            <a:r>
              <a:rPr/>
              <a:t> interface to a complex system - You promote </a:t>
            </a:r>
            <a:r>
              <a:rPr b="1"/>
              <a:t>loose coupling</a:t>
            </a:r>
            <a:r>
              <a:rPr/>
              <a:t> between the client and the subsystem</a:t>
            </a:r>
          </a:p>
          <a:p>
            <a:pPr lvl="0" indent="0" marL="0">
              <a:buNone/>
            </a:pPr>
            <a:r>
              <a:rPr b="1"/>
              <a:t>Cons:</a:t>
            </a:r>
            <a:r>
              <a:rPr/>
              <a:t> - A facade can become a </a:t>
            </a:r>
            <a:r>
              <a:rPr b="1"/>
              <a:t>god object</a:t>
            </a:r>
            <a:r>
              <a:rPr/>
              <a:t> coupled to all classes of an app</a:t>
            </a:r>
          </a:p>
        </p:txBody>
      </p:sp>
    </p:spTree>
  </p:cSld>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Facade: Relations with Other Patterns</a:t>
            </a:r>
          </a:p>
        </p:txBody>
      </p:sp>
      <p:sp>
        <p:nvSpPr>
          <p:cNvPr id="3" name="Content Placeholder 2"/>
          <p:cNvSpPr>
            <a:spLocks noGrp="1"/>
          </p:cNvSpPr>
          <p:nvPr>
            <p:ph idx="1"/>
          </p:nvPr>
        </p:nvSpPr>
        <p:spPr/>
        <p:txBody>
          <a:bodyPr/>
          <a:lstStyle/>
          <a:p>
            <a:pPr lvl="0"/>
            <a:r>
              <a:rPr b="1"/>
              <a:t>Facade</a:t>
            </a:r>
            <a:r>
              <a:rPr/>
              <a:t> defines a new interface for existing objects, whereas </a:t>
            </a:r>
            <a:r>
              <a:rPr b="1"/>
              <a:t>Adapter</a:t>
            </a:r>
            <a:r>
              <a:rPr/>
              <a:t> tries to make the existing interface usable. Adapter usually wraps just one object, while Facade works with an entire subsystem of objects</a:t>
            </a:r>
          </a:p>
          <a:p>
            <a:pPr lvl="0"/>
            <a:r>
              <a:rPr b="1"/>
              <a:t>Abstract Factory</a:t>
            </a:r>
            <a:r>
              <a:rPr/>
              <a:t> can serve as an alternative to </a:t>
            </a:r>
            <a:r>
              <a:rPr b="1"/>
              <a:t>Facade</a:t>
            </a:r>
            <a:r>
              <a:rPr/>
              <a:t> when you only want to hide the way the subsystem objects are created from the client code</a:t>
            </a:r>
          </a:p>
          <a:p>
            <a:pPr lvl="0"/>
            <a:r>
              <a:rPr b="1"/>
              <a:t>Flyweight</a:t>
            </a:r>
            <a:r>
              <a:rPr/>
              <a:t> shows how to make lots of little objects, whereas </a:t>
            </a:r>
            <a:r>
              <a:rPr b="1"/>
              <a:t>Facade</a:t>
            </a:r>
            <a:r>
              <a:rPr/>
              <a:t> shows how to make a single object that represents an entire subsystem</a:t>
            </a:r>
          </a:p>
        </p:txBody>
      </p:sp>
    </p:spTree>
  </p:cSld>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Facade: Relations with Other Patterns (cont.)</a:t>
            </a:r>
          </a:p>
        </p:txBody>
      </p:sp>
      <p:sp>
        <p:nvSpPr>
          <p:cNvPr id="3" name="Content Placeholder 2"/>
          <p:cNvSpPr>
            <a:spLocks noGrp="1"/>
          </p:cNvSpPr>
          <p:nvPr>
            <p:ph idx="1"/>
          </p:nvPr>
        </p:nvSpPr>
        <p:spPr/>
        <p:txBody>
          <a:bodyPr/>
          <a:lstStyle/>
          <a:p>
            <a:pPr lvl="0"/>
            <a:r>
              <a:rPr b="1"/>
              <a:t>Facade</a:t>
            </a:r>
            <a:r>
              <a:rPr/>
              <a:t> and </a:t>
            </a:r>
            <a:r>
              <a:rPr b="1"/>
              <a:t>Mediator</a:t>
            </a:r>
            <a:r>
              <a:rPr/>
              <a:t> have similar jobs: they try to organize collaboration between lots of tightly coupled classes. Facade defines a simplified interface to a subsystem of objects, but it does not introduce any new functionality. The subsystem itself is unaware of the facade. Mediator centralizes communication between components of the system. The components only know about the mediator object</a:t>
            </a:r>
          </a:p>
          <a:p>
            <a:pPr lvl="0"/>
            <a:r>
              <a:rPr/>
              <a:t>A </a:t>
            </a:r>
            <a:r>
              <a:rPr b="1"/>
              <a:t>Facade</a:t>
            </a:r>
            <a:r>
              <a:rPr/>
              <a:t> class can often be transformed into a </a:t>
            </a:r>
            <a:r>
              <a:rPr b="1"/>
              <a:t>Singleton</a:t>
            </a:r>
            <a:r>
              <a:rPr/>
              <a:t> since a single facade object is sufficient in most cases</a:t>
            </a:r>
          </a:p>
          <a:p>
            <a:pPr lvl="0"/>
            <a:r>
              <a:rPr b="1"/>
              <a:t>Facade</a:t>
            </a:r>
            <a:r>
              <a:rPr/>
              <a:t> is similar to </a:t>
            </a:r>
            <a:r>
              <a:rPr b="1"/>
              <a:t>Proxy</a:t>
            </a:r>
            <a:r>
              <a:rPr/>
              <a:t> in that both buffer a complex entity and initialize it on its own. Unlike Facade, Proxy has the same interface as its service object, which makes them interchangeable</a:t>
            </a:r>
          </a:p>
        </p:txBody>
      </p:sp>
    </p:spTree>
  </p:cSld>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Module F: Takeaway</a:t>
            </a:r>
          </a:p>
        </p:txBody>
      </p:sp>
      <p:sp>
        <p:nvSpPr>
          <p:cNvPr id="3" name="Content Placeholder 2"/>
          <p:cNvSpPr>
            <a:spLocks noGrp="1"/>
          </p:cNvSpPr>
          <p:nvPr>
            <p:ph idx="1"/>
          </p:nvPr>
        </p:nvSpPr>
        <p:spPr/>
        <p:txBody>
          <a:bodyPr/>
          <a:lstStyle/>
          <a:p>
            <a:pPr lvl="0"/>
            <a:r>
              <a:rPr/>
              <a:t>The Facade pattern provides a </a:t>
            </a:r>
            <a:r>
              <a:rPr b="1"/>
              <a:t>simplified interface</a:t>
            </a:r>
            <a:r>
              <a:rPr/>
              <a:t> to a complex subsystem</a:t>
            </a:r>
          </a:p>
          <a:p>
            <a:pPr lvl="0"/>
            <a:r>
              <a:rPr/>
              <a:t>It does </a:t>
            </a:r>
            <a:r>
              <a:rPr b="1"/>
              <a:t>not add new functionality</a:t>
            </a:r>
            <a:r>
              <a:rPr/>
              <a:t> but makes existing functionality easier to access</a:t>
            </a:r>
          </a:p>
          <a:p>
            <a:pPr lvl="0"/>
            <a:r>
              <a:rPr/>
              <a:t>It promotes </a:t>
            </a:r>
            <a:r>
              <a:rPr b="1"/>
              <a:t>loose coupling</a:t>
            </a:r>
            <a:r>
              <a:rPr/>
              <a:t> between client code and subsystem classes</a:t>
            </a:r>
          </a:p>
          <a:p>
            <a:pPr lvl="0"/>
            <a:r>
              <a:rPr/>
              <a:t>It is useful when integrating with </a:t>
            </a:r>
            <a:r>
              <a:rPr b="1"/>
              <a:t>complex libraries</a:t>
            </a:r>
            <a:r>
              <a:rPr/>
              <a:t> or </a:t>
            </a:r>
            <a:r>
              <a:rPr b="1"/>
              <a:t>legacy systems</a:t>
            </a:r>
          </a:p>
          <a:p>
            <a:pPr lvl="0"/>
            <a:r>
              <a:rPr/>
              <a:t>Be careful not to let the facade become a </a:t>
            </a:r>
            <a:r>
              <a:rPr b="1"/>
              <a:t>god object</a:t>
            </a:r>
          </a:p>
        </p:txBody>
      </p:sp>
    </p:spTree>
  </p:cSld>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b="1"/>
              <a:t>Module G: Flyweight Pattern</a:t>
            </a:r>
          </a:p>
        </p:txBody>
      </p:sp>
    </p:spTree>
  </p:cSld>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Module G: Outline</a:t>
            </a:r>
          </a:p>
        </p:txBody>
      </p:sp>
      <p:sp>
        <p:nvSpPr>
          <p:cNvPr id="3" name="Content Placeholder 2"/>
          <p:cNvSpPr>
            <a:spLocks noGrp="1"/>
          </p:cNvSpPr>
          <p:nvPr>
            <p:ph idx="1"/>
          </p:nvPr>
        </p:nvSpPr>
        <p:spPr/>
        <p:txBody>
          <a:bodyPr/>
          <a:lstStyle/>
          <a:p>
            <a:pPr lvl="0"/>
            <a:r>
              <a:rPr/>
              <a:t>Intent</a:t>
            </a:r>
          </a:p>
          <a:p>
            <a:pPr lvl="0"/>
            <a:r>
              <a:rPr/>
              <a:t>Problem</a:t>
            </a:r>
          </a:p>
          <a:p>
            <a:pPr lvl="0"/>
            <a:r>
              <a:rPr/>
              <a:t>Solution</a:t>
            </a:r>
          </a:p>
          <a:p>
            <a:pPr lvl="0"/>
            <a:r>
              <a:rPr/>
              <a:t>Intrinsic vs. Extrinsic State</a:t>
            </a:r>
          </a:p>
          <a:p>
            <a:pPr lvl="0"/>
            <a:r>
              <a:rPr/>
              <a:t>Real-World Analogy</a:t>
            </a:r>
          </a:p>
          <a:p>
            <a:pPr lvl="0"/>
            <a:r>
              <a:rPr/>
              <a:t>Structure (UML)</a:t>
            </a:r>
          </a:p>
          <a:p>
            <a:pPr lvl="0"/>
            <a:r>
              <a:rPr/>
              <a:t>Java Code Example</a:t>
            </a:r>
          </a:p>
          <a:p>
            <a:pPr lvl="0"/>
            <a:r>
              <a:rPr/>
              <a:t>Applicability</a:t>
            </a:r>
          </a:p>
          <a:p>
            <a:pPr lvl="0"/>
            <a:r>
              <a:rPr/>
              <a:t>How to Implement</a:t>
            </a:r>
          </a:p>
          <a:p>
            <a:pPr lvl="0"/>
            <a:r>
              <a:rPr/>
              <a:t>Pros and Cons</a:t>
            </a:r>
          </a:p>
          <a:p>
            <a:pPr lvl="0"/>
            <a:r>
              <a:rPr/>
              <a:t>Relations with Other Patterns</a:t>
            </a:r>
          </a:p>
          <a:p>
            <a:pPr lvl="0"/>
            <a:r>
              <a:rPr/>
              <a:t>Module Takeaway</a:t>
            </a:r>
          </a:p>
        </p:txBody>
      </p:sp>
    </p:spTree>
  </p:cSld>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Flyweight: Intent</a:t>
            </a:r>
          </a:p>
        </p:txBody>
      </p:sp>
      <p:sp>
        <p:nvSpPr>
          <p:cNvPr id="3" name="Content Placeholder 2"/>
          <p:cNvSpPr>
            <a:spLocks noGrp="1"/>
          </p:cNvSpPr>
          <p:nvPr>
            <p:ph idx="1"/>
          </p:nvPr>
        </p:nvSpPr>
        <p:spPr/>
        <p:txBody>
          <a:bodyPr/>
          <a:lstStyle/>
          <a:p>
            <a:pPr lvl="0" indent="0" marL="0">
              <a:buNone/>
            </a:pPr>
            <a:r>
              <a:rPr b="1"/>
              <a:t>Flyweight</a:t>
            </a:r>
            <a:r>
              <a:rPr/>
              <a:t> is a structural design pattern that lets you fit more objects into the available amount of </a:t>
            </a:r>
            <a:r>
              <a:rPr b="1"/>
              <a:t>RAM</a:t>
            </a:r>
            <a:r>
              <a:rPr/>
              <a:t> by sharing common parts of state between multiple objects instead of keeping all of the data in each object.</a:t>
            </a:r>
          </a:p>
          <a:p>
            <a:pPr lvl="0"/>
            <a:r>
              <a:rPr/>
              <a:t>Also known as: </a:t>
            </a:r>
            <a:r>
              <a:rPr b="1"/>
              <a:t>Cache</a:t>
            </a:r>
          </a:p>
          <a:p>
            <a:pPr lvl="0" indent="0" marL="0">
              <a:buNone/>
            </a:pPr>
            <a:r>
              <a:rPr/>
              <a:t>Source: </a:t>
            </a:r>
            <a:r>
              <a:rPr>
                <a:hlinkClick r:id="rId2"/>
              </a:rPr>
              <a:t>refactoring.guru</a:t>
            </a:r>
          </a:p>
        </p:txBody>
      </p:sp>
    </p:spTree>
  </p:cSld>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Flyweight: Problem</a:t>
            </a:r>
          </a:p>
        </p:txBody>
      </p:sp>
      <p:sp>
        <p:nvSpPr>
          <p:cNvPr id="3" name="Content Placeholder 2"/>
          <p:cNvSpPr>
            <a:spLocks noGrp="1"/>
          </p:cNvSpPr>
          <p:nvPr>
            <p:ph idx="1"/>
          </p:nvPr>
        </p:nvSpPr>
        <p:spPr/>
        <p:txBody>
          <a:bodyPr/>
          <a:lstStyle/>
          <a:p>
            <a:pPr lvl="0" indent="0" marL="0">
              <a:buNone/>
            </a:pPr>
            <a:r>
              <a:rPr/>
              <a:t>To have some fun after long working hours, you decide to create a simple video game: players would be moving around a map and shooting each other. You implement a realistic </a:t>
            </a:r>
            <a:r>
              <a:rPr b="1"/>
              <a:t>particle system</a:t>
            </a:r>
            <a:r>
              <a:rPr/>
              <a:t> as one of its features. Vast quantities of bullets, missiles, and shrapnel from explosions should fly all over the map and deliver a thrilling experience.</a:t>
            </a:r>
          </a:p>
          <a:p>
            <a:pPr lvl="0" indent="0" marL="0">
              <a:buNone/>
            </a:pPr>
            <a:r>
              <a:rPr/>
              <a:t>Upon finishing, you push the last commit, build the game and send it to a friend for testing. Although the game runs flawlessly on your machine, your friend was not able to play for long. On his computer, the game kept </a:t>
            </a:r>
            <a:r>
              <a:rPr b="1"/>
              <a:t>crashing</a:t>
            </a:r>
            <a:r>
              <a:rPr/>
              <a:t> after a few minutes of gameplay.</a:t>
            </a:r>
          </a:p>
        </p:txBody>
      </p:sp>
    </p:spTree>
  </p:cSld>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Flyweight: Problem (cont.)</a:t>
            </a:r>
          </a:p>
        </p:txBody>
      </p:sp>
      <p:sp>
        <p:nvSpPr>
          <p:cNvPr id="3" name="Content Placeholder 2"/>
          <p:cNvSpPr>
            <a:spLocks noGrp="1"/>
          </p:cNvSpPr>
          <p:nvPr>
            <p:ph idx="1"/>
          </p:nvPr>
        </p:nvSpPr>
        <p:spPr/>
        <p:txBody>
          <a:bodyPr/>
          <a:lstStyle/>
          <a:p>
            <a:pPr lvl="0" indent="0" marL="0">
              <a:buNone/>
            </a:pPr>
            <a:r>
              <a:rPr/>
              <a:t>After spending several hours digging through debug logs, you discover that the game crashed because of an </a:t>
            </a:r>
            <a:r>
              <a:rPr b="1"/>
              <a:t>insufficient amount of RAM</a:t>
            </a:r>
            <a:r>
              <a:rPr/>
              <a:t>. It turns out that your friend’s computer is much less powerful than yours, and that is why the problem appeared so quickly on his machine.</a:t>
            </a:r>
          </a:p>
          <a:p>
            <a:pPr lvl="0" indent="0" marL="0">
              <a:buNone/>
            </a:pPr>
            <a:r>
              <a:rPr/>
              <a:t>The actual problem was related to the particle system. Each particle, such as a bullet, a missile or a piece of shrapnel, was represented by a separate object containing plenty of data. At some point, when the carnage on a player’s screen reached its climax, newly created particles no longer fit into the remaining RAM, so the program crashed.</a:t>
            </a:r>
          </a:p>
        </p:txBody>
      </p:sp>
    </p:spTree>
  </p:cSld>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Flyweight: Problem (cont.)</a:t>
            </a:r>
          </a:p>
        </p:txBody>
      </p:sp>
      <p:sp>
        <p:nvSpPr>
          <p:cNvPr id="3" name="Content Placeholder 2"/>
          <p:cNvSpPr>
            <a:spLocks noGrp="1"/>
          </p:cNvSpPr>
          <p:nvPr>
            <p:ph idx="1"/>
          </p:nvPr>
        </p:nvSpPr>
        <p:spPr/>
        <p:txBody>
          <a:bodyPr/>
          <a:lstStyle/>
          <a:p>
            <a:pPr lvl="0" indent="0" marL="0">
              <a:buNone/>
            </a:pPr>
            <a:r>
              <a:rPr/>
              <a:t>Each particle object contains: - </a:t>
            </a:r>
            <a:r>
              <a:rPr b="1"/>
              <a:t>Color</a:t>
            </a:r>
            <a:r>
              <a:rPr/>
              <a:t> (same for all bullets) - </a:t>
            </a:r>
            <a:r>
              <a:rPr b="1"/>
              <a:t>Sprite/texture</a:t>
            </a:r>
            <a:r>
              <a:rPr/>
              <a:t> (same for all bullets) - </a:t>
            </a:r>
            <a:r>
              <a:rPr b="1"/>
              <a:t>Coordinates</a:t>
            </a:r>
            <a:r>
              <a:rPr/>
              <a:t> (unique per particle) - </a:t>
            </a:r>
            <a:r>
              <a:rPr b="1"/>
              <a:t>Direction vector</a:t>
            </a:r>
            <a:r>
              <a:rPr/>
              <a:t> (unique per particle) - </a:t>
            </a:r>
            <a:r>
              <a:rPr b="1"/>
              <a:t>Speed</a:t>
            </a:r>
            <a:r>
              <a:rPr/>
              <a:t> (unique per particle)</a:t>
            </a:r>
          </a:p>
          <a:p>
            <a:pPr lvl="0" indent="0" marL="0">
              <a:buNone/>
            </a:pPr>
            <a:r>
              <a:rPr/>
              <a:t>The color and sprite data is </a:t>
            </a:r>
            <a:r>
              <a:rPr b="1"/>
              <a:t>duplicated</a:t>
            </a:r>
            <a:r>
              <a:rPr/>
              <a:t> across thousands of particles, wasting enormous amounts of memory.</a:t>
            </a:r>
          </a:p>
        </p:txBody>
      </p:sp>
    </p:spTree>
  </p:cSld>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Flyweight: Solution - Intrinsic vs. Extrinsic State</a:t>
            </a:r>
          </a:p>
        </p:txBody>
      </p:sp>
      <p:sp>
        <p:nvSpPr>
          <p:cNvPr id="3" name="Content Placeholder 2"/>
          <p:cNvSpPr>
            <a:spLocks noGrp="1"/>
          </p:cNvSpPr>
          <p:nvPr>
            <p:ph idx="1"/>
          </p:nvPr>
        </p:nvSpPr>
        <p:spPr/>
        <p:txBody>
          <a:bodyPr/>
          <a:lstStyle/>
          <a:p>
            <a:pPr lvl="0" indent="0" marL="0">
              <a:buNone/>
            </a:pPr>
            <a:r>
              <a:rPr/>
              <a:t>The Flyweight pattern suggests that you stop storing the </a:t>
            </a:r>
            <a:r>
              <a:rPr b="1"/>
              <a:t>extrinsic state</a:t>
            </a:r>
            <a:r>
              <a:rPr/>
              <a:t> inside the object. Instead, you should pass this state to specific methods which rely on it. Only the </a:t>
            </a:r>
            <a:r>
              <a:rPr b="1"/>
              <a:t>intrinsic state</a:t>
            </a:r>
            <a:r>
              <a:rPr/>
              <a:t> stays within the object, letting you reuse it in different contexts.</a:t>
            </a:r>
          </a:p>
          <a:p>
            <a:pPr lvl="0" indent="0" marL="0">
              <a:buNone/>
            </a:pPr>
            <a:r>
              <a:rPr b="1"/>
              <a:t>Intrinsic State</a:t>
            </a:r>
            <a:r>
              <a:rPr/>
              <a:t> – The constant data of an object. Other objects can only read it, not change it. This data lives within the flyweight object and remains </a:t>
            </a:r>
            <a:r>
              <a:rPr b="1"/>
              <a:t>immutable</a:t>
            </a:r>
            <a:r>
              <a:rPr/>
              <a:t> after creation. - Examples: color, sprite, texture</a:t>
            </a:r>
          </a:p>
          <a:p>
            <a:pPr lvl="0" indent="0" marL="0">
              <a:buNone/>
            </a:pPr>
            <a:r>
              <a:rPr b="1"/>
              <a:t>Extrinsic State</a:t>
            </a:r>
            <a:r>
              <a:rPr/>
              <a:t> – Contextual data, unique to each object instance, that changes. - Examples: coordinates, direction, speed</a:t>
            </a:r>
          </a:p>
        </p:txBody>
      </p:sp>
    </p:spTree>
  </p:cSld>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Flyweight: Solution (cont.)</a:t>
            </a:r>
          </a:p>
        </p:txBody>
      </p:sp>
      <p:sp>
        <p:nvSpPr>
          <p:cNvPr id="3" name="Content Placeholder 2"/>
          <p:cNvSpPr>
            <a:spLocks noGrp="1"/>
          </p:cNvSpPr>
          <p:nvPr>
            <p:ph idx="1"/>
          </p:nvPr>
        </p:nvSpPr>
        <p:spPr/>
        <p:txBody>
          <a:bodyPr/>
          <a:lstStyle/>
          <a:p>
            <a:pPr lvl="0" indent="0" marL="0">
              <a:buNone/>
            </a:pPr>
            <a:r>
              <a:rPr/>
              <a:t>As a result, you would need </a:t>
            </a:r>
            <a:r>
              <a:rPr b="1"/>
              <a:t>fewer</a:t>
            </a:r>
            <a:r>
              <a:rPr/>
              <a:t> of these objects since they only differ in the intrinsic state, which has much fewer variations than the extrinsic.</a:t>
            </a:r>
          </a:p>
          <a:p>
            <a:pPr lvl="0" indent="0" marL="0">
              <a:buNone/>
            </a:pPr>
            <a:r>
              <a:rPr/>
              <a:t>In the particle example, instead of thousands of particle objects with duplicated data, you would have only </a:t>
            </a:r>
            <a:r>
              <a:rPr b="1"/>
              <a:t>three flyweight objects</a:t>
            </a:r>
            <a:r>
              <a:rPr/>
              <a:t> (bullet, missile, shrapnel), each referenced by many context objects containing unique positional and movement data.</a:t>
            </a:r>
          </a:p>
        </p:txBody>
      </p:sp>
    </p:spTree>
  </p:cSld>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Flyweight: Immutability and Factory</a:t>
            </a:r>
          </a:p>
        </p:txBody>
      </p:sp>
      <p:sp>
        <p:nvSpPr>
          <p:cNvPr id="3" name="Content Placeholder 2"/>
          <p:cNvSpPr>
            <a:spLocks noGrp="1"/>
          </p:cNvSpPr>
          <p:nvPr>
            <p:ph idx="1"/>
          </p:nvPr>
        </p:nvSpPr>
        <p:spPr/>
        <p:txBody>
          <a:bodyPr/>
          <a:lstStyle/>
          <a:p>
            <a:pPr lvl="0" indent="0" marL="0">
              <a:buNone/>
            </a:pPr>
            <a:r>
              <a:rPr b="1"/>
              <a:t>Immutability Requirement:</a:t>
            </a:r>
            <a:r>
              <a:rPr/>
              <a:t> - Since the same flyweight object can be used in different contexts, you must make sure that its state </a:t>
            </a:r>
            <a:r>
              <a:rPr b="1"/>
              <a:t>cannot be modified</a:t>
            </a:r>
            <a:r>
              <a:rPr/>
              <a:t> - A flyweight should initialize its state just once, via </a:t>
            </a:r>
            <a:r>
              <a:rPr b="1"/>
              <a:t>constructor parameters</a:t>
            </a:r>
            <a:r>
              <a:rPr/>
              <a:t> - It should not expose any setters or public fields to other objects</a:t>
            </a:r>
          </a:p>
          <a:p>
            <a:pPr lvl="0" indent="0" marL="0">
              <a:buNone/>
            </a:pPr>
            <a:r>
              <a:rPr b="1"/>
              <a:t>Factory Pattern Integration:</a:t>
            </a:r>
            <a:r>
              <a:rPr/>
              <a:t> - To simplify access to various flyweights, create a </a:t>
            </a:r>
            <a:r>
              <a:rPr b="1"/>
              <a:t>factory method</a:t>
            </a:r>
            <a:r>
              <a:rPr/>
              <a:t> that manages a pool of existing flyweight objects - The factory accepts the intrinsic state of the desired flyweight, searches for an existing flyweight matching this state, and returns it if found. If not, it creates a new flyweight and adds it to the pool</a:t>
            </a:r>
          </a:p>
        </p:txBody>
      </p:sp>
    </p:spTree>
  </p:cSld>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Flyweight: Structure</a:t>
            </a:r>
          </a:p>
        </p:txBody>
      </p:sp>
      <p:sp>
        <p:nvSpPr>
          <p:cNvPr id="3" name="Content Placeholder 2"/>
          <p:cNvSpPr>
            <a:spLocks noGrp="1"/>
          </p:cNvSpPr>
          <p:nvPr>
            <p:ph idx="1"/>
          </p:nvPr>
        </p:nvSpPr>
        <p:spPr/>
        <p:txBody>
          <a:bodyPr/>
          <a:lstStyle/>
          <a:p>
            <a:pPr lvl="0" indent="-342900" marL="342900">
              <a:buAutoNum type="arabicPeriod"/>
            </a:pPr>
            <a:r>
              <a:rPr b="1"/>
              <a:t>Flyweight</a:t>
            </a:r>
            <a:r>
              <a:rPr/>
              <a:t> – Contains the portion of the original object’s state that can be shared between multiple objects (intrinsic state). The same flyweight object can be used in many different contexts. The state stored inside a flyweight is called intrinsic. The state passed to the flyweight’s methods is called extrinsic</a:t>
            </a:r>
          </a:p>
          <a:p>
            <a:pPr lvl="0" indent="-342900" marL="342900">
              <a:buAutoNum type="arabicPeriod"/>
            </a:pPr>
            <a:r>
              <a:rPr b="1"/>
              <a:t>Context</a:t>
            </a:r>
            <a:r>
              <a:rPr/>
              <a:t> – Contains the extrinsic state, unique across all original objects. When a context is paired with one of the flyweight objects, it represents the full state of the original object</a:t>
            </a:r>
          </a:p>
          <a:p>
            <a:pPr lvl="0" indent="-342900" marL="342900">
              <a:buAutoNum type="arabicPeriod"/>
            </a:pPr>
            <a:r>
              <a:rPr b="1"/>
              <a:t>Flyweight Factory</a:t>
            </a:r>
            <a:r>
              <a:rPr/>
              <a:t> – Manages a pool of existing flyweights. With the factory, clients do not create flyweights directly. Instead, they call the factory, passing bits of the intrinsic state of the desired flyweight. The factory looks over previously created flyweights and either returns an existing one or creates a new one</a:t>
            </a:r>
          </a:p>
          <a:p>
            <a:pPr lvl="0" indent="-342900" marL="342900">
              <a:buAutoNum type="arabicPeriod"/>
            </a:pPr>
            <a:r>
              <a:rPr b="1"/>
              <a:t>Client</a:t>
            </a:r>
            <a:r>
              <a:rPr/>
              <a:t> – Calculates or stores the extrinsic state of flyweights. From the client’s perspective, a flyweight is a template object which can be configured at runtime by passing some contextual data into parameters of its methods</a:t>
            </a:r>
          </a:p>
        </p:txBody>
      </p:sp>
    </p:spTree>
  </p:cSld>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Flyweight - Class Diagram</a:t>
            </a:r>
          </a:p>
        </p:txBody>
      </p:sp>
      <p:pic>
        <p:nvPicPr>
          <p:cNvPr descr="assets/flyweight-structure.png" id="0" name="Picture 1"/>
          <p:cNvPicPr>
            <a:picLocks noGrp="1" noChangeAspect="1"/>
          </p:cNvPicPr>
          <p:nvPr/>
        </p:nvPicPr>
        <p:blipFill>
          <a:blip r:embed="rId2"/>
          <a:stretch>
            <a:fillRect/>
          </a:stretch>
        </p:blipFill>
        <p:spPr bwMode="auto">
          <a:xfrm>
            <a:off x="3568700" y="279400"/>
            <a:ext cx="5105400" cy="37084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a:t>
            </a:r>
          </a:p>
        </p:txBody>
      </p:sp>
    </p:spTree>
  </p:cSld>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Flyweight: Java Code Example - Flyweight Class</a:t>
            </a:r>
          </a:p>
        </p:txBody>
      </p:sp>
      <p:sp>
        <p:nvSpPr>
          <p:cNvPr id="3" name="Content Placeholder 2"/>
          <p:cNvSpPr>
            <a:spLocks noGrp="1"/>
          </p:cNvSpPr>
          <p:nvPr>
            <p:ph idx="1"/>
          </p:nvPr>
        </p:nvSpPr>
        <p:spPr/>
        <p:txBody>
          <a:bodyPr/>
          <a:lstStyle/>
          <a:p>
            <a:pPr lvl="0" indent="0">
              <a:buNone/>
            </a:pPr>
            <a:r>
              <a:rPr b="1">
                <a:solidFill>
                  <a:srgbClr val="007020"/>
                </a:solidFill>
                <a:latin typeface="Courier"/>
              </a:rPr>
              <a:t>import</a:t>
            </a:r>
            <a:r>
              <a:rPr>
                <a:latin typeface="Courier"/>
              </a:rPr>
              <a:t> </a:t>
            </a:r>
            <a:r>
              <a:rPr b="1">
                <a:solidFill>
                  <a:srgbClr val="008000"/>
                </a:solidFill>
                <a:latin typeface="Courier"/>
              </a:rPr>
              <a:t>java</a:t>
            </a:r>
            <a:r>
              <a:rPr>
                <a:solidFill>
                  <a:srgbClr val="666666"/>
                </a:solidFill>
                <a:latin typeface="Courier"/>
              </a:rPr>
              <a:t>.</a:t>
            </a:r>
            <a:r>
              <a:rPr b="1">
                <a:solidFill>
                  <a:srgbClr val="008000"/>
                </a:solidFill>
                <a:latin typeface="Courier"/>
              </a:rPr>
              <a:t>awt</a:t>
            </a:r>
            <a:r>
              <a:rPr>
                <a:solidFill>
                  <a:srgbClr val="666666"/>
                </a:solidFill>
                <a:latin typeface="Courier"/>
              </a:rPr>
              <a:t>.*;</a:t>
            </a:r>
            <a:br/>
            <a:br/>
            <a:r>
              <a:rPr i="1">
                <a:solidFill>
                  <a:srgbClr val="60A0B0"/>
                </a:solidFill>
                <a:latin typeface="Courier"/>
              </a:rPr>
              <a:t>// The flyweight class contains a portion of the state of a</a:t>
            </a:r>
            <a:br/>
            <a:r>
              <a:rPr i="1">
                <a:solidFill>
                  <a:srgbClr val="60A0B0"/>
                </a:solidFill>
                <a:latin typeface="Courier"/>
              </a:rPr>
              <a:t>// tree. These fields store values that are unique for each</a:t>
            </a:r>
            <a:br/>
            <a:r>
              <a:rPr i="1">
                <a:solidFill>
                  <a:srgbClr val="60A0B0"/>
                </a:solidFill>
                <a:latin typeface="Courier"/>
              </a:rPr>
              <a:t>// particular tree type. You will not find here the tree</a:t>
            </a:r>
            <a:br/>
            <a:r>
              <a:rPr i="1">
                <a:solidFill>
                  <a:srgbClr val="60A0B0"/>
                </a:solidFill>
                <a:latin typeface="Courier"/>
              </a:rPr>
              <a:t>// coordinates. But the texture and colors shared between</a:t>
            </a:r>
            <a:br/>
            <a:r>
              <a:rPr i="1">
                <a:solidFill>
                  <a:srgbClr val="60A0B0"/>
                </a:solidFill>
                <a:latin typeface="Courier"/>
              </a:rPr>
              <a:t>// many trees are here. Since this data is usually BIG, you</a:t>
            </a:r>
            <a:br/>
            <a:r>
              <a:rPr i="1">
                <a:solidFill>
                  <a:srgbClr val="60A0B0"/>
                </a:solidFill>
                <a:latin typeface="Courier"/>
              </a:rPr>
              <a:t>// would waste a lot of memory by keeping it in each tree</a:t>
            </a:r>
            <a:br/>
            <a:r>
              <a:rPr i="1">
                <a:solidFill>
                  <a:srgbClr val="60A0B0"/>
                </a:solidFill>
                <a:latin typeface="Courier"/>
              </a:rPr>
              <a:t>// object. Instead, we extract texture, color, and other</a:t>
            </a:r>
            <a:br/>
            <a:r>
              <a:rPr i="1">
                <a:solidFill>
                  <a:srgbClr val="60A0B0"/>
                </a:solidFill>
                <a:latin typeface="Courier"/>
              </a:rPr>
              <a:t>// repeating data into a separate object (TreeType).</a:t>
            </a:r>
            <a:br/>
            <a:r>
              <a:rPr b="1">
                <a:solidFill>
                  <a:srgbClr val="007020"/>
                </a:solidFill>
                <a:latin typeface="Courier"/>
              </a:rPr>
              <a:t>public</a:t>
            </a:r>
            <a:r>
              <a:rPr>
                <a:latin typeface="Courier"/>
              </a:rPr>
              <a:t> </a:t>
            </a:r>
            <a:r>
              <a:rPr b="1">
                <a:solidFill>
                  <a:srgbClr val="007020"/>
                </a:solidFill>
                <a:latin typeface="Courier"/>
              </a:rPr>
              <a:t>class</a:t>
            </a:r>
            <a:r>
              <a:rPr>
                <a:latin typeface="Courier"/>
              </a:rPr>
              <a:t> TreeType </a:t>
            </a:r>
            <a:r>
              <a:rPr>
                <a:solidFill>
                  <a:srgbClr val="666666"/>
                </a:solidFill>
                <a:latin typeface="Courier"/>
              </a:rPr>
              <a:t>{</a:t>
            </a:r>
            <a:br/>
            <a:r>
              <a:rPr>
                <a:latin typeface="Courier"/>
              </a:rPr>
              <a:t>    </a:t>
            </a:r>
            <a:r>
              <a:rPr b="1">
                <a:solidFill>
                  <a:srgbClr val="007020"/>
                </a:solidFill>
                <a:latin typeface="Courier"/>
              </a:rPr>
              <a:t>private</a:t>
            </a:r>
            <a:r>
              <a:rPr>
                <a:latin typeface="Courier"/>
              </a:rPr>
              <a:t> </a:t>
            </a:r>
            <a:r>
              <a:rPr>
                <a:solidFill>
                  <a:srgbClr val="008000"/>
                </a:solidFill>
                <a:latin typeface="Courier"/>
              </a:rPr>
              <a:t>String</a:t>
            </a:r>
            <a:r>
              <a:rPr>
                <a:latin typeface="Courier"/>
              </a:rPr>
              <a:t> name</a:t>
            </a:r>
            <a:r>
              <a:rPr>
                <a:solidFill>
                  <a:srgbClr val="666666"/>
                </a:solidFill>
                <a:latin typeface="Courier"/>
              </a:rPr>
              <a:t>;</a:t>
            </a:r>
            <a:br/>
            <a:r>
              <a:rPr>
                <a:latin typeface="Courier"/>
              </a:rPr>
              <a:t>    </a:t>
            </a:r>
            <a:r>
              <a:rPr b="1">
                <a:solidFill>
                  <a:srgbClr val="007020"/>
                </a:solidFill>
                <a:latin typeface="Courier"/>
              </a:rPr>
              <a:t>private</a:t>
            </a:r>
            <a:r>
              <a:rPr>
                <a:latin typeface="Courier"/>
              </a:rPr>
              <a:t> </a:t>
            </a:r>
            <a:r>
              <a:rPr>
                <a:solidFill>
                  <a:srgbClr val="008000"/>
                </a:solidFill>
                <a:latin typeface="Courier"/>
              </a:rPr>
              <a:t>Color</a:t>
            </a:r>
            <a:r>
              <a:rPr>
                <a:latin typeface="Courier"/>
              </a:rPr>
              <a:t> color</a:t>
            </a:r>
            <a:r>
              <a:rPr>
                <a:solidFill>
                  <a:srgbClr val="666666"/>
                </a:solidFill>
                <a:latin typeface="Courier"/>
              </a:rPr>
              <a:t>;</a:t>
            </a:r>
            <a:br/>
            <a:r>
              <a:rPr>
                <a:latin typeface="Courier"/>
              </a:rPr>
              <a:t>    </a:t>
            </a:r>
            <a:r>
              <a:rPr b="1">
                <a:solidFill>
                  <a:srgbClr val="007020"/>
                </a:solidFill>
                <a:latin typeface="Courier"/>
              </a:rPr>
              <a:t>private</a:t>
            </a:r>
            <a:r>
              <a:rPr>
                <a:latin typeface="Courier"/>
              </a:rPr>
              <a:t> </a:t>
            </a:r>
            <a:r>
              <a:rPr>
                <a:solidFill>
                  <a:srgbClr val="008000"/>
                </a:solidFill>
                <a:latin typeface="Courier"/>
              </a:rPr>
              <a:t>String</a:t>
            </a:r>
            <a:r>
              <a:rPr>
                <a:latin typeface="Courier"/>
              </a:rPr>
              <a:t> texture</a:t>
            </a:r>
            <a:r>
              <a:rPr>
                <a:solidFill>
                  <a:srgbClr val="666666"/>
                </a:solidFill>
                <a:latin typeface="Courier"/>
              </a:rPr>
              <a:t>;</a:t>
            </a:r>
            <a:br/>
            <a:br/>
            <a:r>
              <a:rPr>
                <a:latin typeface="Courier"/>
              </a:rPr>
              <a:t>    </a:t>
            </a:r>
            <a:r>
              <a:rPr b="1">
                <a:solidFill>
                  <a:srgbClr val="007020"/>
                </a:solidFill>
                <a:latin typeface="Courier"/>
              </a:rPr>
              <a:t>public</a:t>
            </a:r>
            <a:r>
              <a:rPr>
                <a:latin typeface="Courier"/>
              </a:rPr>
              <a:t> </a:t>
            </a:r>
            <a:r>
              <a:rPr>
                <a:solidFill>
                  <a:srgbClr val="06287E"/>
                </a:solidFill>
                <a:latin typeface="Courier"/>
              </a:rPr>
              <a:t>TreeType</a:t>
            </a:r>
            <a:r>
              <a:rPr>
                <a:solidFill>
                  <a:srgbClr val="666666"/>
                </a:solidFill>
                <a:latin typeface="Courier"/>
              </a:rPr>
              <a:t>(</a:t>
            </a:r>
            <a:r>
              <a:rPr>
                <a:solidFill>
                  <a:srgbClr val="008000"/>
                </a:solidFill>
                <a:latin typeface="Courier"/>
              </a:rPr>
              <a:t>String</a:t>
            </a:r>
            <a:r>
              <a:rPr>
                <a:latin typeface="Courier"/>
              </a:rPr>
              <a:t> name</a:t>
            </a:r>
            <a:r>
              <a:rPr>
                <a:solidFill>
                  <a:srgbClr val="666666"/>
                </a:solidFill>
                <a:latin typeface="Courier"/>
              </a:rPr>
              <a:t>,</a:t>
            </a:r>
            <a:r>
              <a:rPr>
                <a:latin typeface="Courier"/>
              </a:rPr>
              <a:t> </a:t>
            </a:r>
            <a:r>
              <a:rPr>
                <a:solidFill>
                  <a:srgbClr val="008000"/>
                </a:solidFill>
                <a:latin typeface="Courier"/>
              </a:rPr>
              <a:t>Color</a:t>
            </a:r>
            <a:r>
              <a:rPr>
                <a:latin typeface="Courier"/>
              </a:rPr>
              <a:t> color</a:t>
            </a:r>
            <a:r>
              <a:rPr>
                <a:solidFill>
                  <a:srgbClr val="666666"/>
                </a:solidFill>
                <a:latin typeface="Courier"/>
              </a:rPr>
              <a:t>,</a:t>
            </a:r>
            <a:r>
              <a:rPr>
                <a:latin typeface="Courier"/>
              </a:rPr>
              <a:t> </a:t>
            </a:r>
            <a:r>
              <a:rPr>
                <a:solidFill>
                  <a:srgbClr val="008000"/>
                </a:solidFill>
                <a:latin typeface="Courier"/>
              </a:rPr>
              <a:t>String</a:t>
            </a:r>
            <a:r>
              <a:rPr>
                <a:latin typeface="Courier"/>
              </a:rPr>
              <a:t> texture</a:t>
            </a:r>
            <a:r>
              <a:rPr>
                <a:solidFill>
                  <a:srgbClr val="666666"/>
                </a:solidFill>
                <a:latin typeface="Courier"/>
              </a:rPr>
              <a:t>)</a:t>
            </a:r>
            <a:r>
              <a:rPr>
                <a:latin typeface="Courier"/>
              </a:rPr>
              <a:t> </a:t>
            </a:r>
            <a:r>
              <a:rPr>
                <a:solidFill>
                  <a:srgbClr val="666666"/>
                </a:solidFill>
                <a:latin typeface="Courier"/>
              </a:rPr>
              <a:t>{</a:t>
            </a:r>
            <a:br/>
            <a:r>
              <a:rPr>
                <a:latin typeface="Courier"/>
              </a:rPr>
              <a:t>        </a:t>
            </a:r>
            <a:r>
              <a:rPr b="1">
                <a:solidFill>
                  <a:srgbClr val="007020"/>
                </a:solidFill>
                <a:latin typeface="Courier"/>
              </a:rPr>
              <a:t>this</a:t>
            </a:r>
            <a:r>
              <a:rPr>
                <a:solidFill>
                  <a:srgbClr val="666666"/>
                </a:solidFill>
                <a:latin typeface="Courier"/>
              </a:rPr>
              <a:t>.</a:t>
            </a:r>
            <a:r>
              <a:rPr>
                <a:solidFill>
                  <a:srgbClr val="06287E"/>
                </a:solidFill>
                <a:latin typeface="Courier"/>
              </a:rPr>
              <a:t>name</a:t>
            </a:r>
            <a:r>
              <a:rPr>
                <a:latin typeface="Courier"/>
              </a:rPr>
              <a:t> </a:t>
            </a:r>
            <a:r>
              <a:rPr>
                <a:solidFill>
                  <a:srgbClr val="666666"/>
                </a:solidFill>
                <a:latin typeface="Courier"/>
              </a:rPr>
              <a:t>=</a:t>
            </a:r>
            <a:r>
              <a:rPr>
                <a:latin typeface="Courier"/>
              </a:rPr>
              <a:t> name</a:t>
            </a:r>
            <a:r>
              <a:rPr>
                <a:solidFill>
                  <a:srgbClr val="666666"/>
                </a:solidFill>
                <a:latin typeface="Courier"/>
              </a:rPr>
              <a:t>;</a:t>
            </a:r>
            <a:br/>
            <a:r>
              <a:rPr>
                <a:latin typeface="Courier"/>
              </a:rPr>
              <a:t>        </a:t>
            </a:r>
            <a:r>
              <a:rPr b="1">
                <a:solidFill>
                  <a:srgbClr val="007020"/>
                </a:solidFill>
                <a:latin typeface="Courier"/>
              </a:rPr>
              <a:t>this</a:t>
            </a:r>
            <a:r>
              <a:rPr>
                <a:solidFill>
                  <a:srgbClr val="666666"/>
                </a:solidFill>
                <a:latin typeface="Courier"/>
              </a:rPr>
              <a:t>.</a:t>
            </a:r>
            <a:r>
              <a:rPr>
                <a:solidFill>
                  <a:srgbClr val="06287E"/>
                </a:solidFill>
                <a:latin typeface="Courier"/>
              </a:rPr>
              <a:t>color</a:t>
            </a:r>
            <a:r>
              <a:rPr>
                <a:latin typeface="Courier"/>
              </a:rPr>
              <a:t> </a:t>
            </a:r>
            <a:r>
              <a:rPr>
                <a:solidFill>
                  <a:srgbClr val="666666"/>
                </a:solidFill>
                <a:latin typeface="Courier"/>
              </a:rPr>
              <a:t>=</a:t>
            </a:r>
            <a:r>
              <a:rPr>
                <a:latin typeface="Courier"/>
              </a:rPr>
              <a:t> color</a:t>
            </a:r>
            <a:r>
              <a:rPr>
                <a:solidFill>
                  <a:srgbClr val="666666"/>
                </a:solidFill>
                <a:latin typeface="Courier"/>
              </a:rPr>
              <a:t>;</a:t>
            </a:r>
            <a:br/>
            <a:r>
              <a:rPr>
                <a:latin typeface="Courier"/>
              </a:rPr>
              <a:t>        </a:t>
            </a:r>
            <a:r>
              <a:rPr b="1">
                <a:solidFill>
                  <a:srgbClr val="007020"/>
                </a:solidFill>
                <a:latin typeface="Courier"/>
              </a:rPr>
              <a:t>this</a:t>
            </a:r>
            <a:r>
              <a:rPr>
                <a:solidFill>
                  <a:srgbClr val="666666"/>
                </a:solidFill>
                <a:latin typeface="Courier"/>
              </a:rPr>
              <a:t>.</a:t>
            </a:r>
            <a:r>
              <a:rPr>
                <a:solidFill>
                  <a:srgbClr val="06287E"/>
                </a:solidFill>
                <a:latin typeface="Courier"/>
              </a:rPr>
              <a:t>texture</a:t>
            </a:r>
            <a:r>
              <a:rPr>
                <a:latin typeface="Courier"/>
              </a:rPr>
              <a:t> </a:t>
            </a:r>
            <a:r>
              <a:rPr>
                <a:solidFill>
                  <a:srgbClr val="666666"/>
                </a:solidFill>
                <a:latin typeface="Courier"/>
              </a:rPr>
              <a:t>=</a:t>
            </a:r>
            <a:r>
              <a:rPr>
                <a:latin typeface="Courier"/>
              </a:rPr>
              <a:t> texture</a:t>
            </a:r>
            <a:r>
              <a:rPr>
                <a:solidFill>
                  <a:srgbClr val="666666"/>
                </a:solidFill>
                <a:latin typeface="Courier"/>
              </a:rPr>
              <a:t>;</a:t>
            </a:r>
            <a:br/>
            <a:r>
              <a:rPr>
                <a:latin typeface="Courier"/>
              </a:rPr>
              <a:t>    </a:t>
            </a:r>
            <a:r>
              <a:rPr>
                <a:solidFill>
                  <a:srgbClr val="666666"/>
                </a:solidFill>
                <a:latin typeface="Courier"/>
              </a:rPr>
              <a:t>}</a:t>
            </a:r>
            <a:br/>
            <a:br/>
            <a:r>
              <a:rPr>
                <a:latin typeface="Courier"/>
              </a:rPr>
              <a:t>    </a:t>
            </a:r>
            <a:r>
              <a:rPr b="1">
                <a:solidFill>
                  <a:srgbClr val="007020"/>
                </a:solidFill>
                <a:latin typeface="Courier"/>
              </a:rPr>
              <a:t>public</a:t>
            </a:r>
            <a:r>
              <a:rPr>
                <a:latin typeface="Courier"/>
              </a:rPr>
              <a:t> </a:t>
            </a:r>
            <a:r>
              <a:rPr>
                <a:solidFill>
                  <a:srgbClr val="008000"/>
                </a:solidFill>
                <a:latin typeface="Courier"/>
              </a:rPr>
              <a:t>String</a:t>
            </a:r>
            <a:r>
              <a:rPr>
                <a:latin typeface="Courier"/>
              </a:rPr>
              <a:t> </a:t>
            </a:r>
            <a:r>
              <a:rPr>
                <a:solidFill>
                  <a:srgbClr val="06287E"/>
                </a:solidFill>
                <a:latin typeface="Courier"/>
              </a:rPr>
              <a:t>getName</a:t>
            </a:r>
            <a:r>
              <a:rPr>
                <a:solidFill>
                  <a:srgbClr val="666666"/>
                </a:solidFill>
                <a:latin typeface="Courier"/>
              </a:rPr>
              <a:t>()</a:t>
            </a:r>
            <a:r>
              <a:rPr>
                <a:latin typeface="Courier"/>
              </a:rPr>
              <a:t> </a:t>
            </a:r>
            <a:r>
              <a:rPr>
                <a:solidFill>
                  <a:srgbClr val="666666"/>
                </a:solidFill>
                <a:latin typeface="Courier"/>
              </a:rPr>
              <a:t>{</a:t>
            </a:r>
            <a:r>
              <a:rPr>
                <a:latin typeface="Courier"/>
              </a:rPr>
              <a:t> </a:t>
            </a:r>
            <a:r>
              <a:rPr b="1">
                <a:solidFill>
                  <a:srgbClr val="007020"/>
                </a:solidFill>
                <a:latin typeface="Courier"/>
              </a:rPr>
              <a:t>return</a:t>
            </a:r>
            <a:r>
              <a:rPr>
                <a:latin typeface="Courier"/>
              </a:rPr>
              <a:t> name</a:t>
            </a:r>
            <a:r>
              <a:rPr>
                <a:solidFill>
                  <a:srgbClr val="666666"/>
                </a:solidFill>
                <a:latin typeface="Courier"/>
              </a:rPr>
              <a:t>;</a:t>
            </a:r>
            <a:r>
              <a:rPr>
                <a:latin typeface="Courier"/>
              </a:rPr>
              <a:t> </a:t>
            </a:r>
            <a:r>
              <a:rPr>
                <a:solidFill>
                  <a:srgbClr val="666666"/>
                </a:solidFill>
                <a:latin typeface="Courier"/>
              </a:rPr>
              <a:t>}</a:t>
            </a:r>
            <a:br/>
            <a:r>
              <a:rPr>
                <a:latin typeface="Courier"/>
              </a:rPr>
              <a:t>    </a:t>
            </a:r>
            <a:r>
              <a:rPr b="1">
                <a:solidFill>
                  <a:srgbClr val="007020"/>
                </a:solidFill>
                <a:latin typeface="Courier"/>
              </a:rPr>
              <a:t>public</a:t>
            </a:r>
            <a:r>
              <a:rPr>
                <a:latin typeface="Courier"/>
              </a:rPr>
              <a:t> </a:t>
            </a:r>
            <a:r>
              <a:rPr>
                <a:solidFill>
                  <a:srgbClr val="008000"/>
                </a:solidFill>
                <a:latin typeface="Courier"/>
              </a:rPr>
              <a:t>Color</a:t>
            </a:r>
            <a:r>
              <a:rPr>
                <a:latin typeface="Courier"/>
              </a:rPr>
              <a:t> </a:t>
            </a:r>
            <a:r>
              <a:rPr>
                <a:solidFill>
                  <a:srgbClr val="06287E"/>
                </a:solidFill>
                <a:latin typeface="Courier"/>
              </a:rPr>
              <a:t>getColor</a:t>
            </a:r>
            <a:r>
              <a:rPr>
                <a:solidFill>
                  <a:srgbClr val="666666"/>
                </a:solidFill>
                <a:latin typeface="Courier"/>
              </a:rPr>
              <a:t>()</a:t>
            </a:r>
            <a:r>
              <a:rPr>
                <a:latin typeface="Courier"/>
              </a:rPr>
              <a:t> </a:t>
            </a:r>
            <a:r>
              <a:rPr>
                <a:solidFill>
                  <a:srgbClr val="666666"/>
                </a:solidFill>
                <a:latin typeface="Courier"/>
              </a:rPr>
              <a:t>{</a:t>
            </a:r>
            <a:r>
              <a:rPr>
                <a:latin typeface="Courier"/>
              </a:rPr>
              <a:t> </a:t>
            </a:r>
            <a:r>
              <a:rPr b="1">
                <a:solidFill>
                  <a:srgbClr val="007020"/>
                </a:solidFill>
                <a:latin typeface="Courier"/>
              </a:rPr>
              <a:t>return</a:t>
            </a:r>
            <a:r>
              <a:rPr>
                <a:latin typeface="Courier"/>
              </a:rPr>
              <a:t> color</a:t>
            </a:r>
            <a:r>
              <a:rPr>
                <a:solidFill>
                  <a:srgbClr val="666666"/>
                </a:solidFill>
                <a:latin typeface="Courier"/>
              </a:rPr>
              <a:t>;</a:t>
            </a:r>
            <a:r>
              <a:rPr>
                <a:latin typeface="Courier"/>
              </a:rPr>
              <a:t> </a:t>
            </a:r>
            <a:r>
              <a:rPr>
                <a:solidFill>
                  <a:srgbClr val="666666"/>
                </a:solidFill>
                <a:latin typeface="Courier"/>
              </a:rPr>
              <a:t>}</a:t>
            </a:r>
            <a:br/>
            <a:r>
              <a:rPr>
                <a:latin typeface="Courier"/>
              </a:rPr>
              <a:t>    </a:t>
            </a:r>
            <a:r>
              <a:rPr b="1">
                <a:solidFill>
                  <a:srgbClr val="007020"/>
                </a:solidFill>
                <a:latin typeface="Courier"/>
              </a:rPr>
              <a:t>public</a:t>
            </a:r>
            <a:r>
              <a:rPr>
                <a:latin typeface="Courier"/>
              </a:rPr>
              <a:t> </a:t>
            </a:r>
            <a:r>
              <a:rPr>
                <a:solidFill>
                  <a:srgbClr val="008000"/>
                </a:solidFill>
                <a:latin typeface="Courier"/>
              </a:rPr>
              <a:t>String</a:t>
            </a:r>
            <a:r>
              <a:rPr>
                <a:latin typeface="Courier"/>
              </a:rPr>
              <a:t> </a:t>
            </a:r>
            <a:r>
              <a:rPr>
                <a:solidFill>
                  <a:srgbClr val="06287E"/>
                </a:solidFill>
                <a:latin typeface="Courier"/>
              </a:rPr>
              <a:t>getTexture</a:t>
            </a:r>
            <a:r>
              <a:rPr>
                <a:solidFill>
                  <a:srgbClr val="666666"/>
                </a:solidFill>
                <a:latin typeface="Courier"/>
              </a:rPr>
              <a:t>()</a:t>
            </a:r>
            <a:r>
              <a:rPr>
                <a:latin typeface="Courier"/>
              </a:rPr>
              <a:t> </a:t>
            </a:r>
            <a:r>
              <a:rPr>
                <a:solidFill>
                  <a:srgbClr val="666666"/>
                </a:solidFill>
                <a:latin typeface="Courier"/>
              </a:rPr>
              <a:t>{</a:t>
            </a:r>
            <a:r>
              <a:rPr>
                <a:latin typeface="Courier"/>
              </a:rPr>
              <a:t> </a:t>
            </a:r>
            <a:r>
              <a:rPr b="1">
                <a:solidFill>
                  <a:srgbClr val="007020"/>
                </a:solidFill>
                <a:latin typeface="Courier"/>
              </a:rPr>
              <a:t>return</a:t>
            </a:r>
            <a:r>
              <a:rPr>
                <a:latin typeface="Courier"/>
              </a:rPr>
              <a:t> texture</a:t>
            </a:r>
            <a:r>
              <a:rPr>
                <a:solidFill>
                  <a:srgbClr val="666666"/>
                </a:solidFill>
                <a:latin typeface="Courier"/>
              </a:rPr>
              <a:t>;</a:t>
            </a:r>
            <a:r>
              <a:rPr>
                <a:latin typeface="Courier"/>
              </a:rPr>
              <a:t> </a:t>
            </a:r>
            <a:r>
              <a:rPr>
                <a:solidFill>
                  <a:srgbClr val="666666"/>
                </a:solidFill>
                <a:latin typeface="Courier"/>
              </a:rPr>
              <a:t>}</a:t>
            </a:r>
            <a:br/>
            <a:br/>
            <a:r>
              <a:rPr>
                <a:latin typeface="Courier"/>
              </a:rPr>
              <a:t>    </a:t>
            </a:r>
            <a:r>
              <a:rPr b="1">
                <a:solidFill>
                  <a:srgbClr val="007020"/>
                </a:solidFill>
                <a:latin typeface="Courier"/>
              </a:rPr>
              <a:t>public</a:t>
            </a:r>
            <a:r>
              <a:rPr>
                <a:latin typeface="Courier"/>
              </a:rPr>
              <a:t> </a:t>
            </a:r>
            <a:r>
              <a:rPr>
                <a:solidFill>
                  <a:srgbClr val="902000"/>
                </a:solidFill>
                <a:latin typeface="Courier"/>
              </a:rPr>
              <a:t>void</a:t>
            </a:r>
            <a:r>
              <a:rPr>
                <a:latin typeface="Courier"/>
              </a:rPr>
              <a:t> </a:t>
            </a:r>
            <a:r>
              <a:rPr>
                <a:solidFill>
                  <a:srgbClr val="06287E"/>
                </a:solidFill>
                <a:latin typeface="Courier"/>
              </a:rPr>
              <a:t>draw</a:t>
            </a:r>
            <a:r>
              <a:rPr>
                <a:solidFill>
                  <a:srgbClr val="666666"/>
                </a:solidFill>
                <a:latin typeface="Courier"/>
              </a:rPr>
              <a:t>(</a:t>
            </a:r>
            <a:r>
              <a:rPr>
                <a:solidFill>
                  <a:srgbClr val="008000"/>
                </a:solidFill>
                <a:latin typeface="Courier"/>
              </a:rPr>
              <a:t>Graphics</a:t>
            </a:r>
            <a:r>
              <a:rPr>
                <a:latin typeface="Courier"/>
              </a:rPr>
              <a:t> g</a:t>
            </a:r>
            <a:r>
              <a:rPr>
                <a:solidFill>
                  <a:srgbClr val="666666"/>
                </a:solidFill>
                <a:latin typeface="Courier"/>
              </a:rPr>
              <a:t>,</a:t>
            </a:r>
            <a:r>
              <a:rPr>
                <a:latin typeface="Courier"/>
              </a:rPr>
              <a:t> </a:t>
            </a:r>
            <a:r>
              <a:rPr>
                <a:solidFill>
                  <a:srgbClr val="902000"/>
                </a:solidFill>
                <a:latin typeface="Courier"/>
              </a:rPr>
              <a:t>int</a:t>
            </a:r>
            <a:r>
              <a:rPr>
                <a:latin typeface="Courier"/>
              </a:rPr>
              <a:t> x</a:t>
            </a:r>
            <a:r>
              <a:rPr>
                <a:solidFill>
                  <a:srgbClr val="666666"/>
                </a:solidFill>
                <a:latin typeface="Courier"/>
              </a:rPr>
              <a:t>,</a:t>
            </a:r>
            <a:r>
              <a:rPr>
                <a:latin typeface="Courier"/>
              </a:rPr>
              <a:t> </a:t>
            </a:r>
            <a:r>
              <a:rPr>
                <a:solidFill>
                  <a:srgbClr val="902000"/>
                </a:solidFill>
                <a:latin typeface="Courier"/>
              </a:rPr>
              <a:t>int</a:t>
            </a:r>
            <a:r>
              <a:rPr>
                <a:latin typeface="Courier"/>
              </a:rPr>
              <a:t> y</a:t>
            </a:r>
            <a:r>
              <a:rPr>
                <a:solidFill>
                  <a:srgbClr val="666666"/>
                </a:solidFill>
                <a:latin typeface="Courier"/>
              </a:rPr>
              <a:t>)</a:t>
            </a:r>
            <a:r>
              <a:rPr>
                <a:latin typeface="Courier"/>
              </a:rPr>
              <a:t> </a:t>
            </a:r>
            <a:r>
              <a:rPr>
                <a:solidFill>
                  <a:srgbClr val="666666"/>
                </a:solidFill>
                <a:latin typeface="Courier"/>
              </a:rPr>
              <a:t>{</a:t>
            </a:r>
            <a:br/>
            <a:r>
              <a:rPr>
                <a:latin typeface="Courier"/>
              </a:rPr>
              <a:t>        </a:t>
            </a:r>
            <a:r>
              <a:rPr i="1">
                <a:solidFill>
                  <a:srgbClr val="60A0B0"/>
                </a:solidFill>
                <a:latin typeface="Courier"/>
              </a:rPr>
              <a:t>// Draw the tree on canvas at position (x, y)</a:t>
            </a:r>
            <a:br/>
            <a:r>
              <a:rPr>
                <a:latin typeface="Courier"/>
              </a:rPr>
              <a:t>        g</a:t>
            </a:r>
            <a:r>
              <a:rPr>
                <a:solidFill>
                  <a:srgbClr val="666666"/>
                </a:solidFill>
                <a:latin typeface="Courier"/>
              </a:rPr>
              <a:t>.</a:t>
            </a:r>
            <a:r>
              <a:rPr>
                <a:solidFill>
                  <a:srgbClr val="06287E"/>
                </a:solidFill>
                <a:latin typeface="Courier"/>
              </a:rPr>
              <a:t>setColor</a:t>
            </a:r>
            <a:r>
              <a:rPr>
                <a:solidFill>
                  <a:srgbClr val="666666"/>
                </a:solidFill>
                <a:latin typeface="Courier"/>
              </a:rPr>
              <a:t>(</a:t>
            </a:r>
            <a:r>
              <a:rPr>
                <a:solidFill>
                  <a:srgbClr val="008000"/>
                </a:solidFill>
                <a:latin typeface="Courier"/>
              </a:rPr>
              <a:t>Color</a:t>
            </a:r>
            <a:r>
              <a:rPr>
                <a:solidFill>
                  <a:srgbClr val="666666"/>
                </a:solidFill>
                <a:latin typeface="Courier"/>
              </a:rPr>
              <a:t>.</a:t>
            </a:r>
            <a:r>
              <a:rPr>
                <a:solidFill>
                  <a:srgbClr val="06287E"/>
                </a:solidFill>
                <a:latin typeface="Courier"/>
              </a:rPr>
              <a:t>BLACK</a:t>
            </a:r>
            <a:r>
              <a:rPr>
                <a:solidFill>
                  <a:srgbClr val="666666"/>
                </a:solidFill>
                <a:latin typeface="Courier"/>
              </a:rPr>
              <a:t>);</a:t>
            </a:r>
            <a:br/>
            <a:r>
              <a:rPr>
                <a:latin typeface="Courier"/>
              </a:rPr>
              <a:t>        g</a:t>
            </a:r>
            <a:r>
              <a:rPr>
                <a:solidFill>
                  <a:srgbClr val="666666"/>
                </a:solidFill>
                <a:latin typeface="Courier"/>
              </a:rPr>
              <a:t>.</a:t>
            </a:r>
            <a:r>
              <a:rPr>
                <a:solidFill>
                  <a:srgbClr val="06287E"/>
                </a:solidFill>
                <a:latin typeface="Courier"/>
              </a:rPr>
              <a:t>fillRect</a:t>
            </a:r>
            <a:r>
              <a:rPr>
                <a:solidFill>
                  <a:srgbClr val="666666"/>
                </a:solidFill>
                <a:latin typeface="Courier"/>
              </a:rPr>
              <a:t>(</a:t>
            </a:r>
            <a:r>
              <a:rPr>
                <a:latin typeface="Courier"/>
              </a:rPr>
              <a:t>x </a:t>
            </a:r>
            <a:r>
              <a:rPr>
                <a:solidFill>
                  <a:srgbClr val="666666"/>
                </a:solidFill>
                <a:latin typeface="Courier"/>
              </a:rPr>
              <a:t>-</a:t>
            </a:r>
            <a:r>
              <a:rPr>
                <a:latin typeface="Courier"/>
              </a:rPr>
              <a:t> </a:t>
            </a:r>
            <a:r>
              <a:rPr>
                <a:solidFill>
                  <a:srgbClr val="40A070"/>
                </a:solidFill>
                <a:latin typeface="Courier"/>
              </a:rPr>
              <a:t>1</a:t>
            </a:r>
            <a:r>
              <a:rPr>
                <a:solidFill>
                  <a:srgbClr val="666666"/>
                </a:solidFill>
                <a:latin typeface="Courier"/>
              </a:rPr>
              <a:t>,</a:t>
            </a:r>
            <a:r>
              <a:rPr>
                <a:latin typeface="Courier"/>
              </a:rPr>
              <a:t> y</a:t>
            </a:r>
            <a:r>
              <a:rPr>
                <a:solidFill>
                  <a:srgbClr val="666666"/>
                </a:solidFill>
                <a:latin typeface="Courier"/>
              </a:rPr>
              <a:t>,</a:t>
            </a:r>
            <a:r>
              <a:rPr>
                <a:latin typeface="Courier"/>
              </a:rPr>
              <a:t> </a:t>
            </a:r>
            <a:r>
              <a:rPr>
                <a:solidFill>
                  <a:srgbClr val="40A070"/>
                </a:solidFill>
                <a:latin typeface="Courier"/>
              </a:rPr>
              <a:t>3</a:t>
            </a:r>
            <a:r>
              <a:rPr>
                <a:solidFill>
                  <a:srgbClr val="666666"/>
                </a:solidFill>
                <a:latin typeface="Courier"/>
              </a:rPr>
              <a:t>,</a:t>
            </a:r>
            <a:r>
              <a:rPr>
                <a:latin typeface="Courier"/>
              </a:rPr>
              <a:t> </a:t>
            </a:r>
            <a:r>
              <a:rPr>
                <a:solidFill>
                  <a:srgbClr val="40A070"/>
                </a:solidFill>
                <a:latin typeface="Courier"/>
              </a:rPr>
              <a:t>5</a:t>
            </a:r>
            <a:r>
              <a:rPr>
                <a:solidFill>
                  <a:srgbClr val="666666"/>
                </a:solidFill>
                <a:latin typeface="Courier"/>
              </a:rPr>
              <a:t>);</a:t>
            </a:r>
            <a:br/>
            <a:r>
              <a:rPr>
                <a:latin typeface="Courier"/>
              </a:rPr>
              <a:t>        g</a:t>
            </a:r>
            <a:r>
              <a:rPr>
                <a:solidFill>
                  <a:srgbClr val="666666"/>
                </a:solidFill>
                <a:latin typeface="Courier"/>
              </a:rPr>
              <a:t>.</a:t>
            </a:r>
            <a:r>
              <a:rPr>
                <a:solidFill>
                  <a:srgbClr val="06287E"/>
                </a:solidFill>
                <a:latin typeface="Courier"/>
              </a:rPr>
              <a:t>setColor</a:t>
            </a:r>
            <a:r>
              <a:rPr>
                <a:solidFill>
                  <a:srgbClr val="666666"/>
                </a:solidFill>
                <a:latin typeface="Courier"/>
              </a:rPr>
              <a:t>(</a:t>
            </a:r>
            <a:r>
              <a:rPr>
                <a:latin typeface="Courier"/>
              </a:rPr>
              <a:t>color</a:t>
            </a:r>
            <a:r>
              <a:rPr>
                <a:solidFill>
                  <a:srgbClr val="666666"/>
                </a:solidFill>
                <a:latin typeface="Courier"/>
              </a:rPr>
              <a:t>);</a:t>
            </a:r>
            <a:br/>
            <a:r>
              <a:rPr>
                <a:latin typeface="Courier"/>
              </a:rPr>
              <a:t>        g</a:t>
            </a:r>
            <a:r>
              <a:rPr>
                <a:solidFill>
                  <a:srgbClr val="666666"/>
                </a:solidFill>
                <a:latin typeface="Courier"/>
              </a:rPr>
              <a:t>.</a:t>
            </a:r>
            <a:r>
              <a:rPr>
                <a:solidFill>
                  <a:srgbClr val="06287E"/>
                </a:solidFill>
                <a:latin typeface="Courier"/>
              </a:rPr>
              <a:t>fillOval</a:t>
            </a:r>
            <a:r>
              <a:rPr>
                <a:solidFill>
                  <a:srgbClr val="666666"/>
                </a:solidFill>
                <a:latin typeface="Courier"/>
              </a:rPr>
              <a:t>(</a:t>
            </a:r>
            <a:r>
              <a:rPr>
                <a:latin typeface="Courier"/>
              </a:rPr>
              <a:t>x </a:t>
            </a:r>
            <a:r>
              <a:rPr>
                <a:solidFill>
                  <a:srgbClr val="666666"/>
                </a:solidFill>
                <a:latin typeface="Courier"/>
              </a:rPr>
              <a:t>-</a:t>
            </a:r>
            <a:r>
              <a:rPr>
                <a:latin typeface="Courier"/>
              </a:rPr>
              <a:t> </a:t>
            </a:r>
            <a:r>
              <a:rPr>
                <a:solidFill>
                  <a:srgbClr val="40A070"/>
                </a:solidFill>
                <a:latin typeface="Courier"/>
              </a:rPr>
              <a:t>5</a:t>
            </a:r>
            <a:r>
              <a:rPr>
                <a:solidFill>
                  <a:srgbClr val="666666"/>
                </a:solidFill>
                <a:latin typeface="Courier"/>
              </a:rPr>
              <a:t>,</a:t>
            </a:r>
            <a:r>
              <a:rPr>
                <a:latin typeface="Courier"/>
              </a:rPr>
              <a:t> y </a:t>
            </a:r>
            <a:r>
              <a:rPr>
                <a:solidFill>
                  <a:srgbClr val="666666"/>
                </a:solidFill>
                <a:latin typeface="Courier"/>
              </a:rPr>
              <a:t>-</a:t>
            </a:r>
            <a:r>
              <a:rPr>
                <a:latin typeface="Courier"/>
              </a:rPr>
              <a:t> </a:t>
            </a:r>
            <a:r>
              <a:rPr>
                <a:solidFill>
                  <a:srgbClr val="40A070"/>
                </a:solidFill>
                <a:latin typeface="Courier"/>
              </a:rPr>
              <a:t>10</a:t>
            </a:r>
            <a:r>
              <a:rPr>
                <a:solidFill>
                  <a:srgbClr val="666666"/>
                </a:solidFill>
                <a:latin typeface="Courier"/>
              </a:rPr>
              <a:t>,</a:t>
            </a:r>
            <a:r>
              <a:rPr>
                <a:latin typeface="Courier"/>
              </a:rPr>
              <a:t> </a:t>
            </a:r>
            <a:r>
              <a:rPr>
                <a:solidFill>
                  <a:srgbClr val="40A070"/>
                </a:solidFill>
                <a:latin typeface="Courier"/>
              </a:rPr>
              <a:t>10</a:t>
            </a:r>
            <a:r>
              <a:rPr>
                <a:solidFill>
                  <a:srgbClr val="666666"/>
                </a:solidFill>
                <a:latin typeface="Courier"/>
              </a:rPr>
              <a:t>,</a:t>
            </a:r>
            <a:r>
              <a:rPr>
                <a:latin typeface="Courier"/>
              </a:rPr>
              <a:t> </a:t>
            </a:r>
            <a:r>
              <a:rPr>
                <a:solidFill>
                  <a:srgbClr val="40A070"/>
                </a:solidFill>
                <a:latin typeface="Courier"/>
              </a:rPr>
              <a:t>10</a:t>
            </a:r>
            <a:r>
              <a:rPr>
                <a:solidFill>
                  <a:srgbClr val="666666"/>
                </a:solidFill>
                <a:latin typeface="Courier"/>
              </a:rPr>
              <a:t>);</a:t>
            </a:r>
            <a:br/>
            <a:r>
              <a:rPr>
                <a:latin typeface="Courier"/>
              </a:rPr>
              <a:t>    </a:t>
            </a:r>
            <a:r>
              <a:rPr>
                <a:solidFill>
                  <a:srgbClr val="666666"/>
                </a:solidFill>
                <a:latin typeface="Courier"/>
              </a:rPr>
              <a:t>}</a:t>
            </a:r>
            <a:br/>
            <a:r>
              <a:rPr>
                <a:solidFill>
                  <a:srgbClr val="666666"/>
                </a:solidFill>
                <a:latin typeface="Courier"/>
              </a:rPr>
              <a:t>}</a:t>
            </a:r>
          </a:p>
        </p:txBody>
      </p:sp>
    </p:spTree>
  </p:cSld>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Flyweight: Java Code Example - Flyweight Factory</a:t>
            </a:r>
          </a:p>
        </p:txBody>
      </p:sp>
      <p:sp>
        <p:nvSpPr>
          <p:cNvPr id="3" name="Content Placeholder 2"/>
          <p:cNvSpPr>
            <a:spLocks noGrp="1"/>
          </p:cNvSpPr>
          <p:nvPr>
            <p:ph idx="1"/>
          </p:nvPr>
        </p:nvSpPr>
        <p:spPr/>
        <p:txBody>
          <a:bodyPr/>
          <a:lstStyle/>
          <a:p>
            <a:pPr lvl="0" indent="0">
              <a:buNone/>
            </a:pPr>
            <a:r>
              <a:rPr b="1">
                <a:solidFill>
                  <a:srgbClr val="007020"/>
                </a:solidFill>
                <a:latin typeface="Courier"/>
              </a:rPr>
              <a:t>import</a:t>
            </a:r>
            <a:r>
              <a:rPr>
                <a:latin typeface="Courier"/>
              </a:rPr>
              <a:t> </a:t>
            </a:r>
            <a:r>
              <a:rPr b="1">
                <a:solidFill>
                  <a:srgbClr val="008000"/>
                </a:solidFill>
                <a:latin typeface="Courier"/>
              </a:rPr>
              <a:t>java</a:t>
            </a:r>
            <a:r>
              <a:rPr>
                <a:solidFill>
                  <a:srgbClr val="666666"/>
                </a:solidFill>
                <a:latin typeface="Courier"/>
              </a:rPr>
              <a:t>.</a:t>
            </a:r>
            <a:r>
              <a:rPr b="1">
                <a:solidFill>
                  <a:srgbClr val="008000"/>
                </a:solidFill>
                <a:latin typeface="Courier"/>
              </a:rPr>
              <a:t>awt</a:t>
            </a:r>
            <a:r>
              <a:rPr>
                <a:solidFill>
                  <a:srgbClr val="666666"/>
                </a:solidFill>
                <a:latin typeface="Courier"/>
              </a:rPr>
              <a:t>.*;</a:t>
            </a:r>
            <a:br/>
            <a:r>
              <a:rPr b="1">
                <a:solidFill>
                  <a:srgbClr val="007020"/>
                </a:solidFill>
                <a:latin typeface="Courier"/>
              </a:rPr>
              <a:t>import</a:t>
            </a:r>
            <a:r>
              <a:rPr>
                <a:latin typeface="Courier"/>
              </a:rPr>
              <a:t> </a:t>
            </a:r>
            <a:r>
              <a:rPr b="1">
                <a:solidFill>
                  <a:srgbClr val="008000"/>
                </a:solidFill>
                <a:latin typeface="Courier"/>
              </a:rPr>
              <a:t>java</a:t>
            </a:r>
            <a:r>
              <a:rPr>
                <a:solidFill>
                  <a:srgbClr val="666666"/>
                </a:solidFill>
                <a:latin typeface="Courier"/>
              </a:rPr>
              <a:t>.</a:t>
            </a:r>
            <a:r>
              <a:rPr b="1">
                <a:solidFill>
                  <a:srgbClr val="008000"/>
                </a:solidFill>
                <a:latin typeface="Courier"/>
              </a:rPr>
              <a:t>util</a:t>
            </a:r>
            <a:r>
              <a:rPr>
                <a:solidFill>
                  <a:srgbClr val="666666"/>
                </a:solidFill>
                <a:latin typeface="Courier"/>
              </a:rPr>
              <a:t>.</a:t>
            </a:r>
            <a:r>
              <a:rPr b="1">
                <a:solidFill>
                  <a:srgbClr val="008000"/>
                </a:solidFill>
                <a:latin typeface="Courier"/>
              </a:rPr>
              <a:t>ArrayList</a:t>
            </a:r>
            <a:r>
              <a:rPr>
                <a:solidFill>
                  <a:srgbClr val="666666"/>
                </a:solidFill>
                <a:latin typeface="Courier"/>
              </a:rPr>
              <a:t>;</a:t>
            </a:r>
            <a:br/>
            <a:r>
              <a:rPr b="1">
                <a:solidFill>
                  <a:srgbClr val="007020"/>
                </a:solidFill>
                <a:latin typeface="Courier"/>
              </a:rPr>
              <a:t>import</a:t>
            </a:r>
            <a:r>
              <a:rPr>
                <a:latin typeface="Courier"/>
              </a:rPr>
              <a:t> </a:t>
            </a:r>
            <a:r>
              <a:rPr b="1">
                <a:solidFill>
                  <a:srgbClr val="008000"/>
                </a:solidFill>
                <a:latin typeface="Courier"/>
              </a:rPr>
              <a:t>java</a:t>
            </a:r>
            <a:r>
              <a:rPr>
                <a:solidFill>
                  <a:srgbClr val="666666"/>
                </a:solidFill>
                <a:latin typeface="Courier"/>
              </a:rPr>
              <a:t>.</a:t>
            </a:r>
            <a:r>
              <a:rPr b="1">
                <a:solidFill>
                  <a:srgbClr val="008000"/>
                </a:solidFill>
                <a:latin typeface="Courier"/>
              </a:rPr>
              <a:t>util</a:t>
            </a:r>
            <a:r>
              <a:rPr>
                <a:solidFill>
                  <a:srgbClr val="666666"/>
                </a:solidFill>
                <a:latin typeface="Courier"/>
              </a:rPr>
              <a:t>.</a:t>
            </a:r>
            <a:r>
              <a:rPr b="1">
                <a:solidFill>
                  <a:srgbClr val="008000"/>
                </a:solidFill>
                <a:latin typeface="Courier"/>
              </a:rPr>
              <a:t>List</a:t>
            </a:r>
            <a:r>
              <a:rPr>
                <a:solidFill>
                  <a:srgbClr val="666666"/>
                </a:solidFill>
                <a:latin typeface="Courier"/>
              </a:rPr>
              <a:t>;</a:t>
            </a:r>
            <a:br/>
            <a:br/>
            <a:r>
              <a:rPr i="1">
                <a:solidFill>
                  <a:srgbClr val="60A0B0"/>
                </a:solidFill>
                <a:latin typeface="Courier"/>
              </a:rPr>
              <a:t>// The flyweight factory decides whether to reuse existing</a:t>
            </a:r>
            <a:br/>
            <a:r>
              <a:rPr i="1">
                <a:solidFill>
                  <a:srgbClr val="60A0B0"/>
                </a:solidFill>
                <a:latin typeface="Courier"/>
              </a:rPr>
              <a:t>// flyweight or to create a new object.</a:t>
            </a:r>
            <a:br/>
            <a:r>
              <a:rPr b="1">
                <a:solidFill>
                  <a:srgbClr val="007020"/>
                </a:solidFill>
                <a:latin typeface="Courier"/>
              </a:rPr>
              <a:t>public</a:t>
            </a:r>
            <a:r>
              <a:rPr>
                <a:latin typeface="Courier"/>
              </a:rPr>
              <a:t> </a:t>
            </a:r>
            <a:r>
              <a:rPr b="1">
                <a:solidFill>
                  <a:srgbClr val="007020"/>
                </a:solidFill>
                <a:latin typeface="Courier"/>
              </a:rPr>
              <a:t>class</a:t>
            </a:r>
            <a:r>
              <a:rPr>
                <a:latin typeface="Courier"/>
              </a:rPr>
              <a:t> TreeFactory </a:t>
            </a:r>
            <a:r>
              <a:rPr>
                <a:solidFill>
                  <a:srgbClr val="666666"/>
                </a:solidFill>
                <a:latin typeface="Courier"/>
              </a:rPr>
              <a:t>{</a:t>
            </a:r>
            <a:br/>
            <a:r>
              <a:rPr>
                <a:latin typeface="Courier"/>
              </a:rPr>
              <a:t>    </a:t>
            </a:r>
            <a:r>
              <a:rPr b="1">
                <a:solidFill>
                  <a:srgbClr val="007020"/>
                </a:solidFill>
                <a:latin typeface="Courier"/>
              </a:rPr>
              <a:t>private</a:t>
            </a:r>
            <a:r>
              <a:rPr>
                <a:latin typeface="Courier"/>
              </a:rPr>
              <a:t> </a:t>
            </a:r>
            <a:r>
              <a:rPr>
                <a:solidFill>
                  <a:srgbClr val="902000"/>
                </a:solidFill>
                <a:latin typeface="Courier"/>
              </a:rPr>
              <a:t>static</a:t>
            </a:r>
            <a:r>
              <a:rPr>
                <a:latin typeface="Courier"/>
              </a:rPr>
              <a:t> </a:t>
            </a:r>
            <a:r>
              <a:rPr>
                <a:solidFill>
                  <a:srgbClr val="008000"/>
                </a:solidFill>
                <a:latin typeface="Courier"/>
              </a:rPr>
              <a:t>List</a:t>
            </a:r>
            <a:r>
              <a:rPr>
                <a:solidFill>
                  <a:srgbClr val="666666"/>
                </a:solidFill>
                <a:latin typeface="Courier"/>
              </a:rPr>
              <a:t>&lt;</a:t>
            </a:r>
            <a:r>
              <a:rPr>
                <a:latin typeface="Courier"/>
              </a:rPr>
              <a:t>TreeType</a:t>
            </a:r>
            <a:r>
              <a:rPr>
                <a:solidFill>
                  <a:srgbClr val="666666"/>
                </a:solidFill>
                <a:latin typeface="Courier"/>
              </a:rPr>
              <a:t>&gt;</a:t>
            </a:r>
            <a:r>
              <a:rPr>
                <a:latin typeface="Courier"/>
              </a:rPr>
              <a:t> treeTypes </a:t>
            </a:r>
            <a:r>
              <a:rPr>
                <a:solidFill>
                  <a:srgbClr val="666666"/>
                </a:solidFill>
                <a:latin typeface="Courier"/>
              </a:rPr>
              <a:t>=</a:t>
            </a:r>
            <a:r>
              <a:rPr>
                <a:latin typeface="Courier"/>
              </a:rPr>
              <a:t> </a:t>
            </a:r>
            <a:r>
              <a:rPr b="1">
                <a:solidFill>
                  <a:srgbClr val="007020"/>
                </a:solidFill>
                <a:latin typeface="Courier"/>
              </a:rPr>
              <a:t>new</a:t>
            </a:r>
            <a:r>
              <a:rPr>
                <a:latin typeface="Courier"/>
              </a:rPr>
              <a:t> </a:t>
            </a:r>
            <a:r>
              <a:rPr>
                <a:solidFill>
                  <a:srgbClr val="008000"/>
                </a:solidFill>
                <a:latin typeface="Courier"/>
              </a:rPr>
              <a:t>ArrayList</a:t>
            </a:r>
            <a:r>
              <a:rPr>
                <a:solidFill>
                  <a:srgbClr val="666666"/>
                </a:solidFill>
                <a:latin typeface="Courier"/>
              </a:rPr>
              <a:t>&lt;&gt;();</a:t>
            </a:r>
            <a:br/>
            <a:br/>
            <a:r>
              <a:rPr>
                <a:latin typeface="Courier"/>
              </a:rPr>
              <a:t>    </a:t>
            </a:r>
            <a:r>
              <a:rPr b="1">
                <a:solidFill>
                  <a:srgbClr val="007020"/>
                </a:solidFill>
                <a:latin typeface="Courier"/>
              </a:rPr>
              <a:t>public</a:t>
            </a:r>
            <a:r>
              <a:rPr>
                <a:latin typeface="Courier"/>
              </a:rPr>
              <a:t> </a:t>
            </a:r>
            <a:r>
              <a:rPr>
                <a:solidFill>
                  <a:srgbClr val="902000"/>
                </a:solidFill>
                <a:latin typeface="Courier"/>
              </a:rPr>
              <a:t>static</a:t>
            </a:r>
            <a:r>
              <a:rPr>
                <a:latin typeface="Courier"/>
              </a:rPr>
              <a:t> TreeType </a:t>
            </a:r>
            <a:r>
              <a:rPr>
                <a:solidFill>
                  <a:srgbClr val="06287E"/>
                </a:solidFill>
                <a:latin typeface="Courier"/>
              </a:rPr>
              <a:t>getTreeType</a:t>
            </a:r>
            <a:r>
              <a:rPr>
                <a:solidFill>
                  <a:srgbClr val="666666"/>
                </a:solidFill>
                <a:latin typeface="Courier"/>
              </a:rPr>
              <a:t>(</a:t>
            </a:r>
            <a:r>
              <a:rPr>
                <a:solidFill>
                  <a:srgbClr val="008000"/>
                </a:solidFill>
                <a:latin typeface="Courier"/>
              </a:rPr>
              <a:t>String</a:t>
            </a:r>
            <a:r>
              <a:rPr>
                <a:latin typeface="Courier"/>
              </a:rPr>
              <a:t> name</a:t>
            </a:r>
            <a:r>
              <a:rPr>
                <a:solidFill>
                  <a:srgbClr val="666666"/>
                </a:solidFill>
                <a:latin typeface="Courier"/>
              </a:rPr>
              <a:t>,</a:t>
            </a:r>
            <a:br/>
            <a:r>
              <a:rPr>
                <a:latin typeface="Courier"/>
              </a:rPr>
              <a:t>                                        </a:t>
            </a:r>
            <a:r>
              <a:rPr>
                <a:solidFill>
                  <a:srgbClr val="008000"/>
                </a:solidFill>
                <a:latin typeface="Courier"/>
              </a:rPr>
              <a:t>Color</a:t>
            </a:r>
            <a:r>
              <a:rPr>
                <a:latin typeface="Courier"/>
              </a:rPr>
              <a:t> color</a:t>
            </a:r>
            <a:r>
              <a:rPr>
                <a:solidFill>
                  <a:srgbClr val="666666"/>
                </a:solidFill>
                <a:latin typeface="Courier"/>
              </a:rPr>
              <a:t>,</a:t>
            </a:r>
            <a:br/>
            <a:r>
              <a:rPr>
                <a:latin typeface="Courier"/>
              </a:rPr>
              <a:t>                                        </a:t>
            </a:r>
            <a:r>
              <a:rPr>
                <a:solidFill>
                  <a:srgbClr val="008000"/>
                </a:solidFill>
                <a:latin typeface="Courier"/>
              </a:rPr>
              <a:t>String</a:t>
            </a:r>
            <a:r>
              <a:rPr>
                <a:latin typeface="Courier"/>
              </a:rPr>
              <a:t> texture</a:t>
            </a:r>
            <a:r>
              <a:rPr>
                <a:solidFill>
                  <a:srgbClr val="666666"/>
                </a:solidFill>
                <a:latin typeface="Courier"/>
              </a:rPr>
              <a:t>)</a:t>
            </a:r>
            <a:r>
              <a:rPr>
                <a:latin typeface="Courier"/>
              </a:rPr>
              <a:t> </a:t>
            </a:r>
            <a:r>
              <a:rPr>
                <a:solidFill>
                  <a:srgbClr val="666666"/>
                </a:solidFill>
                <a:latin typeface="Courier"/>
              </a:rPr>
              <a:t>{</a:t>
            </a:r>
            <a:br/>
            <a:r>
              <a:rPr>
                <a:latin typeface="Courier"/>
              </a:rPr>
              <a:t>        </a:t>
            </a:r>
            <a:r>
              <a:rPr b="1">
                <a:solidFill>
                  <a:srgbClr val="007020"/>
                </a:solidFill>
                <a:latin typeface="Courier"/>
              </a:rPr>
              <a:t>for</a:t>
            </a:r>
            <a:r>
              <a:rPr>
                <a:latin typeface="Courier"/>
              </a:rPr>
              <a:t> </a:t>
            </a:r>
            <a:r>
              <a:rPr>
                <a:solidFill>
                  <a:srgbClr val="666666"/>
                </a:solidFill>
                <a:latin typeface="Courier"/>
              </a:rPr>
              <a:t>(</a:t>
            </a:r>
            <a:r>
              <a:rPr>
                <a:latin typeface="Courier"/>
              </a:rPr>
              <a:t>TreeType type </a:t>
            </a:r>
            <a:r>
              <a:rPr>
                <a:solidFill>
                  <a:srgbClr val="666666"/>
                </a:solidFill>
                <a:latin typeface="Courier"/>
              </a:rPr>
              <a:t>:</a:t>
            </a:r>
            <a:r>
              <a:rPr>
                <a:latin typeface="Courier"/>
              </a:rPr>
              <a:t> treeTypes</a:t>
            </a:r>
            <a:r>
              <a:rPr>
                <a:solidFill>
                  <a:srgbClr val="666666"/>
                </a:solidFill>
                <a:latin typeface="Courier"/>
              </a:rPr>
              <a:t>)</a:t>
            </a:r>
            <a:r>
              <a:rPr>
                <a:latin typeface="Courier"/>
              </a:rPr>
              <a:t> </a:t>
            </a:r>
            <a:r>
              <a:rPr>
                <a:solidFill>
                  <a:srgbClr val="666666"/>
                </a:solidFill>
                <a:latin typeface="Courier"/>
              </a:rPr>
              <a:t>{</a:t>
            </a:r>
            <a:br/>
            <a:r>
              <a:rPr>
                <a:latin typeface="Courier"/>
              </a:rPr>
              <a:t>            </a:t>
            </a:r>
            <a:r>
              <a:rPr b="1">
                <a:solidFill>
                  <a:srgbClr val="007020"/>
                </a:solidFill>
                <a:latin typeface="Courier"/>
              </a:rPr>
              <a:t>if</a:t>
            </a:r>
            <a:r>
              <a:rPr>
                <a:latin typeface="Courier"/>
              </a:rPr>
              <a:t> </a:t>
            </a:r>
            <a:r>
              <a:rPr>
                <a:solidFill>
                  <a:srgbClr val="666666"/>
                </a:solidFill>
                <a:latin typeface="Courier"/>
              </a:rPr>
              <a:t>(</a:t>
            </a:r>
            <a:r>
              <a:rPr>
                <a:latin typeface="Courier"/>
              </a:rPr>
              <a:t>type</a:t>
            </a:r>
            <a:r>
              <a:rPr>
                <a:solidFill>
                  <a:srgbClr val="666666"/>
                </a:solidFill>
                <a:latin typeface="Courier"/>
              </a:rPr>
              <a:t>.</a:t>
            </a:r>
            <a:r>
              <a:rPr>
                <a:solidFill>
                  <a:srgbClr val="06287E"/>
                </a:solidFill>
                <a:latin typeface="Courier"/>
              </a:rPr>
              <a:t>getName</a:t>
            </a:r>
            <a:r>
              <a:rPr>
                <a:solidFill>
                  <a:srgbClr val="666666"/>
                </a:solidFill>
                <a:latin typeface="Courier"/>
              </a:rPr>
              <a:t>().</a:t>
            </a:r>
            <a:r>
              <a:rPr>
                <a:solidFill>
                  <a:srgbClr val="06287E"/>
                </a:solidFill>
                <a:latin typeface="Courier"/>
              </a:rPr>
              <a:t>equals</a:t>
            </a:r>
            <a:r>
              <a:rPr>
                <a:solidFill>
                  <a:srgbClr val="666666"/>
                </a:solidFill>
                <a:latin typeface="Courier"/>
              </a:rPr>
              <a:t>(</a:t>
            </a:r>
            <a:r>
              <a:rPr>
                <a:latin typeface="Courier"/>
              </a:rPr>
              <a:t>name</a:t>
            </a:r>
            <a:r>
              <a:rPr>
                <a:solidFill>
                  <a:srgbClr val="666666"/>
                </a:solidFill>
                <a:latin typeface="Courier"/>
              </a:rPr>
              <a:t>)</a:t>
            </a:r>
            <a:r>
              <a:rPr>
                <a:latin typeface="Courier"/>
              </a:rPr>
              <a:t> </a:t>
            </a:r>
            <a:r>
              <a:rPr>
                <a:solidFill>
                  <a:srgbClr val="666666"/>
                </a:solidFill>
                <a:latin typeface="Courier"/>
              </a:rPr>
              <a:t>&amp;&amp;</a:t>
            </a:r>
            <a:br/>
            <a:r>
              <a:rPr>
                <a:latin typeface="Courier"/>
              </a:rPr>
              <a:t>                type</a:t>
            </a:r>
            <a:r>
              <a:rPr>
                <a:solidFill>
                  <a:srgbClr val="666666"/>
                </a:solidFill>
                <a:latin typeface="Courier"/>
              </a:rPr>
              <a:t>.</a:t>
            </a:r>
            <a:r>
              <a:rPr>
                <a:solidFill>
                  <a:srgbClr val="06287E"/>
                </a:solidFill>
                <a:latin typeface="Courier"/>
              </a:rPr>
              <a:t>getColor</a:t>
            </a:r>
            <a:r>
              <a:rPr>
                <a:solidFill>
                  <a:srgbClr val="666666"/>
                </a:solidFill>
                <a:latin typeface="Courier"/>
              </a:rPr>
              <a:t>().</a:t>
            </a:r>
            <a:r>
              <a:rPr>
                <a:solidFill>
                  <a:srgbClr val="06287E"/>
                </a:solidFill>
                <a:latin typeface="Courier"/>
              </a:rPr>
              <a:t>equals</a:t>
            </a:r>
            <a:r>
              <a:rPr>
                <a:solidFill>
                  <a:srgbClr val="666666"/>
                </a:solidFill>
                <a:latin typeface="Courier"/>
              </a:rPr>
              <a:t>(</a:t>
            </a:r>
            <a:r>
              <a:rPr>
                <a:latin typeface="Courier"/>
              </a:rPr>
              <a:t>color</a:t>
            </a:r>
            <a:r>
              <a:rPr>
                <a:solidFill>
                  <a:srgbClr val="666666"/>
                </a:solidFill>
                <a:latin typeface="Courier"/>
              </a:rPr>
              <a:t>)</a:t>
            </a:r>
            <a:r>
              <a:rPr>
                <a:latin typeface="Courier"/>
              </a:rPr>
              <a:t> </a:t>
            </a:r>
            <a:r>
              <a:rPr>
                <a:solidFill>
                  <a:srgbClr val="666666"/>
                </a:solidFill>
                <a:latin typeface="Courier"/>
              </a:rPr>
              <a:t>&amp;&amp;</a:t>
            </a:r>
            <a:br/>
            <a:r>
              <a:rPr>
                <a:latin typeface="Courier"/>
              </a:rPr>
              <a:t>                type</a:t>
            </a:r>
            <a:r>
              <a:rPr>
                <a:solidFill>
                  <a:srgbClr val="666666"/>
                </a:solidFill>
                <a:latin typeface="Courier"/>
              </a:rPr>
              <a:t>.</a:t>
            </a:r>
            <a:r>
              <a:rPr>
                <a:solidFill>
                  <a:srgbClr val="06287E"/>
                </a:solidFill>
                <a:latin typeface="Courier"/>
              </a:rPr>
              <a:t>getTexture</a:t>
            </a:r>
            <a:r>
              <a:rPr>
                <a:solidFill>
                  <a:srgbClr val="666666"/>
                </a:solidFill>
                <a:latin typeface="Courier"/>
              </a:rPr>
              <a:t>().</a:t>
            </a:r>
            <a:r>
              <a:rPr>
                <a:solidFill>
                  <a:srgbClr val="06287E"/>
                </a:solidFill>
                <a:latin typeface="Courier"/>
              </a:rPr>
              <a:t>equals</a:t>
            </a:r>
            <a:r>
              <a:rPr>
                <a:solidFill>
                  <a:srgbClr val="666666"/>
                </a:solidFill>
                <a:latin typeface="Courier"/>
              </a:rPr>
              <a:t>(</a:t>
            </a:r>
            <a:r>
              <a:rPr>
                <a:latin typeface="Courier"/>
              </a:rPr>
              <a:t>texture</a:t>
            </a:r>
            <a:r>
              <a:rPr>
                <a:solidFill>
                  <a:srgbClr val="666666"/>
                </a:solidFill>
                <a:latin typeface="Courier"/>
              </a:rPr>
              <a:t>))</a:t>
            </a:r>
            <a:r>
              <a:rPr>
                <a:latin typeface="Courier"/>
              </a:rPr>
              <a:t> </a:t>
            </a:r>
            <a:r>
              <a:rPr>
                <a:solidFill>
                  <a:srgbClr val="666666"/>
                </a:solidFill>
                <a:latin typeface="Courier"/>
              </a:rPr>
              <a:t>{</a:t>
            </a:r>
            <a:br/>
            <a:r>
              <a:rPr>
                <a:latin typeface="Courier"/>
              </a:rPr>
              <a:t>                </a:t>
            </a:r>
            <a:r>
              <a:rPr b="1">
                <a:solidFill>
                  <a:srgbClr val="007020"/>
                </a:solidFill>
                <a:latin typeface="Courier"/>
              </a:rPr>
              <a:t>return</a:t>
            </a:r>
            <a:r>
              <a:rPr>
                <a:latin typeface="Courier"/>
              </a:rPr>
              <a:t> type</a:t>
            </a:r>
            <a:r>
              <a:rPr>
                <a:solidFill>
                  <a:srgbClr val="666666"/>
                </a:solidFill>
                <a:latin typeface="Courier"/>
              </a:rPr>
              <a:t>;</a:t>
            </a:r>
            <a:br/>
            <a:r>
              <a:rPr>
                <a:latin typeface="Courier"/>
              </a:rPr>
              <a:t>            </a:t>
            </a:r>
            <a:r>
              <a:rPr>
                <a:solidFill>
                  <a:srgbClr val="666666"/>
                </a:solidFill>
                <a:latin typeface="Courier"/>
              </a:rPr>
              <a:t>}</a:t>
            </a:r>
            <a:br/>
            <a:r>
              <a:rPr>
                <a:latin typeface="Courier"/>
              </a:rPr>
              <a:t>        </a:t>
            </a:r>
            <a:r>
              <a:rPr>
                <a:solidFill>
                  <a:srgbClr val="666666"/>
                </a:solidFill>
                <a:latin typeface="Courier"/>
              </a:rPr>
              <a:t>}</a:t>
            </a:r>
            <a:br/>
            <a:r>
              <a:rPr>
                <a:latin typeface="Courier"/>
              </a:rPr>
              <a:t>        TreeType type </a:t>
            </a:r>
            <a:r>
              <a:rPr>
                <a:solidFill>
                  <a:srgbClr val="666666"/>
                </a:solidFill>
                <a:latin typeface="Courier"/>
              </a:rPr>
              <a:t>=</a:t>
            </a:r>
            <a:r>
              <a:rPr>
                <a:latin typeface="Courier"/>
              </a:rPr>
              <a:t> </a:t>
            </a:r>
            <a:r>
              <a:rPr b="1">
                <a:solidFill>
                  <a:srgbClr val="007020"/>
                </a:solidFill>
                <a:latin typeface="Courier"/>
              </a:rPr>
              <a:t>new</a:t>
            </a:r>
            <a:r>
              <a:rPr>
                <a:latin typeface="Courier"/>
              </a:rPr>
              <a:t> </a:t>
            </a:r>
            <a:r>
              <a:rPr>
                <a:solidFill>
                  <a:srgbClr val="06287E"/>
                </a:solidFill>
                <a:latin typeface="Courier"/>
              </a:rPr>
              <a:t>TreeType</a:t>
            </a:r>
            <a:r>
              <a:rPr>
                <a:solidFill>
                  <a:srgbClr val="666666"/>
                </a:solidFill>
                <a:latin typeface="Courier"/>
              </a:rPr>
              <a:t>(</a:t>
            </a:r>
            <a:r>
              <a:rPr>
                <a:latin typeface="Courier"/>
              </a:rPr>
              <a:t>name</a:t>
            </a:r>
            <a:r>
              <a:rPr>
                <a:solidFill>
                  <a:srgbClr val="666666"/>
                </a:solidFill>
                <a:latin typeface="Courier"/>
              </a:rPr>
              <a:t>,</a:t>
            </a:r>
            <a:r>
              <a:rPr>
                <a:latin typeface="Courier"/>
              </a:rPr>
              <a:t> color</a:t>
            </a:r>
            <a:r>
              <a:rPr>
                <a:solidFill>
                  <a:srgbClr val="666666"/>
                </a:solidFill>
                <a:latin typeface="Courier"/>
              </a:rPr>
              <a:t>,</a:t>
            </a:r>
            <a:r>
              <a:rPr>
                <a:latin typeface="Courier"/>
              </a:rPr>
              <a:t> texture</a:t>
            </a:r>
            <a:r>
              <a:rPr>
                <a:solidFill>
                  <a:srgbClr val="666666"/>
                </a:solidFill>
                <a:latin typeface="Courier"/>
              </a:rPr>
              <a:t>);</a:t>
            </a:r>
            <a:br/>
            <a:r>
              <a:rPr>
                <a:latin typeface="Courier"/>
              </a:rPr>
              <a:t>        treeTypes</a:t>
            </a:r>
            <a:r>
              <a:rPr>
                <a:solidFill>
                  <a:srgbClr val="666666"/>
                </a:solidFill>
                <a:latin typeface="Courier"/>
              </a:rPr>
              <a:t>.</a:t>
            </a:r>
            <a:r>
              <a:rPr>
                <a:solidFill>
                  <a:srgbClr val="06287E"/>
                </a:solidFill>
                <a:latin typeface="Courier"/>
              </a:rPr>
              <a:t>add</a:t>
            </a:r>
            <a:r>
              <a:rPr>
                <a:solidFill>
                  <a:srgbClr val="666666"/>
                </a:solidFill>
                <a:latin typeface="Courier"/>
              </a:rPr>
              <a:t>(</a:t>
            </a:r>
            <a:r>
              <a:rPr>
                <a:latin typeface="Courier"/>
              </a:rPr>
              <a:t>type</a:t>
            </a:r>
            <a:r>
              <a:rPr>
                <a:solidFill>
                  <a:srgbClr val="666666"/>
                </a:solidFill>
                <a:latin typeface="Courier"/>
              </a:rPr>
              <a:t>);</a:t>
            </a:r>
            <a:br/>
            <a:r>
              <a:rPr>
                <a:latin typeface="Courier"/>
              </a:rPr>
              <a:t>        </a:t>
            </a:r>
            <a:r>
              <a:rPr b="1">
                <a:solidFill>
                  <a:srgbClr val="007020"/>
                </a:solidFill>
                <a:latin typeface="Courier"/>
              </a:rPr>
              <a:t>return</a:t>
            </a:r>
            <a:r>
              <a:rPr>
                <a:latin typeface="Courier"/>
              </a:rPr>
              <a:t> type</a:t>
            </a:r>
            <a:r>
              <a:rPr>
                <a:solidFill>
                  <a:srgbClr val="666666"/>
                </a:solidFill>
                <a:latin typeface="Courier"/>
              </a:rPr>
              <a:t>;</a:t>
            </a:r>
            <a:br/>
            <a:r>
              <a:rPr>
                <a:latin typeface="Courier"/>
              </a:rPr>
              <a:t>    </a:t>
            </a:r>
            <a:r>
              <a:rPr>
                <a:solidFill>
                  <a:srgbClr val="666666"/>
                </a:solidFill>
                <a:latin typeface="Courier"/>
              </a:rPr>
              <a:t>}</a:t>
            </a:r>
            <a:br/>
            <a:r>
              <a:rPr>
                <a:solidFill>
                  <a:srgbClr val="666666"/>
                </a:solidFill>
                <a:latin typeface="Courier"/>
              </a:rPr>
              <a:t>}</a:t>
            </a:r>
          </a:p>
        </p:txBody>
      </p:sp>
    </p:spTree>
  </p:cSld>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Flyweight: Java Code Example - Context Class</a:t>
            </a:r>
          </a:p>
        </p:txBody>
      </p:sp>
      <p:sp>
        <p:nvSpPr>
          <p:cNvPr id="3" name="Content Placeholder 2"/>
          <p:cNvSpPr>
            <a:spLocks noGrp="1"/>
          </p:cNvSpPr>
          <p:nvPr>
            <p:ph idx="1"/>
          </p:nvPr>
        </p:nvSpPr>
        <p:spPr/>
        <p:txBody>
          <a:bodyPr/>
          <a:lstStyle/>
          <a:p>
            <a:pPr lvl="0" indent="0">
              <a:buNone/>
            </a:pPr>
            <a:r>
              <a:rPr b="1">
                <a:solidFill>
                  <a:srgbClr val="007020"/>
                </a:solidFill>
                <a:latin typeface="Courier"/>
              </a:rPr>
              <a:t>import</a:t>
            </a:r>
            <a:r>
              <a:rPr>
                <a:latin typeface="Courier"/>
              </a:rPr>
              <a:t> </a:t>
            </a:r>
            <a:r>
              <a:rPr b="1">
                <a:solidFill>
                  <a:srgbClr val="008000"/>
                </a:solidFill>
                <a:latin typeface="Courier"/>
              </a:rPr>
              <a:t>java</a:t>
            </a:r>
            <a:r>
              <a:rPr>
                <a:solidFill>
                  <a:srgbClr val="666666"/>
                </a:solidFill>
                <a:latin typeface="Courier"/>
              </a:rPr>
              <a:t>.</a:t>
            </a:r>
            <a:r>
              <a:rPr b="1">
                <a:solidFill>
                  <a:srgbClr val="008000"/>
                </a:solidFill>
                <a:latin typeface="Courier"/>
              </a:rPr>
              <a:t>awt</a:t>
            </a:r>
            <a:r>
              <a:rPr>
                <a:solidFill>
                  <a:srgbClr val="666666"/>
                </a:solidFill>
                <a:latin typeface="Courier"/>
              </a:rPr>
              <a:t>.*;</a:t>
            </a:r>
            <a:br/>
            <a:br/>
            <a:r>
              <a:rPr i="1">
                <a:solidFill>
                  <a:srgbClr val="60A0B0"/>
                </a:solidFill>
                <a:latin typeface="Courier"/>
              </a:rPr>
              <a:t>// The context object contains the extrinsic part of the</a:t>
            </a:r>
            <a:br/>
            <a:r>
              <a:rPr i="1">
                <a:solidFill>
                  <a:srgbClr val="60A0B0"/>
                </a:solidFill>
                <a:latin typeface="Courier"/>
              </a:rPr>
              <a:t>// tree state. An application can create billions of these</a:t>
            </a:r>
            <a:br/>
            <a:r>
              <a:rPr i="1">
                <a:solidFill>
                  <a:srgbClr val="60A0B0"/>
                </a:solidFill>
                <a:latin typeface="Courier"/>
              </a:rPr>
              <a:t>// since they are pretty small: just two integer coordinates</a:t>
            </a:r>
            <a:br/>
            <a:r>
              <a:rPr i="1">
                <a:solidFill>
                  <a:srgbClr val="60A0B0"/>
                </a:solidFill>
                <a:latin typeface="Courier"/>
              </a:rPr>
              <a:t>// and one reference field.</a:t>
            </a:r>
            <a:br/>
            <a:r>
              <a:rPr b="1">
                <a:solidFill>
                  <a:srgbClr val="007020"/>
                </a:solidFill>
                <a:latin typeface="Courier"/>
              </a:rPr>
              <a:t>public</a:t>
            </a:r>
            <a:r>
              <a:rPr>
                <a:latin typeface="Courier"/>
              </a:rPr>
              <a:t> </a:t>
            </a:r>
            <a:r>
              <a:rPr b="1">
                <a:solidFill>
                  <a:srgbClr val="007020"/>
                </a:solidFill>
                <a:latin typeface="Courier"/>
              </a:rPr>
              <a:t>class</a:t>
            </a:r>
            <a:r>
              <a:rPr>
                <a:latin typeface="Courier"/>
              </a:rPr>
              <a:t> Tree </a:t>
            </a:r>
            <a:r>
              <a:rPr>
                <a:solidFill>
                  <a:srgbClr val="666666"/>
                </a:solidFill>
                <a:latin typeface="Courier"/>
              </a:rPr>
              <a:t>{</a:t>
            </a:r>
            <a:br/>
            <a:r>
              <a:rPr>
                <a:latin typeface="Courier"/>
              </a:rPr>
              <a:t>    </a:t>
            </a:r>
            <a:r>
              <a:rPr b="1">
                <a:solidFill>
                  <a:srgbClr val="007020"/>
                </a:solidFill>
                <a:latin typeface="Courier"/>
              </a:rPr>
              <a:t>private</a:t>
            </a:r>
            <a:r>
              <a:rPr>
                <a:latin typeface="Courier"/>
              </a:rPr>
              <a:t> </a:t>
            </a:r>
            <a:r>
              <a:rPr>
                <a:solidFill>
                  <a:srgbClr val="902000"/>
                </a:solidFill>
                <a:latin typeface="Courier"/>
              </a:rPr>
              <a:t>int</a:t>
            </a:r>
            <a:r>
              <a:rPr>
                <a:latin typeface="Courier"/>
              </a:rPr>
              <a:t> x</a:t>
            </a:r>
            <a:r>
              <a:rPr>
                <a:solidFill>
                  <a:srgbClr val="666666"/>
                </a:solidFill>
                <a:latin typeface="Courier"/>
              </a:rPr>
              <a:t>;</a:t>
            </a:r>
            <a:br/>
            <a:r>
              <a:rPr>
                <a:latin typeface="Courier"/>
              </a:rPr>
              <a:t>    </a:t>
            </a:r>
            <a:r>
              <a:rPr b="1">
                <a:solidFill>
                  <a:srgbClr val="007020"/>
                </a:solidFill>
                <a:latin typeface="Courier"/>
              </a:rPr>
              <a:t>private</a:t>
            </a:r>
            <a:r>
              <a:rPr>
                <a:latin typeface="Courier"/>
              </a:rPr>
              <a:t> </a:t>
            </a:r>
            <a:r>
              <a:rPr>
                <a:solidFill>
                  <a:srgbClr val="902000"/>
                </a:solidFill>
                <a:latin typeface="Courier"/>
              </a:rPr>
              <a:t>int</a:t>
            </a:r>
            <a:r>
              <a:rPr>
                <a:latin typeface="Courier"/>
              </a:rPr>
              <a:t> y</a:t>
            </a:r>
            <a:r>
              <a:rPr>
                <a:solidFill>
                  <a:srgbClr val="666666"/>
                </a:solidFill>
                <a:latin typeface="Courier"/>
              </a:rPr>
              <a:t>;</a:t>
            </a:r>
            <a:br/>
            <a:r>
              <a:rPr>
                <a:latin typeface="Courier"/>
              </a:rPr>
              <a:t>    </a:t>
            </a:r>
            <a:r>
              <a:rPr b="1">
                <a:solidFill>
                  <a:srgbClr val="007020"/>
                </a:solidFill>
                <a:latin typeface="Courier"/>
              </a:rPr>
              <a:t>private</a:t>
            </a:r>
            <a:r>
              <a:rPr>
                <a:latin typeface="Courier"/>
              </a:rPr>
              <a:t> TreeType type</a:t>
            </a:r>
            <a:r>
              <a:rPr>
                <a:solidFill>
                  <a:srgbClr val="666666"/>
                </a:solidFill>
                <a:latin typeface="Courier"/>
              </a:rPr>
              <a:t>;</a:t>
            </a:r>
            <a:br/>
            <a:br/>
            <a:r>
              <a:rPr>
                <a:latin typeface="Courier"/>
              </a:rPr>
              <a:t>    </a:t>
            </a:r>
            <a:r>
              <a:rPr b="1">
                <a:solidFill>
                  <a:srgbClr val="007020"/>
                </a:solidFill>
                <a:latin typeface="Courier"/>
              </a:rPr>
              <a:t>public</a:t>
            </a:r>
            <a:r>
              <a:rPr>
                <a:latin typeface="Courier"/>
              </a:rPr>
              <a:t> </a:t>
            </a:r>
            <a:r>
              <a:rPr>
                <a:solidFill>
                  <a:srgbClr val="06287E"/>
                </a:solidFill>
                <a:latin typeface="Courier"/>
              </a:rPr>
              <a:t>Tree</a:t>
            </a:r>
            <a:r>
              <a:rPr>
                <a:solidFill>
                  <a:srgbClr val="666666"/>
                </a:solidFill>
                <a:latin typeface="Courier"/>
              </a:rPr>
              <a:t>(</a:t>
            </a:r>
            <a:r>
              <a:rPr>
                <a:solidFill>
                  <a:srgbClr val="902000"/>
                </a:solidFill>
                <a:latin typeface="Courier"/>
              </a:rPr>
              <a:t>int</a:t>
            </a:r>
            <a:r>
              <a:rPr>
                <a:latin typeface="Courier"/>
              </a:rPr>
              <a:t> x</a:t>
            </a:r>
            <a:r>
              <a:rPr>
                <a:solidFill>
                  <a:srgbClr val="666666"/>
                </a:solidFill>
                <a:latin typeface="Courier"/>
              </a:rPr>
              <a:t>,</a:t>
            </a:r>
            <a:r>
              <a:rPr>
                <a:latin typeface="Courier"/>
              </a:rPr>
              <a:t> </a:t>
            </a:r>
            <a:r>
              <a:rPr>
                <a:solidFill>
                  <a:srgbClr val="902000"/>
                </a:solidFill>
                <a:latin typeface="Courier"/>
              </a:rPr>
              <a:t>int</a:t>
            </a:r>
            <a:r>
              <a:rPr>
                <a:latin typeface="Courier"/>
              </a:rPr>
              <a:t> y</a:t>
            </a:r>
            <a:r>
              <a:rPr>
                <a:solidFill>
                  <a:srgbClr val="666666"/>
                </a:solidFill>
                <a:latin typeface="Courier"/>
              </a:rPr>
              <a:t>,</a:t>
            </a:r>
            <a:r>
              <a:rPr>
                <a:latin typeface="Courier"/>
              </a:rPr>
              <a:t> TreeType type</a:t>
            </a:r>
            <a:r>
              <a:rPr>
                <a:solidFill>
                  <a:srgbClr val="666666"/>
                </a:solidFill>
                <a:latin typeface="Courier"/>
              </a:rPr>
              <a:t>)</a:t>
            </a:r>
            <a:r>
              <a:rPr>
                <a:latin typeface="Courier"/>
              </a:rPr>
              <a:t> </a:t>
            </a:r>
            <a:r>
              <a:rPr>
                <a:solidFill>
                  <a:srgbClr val="666666"/>
                </a:solidFill>
                <a:latin typeface="Courier"/>
              </a:rPr>
              <a:t>{</a:t>
            </a:r>
            <a:br/>
            <a:r>
              <a:rPr>
                <a:latin typeface="Courier"/>
              </a:rPr>
              <a:t>        </a:t>
            </a:r>
            <a:r>
              <a:rPr b="1">
                <a:solidFill>
                  <a:srgbClr val="007020"/>
                </a:solidFill>
                <a:latin typeface="Courier"/>
              </a:rPr>
              <a:t>this</a:t>
            </a:r>
            <a:r>
              <a:rPr>
                <a:solidFill>
                  <a:srgbClr val="666666"/>
                </a:solidFill>
                <a:latin typeface="Courier"/>
              </a:rPr>
              <a:t>.</a:t>
            </a:r>
            <a:r>
              <a:rPr>
                <a:solidFill>
                  <a:srgbClr val="06287E"/>
                </a:solidFill>
                <a:latin typeface="Courier"/>
              </a:rPr>
              <a:t>x</a:t>
            </a:r>
            <a:r>
              <a:rPr>
                <a:latin typeface="Courier"/>
              </a:rPr>
              <a:t> </a:t>
            </a:r>
            <a:r>
              <a:rPr>
                <a:solidFill>
                  <a:srgbClr val="666666"/>
                </a:solidFill>
                <a:latin typeface="Courier"/>
              </a:rPr>
              <a:t>=</a:t>
            </a:r>
            <a:r>
              <a:rPr>
                <a:latin typeface="Courier"/>
              </a:rPr>
              <a:t> x</a:t>
            </a:r>
            <a:r>
              <a:rPr>
                <a:solidFill>
                  <a:srgbClr val="666666"/>
                </a:solidFill>
                <a:latin typeface="Courier"/>
              </a:rPr>
              <a:t>;</a:t>
            </a:r>
            <a:br/>
            <a:r>
              <a:rPr>
                <a:latin typeface="Courier"/>
              </a:rPr>
              <a:t>        </a:t>
            </a:r>
            <a:r>
              <a:rPr b="1">
                <a:solidFill>
                  <a:srgbClr val="007020"/>
                </a:solidFill>
                <a:latin typeface="Courier"/>
              </a:rPr>
              <a:t>this</a:t>
            </a:r>
            <a:r>
              <a:rPr>
                <a:solidFill>
                  <a:srgbClr val="666666"/>
                </a:solidFill>
                <a:latin typeface="Courier"/>
              </a:rPr>
              <a:t>.</a:t>
            </a:r>
            <a:r>
              <a:rPr>
                <a:solidFill>
                  <a:srgbClr val="06287E"/>
                </a:solidFill>
                <a:latin typeface="Courier"/>
              </a:rPr>
              <a:t>y</a:t>
            </a:r>
            <a:r>
              <a:rPr>
                <a:latin typeface="Courier"/>
              </a:rPr>
              <a:t> </a:t>
            </a:r>
            <a:r>
              <a:rPr>
                <a:solidFill>
                  <a:srgbClr val="666666"/>
                </a:solidFill>
                <a:latin typeface="Courier"/>
              </a:rPr>
              <a:t>=</a:t>
            </a:r>
            <a:r>
              <a:rPr>
                <a:latin typeface="Courier"/>
              </a:rPr>
              <a:t> y</a:t>
            </a:r>
            <a:r>
              <a:rPr>
                <a:solidFill>
                  <a:srgbClr val="666666"/>
                </a:solidFill>
                <a:latin typeface="Courier"/>
              </a:rPr>
              <a:t>;</a:t>
            </a:r>
            <a:br/>
            <a:r>
              <a:rPr>
                <a:latin typeface="Courier"/>
              </a:rPr>
              <a:t>        </a:t>
            </a:r>
            <a:r>
              <a:rPr b="1">
                <a:solidFill>
                  <a:srgbClr val="007020"/>
                </a:solidFill>
                <a:latin typeface="Courier"/>
              </a:rPr>
              <a:t>this</a:t>
            </a:r>
            <a:r>
              <a:rPr>
                <a:solidFill>
                  <a:srgbClr val="666666"/>
                </a:solidFill>
                <a:latin typeface="Courier"/>
              </a:rPr>
              <a:t>.</a:t>
            </a:r>
            <a:r>
              <a:rPr>
                <a:solidFill>
                  <a:srgbClr val="06287E"/>
                </a:solidFill>
                <a:latin typeface="Courier"/>
              </a:rPr>
              <a:t>type</a:t>
            </a:r>
            <a:r>
              <a:rPr>
                <a:latin typeface="Courier"/>
              </a:rPr>
              <a:t> </a:t>
            </a:r>
            <a:r>
              <a:rPr>
                <a:solidFill>
                  <a:srgbClr val="666666"/>
                </a:solidFill>
                <a:latin typeface="Courier"/>
              </a:rPr>
              <a:t>=</a:t>
            </a:r>
            <a:r>
              <a:rPr>
                <a:latin typeface="Courier"/>
              </a:rPr>
              <a:t> type</a:t>
            </a:r>
            <a:r>
              <a:rPr>
                <a:solidFill>
                  <a:srgbClr val="666666"/>
                </a:solidFill>
                <a:latin typeface="Courier"/>
              </a:rPr>
              <a:t>;</a:t>
            </a:r>
            <a:br/>
            <a:r>
              <a:rPr>
                <a:latin typeface="Courier"/>
              </a:rPr>
              <a:t>    </a:t>
            </a:r>
            <a:r>
              <a:rPr>
                <a:solidFill>
                  <a:srgbClr val="666666"/>
                </a:solidFill>
                <a:latin typeface="Courier"/>
              </a:rPr>
              <a:t>}</a:t>
            </a:r>
            <a:br/>
            <a:br/>
            <a:r>
              <a:rPr>
                <a:latin typeface="Courier"/>
              </a:rPr>
              <a:t>    </a:t>
            </a:r>
            <a:r>
              <a:rPr b="1">
                <a:solidFill>
                  <a:srgbClr val="007020"/>
                </a:solidFill>
                <a:latin typeface="Courier"/>
              </a:rPr>
              <a:t>public</a:t>
            </a:r>
            <a:r>
              <a:rPr>
                <a:latin typeface="Courier"/>
              </a:rPr>
              <a:t> </a:t>
            </a:r>
            <a:r>
              <a:rPr>
                <a:solidFill>
                  <a:srgbClr val="902000"/>
                </a:solidFill>
                <a:latin typeface="Courier"/>
              </a:rPr>
              <a:t>void</a:t>
            </a:r>
            <a:r>
              <a:rPr>
                <a:latin typeface="Courier"/>
              </a:rPr>
              <a:t> </a:t>
            </a:r>
            <a:r>
              <a:rPr>
                <a:solidFill>
                  <a:srgbClr val="06287E"/>
                </a:solidFill>
                <a:latin typeface="Courier"/>
              </a:rPr>
              <a:t>draw</a:t>
            </a:r>
            <a:r>
              <a:rPr>
                <a:solidFill>
                  <a:srgbClr val="666666"/>
                </a:solidFill>
                <a:latin typeface="Courier"/>
              </a:rPr>
              <a:t>(</a:t>
            </a:r>
            <a:r>
              <a:rPr>
                <a:solidFill>
                  <a:srgbClr val="008000"/>
                </a:solidFill>
                <a:latin typeface="Courier"/>
              </a:rPr>
              <a:t>Graphics</a:t>
            </a:r>
            <a:r>
              <a:rPr>
                <a:latin typeface="Courier"/>
              </a:rPr>
              <a:t> g</a:t>
            </a:r>
            <a:r>
              <a:rPr>
                <a:solidFill>
                  <a:srgbClr val="666666"/>
                </a:solidFill>
                <a:latin typeface="Courier"/>
              </a:rPr>
              <a:t>)</a:t>
            </a:r>
            <a:r>
              <a:rPr>
                <a:latin typeface="Courier"/>
              </a:rPr>
              <a:t> </a:t>
            </a:r>
            <a:r>
              <a:rPr>
                <a:solidFill>
                  <a:srgbClr val="666666"/>
                </a:solidFill>
                <a:latin typeface="Courier"/>
              </a:rPr>
              <a:t>{</a:t>
            </a:r>
            <a:br/>
            <a:r>
              <a:rPr>
                <a:latin typeface="Courier"/>
              </a:rPr>
              <a:t>        type</a:t>
            </a:r>
            <a:r>
              <a:rPr>
                <a:solidFill>
                  <a:srgbClr val="666666"/>
                </a:solidFill>
                <a:latin typeface="Courier"/>
              </a:rPr>
              <a:t>.</a:t>
            </a:r>
            <a:r>
              <a:rPr>
                <a:solidFill>
                  <a:srgbClr val="06287E"/>
                </a:solidFill>
                <a:latin typeface="Courier"/>
              </a:rPr>
              <a:t>draw</a:t>
            </a:r>
            <a:r>
              <a:rPr>
                <a:solidFill>
                  <a:srgbClr val="666666"/>
                </a:solidFill>
                <a:latin typeface="Courier"/>
              </a:rPr>
              <a:t>(</a:t>
            </a:r>
            <a:r>
              <a:rPr>
                <a:latin typeface="Courier"/>
              </a:rPr>
              <a:t>g</a:t>
            </a:r>
            <a:r>
              <a:rPr>
                <a:solidFill>
                  <a:srgbClr val="666666"/>
                </a:solidFill>
                <a:latin typeface="Courier"/>
              </a:rPr>
              <a:t>,</a:t>
            </a:r>
            <a:r>
              <a:rPr>
                <a:latin typeface="Courier"/>
              </a:rPr>
              <a:t> x</a:t>
            </a:r>
            <a:r>
              <a:rPr>
                <a:solidFill>
                  <a:srgbClr val="666666"/>
                </a:solidFill>
                <a:latin typeface="Courier"/>
              </a:rPr>
              <a:t>,</a:t>
            </a:r>
            <a:r>
              <a:rPr>
                <a:latin typeface="Courier"/>
              </a:rPr>
              <a:t> y</a:t>
            </a:r>
            <a:r>
              <a:rPr>
                <a:solidFill>
                  <a:srgbClr val="666666"/>
                </a:solidFill>
                <a:latin typeface="Courier"/>
              </a:rPr>
              <a:t>);</a:t>
            </a:r>
            <a:br/>
            <a:r>
              <a:rPr>
                <a:latin typeface="Courier"/>
              </a:rPr>
              <a:t>    </a:t>
            </a:r>
            <a:r>
              <a:rPr>
                <a:solidFill>
                  <a:srgbClr val="666666"/>
                </a:solidFill>
                <a:latin typeface="Courier"/>
              </a:rPr>
              <a:t>}</a:t>
            </a:r>
            <a:br/>
            <a:r>
              <a:rPr>
                <a:solidFill>
                  <a:srgbClr val="666666"/>
                </a:solidFill>
                <a:latin typeface="Courier"/>
              </a:rPr>
              <a:t>}</a:t>
            </a:r>
          </a:p>
        </p:txBody>
      </p:sp>
    </p:spTree>
  </p:cSld>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Flyweight: Java Code Example - Client (Forest)</a:t>
            </a:r>
          </a:p>
        </p:txBody>
      </p:sp>
      <p:sp>
        <p:nvSpPr>
          <p:cNvPr id="3" name="Content Placeholder 2"/>
          <p:cNvSpPr>
            <a:spLocks noGrp="1"/>
          </p:cNvSpPr>
          <p:nvPr>
            <p:ph idx="1"/>
          </p:nvPr>
        </p:nvSpPr>
        <p:spPr/>
        <p:txBody>
          <a:bodyPr/>
          <a:lstStyle/>
          <a:p>
            <a:pPr lvl="0" indent="0">
              <a:buNone/>
            </a:pPr>
            <a:r>
              <a:rPr b="1">
                <a:solidFill>
                  <a:srgbClr val="007020"/>
                </a:solidFill>
                <a:latin typeface="Courier"/>
              </a:rPr>
              <a:t>import</a:t>
            </a:r>
            <a:r>
              <a:rPr>
                <a:latin typeface="Courier"/>
              </a:rPr>
              <a:t> </a:t>
            </a:r>
            <a:r>
              <a:rPr b="1">
                <a:solidFill>
                  <a:srgbClr val="008000"/>
                </a:solidFill>
                <a:latin typeface="Courier"/>
              </a:rPr>
              <a:t>java</a:t>
            </a:r>
            <a:r>
              <a:rPr>
                <a:solidFill>
                  <a:srgbClr val="666666"/>
                </a:solidFill>
                <a:latin typeface="Courier"/>
              </a:rPr>
              <a:t>.</a:t>
            </a:r>
            <a:r>
              <a:rPr b="1">
                <a:solidFill>
                  <a:srgbClr val="008000"/>
                </a:solidFill>
                <a:latin typeface="Courier"/>
              </a:rPr>
              <a:t>awt</a:t>
            </a:r>
            <a:r>
              <a:rPr>
                <a:solidFill>
                  <a:srgbClr val="666666"/>
                </a:solidFill>
                <a:latin typeface="Courier"/>
              </a:rPr>
              <a:t>.*;</a:t>
            </a:r>
            <a:br/>
            <a:r>
              <a:rPr b="1">
                <a:solidFill>
                  <a:srgbClr val="007020"/>
                </a:solidFill>
                <a:latin typeface="Courier"/>
              </a:rPr>
              <a:t>import</a:t>
            </a:r>
            <a:r>
              <a:rPr>
                <a:latin typeface="Courier"/>
              </a:rPr>
              <a:t> </a:t>
            </a:r>
            <a:r>
              <a:rPr b="1">
                <a:solidFill>
                  <a:srgbClr val="008000"/>
                </a:solidFill>
                <a:latin typeface="Courier"/>
              </a:rPr>
              <a:t>java</a:t>
            </a:r>
            <a:r>
              <a:rPr>
                <a:solidFill>
                  <a:srgbClr val="666666"/>
                </a:solidFill>
                <a:latin typeface="Courier"/>
              </a:rPr>
              <a:t>.</a:t>
            </a:r>
            <a:r>
              <a:rPr b="1">
                <a:solidFill>
                  <a:srgbClr val="008000"/>
                </a:solidFill>
                <a:latin typeface="Courier"/>
              </a:rPr>
              <a:t>util</a:t>
            </a:r>
            <a:r>
              <a:rPr>
                <a:solidFill>
                  <a:srgbClr val="666666"/>
                </a:solidFill>
                <a:latin typeface="Courier"/>
              </a:rPr>
              <a:t>.</a:t>
            </a:r>
            <a:r>
              <a:rPr b="1">
                <a:solidFill>
                  <a:srgbClr val="008000"/>
                </a:solidFill>
                <a:latin typeface="Courier"/>
              </a:rPr>
              <a:t>ArrayList</a:t>
            </a:r>
            <a:r>
              <a:rPr>
                <a:solidFill>
                  <a:srgbClr val="666666"/>
                </a:solidFill>
                <a:latin typeface="Courier"/>
              </a:rPr>
              <a:t>;</a:t>
            </a:r>
            <a:br/>
            <a:r>
              <a:rPr b="1">
                <a:solidFill>
                  <a:srgbClr val="007020"/>
                </a:solidFill>
                <a:latin typeface="Courier"/>
              </a:rPr>
              <a:t>import</a:t>
            </a:r>
            <a:r>
              <a:rPr>
                <a:latin typeface="Courier"/>
              </a:rPr>
              <a:t> </a:t>
            </a:r>
            <a:r>
              <a:rPr b="1">
                <a:solidFill>
                  <a:srgbClr val="008000"/>
                </a:solidFill>
                <a:latin typeface="Courier"/>
              </a:rPr>
              <a:t>java</a:t>
            </a:r>
            <a:r>
              <a:rPr>
                <a:solidFill>
                  <a:srgbClr val="666666"/>
                </a:solidFill>
                <a:latin typeface="Courier"/>
              </a:rPr>
              <a:t>.</a:t>
            </a:r>
            <a:r>
              <a:rPr b="1">
                <a:solidFill>
                  <a:srgbClr val="008000"/>
                </a:solidFill>
                <a:latin typeface="Courier"/>
              </a:rPr>
              <a:t>util</a:t>
            </a:r>
            <a:r>
              <a:rPr>
                <a:solidFill>
                  <a:srgbClr val="666666"/>
                </a:solidFill>
                <a:latin typeface="Courier"/>
              </a:rPr>
              <a:t>.</a:t>
            </a:r>
            <a:r>
              <a:rPr b="1">
                <a:solidFill>
                  <a:srgbClr val="008000"/>
                </a:solidFill>
                <a:latin typeface="Courier"/>
              </a:rPr>
              <a:t>List</a:t>
            </a:r>
            <a:r>
              <a:rPr>
                <a:solidFill>
                  <a:srgbClr val="666666"/>
                </a:solidFill>
                <a:latin typeface="Courier"/>
              </a:rPr>
              <a:t>;</a:t>
            </a:r>
            <a:br/>
            <a:r>
              <a:rPr b="1">
                <a:solidFill>
                  <a:srgbClr val="007020"/>
                </a:solidFill>
                <a:latin typeface="Courier"/>
              </a:rPr>
              <a:t>import</a:t>
            </a:r>
            <a:r>
              <a:rPr>
                <a:latin typeface="Courier"/>
              </a:rPr>
              <a:t> </a:t>
            </a:r>
            <a:r>
              <a:rPr b="1">
                <a:solidFill>
                  <a:srgbClr val="008000"/>
                </a:solidFill>
                <a:latin typeface="Courier"/>
              </a:rPr>
              <a:t>javax</a:t>
            </a:r>
            <a:r>
              <a:rPr>
                <a:solidFill>
                  <a:srgbClr val="666666"/>
                </a:solidFill>
                <a:latin typeface="Courier"/>
              </a:rPr>
              <a:t>.</a:t>
            </a:r>
            <a:r>
              <a:rPr b="1">
                <a:solidFill>
                  <a:srgbClr val="008000"/>
                </a:solidFill>
                <a:latin typeface="Courier"/>
              </a:rPr>
              <a:t>swing</a:t>
            </a:r>
            <a:r>
              <a:rPr>
                <a:solidFill>
                  <a:srgbClr val="666666"/>
                </a:solidFill>
                <a:latin typeface="Courier"/>
              </a:rPr>
              <a:t>.*;</a:t>
            </a:r>
            <a:br/>
            <a:br/>
            <a:r>
              <a:rPr b="1">
                <a:solidFill>
                  <a:srgbClr val="007020"/>
                </a:solidFill>
                <a:latin typeface="Courier"/>
              </a:rPr>
              <a:t>public</a:t>
            </a:r>
            <a:r>
              <a:rPr>
                <a:latin typeface="Courier"/>
              </a:rPr>
              <a:t> </a:t>
            </a:r>
            <a:r>
              <a:rPr b="1">
                <a:solidFill>
                  <a:srgbClr val="007020"/>
                </a:solidFill>
                <a:latin typeface="Courier"/>
              </a:rPr>
              <a:t>class</a:t>
            </a:r>
            <a:r>
              <a:rPr>
                <a:latin typeface="Courier"/>
              </a:rPr>
              <a:t> Forest </a:t>
            </a:r>
            <a:r>
              <a:rPr b="1">
                <a:solidFill>
                  <a:srgbClr val="007020"/>
                </a:solidFill>
                <a:latin typeface="Courier"/>
              </a:rPr>
              <a:t>extends</a:t>
            </a:r>
            <a:r>
              <a:rPr>
                <a:latin typeface="Courier"/>
              </a:rPr>
              <a:t> </a:t>
            </a:r>
            <a:r>
              <a:rPr>
                <a:solidFill>
                  <a:srgbClr val="008000"/>
                </a:solidFill>
                <a:latin typeface="Courier"/>
              </a:rPr>
              <a:t>JFrame</a:t>
            </a:r>
            <a:r>
              <a:rPr>
                <a:latin typeface="Courier"/>
              </a:rPr>
              <a:t> </a:t>
            </a:r>
            <a:r>
              <a:rPr>
                <a:solidFill>
                  <a:srgbClr val="666666"/>
                </a:solidFill>
                <a:latin typeface="Courier"/>
              </a:rPr>
              <a:t>{</a:t>
            </a:r>
            <a:br/>
            <a:r>
              <a:rPr>
                <a:latin typeface="Courier"/>
              </a:rPr>
              <a:t>    </a:t>
            </a:r>
            <a:r>
              <a:rPr b="1">
                <a:solidFill>
                  <a:srgbClr val="007020"/>
                </a:solidFill>
                <a:latin typeface="Courier"/>
              </a:rPr>
              <a:t>private</a:t>
            </a:r>
            <a:r>
              <a:rPr>
                <a:latin typeface="Courier"/>
              </a:rPr>
              <a:t> </a:t>
            </a:r>
            <a:r>
              <a:rPr>
                <a:solidFill>
                  <a:srgbClr val="008000"/>
                </a:solidFill>
                <a:latin typeface="Courier"/>
              </a:rPr>
              <a:t>List</a:t>
            </a:r>
            <a:r>
              <a:rPr>
                <a:solidFill>
                  <a:srgbClr val="666666"/>
                </a:solidFill>
                <a:latin typeface="Courier"/>
              </a:rPr>
              <a:t>&lt;</a:t>
            </a:r>
            <a:r>
              <a:rPr>
                <a:latin typeface="Courier"/>
              </a:rPr>
              <a:t>Tree</a:t>
            </a:r>
            <a:r>
              <a:rPr>
                <a:solidFill>
                  <a:srgbClr val="666666"/>
                </a:solidFill>
                <a:latin typeface="Courier"/>
              </a:rPr>
              <a:t>&gt;</a:t>
            </a:r>
            <a:r>
              <a:rPr>
                <a:latin typeface="Courier"/>
              </a:rPr>
              <a:t> trees </a:t>
            </a:r>
            <a:r>
              <a:rPr>
                <a:solidFill>
                  <a:srgbClr val="666666"/>
                </a:solidFill>
                <a:latin typeface="Courier"/>
              </a:rPr>
              <a:t>=</a:t>
            </a:r>
            <a:r>
              <a:rPr>
                <a:latin typeface="Courier"/>
              </a:rPr>
              <a:t> </a:t>
            </a:r>
            <a:r>
              <a:rPr b="1">
                <a:solidFill>
                  <a:srgbClr val="007020"/>
                </a:solidFill>
                <a:latin typeface="Courier"/>
              </a:rPr>
              <a:t>new</a:t>
            </a:r>
            <a:r>
              <a:rPr>
                <a:latin typeface="Courier"/>
              </a:rPr>
              <a:t> </a:t>
            </a:r>
            <a:r>
              <a:rPr>
                <a:solidFill>
                  <a:srgbClr val="008000"/>
                </a:solidFill>
                <a:latin typeface="Courier"/>
              </a:rPr>
              <a:t>ArrayList</a:t>
            </a:r>
            <a:r>
              <a:rPr>
                <a:solidFill>
                  <a:srgbClr val="666666"/>
                </a:solidFill>
                <a:latin typeface="Courier"/>
              </a:rPr>
              <a:t>&lt;&gt;();</a:t>
            </a:r>
            <a:br/>
            <a:br/>
            <a:r>
              <a:rPr>
                <a:latin typeface="Courier"/>
              </a:rPr>
              <a:t>    </a:t>
            </a:r>
            <a:r>
              <a:rPr b="1">
                <a:solidFill>
                  <a:srgbClr val="007020"/>
                </a:solidFill>
                <a:latin typeface="Courier"/>
              </a:rPr>
              <a:t>public</a:t>
            </a:r>
            <a:r>
              <a:rPr>
                <a:latin typeface="Courier"/>
              </a:rPr>
              <a:t> </a:t>
            </a:r>
            <a:r>
              <a:rPr>
                <a:solidFill>
                  <a:srgbClr val="902000"/>
                </a:solidFill>
                <a:latin typeface="Courier"/>
              </a:rPr>
              <a:t>void</a:t>
            </a:r>
            <a:r>
              <a:rPr>
                <a:latin typeface="Courier"/>
              </a:rPr>
              <a:t> </a:t>
            </a:r>
            <a:r>
              <a:rPr>
                <a:solidFill>
                  <a:srgbClr val="06287E"/>
                </a:solidFill>
                <a:latin typeface="Courier"/>
              </a:rPr>
              <a:t>plantTree</a:t>
            </a:r>
            <a:r>
              <a:rPr>
                <a:solidFill>
                  <a:srgbClr val="666666"/>
                </a:solidFill>
                <a:latin typeface="Courier"/>
              </a:rPr>
              <a:t>(</a:t>
            </a:r>
            <a:r>
              <a:rPr>
                <a:solidFill>
                  <a:srgbClr val="902000"/>
                </a:solidFill>
                <a:latin typeface="Courier"/>
              </a:rPr>
              <a:t>int</a:t>
            </a:r>
            <a:r>
              <a:rPr>
                <a:latin typeface="Courier"/>
              </a:rPr>
              <a:t> x</a:t>
            </a:r>
            <a:r>
              <a:rPr>
                <a:solidFill>
                  <a:srgbClr val="666666"/>
                </a:solidFill>
                <a:latin typeface="Courier"/>
              </a:rPr>
              <a:t>,</a:t>
            </a:r>
            <a:r>
              <a:rPr>
                <a:latin typeface="Courier"/>
              </a:rPr>
              <a:t> </a:t>
            </a:r>
            <a:r>
              <a:rPr>
                <a:solidFill>
                  <a:srgbClr val="902000"/>
                </a:solidFill>
                <a:latin typeface="Courier"/>
              </a:rPr>
              <a:t>int</a:t>
            </a:r>
            <a:r>
              <a:rPr>
                <a:latin typeface="Courier"/>
              </a:rPr>
              <a:t> y</a:t>
            </a:r>
            <a:r>
              <a:rPr>
                <a:solidFill>
                  <a:srgbClr val="666666"/>
                </a:solidFill>
                <a:latin typeface="Courier"/>
              </a:rPr>
              <a:t>,</a:t>
            </a:r>
            <a:r>
              <a:rPr>
                <a:latin typeface="Courier"/>
              </a:rPr>
              <a:t> </a:t>
            </a:r>
            <a:r>
              <a:rPr>
                <a:solidFill>
                  <a:srgbClr val="008000"/>
                </a:solidFill>
                <a:latin typeface="Courier"/>
              </a:rPr>
              <a:t>String</a:t>
            </a:r>
            <a:r>
              <a:rPr>
                <a:latin typeface="Courier"/>
              </a:rPr>
              <a:t> name</a:t>
            </a:r>
            <a:r>
              <a:rPr>
                <a:solidFill>
                  <a:srgbClr val="666666"/>
                </a:solidFill>
                <a:latin typeface="Courier"/>
              </a:rPr>
              <a:t>,</a:t>
            </a:r>
            <a:br/>
            <a:r>
              <a:rPr>
                <a:latin typeface="Courier"/>
              </a:rPr>
              <a:t>                          </a:t>
            </a:r>
            <a:r>
              <a:rPr>
                <a:solidFill>
                  <a:srgbClr val="008000"/>
                </a:solidFill>
                <a:latin typeface="Courier"/>
              </a:rPr>
              <a:t>Color</a:t>
            </a:r>
            <a:r>
              <a:rPr>
                <a:latin typeface="Courier"/>
              </a:rPr>
              <a:t> color</a:t>
            </a:r>
            <a:r>
              <a:rPr>
                <a:solidFill>
                  <a:srgbClr val="666666"/>
                </a:solidFill>
                <a:latin typeface="Courier"/>
              </a:rPr>
              <a:t>,</a:t>
            </a:r>
            <a:r>
              <a:rPr>
                <a:latin typeface="Courier"/>
              </a:rPr>
              <a:t> </a:t>
            </a:r>
            <a:r>
              <a:rPr>
                <a:solidFill>
                  <a:srgbClr val="008000"/>
                </a:solidFill>
                <a:latin typeface="Courier"/>
              </a:rPr>
              <a:t>String</a:t>
            </a:r>
            <a:r>
              <a:rPr>
                <a:latin typeface="Courier"/>
              </a:rPr>
              <a:t> texture</a:t>
            </a:r>
            <a:r>
              <a:rPr>
                <a:solidFill>
                  <a:srgbClr val="666666"/>
                </a:solidFill>
                <a:latin typeface="Courier"/>
              </a:rPr>
              <a:t>)</a:t>
            </a:r>
            <a:r>
              <a:rPr>
                <a:latin typeface="Courier"/>
              </a:rPr>
              <a:t> </a:t>
            </a:r>
            <a:r>
              <a:rPr>
                <a:solidFill>
                  <a:srgbClr val="666666"/>
                </a:solidFill>
                <a:latin typeface="Courier"/>
              </a:rPr>
              <a:t>{</a:t>
            </a:r>
            <a:br/>
            <a:r>
              <a:rPr>
                <a:latin typeface="Courier"/>
              </a:rPr>
              <a:t>        TreeType type </a:t>
            </a:r>
            <a:r>
              <a:rPr>
                <a:solidFill>
                  <a:srgbClr val="666666"/>
                </a:solidFill>
                <a:latin typeface="Courier"/>
              </a:rPr>
              <a:t>=</a:t>
            </a:r>
            <a:r>
              <a:rPr>
                <a:latin typeface="Courier"/>
              </a:rPr>
              <a:t> TreeFactory</a:t>
            </a:r>
            <a:r>
              <a:rPr>
                <a:solidFill>
                  <a:srgbClr val="666666"/>
                </a:solidFill>
                <a:latin typeface="Courier"/>
              </a:rPr>
              <a:t>.</a:t>
            </a:r>
            <a:r>
              <a:rPr>
                <a:solidFill>
                  <a:srgbClr val="06287E"/>
                </a:solidFill>
                <a:latin typeface="Courier"/>
              </a:rPr>
              <a:t>getTreeType</a:t>
            </a:r>
            <a:r>
              <a:rPr>
                <a:solidFill>
                  <a:srgbClr val="666666"/>
                </a:solidFill>
                <a:latin typeface="Courier"/>
              </a:rPr>
              <a:t>(</a:t>
            </a:r>
            <a:br/>
            <a:r>
              <a:rPr>
                <a:latin typeface="Courier"/>
              </a:rPr>
              <a:t>            name</a:t>
            </a:r>
            <a:r>
              <a:rPr>
                <a:solidFill>
                  <a:srgbClr val="666666"/>
                </a:solidFill>
                <a:latin typeface="Courier"/>
              </a:rPr>
              <a:t>,</a:t>
            </a:r>
            <a:r>
              <a:rPr>
                <a:latin typeface="Courier"/>
              </a:rPr>
              <a:t> color</a:t>
            </a:r>
            <a:r>
              <a:rPr>
                <a:solidFill>
                  <a:srgbClr val="666666"/>
                </a:solidFill>
                <a:latin typeface="Courier"/>
              </a:rPr>
              <a:t>,</a:t>
            </a:r>
            <a:r>
              <a:rPr>
                <a:latin typeface="Courier"/>
              </a:rPr>
              <a:t> texture</a:t>
            </a:r>
            <a:r>
              <a:rPr>
                <a:solidFill>
                  <a:srgbClr val="666666"/>
                </a:solidFill>
                <a:latin typeface="Courier"/>
              </a:rPr>
              <a:t>);</a:t>
            </a:r>
            <a:br/>
            <a:r>
              <a:rPr>
                <a:latin typeface="Courier"/>
              </a:rPr>
              <a:t>        Tree tree </a:t>
            </a:r>
            <a:r>
              <a:rPr>
                <a:solidFill>
                  <a:srgbClr val="666666"/>
                </a:solidFill>
                <a:latin typeface="Courier"/>
              </a:rPr>
              <a:t>=</a:t>
            </a:r>
            <a:r>
              <a:rPr>
                <a:latin typeface="Courier"/>
              </a:rPr>
              <a:t> </a:t>
            </a:r>
            <a:r>
              <a:rPr b="1">
                <a:solidFill>
                  <a:srgbClr val="007020"/>
                </a:solidFill>
                <a:latin typeface="Courier"/>
              </a:rPr>
              <a:t>new</a:t>
            </a:r>
            <a:r>
              <a:rPr>
                <a:latin typeface="Courier"/>
              </a:rPr>
              <a:t> </a:t>
            </a:r>
            <a:r>
              <a:rPr>
                <a:solidFill>
                  <a:srgbClr val="06287E"/>
                </a:solidFill>
                <a:latin typeface="Courier"/>
              </a:rPr>
              <a:t>Tree</a:t>
            </a:r>
            <a:r>
              <a:rPr>
                <a:solidFill>
                  <a:srgbClr val="666666"/>
                </a:solidFill>
                <a:latin typeface="Courier"/>
              </a:rPr>
              <a:t>(</a:t>
            </a:r>
            <a:r>
              <a:rPr>
                <a:latin typeface="Courier"/>
              </a:rPr>
              <a:t>x</a:t>
            </a:r>
            <a:r>
              <a:rPr>
                <a:solidFill>
                  <a:srgbClr val="666666"/>
                </a:solidFill>
                <a:latin typeface="Courier"/>
              </a:rPr>
              <a:t>,</a:t>
            </a:r>
            <a:r>
              <a:rPr>
                <a:latin typeface="Courier"/>
              </a:rPr>
              <a:t> y</a:t>
            </a:r>
            <a:r>
              <a:rPr>
                <a:solidFill>
                  <a:srgbClr val="666666"/>
                </a:solidFill>
                <a:latin typeface="Courier"/>
              </a:rPr>
              <a:t>,</a:t>
            </a:r>
            <a:r>
              <a:rPr>
                <a:latin typeface="Courier"/>
              </a:rPr>
              <a:t> type</a:t>
            </a:r>
            <a:r>
              <a:rPr>
                <a:solidFill>
                  <a:srgbClr val="666666"/>
                </a:solidFill>
                <a:latin typeface="Courier"/>
              </a:rPr>
              <a:t>);</a:t>
            </a:r>
            <a:br/>
            <a:r>
              <a:rPr>
                <a:latin typeface="Courier"/>
              </a:rPr>
              <a:t>        trees</a:t>
            </a:r>
            <a:r>
              <a:rPr>
                <a:solidFill>
                  <a:srgbClr val="666666"/>
                </a:solidFill>
                <a:latin typeface="Courier"/>
              </a:rPr>
              <a:t>.</a:t>
            </a:r>
            <a:r>
              <a:rPr>
                <a:solidFill>
                  <a:srgbClr val="06287E"/>
                </a:solidFill>
                <a:latin typeface="Courier"/>
              </a:rPr>
              <a:t>add</a:t>
            </a:r>
            <a:r>
              <a:rPr>
                <a:solidFill>
                  <a:srgbClr val="666666"/>
                </a:solidFill>
                <a:latin typeface="Courier"/>
              </a:rPr>
              <a:t>(</a:t>
            </a:r>
            <a:r>
              <a:rPr>
                <a:latin typeface="Courier"/>
              </a:rPr>
              <a:t>tree</a:t>
            </a:r>
            <a:r>
              <a:rPr>
                <a:solidFill>
                  <a:srgbClr val="666666"/>
                </a:solidFill>
                <a:latin typeface="Courier"/>
              </a:rPr>
              <a:t>);</a:t>
            </a:r>
            <a:br/>
            <a:r>
              <a:rPr>
                <a:latin typeface="Courier"/>
              </a:rPr>
              <a:t>    </a:t>
            </a:r>
            <a:r>
              <a:rPr>
                <a:solidFill>
                  <a:srgbClr val="666666"/>
                </a:solidFill>
                <a:latin typeface="Courier"/>
              </a:rPr>
              <a:t>}</a:t>
            </a:r>
            <a:br/>
            <a:br/>
            <a:r>
              <a:rPr>
                <a:latin typeface="Courier"/>
              </a:rPr>
              <a:t>    </a:t>
            </a:r>
            <a:r>
              <a:rPr>
                <a:solidFill>
                  <a:srgbClr val="7D9029"/>
                </a:solidFill>
                <a:latin typeface="Courier"/>
              </a:rPr>
              <a:t>@Override</a:t>
            </a:r>
            <a:br/>
            <a:r>
              <a:rPr>
                <a:latin typeface="Courier"/>
              </a:rPr>
              <a:t>    </a:t>
            </a:r>
            <a:r>
              <a:rPr b="1">
                <a:solidFill>
                  <a:srgbClr val="007020"/>
                </a:solidFill>
                <a:latin typeface="Courier"/>
              </a:rPr>
              <a:t>public</a:t>
            </a:r>
            <a:r>
              <a:rPr>
                <a:latin typeface="Courier"/>
              </a:rPr>
              <a:t> </a:t>
            </a:r>
            <a:r>
              <a:rPr>
                <a:solidFill>
                  <a:srgbClr val="902000"/>
                </a:solidFill>
                <a:latin typeface="Courier"/>
              </a:rPr>
              <a:t>void</a:t>
            </a:r>
            <a:r>
              <a:rPr>
                <a:latin typeface="Courier"/>
              </a:rPr>
              <a:t> </a:t>
            </a:r>
            <a:r>
              <a:rPr>
                <a:solidFill>
                  <a:srgbClr val="06287E"/>
                </a:solidFill>
                <a:latin typeface="Courier"/>
              </a:rPr>
              <a:t>paint</a:t>
            </a:r>
            <a:r>
              <a:rPr>
                <a:solidFill>
                  <a:srgbClr val="666666"/>
                </a:solidFill>
                <a:latin typeface="Courier"/>
              </a:rPr>
              <a:t>(</a:t>
            </a:r>
            <a:r>
              <a:rPr>
                <a:solidFill>
                  <a:srgbClr val="008000"/>
                </a:solidFill>
                <a:latin typeface="Courier"/>
              </a:rPr>
              <a:t>Graphics</a:t>
            </a:r>
            <a:r>
              <a:rPr>
                <a:latin typeface="Courier"/>
              </a:rPr>
              <a:t> g</a:t>
            </a:r>
            <a:r>
              <a:rPr>
                <a:solidFill>
                  <a:srgbClr val="666666"/>
                </a:solidFill>
                <a:latin typeface="Courier"/>
              </a:rPr>
              <a:t>)</a:t>
            </a:r>
            <a:r>
              <a:rPr>
                <a:latin typeface="Courier"/>
              </a:rPr>
              <a:t> </a:t>
            </a:r>
            <a:r>
              <a:rPr>
                <a:solidFill>
                  <a:srgbClr val="666666"/>
                </a:solidFill>
                <a:latin typeface="Courier"/>
              </a:rPr>
              <a:t>{</a:t>
            </a:r>
            <a:br/>
            <a:r>
              <a:rPr>
                <a:latin typeface="Courier"/>
              </a:rPr>
              <a:t>        </a:t>
            </a:r>
            <a:r>
              <a:rPr b="1">
                <a:solidFill>
                  <a:srgbClr val="007020"/>
                </a:solidFill>
                <a:latin typeface="Courier"/>
              </a:rPr>
              <a:t>for</a:t>
            </a:r>
            <a:r>
              <a:rPr>
                <a:latin typeface="Courier"/>
              </a:rPr>
              <a:t> </a:t>
            </a:r>
            <a:r>
              <a:rPr>
                <a:solidFill>
                  <a:srgbClr val="666666"/>
                </a:solidFill>
                <a:latin typeface="Courier"/>
              </a:rPr>
              <a:t>(</a:t>
            </a:r>
            <a:r>
              <a:rPr>
                <a:latin typeface="Courier"/>
              </a:rPr>
              <a:t>Tree tree </a:t>
            </a:r>
            <a:r>
              <a:rPr>
                <a:solidFill>
                  <a:srgbClr val="666666"/>
                </a:solidFill>
                <a:latin typeface="Courier"/>
              </a:rPr>
              <a:t>:</a:t>
            </a:r>
            <a:r>
              <a:rPr>
                <a:latin typeface="Courier"/>
              </a:rPr>
              <a:t> trees</a:t>
            </a:r>
            <a:r>
              <a:rPr>
                <a:solidFill>
                  <a:srgbClr val="666666"/>
                </a:solidFill>
                <a:latin typeface="Courier"/>
              </a:rPr>
              <a:t>)</a:t>
            </a:r>
            <a:r>
              <a:rPr>
                <a:latin typeface="Courier"/>
              </a:rPr>
              <a:t> </a:t>
            </a:r>
            <a:r>
              <a:rPr>
                <a:solidFill>
                  <a:srgbClr val="666666"/>
                </a:solidFill>
                <a:latin typeface="Courier"/>
              </a:rPr>
              <a:t>{</a:t>
            </a:r>
            <a:br/>
            <a:r>
              <a:rPr>
                <a:latin typeface="Courier"/>
              </a:rPr>
              <a:t>            tree</a:t>
            </a:r>
            <a:r>
              <a:rPr>
                <a:solidFill>
                  <a:srgbClr val="666666"/>
                </a:solidFill>
                <a:latin typeface="Courier"/>
              </a:rPr>
              <a:t>.</a:t>
            </a:r>
            <a:r>
              <a:rPr>
                <a:solidFill>
                  <a:srgbClr val="06287E"/>
                </a:solidFill>
                <a:latin typeface="Courier"/>
              </a:rPr>
              <a:t>draw</a:t>
            </a:r>
            <a:r>
              <a:rPr>
                <a:solidFill>
                  <a:srgbClr val="666666"/>
                </a:solidFill>
                <a:latin typeface="Courier"/>
              </a:rPr>
              <a:t>(</a:t>
            </a:r>
            <a:r>
              <a:rPr>
                <a:latin typeface="Courier"/>
              </a:rPr>
              <a:t>g</a:t>
            </a:r>
            <a:r>
              <a:rPr>
                <a:solidFill>
                  <a:srgbClr val="666666"/>
                </a:solidFill>
                <a:latin typeface="Courier"/>
              </a:rPr>
              <a:t>);</a:t>
            </a:r>
            <a:br/>
            <a:r>
              <a:rPr>
                <a:latin typeface="Courier"/>
              </a:rPr>
              <a:t>        </a:t>
            </a:r>
            <a:r>
              <a:rPr>
                <a:solidFill>
                  <a:srgbClr val="666666"/>
                </a:solidFill>
                <a:latin typeface="Courier"/>
              </a:rPr>
              <a:t>}</a:t>
            </a:r>
            <a:br/>
            <a:r>
              <a:rPr>
                <a:latin typeface="Courier"/>
              </a:rPr>
              <a:t>    </a:t>
            </a:r>
            <a:r>
              <a:rPr>
                <a:solidFill>
                  <a:srgbClr val="666666"/>
                </a:solidFill>
                <a:latin typeface="Courier"/>
              </a:rPr>
              <a:t>}</a:t>
            </a:r>
            <a:br/>
            <a:br/>
            <a:r>
              <a:rPr>
                <a:latin typeface="Courier"/>
              </a:rPr>
              <a:t>    </a:t>
            </a:r>
            <a:r>
              <a:rPr b="1">
                <a:solidFill>
                  <a:srgbClr val="007020"/>
                </a:solidFill>
                <a:latin typeface="Courier"/>
              </a:rPr>
              <a:t>public</a:t>
            </a:r>
            <a:r>
              <a:rPr>
                <a:latin typeface="Courier"/>
              </a:rPr>
              <a:t> </a:t>
            </a:r>
            <a:r>
              <a:rPr>
                <a:solidFill>
                  <a:srgbClr val="902000"/>
                </a:solidFill>
                <a:latin typeface="Courier"/>
              </a:rPr>
              <a:t>static</a:t>
            </a:r>
            <a:r>
              <a:rPr>
                <a:latin typeface="Courier"/>
              </a:rPr>
              <a:t> </a:t>
            </a:r>
            <a:r>
              <a:rPr>
                <a:solidFill>
                  <a:srgbClr val="902000"/>
                </a:solidFill>
                <a:latin typeface="Courier"/>
              </a:rPr>
              <a:t>void</a:t>
            </a:r>
            <a:r>
              <a:rPr>
                <a:latin typeface="Courier"/>
              </a:rPr>
              <a:t> </a:t>
            </a:r>
            <a:r>
              <a:rPr>
                <a:solidFill>
                  <a:srgbClr val="06287E"/>
                </a:solidFill>
                <a:latin typeface="Courier"/>
              </a:rPr>
              <a:t>main</a:t>
            </a:r>
            <a:r>
              <a:rPr>
                <a:solidFill>
                  <a:srgbClr val="666666"/>
                </a:solidFill>
                <a:latin typeface="Courier"/>
              </a:rPr>
              <a:t>(</a:t>
            </a:r>
            <a:r>
              <a:rPr>
                <a:solidFill>
                  <a:srgbClr val="008000"/>
                </a:solidFill>
                <a:latin typeface="Courier"/>
              </a:rPr>
              <a:t>String</a:t>
            </a:r>
            <a:r>
              <a:rPr>
                <a:solidFill>
                  <a:srgbClr val="666666"/>
                </a:solidFill>
                <a:latin typeface="Courier"/>
              </a:rPr>
              <a:t>[]</a:t>
            </a:r>
            <a:r>
              <a:rPr>
                <a:latin typeface="Courier"/>
              </a:rPr>
              <a:t> args</a:t>
            </a:r>
            <a:r>
              <a:rPr>
                <a:solidFill>
                  <a:srgbClr val="666666"/>
                </a:solidFill>
                <a:latin typeface="Courier"/>
              </a:rPr>
              <a:t>)</a:t>
            </a:r>
            <a:r>
              <a:rPr>
                <a:latin typeface="Courier"/>
              </a:rPr>
              <a:t> </a:t>
            </a:r>
            <a:r>
              <a:rPr>
                <a:solidFill>
                  <a:srgbClr val="666666"/>
                </a:solidFill>
                <a:latin typeface="Courier"/>
              </a:rPr>
              <a:t>{</a:t>
            </a:r>
            <a:br/>
            <a:r>
              <a:rPr>
                <a:latin typeface="Courier"/>
              </a:rPr>
              <a:t>        Forest forest </a:t>
            </a:r>
            <a:r>
              <a:rPr>
                <a:solidFill>
                  <a:srgbClr val="666666"/>
                </a:solidFill>
                <a:latin typeface="Courier"/>
              </a:rPr>
              <a:t>=</a:t>
            </a:r>
            <a:r>
              <a:rPr>
                <a:latin typeface="Courier"/>
              </a:rPr>
              <a:t> </a:t>
            </a:r>
            <a:r>
              <a:rPr b="1">
                <a:solidFill>
                  <a:srgbClr val="007020"/>
                </a:solidFill>
                <a:latin typeface="Courier"/>
              </a:rPr>
              <a:t>new</a:t>
            </a:r>
            <a:r>
              <a:rPr>
                <a:latin typeface="Courier"/>
              </a:rPr>
              <a:t> </a:t>
            </a:r>
            <a:r>
              <a:rPr>
                <a:solidFill>
                  <a:srgbClr val="06287E"/>
                </a:solidFill>
                <a:latin typeface="Courier"/>
              </a:rPr>
              <a:t>Forest</a:t>
            </a:r>
            <a:r>
              <a:rPr>
                <a:solidFill>
                  <a:srgbClr val="666666"/>
                </a:solidFill>
                <a:latin typeface="Courier"/>
              </a:rPr>
              <a:t>();</a:t>
            </a:r>
            <a:br/>
            <a:r>
              <a:rPr>
                <a:latin typeface="Courier"/>
              </a:rPr>
              <a:t>        </a:t>
            </a:r>
            <a:r>
              <a:rPr i="1">
                <a:solidFill>
                  <a:srgbClr val="60A0B0"/>
                </a:solidFill>
                <a:latin typeface="Courier"/>
              </a:rPr>
              <a:t>// Plant 1,000,000 trees but only a few TreeType</a:t>
            </a:r>
            <a:br/>
            <a:r>
              <a:rPr>
                <a:latin typeface="Courier"/>
              </a:rPr>
              <a:t>        </a:t>
            </a:r>
            <a:r>
              <a:rPr i="1">
                <a:solidFill>
                  <a:srgbClr val="60A0B0"/>
                </a:solidFill>
                <a:latin typeface="Courier"/>
              </a:rPr>
              <a:t>// flyweight objects are created</a:t>
            </a:r>
            <a:br/>
            <a:r>
              <a:rPr>
                <a:latin typeface="Courier"/>
              </a:rPr>
              <a:t>        </a:t>
            </a:r>
            <a:r>
              <a:rPr b="1">
                <a:solidFill>
                  <a:srgbClr val="007020"/>
                </a:solidFill>
                <a:latin typeface="Courier"/>
              </a:rPr>
              <a:t>for</a:t>
            </a:r>
            <a:r>
              <a:rPr>
                <a:latin typeface="Courier"/>
              </a:rPr>
              <a:t> </a:t>
            </a:r>
            <a:r>
              <a:rPr>
                <a:solidFill>
                  <a:srgbClr val="666666"/>
                </a:solidFill>
                <a:latin typeface="Courier"/>
              </a:rPr>
              <a:t>(</a:t>
            </a:r>
            <a:r>
              <a:rPr>
                <a:solidFill>
                  <a:srgbClr val="902000"/>
                </a:solidFill>
                <a:latin typeface="Courier"/>
              </a:rPr>
              <a:t>int</a:t>
            </a:r>
            <a:r>
              <a:rPr>
                <a:latin typeface="Courier"/>
              </a:rPr>
              <a:t> i </a:t>
            </a:r>
            <a:r>
              <a:rPr>
                <a:solidFill>
                  <a:srgbClr val="666666"/>
                </a:solidFill>
                <a:latin typeface="Courier"/>
              </a:rPr>
              <a:t>=</a:t>
            </a:r>
            <a:r>
              <a:rPr>
                <a:latin typeface="Courier"/>
              </a:rPr>
              <a:t> </a:t>
            </a:r>
            <a:r>
              <a:rPr>
                <a:solidFill>
                  <a:srgbClr val="40A070"/>
                </a:solidFill>
                <a:latin typeface="Courier"/>
              </a:rPr>
              <a:t>0</a:t>
            </a:r>
            <a:r>
              <a:rPr>
                <a:solidFill>
                  <a:srgbClr val="666666"/>
                </a:solidFill>
                <a:latin typeface="Courier"/>
              </a:rPr>
              <a:t>;</a:t>
            </a:r>
            <a:r>
              <a:rPr>
                <a:latin typeface="Courier"/>
              </a:rPr>
              <a:t> i </a:t>
            </a:r>
            <a:r>
              <a:rPr>
                <a:solidFill>
                  <a:srgbClr val="666666"/>
                </a:solidFill>
                <a:latin typeface="Courier"/>
              </a:rPr>
              <a:t>&lt;</a:t>
            </a:r>
            <a:r>
              <a:rPr>
                <a:latin typeface="Courier"/>
              </a:rPr>
              <a:t> </a:t>
            </a:r>
            <a:r>
              <a:rPr>
                <a:solidFill>
                  <a:srgbClr val="40A070"/>
                </a:solidFill>
                <a:latin typeface="Courier"/>
              </a:rPr>
              <a:t>1000000</a:t>
            </a:r>
            <a:r>
              <a:rPr>
                <a:solidFill>
                  <a:srgbClr val="666666"/>
                </a:solidFill>
                <a:latin typeface="Courier"/>
              </a:rPr>
              <a:t>;</a:t>
            </a:r>
            <a:r>
              <a:rPr>
                <a:latin typeface="Courier"/>
              </a:rPr>
              <a:t> i</a:t>
            </a:r>
            <a:r>
              <a:rPr>
                <a:solidFill>
                  <a:srgbClr val="666666"/>
                </a:solidFill>
                <a:latin typeface="Courier"/>
              </a:rPr>
              <a:t>++)</a:t>
            </a:r>
            <a:r>
              <a:rPr>
                <a:latin typeface="Courier"/>
              </a:rPr>
              <a:t> </a:t>
            </a:r>
            <a:r>
              <a:rPr>
                <a:solidFill>
                  <a:srgbClr val="666666"/>
                </a:solidFill>
                <a:latin typeface="Courier"/>
              </a:rPr>
              <a:t>{</a:t>
            </a:r>
            <a:br/>
            <a:r>
              <a:rPr>
                <a:latin typeface="Courier"/>
              </a:rPr>
              <a:t>            forest</a:t>
            </a:r>
            <a:r>
              <a:rPr>
                <a:solidFill>
                  <a:srgbClr val="666666"/>
                </a:solidFill>
                <a:latin typeface="Courier"/>
              </a:rPr>
              <a:t>.</a:t>
            </a:r>
            <a:r>
              <a:rPr>
                <a:solidFill>
                  <a:srgbClr val="06287E"/>
                </a:solidFill>
                <a:latin typeface="Courier"/>
              </a:rPr>
              <a:t>plantTree</a:t>
            </a:r>
            <a:r>
              <a:rPr>
                <a:solidFill>
                  <a:srgbClr val="666666"/>
                </a:solidFill>
                <a:latin typeface="Courier"/>
              </a:rPr>
              <a:t>(</a:t>
            </a:r>
            <a:br/>
            <a:r>
              <a:rPr>
                <a:latin typeface="Courier"/>
              </a:rPr>
              <a:t>                </a:t>
            </a:r>
            <a:r>
              <a:rPr>
                <a:solidFill>
                  <a:srgbClr val="666666"/>
                </a:solidFill>
                <a:latin typeface="Courier"/>
              </a:rPr>
              <a:t>(</a:t>
            </a:r>
            <a:r>
              <a:rPr>
                <a:solidFill>
                  <a:srgbClr val="902000"/>
                </a:solidFill>
                <a:latin typeface="Courier"/>
              </a:rPr>
              <a:t>int</a:t>
            </a:r>
            <a:r>
              <a:rPr>
                <a:solidFill>
                  <a:srgbClr val="666666"/>
                </a:solidFill>
                <a:latin typeface="Courier"/>
              </a:rPr>
              <a:t>)</a:t>
            </a:r>
            <a:r>
              <a:rPr>
                <a:latin typeface="Courier"/>
              </a:rPr>
              <a:t> </a:t>
            </a:r>
            <a:r>
              <a:rPr>
                <a:solidFill>
                  <a:srgbClr val="666666"/>
                </a:solidFill>
                <a:latin typeface="Courier"/>
              </a:rPr>
              <a:t>(</a:t>
            </a:r>
            <a:r>
              <a:rPr>
                <a:solidFill>
                  <a:srgbClr val="008000"/>
                </a:solidFill>
                <a:latin typeface="Courier"/>
              </a:rPr>
              <a:t>Math</a:t>
            </a:r>
            <a:r>
              <a:rPr>
                <a:solidFill>
                  <a:srgbClr val="666666"/>
                </a:solidFill>
                <a:latin typeface="Courier"/>
              </a:rPr>
              <a:t>.</a:t>
            </a:r>
            <a:r>
              <a:rPr>
                <a:solidFill>
                  <a:srgbClr val="06287E"/>
                </a:solidFill>
                <a:latin typeface="Courier"/>
              </a:rPr>
              <a:t>random</a:t>
            </a:r>
            <a:r>
              <a:rPr>
                <a:solidFill>
                  <a:srgbClr val="666666"/>
                </a:solidFill>
                <a:latin typeface="Courier"/>
              </a:rPr>
              <a:t>()</a:t>
            </a:r>
            <a:r>
              <a:rPr>
                <a:latin typeface="Courier"/>
              </a:rPr>
              <a:t> </a:t>
            </a:r>
            <a:r>
              <a:rPr>
                <a:solidFill>
                  <a:srgbClr val="666666"/>
                </a:solidFill>
                <a:latin typeface="Courier"/>
              </a:rPr>
              <a:t>*</a:t>
            </a:r>
            <a:r>
              <a:rPr>
                <a:latin typeface="Courier"/>
              </a:rPr>
              <a:t> </a:t>
            </a:r>
            <a:r>
              <a:rPr>
                <a:solidFill>
                  <a:srgbClr val="40A070"/>
                </a:solidFill>
                <a:latin typeface="Courier"/>
              </a:rPr>
              <a:t>800</a:t>
            </a:r>
            <a:r>
              <a:rPr>
                <a:solidFill>
                  <a:srgbClr val="666666"/>
                </a:solidFill>
                <a:latin typeface="Courier"/>
              </a:rPr>
              <a:t>),</a:t>
            </a:r>
            <a:br/>
            <a:r>
              <a:rPr>
                <a:latin typeface="Courier"/>
              </a:rPr>
              <a:t>                </a:t>
            </a:r>
            <a:r>
              <a:rPr>
                <a:solidFill>
                  <a:srgbClr val="666666"/>
                </a:solidFill>
                <a:latin typeface="Courier"/>
              </a:rPr>
              <a:t>(</a:t>
            </a:r>
            <a:r>
              <a:rPr>
                <a:solidFill>
                  <a:srgbClr val="902000"/>
                </a:solidFill>
                <a:latin typeface="Courier"/>
              </a:rPr>
              <a:t>int</a:t>
            </a:r>
            <a:r>
              <a:rPr>
                <a:solidFill>
                  <a:srgbClr val="666666"/>
                </a:solidFill>
                <a:latin typeface="Courier"/>
              </a:rPr>
              <a:t>)</a:t>
            </a:r>
            <a:r>
              <a:rPr>
                <a:latin typeface="Courier"/>
              </a:rPr>
              <a:t> </a:t>
            </a:r>
            <a:r>
              <a:rPr>
                <a:solidFill>
                  <a:srgbClr val="666666"/>
                </a:solidFill>
                <a:latin typeface="Courier"/>
              </a:rPr>
              <a:t>(</a:t>
            </a:r>
            <a:r>
              <a:rPr>
                <a:solidFill>
                  <a:srgbClr val="008000"/>
                </a:solidFill>
                <a:latin typeface="Courier"/>
              </a:rPr>
              <a:t>Math</a:t>
            </a:r>
            <a:r>
              <a:rPr>
                <a:solidFill>
                  <a:srgbClr val="666666"/>
                </a:solidFill>
                <a:latin typeface="Courier"/>
              </a:rPr>
              <a:t>.</a:t>
            </a:r>
            <a:r>
              <a:rPr>
                <a:solidFill>
                  <a:srgbClr val="06287E"/>
                </a:solidFill>
                <a:latin typeface="Courier"/>
              </a:rPr>
              <a:t>random</a:t>
            </a:r>
            <a:r>
              <a:rPr>
                <a:solidFill>
                  <a:srgbClr val="666666"/>
                </a:solidFill>
                <a:latin typeface="Courier"/>
              </a:rPr>
              <a:t>()</a:t>
            </a:r>
            <a:r>
              <a:rPr>
                <a:latin typeface="Courier"/>
              </a:rPr>
              <a:t> </a:t>
            </a:r>
            <a:r>
              <a:rPr>
                <a:solidFill>
                  <a:srgbClr val="666666"/>
                </a:solidFill>
                <a:latin typeface="Courier"/>
              </a:rPr>
              <a:t>*</a:t>
            </a:r>
            <a:r>
              <a:rPr>
                <a:latin typeface="Courier"/>
              </a:rPr>
              <a:t> </a:t>
            </a:r>
            <a:r>
              <a:rPr>
                <a:solidFill>
                  <a:srgbClr val="40A070"/>
                </a:solidFill>
                <a:latin typeface="Courier"/>
              </a:rPr>
              <a:t>600</a:t>
            </a:r>
            <a:r>
              <a:rPr>
                <a:solidFill>
                  <a:srgbClr val="666666"/>
                </a:solidFill>
                <a:latin typeface="Courier"/>
              </a:rPr>
              <a:t>),</a:t>
            </a:r>
            <a:br/>
            <a:r>
              <a:rPr>
                <a:latin typeface="Courier"/>
              </a:rPr>
              <a:t>                </a:t>
            </a:r>
            <a:r>
              <a:rPr>
                <a:solidFill>
                  <a:srgbClr val="4070A0"/>
                </a:solidFill>
                <a:latin typeface="Courier"/>
              </a:rPr>
              <a:t>"Summer Oak"</a:t>
            </a:r>
            <a:r>
              <a:rPr>
                <a:solidFill>
                  <a:srgbClr val="666666"/>
                </a:solidFill>
                <a:latin typeface="Courier"/>
              </a:rPr>
              <a:t>,</a:t>
            </a:r>
            <a:br/>
            <a:r>
              <a:rPr>
                <a:latin typeface="Courier"/>
              </a:rPr>
              <a:t>                </a:t>
            </a:r>
            <a:r>
              <a:rPr>
                <a:solidFill>
                  <a:srgbClr val="008000"/>
                </a:solidFill>
                <a:latin typeface="Courier"/>
              </a:rPr>
              <a:t>Color</a:t>
            </a:r>
            <a:r>
              <a:rPr>
                <a:solidFill>
                  <a:srgbClr val="666666"/>
                </a:solidFill>
                <a:latin typeface="Courier"/>
              </a:rPr>
              <a:t>.</a:t>
            </a:r>
            <a:r>
              <a:rPr>
                <a:solidFill>
                  <a:srgbClr val="06287E"/>
                </a:solidFill>
                <a:latin typeface="Courier"/>
              </a:rPr>
              <a:t>GREEN</a:t>
            </a:r>
            <a:r>
              <a:rPr>
                <a:solidFill>
                  <a:srgbClr val="666666"/>
                </a:solidFill>
                <a:latin typeface="Courier"/>
              </a:rPr>
              <a:t>,</a:t>
            </a:r>
            <a:br/>
            <a:r>
              <a:rPr>
                <a:latin typeface="Courier"/>
              </a:rPr>
              <a:t>                </a:t>
            </a:r>
            <a:r>
              <a:rPr>
                <a:solidFill>
                  <a:srgbClr val="4070A0"/>
                </a:solidFill>
                <a:latin typeface="Courier"/>
              </a:rPr>
              <a:t>"oak_texture"</a:t>
            </a:r>
            <a:r>
              <a:rPr>
                <a:solidFill>
                  <a:srgbClr val="666666"/>
                </a:solidFill>
                <a:latin typeface="Courier"/>
              </a:rPr>
              <a:t>);</a:t>
            </a:r>
            <a:br/>
            <a:r>
              <a:rPr>
                <a:latin typeface="Courier"/>
              </a:rPr>
              <a:t>        </a:t>
            </a:r>
            <a:r>
              <a:rPr>
                <a:solidFill>
                  <a:srgbClr val="666666"/>
                </a:solidFill>
                <a:latin typeface="Courier"/>
              </a:rPr>
              <a:t>}</a:t>
            </a:r>
            <a:br/>
            <a:r>
              <a:rPr>
                <a:latin typeface="Courier"/>
              </a:rPr>
              <a:t>        forest</a:t>
            </a:r>
            <a:r>
              <a:rPr>
                <a:solidFill>
                  <a:srgbClr val="666666"/>
                </a:solidFill>
                <a:latin typeface="Courier"/>
              </a:rPr>
              <a:t>.</a:t>
            </a:r>
            <a:r>
              <a:rPr>
                <a:solidFill>
                  <a:srgbClr val="06287E"/>
                </a:solidFill>
                <a:latin typeface="Courier"/>
              </a:rPr>
              <a:t>setSize</a:t>
            </a:r>
            <a:r>
              <a:rPr>
                <a:solidFill>
                  <a:srgbClr val="666666"/>
                </a:solidFill>
                <a:latin typeface="Courier"/>
              </a:rPr>
              <a:t>(</a:t>
            </a:r>
            <a:r>
              <a:rPr>
                <a:solidFill>
                  <a:srgbClr val="40A070"/>
                </a:solidFill>
                <a:latin typeface="Courier"/>
              </a:rPr>
              <a:t>800</a:t>
            </a:r>
            <a:r>
              <a:rPr>
                <a:solidFill>
                  <a:srgbClr val="666666"/>
                </a:solidFill>
                <a:latin typeface="Courier"/>
              </a:rPr>
              <a:t>,</a:t>
            </a:r>
            <a:r>
              <a:rPr>
                <a:latin typeface="Courier"/>
              </a:rPr>
              <a:t> </a:t>
            </a:r>
            <a:r>
              <a:rPr>
                <a:solidFill>
                  <a:srgbClr val="40A070"/>
                </a:solidFill>
                <a:latin typeface="Courier"/>
              </a:rPr>
              <a:t>600</a:t>
            </a:r>
            <a:r>
              <a:rPr>
                <a:solidFill>
                  <a:srgbClr val="666666"/>
                </a:solidFill>
                <a:latin typeface="Courier"/>
              </a:rPr>
              <a:t>);</a:t>
            </a:r>
            <a:br/>
            <a:r>
              <a:rPr>
                <a:latin typeface="Courier"/>
              </a:rPr>
              <a:t>        forest</a:t>
            </a:r>
            <a:r>
              <a:rPr>
                <a:solidFill>
                  <a:srgbClr val="666666"/>
                </a:solidFill>
                <a:latin typeface="Courier"/>
              </a:rPr>
              <a:t>.</a:t>
            </a:r>
            <a:r>
              <a:rPr>
                <a:solidFill>
                  <a:srgbClr val="06287E"/>
                </a:solidFill>
                <a:latin typeface="Courier"/>
              </a:rPr>
              <a:t>setVisible</a:t>
            </a:r>
            <a:r>
              <a:rPr>
                <a:solidFill>
                  <a:srgbClr val="666666"/>
                </a:solidFill>
                <a:latin typeface="Courier"/>
              </a:rPr>
              <a:t>(</a:t>
            </a:r>
            <a:r>
              <a:rPr b="1">
                <a:solidFill>
                  <a:srgbClr val="007020"/>
                </a:solidFill>
                <a:latin typeface="Courier"/>
              </a:rPr>
              <a:t>true</a:t>
            </a:r>
            <a:r>
              <a:rPr>
                <a:solidFill>
                  <a:srgbClr val="666666"/>
                </a:solidFill>
                <a:latin typeface="Courier"/>
              </a:rPr>
              <a:t>);</a:t>
            </a:r>
            <a:br/>
            <a:br/>
            <a:r>
              <a:rPr>
                <a:latin typeface="Courier"/>
              </a:rPr>
              <a:t>        </a:t>
            </a:r>
            <a:r>
              <a:rPr i="1">
                <a:solidFill>
                  <a:srgbClr val="60A0B0"/>
                </a:solidFill>
                <a:latin typeface="Courier"/>
              </a:rPr>
              <a:t>// Expected Output:</a:t>
            </a:r>
            <a:br/>
            <a:r>
              <a:rPr>
                <a:latin typeface="Courier"/>
              </a:rPr>
              <a:t>        </a:t>
            </a:r>
            <a:r>
              <a:rPr i="1">
                <a:solidFill>
                  <a:srgbClr val="60A0B0"/>
                </a:solidFill>
                <a:latin typeface="Courier"/>
              </a:rPr>
              <a:t>// A Swing window (800x600) displaying 1,000,000 trees</a:t>
            </a:r>
            <a:br/>
            <a:r>
              <a:rPr>
                <a:latin typeface="Courier"/>
              </a:rPr>
              <a:t>        </a:t>
            </a:r>
            <a:r>
              <a:rPr i="1">
                <a:solidFill>
                  <a:srgbClr val="60A0B0"/>
                </a:solidFill>
                <a:latin typeface="Courier"/>
              </a:rPr>
              <a:t>// rendered using only a few shared TreeType flyweight objects.</a:t>
            </a:r>
            <a:br/>
            <a:r>
              <a:rPr>
                <a:latin typeface="Courier"/>
              </a:rPr>
              <a:t>        </a:t>
            </a:r>
            <a:r>
              <a:rPr i="1">
                <a:solidFill>
                  <a:srgbClr val="60A0B0"/>
                </a:solidFill>
                <a:latin typeface="Courier"/>
              </a:rPr>
              <a:t>// Memory usage is significantly reduced compared to</a:t>
            </a:r>
            <a:br/>
            <a:r>
              <a:rPr>
                <a:latin typeface="Courier"/>
              </a:rPr>
              <a:t>        </a:t>
            </a:r>
            <a:r>
              <a:rPr i="1">
                <a:solidFill>
                  <a:srgbClr val="60A0B0"/>
                </a:solidFill>
                <a:latin typeface="Courier"/>
              </a:rPr>
              <a:t>// storing full data for each tree individually.</a:t>
            </a:r>
            <a:br/>
            <a:r>
              <a:rPr>
                <a:latin typeface="Courier"/>
              </a:rPr>
              <a:t>    </a:t>
            </a:r>
            <a:r>
              <a:rPr>
                <a:solidFill>
                  <a:srgbClr val="666666"/>
                </a:solidFill>
                <a:latin typeface="Courier"/>
              </a:rPr>
              <a:t>}</a:t>
            </a:r>
            <a:br/>
            <a:r>
              <a:rPr>
                <a:solidFill>
                  <a:srgbClr val="666666"/>
                </a:solidFill>
                <a:latin typeface="Courier"/>
              </a:rPr>
              <a:t>}</a:t>
            </a:r>
          </a:p>
        </p:txBody>
      </p:sp>
    </p:spTree>
  </p:cSld>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Flyweight - Sequence Diagram</a:t>
            </a:r>
          </a:p>
        </p:txBody>
      </p:sp>
      <p:pic>
        <p:nvPicPr>
          <p:cNvPr descr="assets/flyweight-sequence.png" id="0" name="Picture 1"/>
          <p:cNvPicPr>
            <a:picLocks noGrp="1" noChangeAspect="1"/>
          </p:cNvPicPr>
          <p:nvPr/>
        </p:nvPicPr>
        <p:blipFill>
          <a:blip r:embed="rId2"/>
          <a:stretch>
            <a:fillRect/>
          </a:stretch>
        </p:blipFill>
        <p:spPr bwMode="auto">
          <a:xfrm>
            <a:off x="4648200" y="203200"/>
            <a:ext cx="2946400" cy="3873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a:t>
            </a:r>
          </a:p>
        </p:txBody>
      </p:sp>
    </p:spTree>
  </p:cSld>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Flyweight: Applicability</a:t>
            </a:r>
          </a:p>
        </p:txBody>
      </p:sp>
      <p:sp>
        <p:nvSpPr>
          <p:cNvPr id="3" name="Content Placeholder 2"/>
          <p:cNvSpPr>
            <a:spLocks noGrp="1"/>
          </p:cNvSpPr>
          <p:nvPr>
            <p:ph idx="1"/>
          </p:nvPr>
        </p:nvSpPr>
        <p:spPr/>
        <p:txBody>
          <a:bodyPr/>
          <a:lstStyle/>
          <a:p>
            <a:pPr lvl="0" indent="0" marL="0">
              <a:buNone/>
            </a:pPr>
            <a:r>
              <a:rPr/>
              <a:t>Use the Flyweight pattern </a:t>
            </a:r>
            <a:r>
              <a:rPr b="1"/>
              <a:t>only</a:t>
            </a:r>
            <a:r>
              <a:rPr/>
              <a:t> when your program must support a huge number of objects which barely fit into available RAM.</a:t>
            </a:r>
          </a:p>
          <a:p>
            <a:pPr lvl="0" indent="0" marL="0">
              <a:buNone/>
            </a:pPr>
            <a:r>
              <a:rPr/>
              <a:t>The benefit of applying the pattern depends heavily on how and where it is used. It is most useful when:</a:t>
            </a:r>
          </a:p>
          <a:p>
            <a:pPr lvl="0"/>
            <a:r>
              <a:rPr/>
              <a:t>An application needs to spawn a </a:t>
            </a:r>
            <a:r>
              <a:rPr b="1"/>
              <a:t>massive number</a:t>
            </a:r>
            <a:r>
              <a:rPr/>
              <a:t> of similar objects</a:t>
            </a:r>
          </a:p>
          <a:p>
            <a:pPr lvl="0"/>
            <a:r>
              <a:rPr/>
              <a:t>This drains all available RAM on a target device</a:t>
            </a:r>
          </a:p>
          <a:p>
            <a:pPr lvl="0"/>
            <a:r>
              <a:rPr/>
              <a:t>The objects contain </a:t>
            </a:r>
            <a:r>
              <a:rPr b="1"/>
              <a:t>duplicate state</a:t>
            </a:r>
            <a:r>
              <a:rPr/>
              <a:t> which can be extracted and shared between multiple objects</a:t>
            </a:r>
          </a:p>
        </p:txBody>
      </p:sp>
    </p:spTree>
  </p:cSld>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Flyweight: Applicability (cont.)</a:t>
            </a:r>
          </a:p>
        </p:txBody>
      </p:sp>
      <p:sp>
        <p:nvSpPr>
          <p:cNvPr id="3" name="Content Placeholder 2"/>
          <p:cNvSpPr>
            <a:spLocks noGrp="1"/>
          </p:cNvSpPr>
          <p:nvPr>
            <p:ph idx="1"/>
          </p:nvPr>
        </p:nvSpPr>
        <p:spPr/>
        <p:txBody>
          <a:bodyPr/>
          <a:lstStyle/>
          <a:p>
            <a:pPr lvl="0" indent="0" marL="0">
              <a:buNone/>
            </a:pPr>
            <a:r>
              <a:rPr b="1"/>
              <a:t>Important:</a:t>
            </a:r>
            <a:r>
              <a:rPr/>
              <a:t> The Flyweight pattern is merely an </a:t>
            </a:r>
            <a:r>
              <a:rPr b="1"/>
              <a:t>optimization</a:t>
            </a:r>
            <a:r>
              <a:rPr/>
              <a:t>. Before applying it, make sure your program does have the RAM consumption problem related to having a massive number of similar objects in memory at the same time. Make sure that this problem cannot be solved in any other meaningful way.</a:t>
            </a:r>
          </a:p>
        </p:txBody>
      </p:sp>
    </p:spTree>
  </p:cSld>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Flyweight: How to Implement</a:t>
            </a:r>
          </a:p>
        </p:txBody>
      </p:sp>
      <p:sp>
        <p:nvSpPr>
          <p:cNvPr id="3" name="Content Placeholder 2"/>
          <p:cNvSpPr>
            <a:spLocks noGrp="1"/>
          </p:cNvSpPr>
          <p:nvPr>
            <p:ph idx="1"/>
          </p:nvPr>
        </p:nvSpPr>
        <p:spPr/>
        <p:txBody>
          <a:bodyPr/>
          <a:lstStyle/>
          <a:p>
            <a:pPr lvl="0" indent="-342900" marL="342900">
              <a:buAutoNum type="arabicPeriod"/>
            </a:pPr>
            <a:r>
              <a:rPr/>
              <a:t>Divide fields of a class that will become a flyweight into two parts:</a:t>
            </a:r>
          </a:p>
          <a:p>
            <a:pPr lvl="1"/>
            <a:r>
              <a:rPr/>
              <a:t>The </a:t>
            </a:r>
            <a:r>
              <a:rPr b="1"/>
              <a:t>intrinsic state</a:t>
            </a:r>
            <a:r>
              <a:rPr/>
              <a:t>: fields that contain unchanging data duplicated across many objects</a:t>
            </a:r>
          </a:p>
          <a:p>
            <a:pPr lvl="1"/>
            <a:r>
              <a:rPr/>
              <a:t>The </a:t>
            </a:r>
            <a:r>
              <a:rPr b="1"/>
              <a:t>extrinsic state</a:t>
            </a:r>
            <a:r>
              <a:rPr/>
              <a:t>: fields that contain contextual data unique to each object</a:t>
            </a:r>
          </a:p>
          <a:p>
            <a:pPr lvl="0" indent="-342900" marL="342900">
              <a:buAutoNum type="arabicPeriod"/>
            </a:pPr>
            <a:r>
              <a:rPr/>
              <a:t>Leave the fields that represent the </a:t>
            </a:r>
            <a:r>
              <a:rPr b="1"/>
              <a:t>intrinsic state</a:t>
            </a:r>
            <a:r>
              <a:rPr/>
              <a:t> in the class, but make sure they are immutable. They should take their initial values only inside the </a:t>
            </a:r>
            <a:r>
              <a:rPr b="1"/>
              <a:t>constructor</a:t>
            </a:r>
          </a:p>
        </p:txBody>
      </p:sp>
    </p:spTree>
  </p:cSld>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Flyweight: How to Implement (cont.)</a:t>
            </a:r>
          </a:p>
        </p:txBody>
      </p:sp>
      <p:sp>
        <p:nvSpPr>
          <p:cNvPr id="3" name="Content Placeholder 2"/>
          <p:cNvSpPr>
            <a:spLocks noGrp="1"/>
          </p:cNvSpPr>
          <p:nvPr>
            <p:ph idx="1"/>
          </p:nvPr>
        </p:nvSpPr>
        <p:spPr/>
        <p:txBody>
          <a:bodyPr/>
          <a:lstStyle/>
          <a:p>
            <a:pPr lvl="0" indent="-342900" marL="342900">
              <a:buAutoNum startAt="3" type="arabicPeriod"/>
            </a:pPr>
            <a:r>
              <a:rPr/>
              <a:t>Go over methods that use fields of the </a:t>
            </a:r>
            <a:r>
              <a:rPr b="1"/>
              <a:t>extrinsic state</a:t>
            </a:r>
            <a:r>
              <a:rPr/>
              <a:t>. For each field used in the method, introduce a new </a:t>
            </a:r>
            <a:r>
              <a:rPr b="1"/>
              <a:t>parameter</a:t>
            </a:r>
            <a:r>
              <a:rPr/>
              <a:t> and use it instead of the field</a:t>
            </a:r>
          </a:p>
          <a:p>
            <a:pPr lvl="0" indent="-342900" marL="342900">
              <a:buAutoNum startAt="3" type="arabicPeriod"/>
            </a:pPr>
            <a:r>
              <a:rPr/>
              <a:t>Optionally, create a </a:t>
            </a:r>
            <a:r>
              <a:rPr b="1"/>
              <a:t>factory class</a:t>
            </a:r>
            <a:r>
              <a:rPr/>
              <a:t> to manage the pool of flyweights. It should check for an existing flyweight before creating a new one. Once the factory is in place, clients must only request flyweights through it, passing the intrinsic state to the factory</a:t>
            </a:r>
          </a:p>
          <a:p>
            <a:pPr lvl="0" indent="-342900" marL="342900">
              <a:buAutoNum startAt="3" type="arabicPeriod"/>
            </a:pPr>
            <a:r>
              <a:rPr/>
              <a:t>The client must store or calculate values of the </a:t>
            </a:r>
            <a:r>
              <a:rPr b="1"/>
              <a:t>extrinsic state</a:t>
            </a:r>
            <a:r>
              <a:rPr/>
              <a:t> (context) to be able to call methods of flyweight objects. For convenience, the extrinsic state along with the flyweight-referencing field may be moved to a separate </a:t>
            </a:r>
            <a:r>
              <a:rPr b="1"/>
              <a:t>context class</a:t>
            </a:r>
          </a:p>
        </p:txBody>
      </p:sp>
    </p:spTree>
  </p:cSld>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Flyweight: Pros and Cons</a:t>
            </a:r>
          </a:p>
        </p:txBody>
      </p:sp>
      <p:sp>
        <p:nvSpPr>
          <p:cNvPr id="3" name="Content Placeholder 2"/>
          <p:cNvSpPr>
            <a:spLocks noGrp="1"/>
          </p:cNvSpPr>
          <p:nvPr>
            <p:ph idx="1"/>
          </p:nvPr>
        </p:nvSpPr>
        <p:spPr/>
        <p:txBody>
          <a:bodyPr/>
          <a:lstStyle/>
          <a:p>
            <a:pPr lvl="0" indent="0" marL="0">
              <a:buNone/>
            </a:pPr>
            <a:r>
              <a:rPr b="1"/>
              <a:t>Pros:</a:t>
            </a:r>
            <a:r>
              <a:rPr/>
              <a:t> - You can save lots of </a:t>
            </a:r>
            <a:r>
              <a:rPr b="1"/>
              <a:t>RAM</a:t>
            </a:r>
            <a:r>
              <a:rPr/>
              <a:t>, assuming your program has tons of similar objects - Reduced memory footprint through state sharing</a:t>
            </a:r>
          </a:p>
          <a:p>
            <a:pPr lvl="0" indent="0" marL="0">
              <a:buNone/>
            </a:pPr>
            <a:r>
              <a:rPr b="1"/>
              <a:t>Cons:</a:t>
            </a:r>
            <a:r>
              <a:rPr/>
              <a:t> - You might be trading </a:t>
            </a:r>
            <a:r>
              <a:rPr b="1"/>
              <a:t>RAM over CPU cycles</a:t>
            </a:r>
            <a:r>
              <a:rPr/>
              <a:t> when some of the context data needs to be recalculated each time somebody calls a flyweight method - The code becomes much </a:t>
            </a:r>
            <a:r>
              <a:rPr b="1"/>
              <a:t>more complicated</a:t>
            </a:r>
            <a:r>
              <a:rPr/>
              <a:t>. New team members will always be wondering why the state of an entity was separated in such a way - </a:t>
            </a:r>
            <a:r>
              <a:rPr b="1"/>
              <a:t>Thread safety</a:t>
            </a:r>
            <a:r>
              <a:rPr/>
              <a:t> issues may arise from shared mutable references if not properly synchronized</a:t>
            </a:r>
          </a:p>
        </p:txBody>
      </p:sp>
    </p:spTree>
  </p:cSld>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Flyweight: Relations with Other Patterns</a:t>
            </a:r>
          </a:p>
        </p:txBody>
      </p:sp>
      <p:sp>
        <p:nvSpPr>
          <p:cNvPr id="3" name="Content Placeholder 2"/>
          <p:cNvSpPr>
            <a:spLocks noGrp="1"/>
          </p:cNvSpPr>
          <p:nvPr>
            <p:ph idx="1"/>
          </p:nvPr>
        </p:nvSpPr>
        <p:spPr/>
        <p:txBody>
          <a:bodyPr/>
          <a:lstStyle/>
          <a:p>
            <a:pPr lvl="0"/>
            <a:r>
              <a:rPr/>
              <a:t>You can implement shared leaf nodes of the </a:t>
            </a:r>
            <a:r>
              <a:rPr b="1"/>
              <a:t>Composite</a:t>
            </a:r>
            <a:r>
              <a:rPr/>
              <a:t> tree as </a:t>
            </a:r>
            <a:r>
              <a:rPr b="1"/>
              <a:t>Flyweights</a:t>
            </a:r>
            <a:r>
              <a:rPr/>
              <a:t> to save RAM</a:t>
            </a:r>
          </a:p>
          <a:p>
            <a:pPr lvl="0"/>
            <a:r>
              <a:rPr b="1"/>
              <a:t>Flyweight</a:t>
            </a:r>
            <a:r>
              <a:rPr/>
              <a:t> shows how to make lots of little objects, whereas </a:t>
            </a:r>
            <a:r>
              <a:rPr b="1"/>
              <a:t>Facade</a:t>
            </a:r>
            <a:r>
              <a:rPr/>
              <a:t> shows how to make a single object that represents an entire subsystem</a:t>
            </a:r>
          </a:p>
          <a:p>
            <a:pPr lvl="0"/>
            <a:r>
              <a:rPr b="1"/>
              <a:t>Flyweight</a:t>
            </a:r>
            <a:r>
              <a:rPr/>
              <a:t> would resemble </a:t>
            </a:r>
            <a:r>
              <a:rPr b="1"/>
              <a:t>Singleton</a:t>
            </a:r>
            <a:r>
              <a:rPr/>
              <a:t> if you somehow managed to reduce all shared states of the objects to just one flyweight object. But there are two fundamental differences:</a:t>
            </a:r>
          </a:p>
          <a:p>
            <a:pPr lvl="1"/>
            <a:r>
              <a:rPr/>
              <a:t>There should be only one Singleton instance, whereas a Flyweight class can have </a:t>
            </a:r>
            <a:r>
              <a:rPr b="1"/>
              <a:t>multiple instances</a:t>
            </a:r>
            <a:r>
              <a:rPr/>
              <a:t> with different intrinsic states</a:t>
            </a:r>
          </a:p>
          <a:p>
            <a:pPr lvl="1"/>
            <a:r>
              <a:rPr/>
              <a:t>The Singleton object can be </a:t>
            </a:r>
            <a:r>
              <a:rPr b="1"/>
              <a:t>mutable</a:t>
            </a:r>
            <a:r>
              <a:rPr/>
              <a:t>. Flyweight objects are </a:t>
            </a:r>
            <a:r>
              <a:rPr b="1"/>
              <a:t>immutable</a:t>
            </a:r>
          </a:p>
        </p:txBody>
      </p:sp>
    </p:spTree>
  </p:cSld>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Module G: Takeaway</a:t>
            </a:r>
          </a:p>
        </p:txBody>
      </p:sp>
      <p:sp>
        <p:nvSpPr>
          <p:cNvPr id="3" name="Content Placeholder 2"/>
          <p:cNvSpPr>
            <a:spLocks noGrp="1"/>
          </p:cNvSpPr>
          <p:nvPr>
            <p:ph idx="1"/>
          </p:nvPr>
        </p:nvSpPr>
        <p:spPr/>
        <p:txBody>
          <a:bodyPr/>
          <a:lstStyle/>
          <a:p>
            <a:pPr lvl="0"/>
            <a:r>
              <a:rPr/>
              <a:t>The Flyweight pattern </a:t>
            </a:r>
            <a:r>
              <a:rPr b="1"/>
              <a:t>shares common state</a:t>
            </a:r>
            <a:r>
              <a:rPr/>
              <a:t> between many objects to save memory</a:t>
            </a:r>
          </a:p>
          <a:p>
            <a:pPr lvl="0"/>
            <a:r>
              <a:rPr/>
              <a:t>Distinguish between </a:t>
            </a:r>
            <a:r>
              <a:rPr b="1"/>
              <a:t>intrinsic</a:t>
            </a:r>
            <a:r>
              <a:rPr/>
              <a:t> (shared, immutable) and </a:t>
            </a:r>
            <a:r>
              <a:rPr b="1"/>
              <a:t>extrinsic</a:t>
            </a:r>
            <a:r>
              <a:rPr/>
              <a:t> (unique, contextual) state</a:t>
            </a:r>
          </a:p>
          <a:p>
            <a:pPr lvl="0"/>
            <a:r>
              <a:rPr/>
              <a:t>Use a </a:t>
            </a:r>
            <a:r>
              <a:rPr b="1"/>
              <a:t>factory</a:t>
            </a:r>
            <a:r>
              <a:rPr/>
              <a:t> to manage the pool of flyweight objects</a:t>
            </a:r>
          </a:p>
          <a:p>
            <a:pPr lvl="0"/>
            <a:r>
              <a:rPr/>
              <a:t>Apply it only when you genuinely have a </a:t>
            </a:r>
            <a:r>
              <a:rPr b="1"/>
              <a:t>memory problem</a:t>
            </a:r>
            <a:r>
              <a:rPr/>
              <a:t> with many similar objects</a:t>
            </a:r>
          </a:p>
          <a:p>
            <a:pPr lvl="0"/>
            <a:r>
              <a:rPr/>
              <a:t>It is an </a:t>
            </a:r>
            <a:r>
              <a:rPr b="1"/>
              <a:t>optimization pattern</a:t>
            </a:r>
            <a:r>
              <a:rPr/>
              <a:t> – do not use it prematurely</a:t>
            </a:r>
          </a:p>
        </p:txBody>
      </p:sp>
    </p:spTree>
  </p:cSld>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b="1"/>
              <a:t>Module H: Proxy Pattern</a:t>
            </a:r>
          </a:p>
        </p:txBody>
      </p:sp>
    </p:spTree>
  </p:cSld>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Module H: Outline</a:t>
            </a:r>
          </a:p>
        </p:txBody>
      </p:sp>
      <p:sp>
        <p:nvSpPr>
          <p:cNvPr id="3" name="Content Placeholder 2"/>
          <p:cNvSpPr>
            <a:spLocks noGrp="1"/>
          </p:cNvSpPr>
          <p:nvPr>
            <p:ph idx="1"/>
          </p:nvPr>
        </p:nvSpPr>
        <p:spPr/>
        <p:txBody>
          <a:bodyPr/>
          <a:lstStyle/>
          <a:p>
            <a:pPr lvl="0"/>
            <a:r>
              <a:rPr/>
              <a:t>Intent</a:t>
            </a:r>
          </a:p>
          <a:p>
            <a:pPr lvl="0"/>
            <a:r>
              <a:rPr/>
              <a:t>Problem</a:t>
            </a:r>
          </a:p>
          <a:p>
            <a:pPr lvl="0"/>
            <a:r>
              <a:rPr/>
              <a:t>Solution</a:t>
            </a:r>
          </a:p>
          <a:p>
            <a:pPr lvl="0"/>
            <a:r>
              <a:rPr/>
              <a:t>Real-World Analogy</a:t>
            </a:r>
          </a:p>
          <a:p>
            <a:pPr lvl="0"/>
            <a:r>
              <a:rPr/>
              <a:t>Structure (UML)</a:t>
            </a:r>
          </a:p>
          <a:p>
            <a:pPr lvl="0"/>
            <a:r>
              <a:rPr/>
              <a:t>Types of Proxies</a:t>
            </a:r>
          </a:p>
          <a:p>
            <a:pPr lvl="0"/>
            <a:r>
              <a:rPr/>
              <a:t>Java Code Example</a:t>
            </a:r>
          </a:p>
          <a:p>
            <a:pPr lvl="0"/>
            <a:r>
              <a:rPr/>
              <a:t>Applicability</a:t>
            </a:r>
          </a:p>
          <a:p>
            <a:pPr lvl="0"/>
            <a:r>
              <a:rPr/>
              <a:t>How to Implement</a:t>
            </a:r>
          </a:p>
          <a:p>
            <a:pPr lvl="0"/>
            <a:r>
              <a:rPr/>
              <a:t>Pros and Cons</a:t>
            </a:r>
          </a:p>
          <a:p>
            <a:pPr lvl="0"/>
            <a:r>
              <a:rPr/>
              <a:t>Relations with Other Patterns</a:t>
            </a:r>
          </a:p>
          <a:p>
            <a:pPr lvl="0"/>
            <a:r>
              <a:rPr/>
              <a:t>Module Takeaway</a:t>
            </a:r>
          </a:p>
        </p:txBody>
      </p:sp>
    </p:spTree>
  </p:cSld>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Proxy: Intent</a:t>
            </a:r>
          </a:p>
        </p:txBody>
      </p:sp>
      <p:sp>
        <p:nvSpPr>
          <p:cNvPr id="3" name="Content Placeholder 2"/>
          <p:cNvSpPr>
            <a:spLocks noGrp="1"/>
          </p:cNvSpPr>
          <p:nvPr>
            <p:ph idx="1"/>
          </p:nvPr>
        </p:nvSpPr>
        <p:spPr/>
        <p:txBody>
          <a:bodyPr/>
          <a:lstStyle/>
          <a:p>
            <a:pPr lvl="0" indent="0" marL="0">
              <a:buNone/>
            </a:pPr>
            <a:r>
              <a:rPr b="1"/>
              <a:t>Proxy</a:t>
            </a:r>
            <a:r>
              <a:rPr/>
              <a:t> is a structural design pattern that lets you provide a </a:t>
            </a:r>
            <a:r>
              <a:rPr b="1"/>
              <a:t>substitute or placeholder</a:t>
            </a:r>
            <a:r>
              <a:rPr/>
              <a:t> for another object. A proxy controls access to the original object, allowing you to perform something either before or after the request gets through to the original object.</a:t>
            </a:r>
          </a:p>
          <a:p>
            <a:pPr lvl="0" indent="0" marL="0">
              <a:buNone/>
            </a:pPr>
            <a:r>
              <a:rPr/>
              <a:t>Source: </a:t>
            </a:r>
            <a:r>
              <a:rPr>
                <a:hlinkClick r:id="rId2"/>
              </a:rPr>
              <a:t>refactoring.guru</a:t>
            </a:r>
          </a:p>
        </p:txBody>
      </p:sp>
    </p:spTree>
  </p:cSld>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Proxy: Problem</a:t>
            </a:r>
          </a:p>
        </p:txBody>
      </p:sp>
      <p:sp>
        <p:nvSpPr>
          <p:cNvPr id="3" name="Content Placeholder 2"/>
          <p:cNvSpPr>
            <a:spLocks noGrp="1"/>
          </p:cNvSpPr>
          <p:nvPr>
            <p:ph idx="1"/>
          </p:nvPr>
        </p:nvSpPr>
        <p:spPr/>
        <p:txBody>
          <a:bodyPr/>
          <a:lstStyle/>
          <a:p>
            <a:pPr lvl="0" indent="0" marL="0">
              <a:buNone/>
            </a:pPr>
            <a:r>
              <a:rPr/>
              <a:t>Why would you want to control access to an object? Here is an example: you have a massive object that consumes a vast amount of system resources. You need it from time to time, but not always.</a:t>
            </a:r>
          </a:p>
          <a:p>
            <a:pPr lvl="0" indent="0" marL="0">
              <a:buNone/>
            </a:pPr>
            <a:r>
              <a:rPr/>
              <a:t>You could implement </a:t>
            </a:r>
            <a:r>
              <a:rPr b="1"/>
              <a:t>lazy initialization</a:t>
            </a:r>
            <a:r>
              <a:rPr/>
              <a:t>: create this object only when it is actually needed. All of the object’s clients would need to execute some deferred initialization code. Unfortunately, this would probably cause a lot of </a:t>
            </a:r>
            <a:r>
              <a:rPr b="1"/>
              <a:t>code duplication</a:t>
            </a:r>
            <a:r>
              <a:rPr/>
              <a:t>.</a:t>
            </a:r>
          </a:p>
        </p:txBody>
      </p:sp>
    </p:spTree>
  </p:cSld>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Proxy: Problem (cont.)</a:t>
            </a:r>
          </a:p>
        </p:txBody>
      </p:sp>
      <p:sp>
        <p:nvSpPr>
          <p:cNvPr id="3" name="Content Placeholder 2"/>
          <p:cNvSpPr>
            <a:spLocks noGrp="1"/>
          </p:cNvSpPr>
          <p:nvPr>
            <p:ph idx="1"/>
          </p:nvPr>
        </p:nvSpPr>
        <p:spPr/>
        <p:txBody>
          <a:bodyPr/>
          <a:lstStyle/>
          <a:p>
            <a:pPr lvl="0" indent="0" marL="0">
              <a:buNone/>
            </a:pPr>
            <a:r>
              <a:rPr/>
              <a:t>In an ideal world, we would want to put this code directly into our object’s class, but that is not always possible. For instance, the class may be part of a closed </a:t>
            </a:r>
            <a:r>
              <a:rPr b="1"/>
              <a:t>third-party library</a:t>
            </a:r>
            <a:r>
              <a:rPr/>
              <a:t>.</a:t>
            </a:r>
          </a:p>
          <a:p>
            <a:pPr lvl="0" indent="0" marL="0">
              <a:buNone/>
            </a:pPr>
            <a:r>
              <a:rPr/>
              <a:t>We need a way to control access to the object without modifying the object’s class or duplicating initialization logic across all clients.</a:t>
            </a:r>
          </a:p>
        </p:txBody>
      </p:sp>
    </p:spTree>
  </p:cSld>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Proxy: Solution</a:t>
            </a:r>
          </a:p>
        </p:txBody>
      </p:sp>
      <p:sp>
        <p:nvSpPr>
          <p:cNvPr id="3" name="Content Placeholder 2"/>
          <p:cNvSpPr>
            <a:spLocks noGrp="1"/>
          </p:cNvSpPr>
          <p:nvPr>
            <p:ph idx="1"/>
          </p:nvPr>
        </p:nvSpPr>
        <p:spPr/>
        <p:txBody>
          <a:bodyPr/>
          <a:lstStyle/>
          <a:p>
            <a:pPr lvl="0" indent="0" marL="0">
              <a:buNone/>
            </a:pPr>
            <a:r>
              <a:rPr/>
              <a:t>The Proxy pattern suggests that you create a new proxy class with the </a:t>
            </a:r>
            <a:r>
              <a:rPr b="1"/>
              <a:t>same interface</a:t>
            </a:r>
            <a:r>
              <a:rPr/>
              <a:t> as an original service object. Then you update your app so that it passes the proxy object to all of the original object’s clients.</a:t>
            </a:r>
          </a:p>
          <a:p>
            <a:pPr lvl="0" indent="0" marL="0">
              <a:buNone/>
            </a:pPr>
            <a:r>
              <a:rPr/>
              <a:t>Upon receiving a request from a client, the proxy creates a real service object and </a:t>
            </a:r>
            <a:r>
              <a:rPr b="1"/>
              <a:t>delegates</a:t>
            </a:r>
            <a:r>
              <a:rPr/>
              <a:t> all the work to it.</a:t>
            </a:r>
          </a:p>
        </p:txBody>
      </p:sp>
    </p:spTree>
  </p:cSld>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Proxy: Solution (cont.)</a:t>
            </a:r>
          </a:p>
        </p:txBody>
      </p:sp>
      <p:sp>
        <p:nvSpPr>
          <p:cNvPr id="3" name="Content Placeholder 2"/>
          <p:cNvSpPr>
            <a:spLocks noGrp="1"/>
          </p:cNvSpPr>
          <p:nvPr>
            <p:ph idx="1"/>
          </p:nvPr>
        </p:nvSpPr>
        <p:spPr/>
        <p:txBody>
          <a:bodyPr/>
          <a:lstStyle/>
          <a:p>
            <a:pPr lvl="0" indent="0" marL="0">
              <a:buNone/>
            </a:pPr>
            <a:r>
              <a:rPr/>
              <a:t>But what is the benefit? If you need to execute something either before or after the primary logic of the class, the proxy lets you do this </a:t>
            </a:r>
            <a:r>
              <a:rPr b="1"/>
              <a:t>without changing that class</a:t>
            </a:r>
            <a:r>
              <a:rPr/>
              <a:t>. Since the proxy implements the same interface as the original class, it can be passed to any client that expects a real service object.</a:t>
            </a:r>
          </a:p>
          <a:p>
            <a:pPr lvl="0" indent="0" marL="0">
              <a:buNone/>
            </a:pPr>
            <a:r>
              <a:rPr/>
              <a:t>The proxy can handle: - </a:t>
            </a:r>
            <a:r>
              <a:rPr b="1"/>
              <a:t>Lazy initialization</a:t>
            </a:r>
            <a:r>
              <a:rPr/>
              <a:t> of the real object - </a:t>
            </a:r>
            <a:r>
              <a:rPr b="1"/>
              <a:t>Caching</a:t>
            </a:r>
            <a:r>
              <a:rPr/>
              <a:t> of results - </a:t>
            </a:r>
            <a:r>
              <a:rPr b="1"/>
              <a:t>Access control</a:t>
            </a:r>
            <a:r>
              <a:rPr/>
              <a:t> and authorization - </a:t>
            </a:r>
            <a:r>
              <a:rPr b="1"/>
              <a:t>Logging</a:t>
            </a:r>
            <a:r>
              <a:rPr/>
              <a:t> of requests - </a:t>
            </a:r>
            <a:r>
              <a:rPr b="1"/>
              <a:t>Resource management</a:t>
            </a:r>
            <a:r>
              <a:rPr/>
              <a:t> and cleanup</a:t>
            </a:r>
          </a:p>
        </p:txBody>
      </p:sp>
    </p:spTree>
  </p:cSld>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Proxy: Real-World Analogy</a:t>
            </a:r>
          </a:p>
        </p:txBody>
      </p:sp>
      <p:sp>
        <p:nvSpPr>
          <p:cNvPr id="3" name="Content Placeholder 2"/>
          <p:cNvSpPr>
            <a:spLocks noGrp="1"/>
          </p:cNvSpPr>
          <p:nvPr>
            <p:ph idx="1"/>
          </p:nvPr>
        </p:nvSpPr>
        <p:spPr/>
        <p:txBody>
          <a:bodyPr/>
          <a:lstStyle/>
          <a:p>
            <a:pPr lvl="0" indent="0" marL="0">
              <a:buNone/>
            </a:pPr>
            <a:r>
              <a:rPr/>
              <a:t>A </a:t>
            </a:r>
            <a:r>
              <a:rPr b="1"/>
              <a:t>credit card</a:t>
            </a:r>
            <a:r>
              <a:rPr/>
              <a:t> is a proxy for a bank account, which is a proxy for a bundle of cash. Both implement the same interface: they can be used to make a payment.</a:t>
            </a:r>
          </a:p>
          <a:p>
            <a:pPr lvl="0" indent="0" marL="0">
              <a:buNone/>
            </a:pPr>
            <a:r>
              <a:rPr/>
              <a:t>A consumer feels great because there is no need to carry loads of cash around. A shop owner is also happy since the income from a transaction gets added electronically to the shop’s bank account without the risk of losing the deposit or getting robbed on the way to the bank.</a:t>
            </a:r>
          </a:p>
        </p:txBody>
      </p:sp>
    </p:spTree>
  </p:cSld>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Proxy: Structure</a:t>
            </a:r>
          </a:p>
        </p:txBody>
      </p:sp>
      <p:sp>
        <p:nvSpPr>
          <p:cNvPr id="3" name="Content Placeholder 2"/>
          <p:cNvSpPr>
            <a:spLocks noGrp="1"/>
          </p:cNvSpPr>
          <p:nvPr>
            <p:ph idx="1"/>
          </p:nvPr>
        </p:nvSpPr>
        <p:spPr/>
        <p:txBody>
          <a:bodyPr/>
          <a:lstStyle/>
          <a:p>
            <a:pPr lvl="0" indent="-342900" marL="342900">
              <a:buAutoNum type="arabicPeriod"/>
            </a:pPr>
            <a:r>
              <a:rPr b="1"/>
              <a:t>Service Interface</a:t>
            </a:r>
            <a:r>
              <a:rPr/>
              <a:t> – Declares the interface of the Service. The proxy must follow this interface to be able to disguise itself as a service object</a:t>
            </a:r>
          </a:p>
          <a:p>
            <a:pPr lvl="0" indent="-342900" marL="342900">
              <a:buAutoNum type="arabicPeriod"/>
            </a:pPr>
            <a:r>
              <a:rPr b="1"/>
              <a:t>Service</a:t>
            </a:r>
            <a:r>
              <a:rPr/>
              <a:t> – A class that provides some useful business logic</a:t>
            </a:r>
          </a:p>
          <a:p>
            <a:pPr lvl="0" indent="-342900" marL="342900">
              <a:buAutoNum type="arabicPeriod"/>
            </a:pPr>
            <a:r>
              <a:rPr b="1"/>
              <a:t>Proxy</a:t>
            </a:r>
            <a:r>
              <a:rPr/>
              <a:t> – The proxy class has a reference field that points to a service object. After the proxy finishes its processing (e.g., lazy initialization, logging, access control, caching, etc.), it passes the request to the service object. Usually, proxies manage the full lifecycle of their service objects</a:t>
            </a:r>
          </a:p>
          <a:p>
            <a:pPr lvl="0" indent="-342900" marL="342900">
              <a:buAutoNum type="arabicPeriod"/>
            </a:pPr>
            <a:r>
              <a:rPr b="1"/>
              <a:t>Client</a:t>
            </a:r>
            <a:r>
              <a:rPr/>
              <a:t> – Should work with both services and proxies via the same interface. This way you can pass a proxy into any code that expects a service object</a:t>
            </a:r>
          </a:p>
        </p:txBody>
      </p:sp>
    </p:spTree>
  </p:cSld>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Proxy - Class Diagram</a:t>
            </a:r>
          </a:p>
        </p:txBody>
      </p:sp>
      <p:pic>
        <p:nvPicPr>
          <p:cNvPr descr="assets/proxy-structure.png" id="0" name="Picture 1"/>
          <p:cNvPicPr>
            <a:picLocks noGrp="1" noChangeAspect="1"/>
          </p:cNvPicPr>
          <p:nvPr/>
        </p:nvPicPr>
        <p:blipFill>
          <a:blip r:embed="rId2"/>
          <a:stretch>
            <a:fillRect/>
          </a:stretch>
        </p:blipFill>
        <p:spPr bwMode="auto">
          <a:xfrm>
            <a:off x="3568700" y="406400"/>
            <a:ext cx="5105400" cy="34544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a:t>
            </a:r>
          </a:p>
        </p:txBody>
      </p:sp>
    </p:spTree>
  </p:cSld>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Proxy: Types of Proxies</a:t>
            </a:r>
          </a:p>
        </p:txBody>
      </p:sp>
      <p:sp>
        <p:nvSpPr>
          <p:cNvPr id="3" name="Content Placeholder 2"/>
          <p:cNvSpPr>
            <a:spLocks noGrp="1"/>
          </p:cNvSpPr>
          <p:nvPr>
            <p:ph idx="1"/>
          </p:nvPr>
        </p:nvSpPr>
        <p:spPr/>
        <p:txBody>
          <a:bodyPr/>
          <a:lstStyle/>
          <a:p>
            <a:pPr lvl="0"/>
            <a:r>
              <a:rPr b="1"/>
              <a:t>Virtual Proxy (Lazy Initialization)</a:t>
            </a:r>
            <a:r>
              <a:rPr/>
              <a:t> – Delays the creation of a heavyweight service object until it is actually needed</a:t>
            </a:r>
          </a:p>
          <a:p>
            <a:pPr lvl="0"/>
            <a:r>
              <a:rPr b="1"/>
              <a:t>Protection Proxy (Access Control)</a:t>
            </a:r>
            <a:r>
              <a:rPr/>
              <a:t> – Only passes requests to the service object if the client’s credentials meet certain criteria</a:t>
            </a:r>
          </a:p>
          <a:p>
            <a:pPr lvl="0"/>
            <a:r>
              <a:rPr b="1"/>
              <a:t>Remote Proxy</a:t>
            </a:r>
            <a:r>
              <a:rPr/>
              <a:t> – The proxy passes the client request over the network, handling all of the details of working with the network</a:t>
            </a:r>
          </a:p>
          <a:p>
            <a:pPr lvl="0"/>
            <a:r>
              <a:rPr b="1"/>
              <a:t>Logging Proxy</a:t>
            </a:r>
            <a:r>
              <a:rPr/>
              <a:t> – The proxy can log each request before passing it to the service</a:t>
            </a:r>
          </a:p>
          <a:p>
            <a:pPr lvl="0"/>
            <a:r>
              <a:rPr b="1"/>
              <a:t>Caching Proxy</a:t>
            </a:r>
            <a:r>
              <a:rPr/>
              <a:t> – The proxy caches results of client requests and manages the life cycle of this cache, especially if results are quite large</a:t>
            </a:r>
          </a:p>
          <a:p>
            <a:pPr lvl="0"/>
            <a:r>
              <a:rPr b="1"/>
              <a:t>Smart Reference</a:t>
            </a:r>
            <a:r>
              <a:rPr/>
              <a:t> – The proxy can track whether the client has obtained a reference to the service object and dismiss the service when no clients use it</a:t>
            </a:r>
          </a:p>
        </p:txBody>
      </p:sp>
    </p:spTree>
  </p:cSld>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Proxy: Java Code Example - Service Interface</a:t>
            </a:r>
          </a:p>
        </p:txBody>
      </p:sp>
      <p:sp>
        <p:nvSpPr>
          <p:cNvPr id="3" name="Content Placeholder 2"/>
          <p:cNvSpPr>
            <a:spLocks noGrp="1"/>
          </p:cNvSpPr>
          <p:nvPr>
            <p:ph idx="1"/>
          </p:nvPr>
        </p:nvSpPr>
        <p:spPr/>
        <p:txBody>
          <a:bodyPr/>
          <a:lstStyle/>
          <a:p>
            <a:pPr lvl="0" indent="0">
              <a:buNone/>
            </a:pPr>
            <a:r>
              <a:rPr b="1">
                <a:solidFill>
                  <a:srgbClr val="007020"/>
                </a:solidFill>
                <a:latin typeface="Courier"/>
              </a:rPr>
              <a:t>import</a:t>
            </a:r>
            <a:r>
              <a:rPr>
                <a:latin typeface="Courier"/>
              </a:rPr>
              <a:t> </a:t>
            </a:r>
            <a:r>
              <a:rPr b="1">
                <a:solidFill>
                  <a:srgbClr val="008000"/>
                </a:solidFill>
                <a:latin typeface="Courier"/>
              </a:rPr>
              <a:t>java</a:t>
            </a:r>
            <a:r>
              <a:rPr>
                <a:solidFill>
                  <a:srgbClr val="666666"/>
                </a:solidFill>
                <a:latin typeface="Courier"/>
              </a:rPr>
              <a:t>.</a:t>
            </a:r>
            <a:r>
              <a:rPr b="1">
                <a:solidFill>
                  <a:srgbClr val="008000"/>
                </a:solidFill>
                <a:latin typeface="Courier"/>
              </a:rPr>
              <a:t>util</a:t>
            </a:r>
            <a:r>
              <a:rPr>
                <a:solidFill>
                  <a:srgbClr val="666666"/>
                </a:solidFill>
                <a:latin typeface="Courier"/>
              </a:rPr>
              <a:t>.</a:t>
            </a:r>
            <a:r>
              <a:rPr b="1">
                <a:solidFill>
                  <a:srgbClr val="008000"/>
                </a:solidFill>
                <a:latin typeface="Courier"/>
              </a:rPr>
              <a:t>List</a:t>
            </a:r>
            <a:r>
              <a:rPr>
                <a:solidFill>
                  <a:srgbClr val="666666"/>
                </a:solidFill>
                <a:latin typeface="Courier"/>
              </a:rPr>
              <a:t>;</a:t>
            </a:r>
            <a:br/>
            <a:br/>
            <a:r>
              <a:rPr i="1">
                <a:solidFill>
                  <a:srgbClr val="60A0B0"/>
                </a:solidFill>
                <a:latin typeface="Courier"/>
              </a:rPr>
              <a:t>// The interface of a remote service.</a:t>
            </a:r>
            <a:br/>
            <a:r>
              <a:rPr b="1">
                <a:solidFill>
                  <a:srgbClr val="007020"/>
                </a:solidFill>
                <a:latin typeface="Courier"/>
              </a:rPr>
              <a:t>public</a:t>
            </a:r>
            <a:r>
              <a:rPr>
                <a:latin typeface="Courier"/>
              </a:rPr>
              <a:t> </a:t>
            </a:r>
            <a:r>
              <a:rPr b="1">
                <a:solidFill>
                  <a:srgbClr val="007020"/>
                </a:solidFill>
                <a:latin typeface="Courier"/>
              </a:rPr>
              <a:t>interface</a:t>
            </a:r>
            <a:r>
              <a:rPr>
                <a:latin typeface="Courier"/>
              </a:rPr>
              <a:t> ThirdPartyYouTubeLib </a:t>
            </a:r>
            <a:r>
              <a:rPr>
                <a:solidFill>
                  <a:srgbClr val="666666"/>
                </a:solidFill>
                <a:latin typeface="Courier"/>
              </a:rPr>
              <a:t>{</a:t>
            </a:r>
            <a:br/>
            <a:r>
              <a:rPr>
                <a:latin typeface="Courier"/>
              </a:rPr>
              <a:t>    </a:t>
            </a:r>
            <a:r>
              <a:rPr>
                <a:solidFill>
                  <a:srgbClr val="008000"/>
                </a:solidFill>
                <a:latin typeface="Courier"/>
              </a:rPr>
              <a:t>List</a:t>
            </a:r>
            <a:r>
              <a:rPr>
                <a:solidFill>
                  <a:srgbClr val="666666"/>
                </a:solidFill>
                <a:latin typeface="Courier"/>
              </a:rPr>
              <a:t>&lt;</a:t>
            </a:r>
            <a:r>
              <a:rPr>
                <a:latin typeface="Courier"/>
              </a:rPr>
              <a:t>Video</a:t>
            </a:r>
            <a:r>
              <a:rPr>
                <a:solidFill>
                  <a:srgbClr val="666666"/>
                </a:solidFill>
                <a:latin typeface="Courier"/>
              </a:rPr>
              <a:t>&gt;</a:t>
            </a:r>
            <a:r>
              <a:rPr>
                <a:latin typeface="Courier"/>
              </a:rPr>
              <a:t> </a:t>
            </a:r>
            <a:r>
              <a:rPr>
                <a:solidFill>
                  <a:srgbClr val="06287E"/>
                </a:solidFill>
                <a:latin typeface="Courier"/>
              </a:rPr>
              <a:t>listVideos</a:t>
            </a:r>
            <a:r>
              <a:rPr>
                <a:solidFill>
                  <a:srgbClr val="666666"/>
                </a:solidFill>
                <a:latin typeface="Courier"/>
              </a:rPr>
              <a:t>();</a:t>
            </a:r>
            <a:br/>
            <a:r>
              <a:rPr>
                <a:latin typeface="Courier"/>
              </a:rPr>
              <a:t>    Video </a:t>
            </a:r>
            <a:r>
              <a:rPr>
                <a:solidFill>
                  <a:srgbClr val="06287E"/>
                </a:solidFill>
                <a:latin typeface="Courier"/>
              </a:rPr>
              <a:t>getVideoInfo</a:t>
            </a:r>
            <a:r>
              <a:rPr>
                <a:solidFill>
                  <a:srgbClr val="666666"/>
                </a:solidFill>
                <a:latin typeface="Courier"/>
              </a:rPr>
              <a:t>(</a:t>
            </a:r>
            <a:r>
              <a:rPr>
                <a:solidFill>
                  <a:srgbClr val="008000"/>
                </a:solidFill>
                <a:latin typeface="Courier"/>
              </a:rPr>
              <a:t>String</a:t>
            </a:r>
            <a:r>
              <a:rPr>
                <a:latin typeface="Courier"/>
              </a:rPr>
              <a:t> id</a:t>
            </a:r>
            <a:r>
              <a:rPr>
                <a:solidFill>
                  <a:srgbClr val="666666"/>
                </a:solidFill>
                <a:latin typeface="Courier"/>
              </a:rPr>
              <a:t>);</a:t>
            </a:r>
            <a:br/>
            <a:r>
              <a:rPr>
                <a:latin typeface="Courier"/>
              </a:rPr>
              <a:t>    </a:t>
            </a:r>
            <a:r>
              <a:rPr>
                <a:solidFill>
                  <a:srgbClr val="902000"/>
                </a:solidFill>
                <a:latin typeface="Courier"/>
              </a:rPr>
              <a:t>void</a:t>
            </a:r>
            <a:r>
              <a:rPr>
                <a:latin typeface="Courier"/>
              </a:rPr>
              <a:t> </a:t>
            </a:r>
            <a:r>
              <a:rPr>
                <a:solidFill>
                  <a:srgbClr val="06287E"/>
                </a:solidFill>
                <a:latin typeface="Courier"/>
              </a:rPr>
              <a:t>downloadVideo</a:t>
            </a:r>
            <a:r>
              <a:rPr>
                <a:solidFill>
                  <a:srgbClr val="666666"/>
                </a:solidFill>
                <a:latin typeface="Courier"/>
              </a:rPr>
              <a:t>(</a:t>
            </a:r>
            <a:r>
              <a:rPr>
                <a:solidFill>
                  <a:srgbClr val="008000"/>
                </a:solidFill>
                <a:latin typeface="Courier"/>
              </a:rPr>
              <a:t>String</a:t>
            </a:r>
            <a:r>
              <a:rPr>
                <a:latin typeface="Courier"/>
              </a:rPr>
              <a:t> id</a:t>
            </a:r>
            <a:r>
              <a:rPr>
                <a:solidFill>
                  <a:srgbClr val="666666"/>
                </a:solidFill>
                <a:latin typeface="Courier"/>
              </a:rPr>
              <a:t>);</a:t>
            </a:r>
            <a:br/>
            <a:r>
              <a:rPr>
                <a:solidFill>
                  <a:srgbClr val="666666"/>
                </a:solidFill>
                <a:latin typeface="Courier"/>
              </a:rPr>
              <a:t>}</a:t>
            </a:r>
          </a:p>
        </p:txBody>
      </p:sp>
    </p:spTree>
  </p:cSld>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Proxy: Java Code Example - Video Class</a:t>
            </a:r>
          </a:p>
        </p:txBody>
      </p:sp>
      <p:sp>
        <p:nvSpPr>
          <p:cNvPr id="3" name="Content Placeholder 2"/>
          <p:cNvSpPr>
            <a:spLocks noGrp="1"/>
          </p:cNvSpPr>
          <p:nvPr>
            <p:ph idx="1"/>
          </p:nvPr>
        </p:nvSpPr>
        <p:spPr/>
        <p:txBody>
          <a:bodyPr/>
          <a:lstStyle/>
          <a:p>
            <a:pPr lvl="0" indent="0">
              <a:buNone/>
            </a:pPr>
            <a:r>
              <a:rPr b="1">
                <a:solidFill>
                  <a:srgbClr val="007020"/>
                </a:solidFill>
                <a:latin typeface="Courier"/>
              </a:rPr>
              <a:t>public</a:t>
            </a:r>
            <a:r>
              <a:rPr>
                <a:latin typeface="Courier"/>
              </a:rPr>
              <a:t> </a:t>
            </a:r>
            <a:r>
              <a:rPr b="1">
                <a:solidFill>
                  <a:srgbClr val="007020"/>
                </a:solidFill>
                <a:latin typeface="Courier"/>
              </a:rPr>
              <a:t>class</a:t>
            </a:r>
            <a:r>
              <a:rPr>
                <a:latin typeface="Courier"/>
              </a:rPr>
              <a:t> Video </a:t>
            </a:r>
            <a:r>
              <a:rPr>
                <a:solidFill>
                  <a:srgbClr val="666666"/>
                </a:solidFill>
                <a:latin typeface="Courier"/>
              </a:rPr>
              <a:t>{</a:t>
            </a:r>
            <a:br/>
            <a:r>
              <a:rPr>
                <a:latin typeface="Courier"/>
              </a:rPr>
              <a:t>    </a:t>
            </a:r>
            <a:r>
              <a:rPr b="1">
                <a:solidFill>
                  <a:srgbClr val="007020"/>
                </a:solidFill>
                <a:latin typeface="Courier"/>
              </a:rPr>
              <a:t>private</a:t>
            </a:r>
            <a:r>
              <a:rPr>
                <a:latin typeface="Courier"/>
              </a:rPr>
              <a:t> </a:t>
            </a:r>
            <a:r>
              <a:rPr>
                <a:solidFill>
                  <a:srgbClr val="008000"/>
                </a:solidFill>
                <a:latin typeface="Courier"/>
              </a:rPr>
              <a:t>String</a:t>
            </a:r>
            <a:r>
              <a:rPr>
                <a:latin typeface="Courier"/>
              </a:rPr>
              <a:t> id</a:t>
            </a:r>
            <a:r>
              <a:rPr>
                <a:solidFill>
                  <a:srgbClr val="666666"/>
                </a:solidFill>
                <a:latin typeface="Courier"/>
              </a:rPr>
              <a:t>;</a:t>
            </a:r>
            <a:br/>
            <a:r>
              <a:rPr>
                <a:latin typeface="Courier"/>
              </a:rPr>
              <a:t>    </a:t>
            </a:r>
            <a:r>
              <a:rPr b="1">
                <a:solidFill>
                  <a:srgbClr val="007020"/>
                </a:solidFill>
                <a:latin typeface="Courier"/>
              </a:rPr>
              <a:t>private</a:t>
            </a:r>
            <a:r>
              <a:rPr>
                <a:latin typeface="Courier"/>
              </a:rPr>
              <a:t> </a:t>
            </a:r>
            <a:r>
              <a:rPr>
                <a:solidFill>
                  <a:srgbClr val="008000"/>
                </a:solidFill>
                <a:latin typeface="Courier"/>
              </a:rPr>
              <a:t>String</a:t>
            </a:r>
            <a:r>
              <a:rPr>
                <a:latin typeface="Courier"/>
              </a:rPr>
              <a:t> title</a:t>
            </a:r>
            <a:r>
              <a:rPr>
                <a:solidFill>
                  <a:srgbClr val="666666"/>
                </a:solidFill>
                <a:latin typeface="Courier"/>
              </a:rPr>
              <a:t>;</a:t>
            </a:r>
            <a:br/>
            <a:br/>
            <a:r>
              <a:rPr>
                <a:latin typeface="Courier"/>
              </a:rPr>
              <a:t>    </a:t>
            </a:r>
            <a:r>
              <a:rPr b="1">
                <a:solidFill>
                  <a:srgbClr val="007020"/>
                </a:solidFill>
                <a:latin typeface="Courier"/>
              </a:rPr>
              <a:t>public</a:t>
            </a:r>
            <a:r>
              <a:rPr>
                <a:latin typeface="Courier"/>
              </a:rPr>
              <a:t> </a:t>
            </a:r>
            <a:r>
              <a:rPr>
                <a:solidFill>
                  <a:srgbClr val="06287E"/>
                </a:solidFill>
                <a:latin typeface="Courier"/>
              </a:rPr>
              <a:t>Video</a:t>
            </a:r>
            <a:r>
              <a:rPr>
                <a:solidFill>
                  <a:srgbClr val="666666"/>
                </a:solidFill>
                <a:latin typeface="Courier"/>
              </a:rPr>
              <a:t>(</a:t>
            </a:r>
            <a:r>
              <a:rPr>
                <a:solidFill>
                  <a:srgbClr val="008000"/>
                </a:solidFill>
                <a:latin typeface="Courier"/>
              </a:rPr>
              <a:t>String</a:t>
            </a:r>
            <a:r>
              <a:rPr>
                <a:latin typeface="Courier"/>
              </a:rPr>
              <a:t> id</a:t>
            </a:r>
            <a:r>
              <a:rPr>
                <a:solidFill>
                  <a:srgbClr val="666666"/>
                </a:solidFill>
                <a:latin typeface="Courier"/>
              </a:rPr>
              <a:t>,</a:t>
            </a:r>
            <a:r>
              <a:rPr>
                <a:latin typeface="Courier"/>
              </a:rPr>
              <a:t> </a:t>
            </a:r>
            <a:r>
              <a:rPr>
                <a:solidFill>
                  <a:srgbClr val="008000"/>
                </a:solidFill>
                <a:latin typeface="Courier"/>
              </a:rPr>
              <a:t>String</a:t>
            </a:r>
            <a:r>
              <a:rPr>
                <a:latin typeface="Courier"/>
              </a:rPr>
              <a:t> title</a:t>
            </a:r>
            <a:r>
              <a:rPr>
                <a:solidFill>
                  <a:srgbClr val="666666"/>
                </a:solidFill>
                <a:latin typeface="Courier"/>
              </a:rPr>
              <a:t>)</a:t>
            </a:r>
            <a:r>
              <a:rPr>
                <a:latin typeface="Courier"/>
              </a:rPr>
              <a:t> </a:t>
            </a:r>
            <a:r>
              <a:rPr>
                <a:solidFill>
                  <a:srgbClr val="666666"/>
                </a:solidFill>
                <a:latin typeface="Courier"/>
              </a:rPr>
              <a:t>{</a:t>
            </a:r>
            <a:br/>
            <a:r>
              <a:rPr>
                <a:latin typeface="Courier"/>
              </a:rPr>
              <a:t>        </a:t>
            </a:r>
            <a:r>
              <a:rPr b="1">
                <a:solidFill>
                  <a:srgbClr val="007020"/>
                </a:solidFill>
                <a:latin typeface="Courier"/>
              </a:rPr>
              <a:t>this</a:t>
            </a:r>
            <a:r>
              <a:rPr>
                <a:solidFill>
                  <a:srgbClr val="666666"/>
                </a:solidFill>
                <a:latin typeface="Courier"/>
              </a:rPr>
              <a:t>.</a:t>
            </a:r>
            <a:r>
              <a:rPr>
                <a:solidFill>
                  <a:srgbClr val="06287E"/>
                </a:solidFill>
                <a:latin typeface="Courier"/>
              </a:rPr>
              <a:t>id</a:t>
            </a:r>
            <a:r>
              <a:rPr>
                <a:latin typeface="Courier"/>
              </a:rPr>
              <a:t> </a:t>
            </a:r>
            <a:r>
              <a:rPr>
                <a:solidFill>
                  <a:srgbClr val="666666"/>
                </a:solidFill>
                <a:latin typeface="Courier"/>
              </a:rPr>
              <a:t>=</a:t>
            </a:r>
            <a:r>
              <a:rPr>
                <a:latin typeface="Courier"/>
              </a:rPr>
              <a:t> id</a:t>
            </a:r>
            <a:r>
              <a:rPr>
                <a:solidFill>
                  <a:srgbClr val="666666"/>
                </a:solidFill>
                <a:latin typeface="Courier"/>
              </a:rPr>
              <a:t>;</a:t>
            </a:r>
            <a:br/>
            <a:r>
              <a:rPr>
                <a:latin typeface="Courier"/>
              </a:rPr>
              <a:t>        </a:t>
            </a:r>
            <a:r>
              <a:rPr b="1">
                <a:solidFill>
                  <a:srgbClr val="007020"/>
                </a:solidFill>
                <a:latin typeface="Courier"/>
              </a:rPr>
              <a:t>this</a:t>
            </a:r>
            <a:r>
              <a:rPr>
                <a:solidFill>
                  <a:srgbClr val="666666"/>
                </a:solidFill>
                <a:latin typeface="Courier"/>
              </a:rPr>
              <a:t>.</a:t>
            </a:r>
            <a:r>
              <a:rPr>
                <a:solidFill>
                  <a:srgbClr val="06287E"/>
                </a:solidFill>
                <a:latin typeface="Courier"/>
              </a:rPr>
              <a:t>title</a:t>
            </a:r>
            <a:r>
              <a:rPr>
                <a:latin typeface="Courier"/>
              </a:rPr>
              <a:t> </a:t>
            </a:r>
            <a:r>
              <a:rPr>
                <a:solidFill>
                  <a:srgbClr val="666666"/>
                </a:solidFill>
                <a:latin typeface="Courier"/>
              </a:rPr>
              <a:t>=</a:t>
            </a:r>
            <a:r>
              <a:rPr>
                <a:latin typeface="Courier"/>
              </a:rPr>
              <a:t> title</a:t>
            </a:r>
            <a:r>
              <a:rPr>
                <a:solidFill>
                  <a:srgbClr val="666666"/>
                </a:solidFill>
                <a:latin typeface="Courier"/>
              </a:rPr>
              <a:t>;</a:t>
            </a:r>
            <a:br/>
            <a:r>
              <a:rPr>
                <a:latin typeface="Courier"/>
              </a:rPr>
              <a:t>    </a:t>
            </a:r>
            <a:r>
              <a:rPr>
                <a:solidFill>
                  <a:srgbClr val="666666"/>
                </a:solidFill>
                <a:latin typeface="Courier"/>
              </a:rPr>
              <a:t>}</a:t>
            </a:r>
            <a:br/>
            <a:br/>
            <a:r>
              <a:rPr>
                <a:latin typeface="Courier"/>
              </a:rPr>
              <a:t>    </a:t>
            </a:r>
            <a:r>
              <a:rPr b="1">
                <a:solidFill>
                  <a:srgbClr val="007020"/>
                </a:solidFill>
                <a:latin typeface="Courier"/>
              </a:rPr>
              <a:t>public</a:t>
            </a:r>
            <a:r>
              <a:rPr>
                <a:latin typeface="Courier"/>
              </a:rPr>
              <a:t> </a:t>
            </a:r>
            <a:r>
              <a:rPr>
                <a:solidFill>
                  <a:srgbClr val="008000"/>
                </a:solidFill>
                <a:latin typeface="Courier"/>
              </a:rPr>
              <a:t>String</a:t>
            </a:r>
            <a:r>
              <a:rPr>
                <a:latin typeface="Courier"/>
              </a:rPr>
              <a:t> </a:t>
            </a:r>
            <a:r>
              <a:rPr>
                <a:solidFill>
                  <a:srgbClr val="06287E"/>
                </a:solidFill>
                <a:latin typeface="Courier"/>
              </a:rPr>
              <a:t>getId</a:t>
            </a:r>
            <a:r>
              <a:rPr>
                <a:solidFill>
                  <a:srgbClr val="666666"/>
                </a:solidFill>
                <a:latin typeface="Courier"/>
              </a:rPr>
              <a:t>()</a:t>
            </a:r>
            <a:r>
              <a:rPr>
                <a:latin typeface="Courier"/>
              </a:rPr>
              <a:t> </a:t>
            </a:r>
            <a:r>
              <a:rPr>
                <a:solidFill>
                  <a:srgbClr val="666666"/>
                </a:solidFill>
                <a:latin typeface="Courier"/>
              </a:rPr>
              <a:t>{</a:t>
            </a:r>
            <a:r>
              <a:rPr>
                <a:latin typeface="Courier"/>
              </a:rPr>
              <a:t> </a:t>
            </a:r>
            <a:r>
              <a:rPr b="1">
                <a:solidFill>
                  <a:srgbClr val="007020"/>
                </a:solidFill>
                <a:latin typeface="Courier"/>
              </a:rPr>
              <a:t>return</a:t>
            </a:r>
            <a:r>
              <a:rPr>
                <a:latin typeface="Courier"/>
              </a:rPr>
              <a:t> id</a:t>
            </a:r>
            <a:r>
              <a:rPr>
                <a:solidFill>
                  <a:srgbClr val="666666"/>
                </a:solidFill>
                <a:latin typeface="Courier"/>
              </a:rPr>
              <a:t>;</a:t>
            </a:r>
            <a:r>
              <a:rPr>
                <a:latin typeface="Courier"/>
              </a:rPr>
              <a:t> </a:t>
            </a:r>
            <a:r>
              <a:rPr>
                <a:solidFill>
                  <a:srgbClr val="666666"/>
                </a:solidFill>
                <a:latin typeface="Courier"/>
              </a:rPr>
              <a:t>}</a:t>
            </a:r>
            <a:br/>
            <a:r>
              <a:rPr>
                <a:latin typeface="Courier"/>
              </a:rPr>
              <a:t>    </a:t>
            </a:r>
            <a:r>
              <a:rPr b="1">
                <a:solidFill>
                  <a:srgbClr val="007020"/>
                </a:solidFill>
                <a:latin typeface="Courier"/>
              </a:rPr>
              <a:t>public</a:t>
            </a:r>
            <a:r>
              <a:rPr>
                <a:latin typeface="Courier"/>
              </a:rPr>
              <a:t> </a:t>
            </a:r>
            <a:r>
              <a:rPr>
                <a:solidFill>
                  <a:srgbClr val="008000"/>
                </a:solidFill>
                <a:latin typeface="Courier"/>
              </a:rPr>
              <a:t>String</a:t>
            </a:r>
            <a:r>
              <a:rPr>
                <a:latin typeface="Courier"/>
              </a:rPr>
              <a:t> </a:t>
            </a:r>
            <a:r>
              <a:rPr>
                <a:solidFill>
                  <a:srgbClr val="06287E"/>
                </a:solidFill>
                <a:latin typeface="Courier"/>
              </a:rPr>
              <a:t>getTitle</a:t>
            </a:r>
            <a:r>
              <a:rPr>
                <a:solidFill>
                  <a:srgbClr val="666666"/>
                </a:solidFill>
                <a:latin typeface="Courier"/>
              </a:rPr>
              <a:t>()</a:t>
            </a:r>
            <a:r>
              <a:rPr>
                <a:latin typeface="Courier"/>
              </a:rPr>
              <a:t> </a:t>
            </a:r>
            <a:r>
              <a:rPr>
                <a:solidFill>
                  <a:srgbClr val="666666"/>
                </a:solidFill>
                <a:latin typeface="Courier"/>
              </a:rPr>
              <a:t>{</a:t>
            </a:r>
            <a:r>
              <a:rPr>
                <a:latin typeface="Courier"/>
              </a:rPr>
              <a:t> </a:t>
            </a:r>
            <a:r>
              <a:rPr b="1">
                <a:solidFill>
                  <a:srgbClr val="007020"/>
                </a:solidFill>
                <a:latin typeface="Courier"/>
              </a:rPr>
              <a:t>return</a:t>
            </a:r>
            <a:r>
              <a:rPr>
                <a:latin typeface="Courier"/>
              </a:rPr>
              <a:t> title</a:t>
            </a:r>
            <a:r>
              <a:rPr>
                <a:solidFill>
                  <a:srgbClr val="666666"/>
                </a:solidFill>
                <a:latin typeface="Courier"/>
              </a:rPr>
              <a:t>;</a:t>
            </a:r>
            <a:r>
              <a:rPr>
                <a:latin typeface="Courier"/>
              </a:rPr>
              <a:t> </a:t>
            </a:r>
            <a:r>
              <a:rPr>
                <a:solidFill>
                  <a:srgbClr val="666666"/>
                </a:solidFill>
                <a:latin typeface="Courier"/>
              </a:rPr>
              <a:t>}</a:t>
            </a:r>
            <a:br/>
            <a:br/>
            <a:r>
              <a:rPr>
                <a:latin typeface="Courier"/>
              </a:rPr>
              <a:t>    </a:t>
            </a:r>
            <a:r>
              <a:rPr>
                <a:solidFill>
                  <a:srgbClr val="7D9029"/>
                </a:solidFill>
                <a:latin typeface="Courier"/>
              </a:rPr>
              <a:t>@Override</a:t>
            </a:r>
            <a:br/>
            <a:r>
              <a:rPr>
                <a:latin typeface="Courier"/>
              </a:rPr>
              <a:t>    </a:t>
            </a:r>
            <a:r>
              <a:rPr b="1">
                <a:solidFill>
                  <a:srgbClr val="007020"/>
                </a:solidFill>
                <a:latin typeface="Courier"/>
              </a:rPr>
              <a:t>public</a:t>
            </a:r>
            <a:r>
              <a:rPr>
                <a:latin typeface="Courier"/>
              </a:rPr>
              <a:t> </a:t>
            </a:r>
            <a:r>
              <a:rPr>
                <a:solidFill>
                  <a:srgbClr val="008000"/>
                </a:solidFill>
                <a:latin typeface="Courier"/>
              </a:rPr>
              <a:t>String</a:t>
            </a:r>
            <a:r>
              <a:rPr>
                <a:latin typeface="Courier"/>
              </a:rPr>
              <a:t> </a:t>
            </a:r>
            <a:r>
              <a:rPr>
                <a:solidFill>
                  <a:srgbClr val="06287E"/>
                </a:solidFill>
                <a:latin typeface="Courier"/>
              </a:rPr>
              <a:t>toString</a:t>
            </a:r>
            <a:r>
              <a:rPr>
                <a:solidFill>
                  <a:srgbClr val="666666"/>
                </a:solidFill>
                <a:latin typeface="Courier"/>
              </a:rPr>
              <a:t>()</a:t>
            </a:r>
            <a:r>
              <a:rPr>
                <a:latin typeface="Courier"/>
              </a:rPr>
              <a:t> </a:t>
            </a:r>
            <a:r>
              <a:rPr>
                <a:solidFill>
                  <a:srgbClr val="666666"/>
                </a:solidFill>
                <a:latin typeface="Courier"/>
              </a:rPr>
              <a:t>{</a:t>
            </a:r>
            <a:br/>
            <a:r>
              <a:rPr>
                <a:latin typeface="Courier"/>
              </a:rPr>
              <a:t>        </a:t>
            </a:r>
            <a:r>
              <a:rPr b="1">
                <a:solidFill>
                  <a:srgbClr val="007020"/>
                </a:solidFill>
                <a:latin typeface="Courier"/>
              </a:rPr>
              <a:t>return</a:t>
            </a:r>
            <a:r>
              <a:rPr>
                <a:latin typeface="Courier"/>
              </a:rPr>
              <a:t> </a:t>
            </a:r>
            <a:r>
              <a:rPr>
                <a:solidFill>
                  <a:srgbClr val="4070A0"/>
                </a:solidFill>
                <a:latin typeface="Courier"/>
              </a:rPr>
              <a:t>"Video{id='"</a:t>
            </a:r>
            <a:r>
              <a:rPr>
                <a:latin typeface="Courier"/>
              </a:rPr>
              <a:t> </a:t>
            </a:r>
            <a:r>
              <a:rPr>
                <a:solidFill>
                  <a:srgbClr val="666666"/>
                </a:solidFill>
                <a:latin typeface="Courier"/>
              </a:rPr>
              <a:t>+</a:t>
            </a:r>
            <a:r>
              <a:rPr>
                <a:latin typeface="Courier"/>
              </a:rPr>
              <a:t> id </a:t>
            </a:r>
            <a:r>
              <a:rPr>
                <a:solidFill>
                  <a:srgbClr val="666666"/>
                </a:solidFill>
                <a:latin typeface="Courier"/>
              </a:rPr>
              <a:t>+</a:t>
            </a:r>
            <a:r>
              <a:rPr>
                <a:latin typeface="Courier"/>
              </a:rPr>
              <a:t> </a:t>
            </a:r>
            <a:r>
              <a:rPr>
                <a:solidFill>
                  <a:srgbClr val="4070A0"/>
                </a:solidFill>
                <a:latin typeface="Courier"/>
              </a:rPr>
              <a:t>"', title='"</a:t>
            </a:r>
            <a:r>
              <a:rPr>
                <a:latin typeface="Courier"/>
              </a:rPr>
              <a:t> </a:t>
            </a:r>
            <a:r>
              <a:rPr>
                <a:solidFill>
                  <a:srgbClr val="666666"/>
                </a:solidFill>
                <a:latin typeface="Courier"/>
              </a:rPr>
              <a:t>+</a:t>
            </a:r>
            <a:br/>
            <a:r>
              <a:rPr>
                <a:latin typeface="Courier"/>
              </a:rPr>
              <a:t>            title </a:t>
            </a:r>
            <a:r>
              <a:rPr>
                <a:solidFill>
                  <a:srgbClr val="666666"/>
                </a:solidFill>
                <a:latin typeface="Courier"/>
              </a:rPr>
              <a:t>+</a:t>
            </a:r>
            <a:r>
              <a:rPr>
                <a:latin typeface="Courier"/>
              </a:rPr>
              <a:t> </a:t>
            </a:r>
            <a:r>
              <a:rPr>
                <a:solidFill>
                  <a:srgbClr val="4070A0"/>
                </a:solidFill>
                <a:latin typeface="Courier"/>
              </a:rPr>
              <a:t>"'}"</a:t>
            </a:r>
            <a:r>
              <a:rPr>
                <a:solidFill>
                  <a:srgbClr val="666666"/>
                </a:solidFill>
                <a:latin typeface="Courier"/>
              </a:rPr>
              <a:t>;</a:t>
            </a:r>
            <a:br/>
            <a:r>
              <a:rPr>
                <a:latin typeface="Courier"/>
              </a:rPr>
              <a:t>    </a:t>
            </a:r>
            <a:r>
              <a:rPr>
                <a:solidFill>
                  <a:srgbClr val="666666"/>
                </a:solidFill>
                <a:latin typeface="Courier"/>
              </a:rPr>
              <a:t>}</a:t>
            </a:r>
            <a:br/>
            <a:r>
              <a:rPr>
                <a:solidFill>
                  <a:srgbClr val="666666"/>
                </a:solidFill>
                <a:latin typeface="Courier"/>
              </a:rPr>
              <a:t>}</a:t>
            </a:r>
          </a:p>
        </p:txBody>
      </p:sp>
    </p:spTree>
  </p:cSld>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Proxy: Java Code Example - Service</a:t>
            </a:r>
          </a:p>
        </p:txBody>
      </p:sp>
      <p:sp>
        <p:nvSpPr>
          <p:cNvPr id="3" name="Content Placeholder 2"/>
          <p:cNvSpPr>
            <a:spLocks noGrp="1"/>
          </p:cNvSpPr>
          <p:nvPr>
            <p:ph idx="1"/>
          </p:nvPr>
        </p:nvSpPr>
        <p:spPr/>
        <p:txBody>
          <a:bodyPr/>
          <a:lstStyle/>
          <a:p>
            <a:pPr lvl="0" indent="0">
              <a:buNone/>
            </a:pPr>
            <a:r>
              <a:rPr b="1">
                <a:solidFill>
                  <a:srgbClr val="007020"/>
                </a:solidFill>
                <a:latin typeface="Courier"/>
              </a:rPr>
              <a:t>import</a:t>
            </a:r>
            <a:r>
              <a:rPr>
                <a:latin typeface="Courier"/>
              </a:rPr>
              <a:t> </a:t>
            </a:r>
            <a:r>
              <a:rPr b="1">
                <a:solidFill>
                  <a:srgbClr val="008000"/>
                </a:solidFill>
                <a:latin typeface="Courier"/>
              </a:rPr>
              <a:t>java</a:t>
            </a:r>
            <a:r>
              <a:rPr>
                <a:solidFill>
                  <a:srgbClr val="666666"/>
                </a:solidFill>
                <a:latin typeface="Courier"/>
              </a:rPr>
              <a:t>.</a:t>
            </a:r>
            <a:r>
              <a:rPr b="1">
                <a:solidFill>
                  <a:srgbClr val="008000"/>
                </a:solidFill>
                <a:latin typeface="Courier"/>
              </a:rPr>
              <a:t>util</a:t>
            </a:r>
            <a:r>
              <a:rPr>
                <a:solidFill>
                  <a:srgbClr val="666666"/>
                </a:solidFill>
                <a:latin typeface="Courier"/>
              </a:rPr>
              <a:t>.*;</a:t>
            </a:r>
            <a:br/>
            <a:br/>
            <a:r>
              <a:rPr i="1">
                <a:solidFill>
                  <a:srgbClr val="60A0B0"/>
                </a:solidFill>
                <a:latin typeface="Courier"/>
              </a:rPr>
              <a:t>// The concrete implementation of a service connector.</a:t>
            </a:r>
            <a:br/>
            <a:r>
              <a:rPr i="1">
                <a:solidFill>
                  <a:srgbClr val="60A0B0"/>
                </a:solidFill>
                <a:latin typeface="Courier"/>
              </a:rPr>
              <a:t>// Methods of this class can request information from</a:t>
            </a:r>
            <a:br/>
            <a:r>
              <a:rPr i="1">
                <a:solidFill>
                  <a:srgbClr val="60A0B0"/>
                </a:solidFill>
                <a:latin typeface="Courier"/>
              </a:rPr>
              <a:t>// YouTube. The speed of the request depends on a user's</a:t>
            </a:r>
            <a:br/>
            <a:r>
              <a:rPr i="1">
                <a:solidFill>
                  <a:srgbClr val="60A0B0"/>
                </a:solidFill>
                <a:latin typeface="Courier"/>
              </a:rPr>
              <a:t>// internet connection as well as YouTube's. The</a:t>
            </a:r>
            <a:br/>
            <a:r>
              <a:rPr i="1">
                <a:solidFill>
                  <a:srgbClr val="60A0B0"/>
                </a:solidFill>
                <a:latin typeface="Courier"/>
              </a:rPr>
              <a:t>// application will slow down if a lot of requests are</a:t>
            </a:r>
            <a:br/>
            <a:r>
              <a:rPr i="1">
                <a:solidFill>
                  <a:srgbClr val="60A0B0"/>
                </a:solidFill>
                <a:latin typeface="Courier"/>
              </a:rPr>
              <a:t>// fired at the same time, even if they all request the</a:t>
            </a:r>
            <a:br/>
            <a:r>
              <a:rPr i="1">
                <a:solidFill>
                  <a:srgbClr val="60A0B0"/>
                </a:solidFill>
                <a:latin typeface="Courier"/>
              </a:rPr>
              <a:t>// same information.</a:t>
            </a:r>
            <a:br/>
            <a:r>
              <a:rPr b="1">
                <a:solidFill>
                  <a:srgbClr val="007020"/>
                </a:solidFill>
                <a:latin typeface="Courier"/>
              </a:rPr>
              <a:t>public</a:t>
            </a:r>
            <a:r>
              <a:rPr>
                <a:latin typeface="Courier"/>
              </a:rPr>
              <a:t> </a:t>
            </a:r>
            <a:r>
              <a:rPr b="1">
                <a:solidFill>
                  <a:srgbClr val="007020"/>
                </a:solidFill>
                <a:latin typeface="Courier"/>
              </a:rPr>
              <a:t>class</a:t>
            </a:r>
            <a:r>
              <a:rPr>
                <a:latin typeface="Courier"/>
              </a:rPr>
              <a:t> ThirdPartyYouTubeClass</a:t>
            </a:r>
            <a:br/>
            <a:r>
              <a:rPr>
                <a:latin typeface="Courier"/>
              </a:rPr>
              <a:t>        </a:t>
            </a:r>
            <a:r>
              <a:rPr b="1">
                <a:solidFill>
                  <a:srgbClr val="007020"/>
                </a:solidFill>
                <a:latin typeface="Courier"/>
              </a:rPr>
              <a:t>implements</a:t>
            </a:r>
            <a:r>
              <a:rPr>
                <a:latin typeface="Courier"/>
              </a:rPr>
              <a:t> ThirdPartyYouTubeLib </a:t>
            </a:r>
            <a:r>
              <a:rPr>
                <a:solidFill>
                  <a:srgbClr val="666666"/>
                </a:solidFill>
                <a:latin typeface="Courier"/>
              </a:rPr>
              <a:t>{</a:t>
            </a:r>
            <a:br/>
            <a:br/>
            <a:r>
              <a:rPr>
                <a:latin typeface="Courier"/>
              </a:rPr>
              <a:t>    </a:t>
            </a:r>
            <a:r>
              <a:rPr>
                <a:solidFill>
                  <a:srgbClr val="7D9029"/>
                </a:solidFill>
                <a:latin typeface="Courier"/>
              </a:rPr>
              <a:t>@Override</a:t>
            </a:r>
            <a:br/>
            <a:r>
              <a:rPr>
                <a:latin typeface="Courier"/>
              </a:rPr>
              <a:t>    </a:t>
            </a:r>
            <a:r>
              <a:rPr b="1">
                <a:solidFill>
                  <a:srgbClr val="007020"/>
                </a:solidFill>
                <a:latin typeface="Courier"/>
              </a:rPr>
              <a:t>public</a:t>
            </a:r>
            <a:r>
              <a:rPr>
                <a:latin typeface="Courier"/>
              </a:rPr>
              <a:t> </a:t>
            </a:r>
            <a:r>
              <a:rPr>
                <a:solidFill>
                  <a:srgbClr val="008000"/>
                </a:solidFill>
                <a:latin typeface="Courier"/>
              </a:rPr>
              <a:t>List</a:t>
            </a:r>
            <a:r>
              <a:rPr>
                <a:solidFill>
                  <a:srgbClr val="666666"/>
                </a:solidFill>
                <a:latin typeface="Courier"/>
              </a:rPr>
              <a:t>&lt;</a:t>
            </a:r>
            <a:r>
              <a:rPr>
                <a:latin typeface="Courier"/>
              </a:rPr>
              <a:t>Video</a:t>
            </a:r>
            <a:r>
              <a:rPr>
                <a:solidFill>
                  <a:srgbClr val="666666"/>
                </a:solidFill>
                <a:latin typeface="Courier"/>
              </a:rPr>
              <a:t>&gt;</a:t>
            </a:r>
            <a:r>
              <a:rPr>
                <a:latin typeface="Courier"/>
              </a:rPr>
              <a:t> </a:t>
            </a:r>
            <a:r>
              <a:rPr>
                <a:solidFill>
                  <a:srgbClr val="06287E"/>
                </a:solidFill>
                <a:latin typeface="Courier"/>
              </a:rPr>
              <a:t>listVideos</a:t>
            </a:r>
            <a:r>
              <a:rPr>
                <a:solidFill>
                  <a:srgbClr val="666666"/>
                </a:solidFill>
                <a:latin typeface="Courier"/>
              </a:rPr>
              <a:t>()</a:t>
            </a:r>
            <a:r>
              <a:rPr>
                <a:latin typeface="Courier"/>
              </a:rPr>
              <a:t> </a:t>
            </a:r>
            <a:r>
              <a:rPr>
                <a:solidFill>
                  <a:srgbClr val="666666"/>
                </a:solidFill>
                <a:latin typeface="Courier"/>
              </a:rPr>
              <a:t>{</a:t>
            </a:r>
            <a:br/>
            <a:r>
              <a:rPr>
                <a:latin typeface="Courier"/>
              </a:rPr>
              <a:t>        </a:t>
            </a:r>
            <a:r>
              <a:rPr i="1">
                <a:solidFill>
                  <a:srgbClr val="60A0B0"/>
                </a:solidFill>
                <a:latin typeface="Courier"/>
              </a:rPr>
              <a:t>// Send an API request to YouTube.</a:t>
            </a:r>
            <a:br/>
            <a:r>
              <a:rPr>
                <a:latin typeface="Courier"/>
              </a:rPr>
              <a:t>        </a:t>
            </a:r>
            <a:r>
              <a:rPr>
                <a:solidFill>
                  <a:srgbClr val="008000"/>
                </a:solidFill>
                <a:latin typeface="Courier"/>
              </a:rPr>
              <a:t>System</a:t>
            </a:r>
            <a:r>
              <a:rPr>
                <a:solidFill>
                  <a:srgbClr val="666666"/>
                </a:solidFill>
                <a:latin typeface="Courier"/>
              </a:rPr>
              <a:t>.</a:t>
            </a:r>
            <a:r>
              <a:rPr>
                <a:solidFill>
                  <a:srgbClr val="06287E"/>
                </a:solidFill>
                <a:latin typeface="Courier"/>
              </a:rPr>
              <a:t>out</a:t>
            </a:r>
            <a:r>
              <a:rPr>
                <a:solidFill>
                  <a:srgbClr val="666666"/>
                </a:solidFill>
                <a:latin typeface="Courier"/>
              </a:rPr>
              <a:t>.</a:t>
            </a:r>
            <a:r>
              <a:rPr>
                <a:solidFill>
                  <a:srgbClr val="06287E"/>
                </a:solidFill>
                <a:latin typeface="Courier"/>
              </a:rPr>
              <a:t>println</a:t>
            </a:r>
            <a:r>
              <a:rPr>
                <a:solidFill>
                  <a:srgbClr val="666666"/>
                </a:solidFill>
                <a:latin typeface="Courier"/>
              </a:rPr>
              <a:t>(</a:t>
            </a:r>
            <a:r>
              <a:rPr>
                <a:solidFill>
                  <a:srgbClr val="4070A0"/>
                </a:solidFill>
                <a:latin typeface="Courier"/>
              </a:rPr>
              <a:t>"Downloading video list from "</a:t>
            </a:r>
            <a:r>
              <a:rPr>
                <a:latin typeface="Courier"/>
              </a:rPr>
              <a:t> </a:t>
            </a:r>
            <a:r>
              <a:rPr>
                <a:solidFill>
                  <a:srgbClr val="666666"/>
                </a:solidFill>
                <a:latin typeface="Courier"/>
              </a:rPr>
              <a:t>+</a:t>
            </a:r>
            <a:br/>
            <a:r>
              <a:rPr>
                <a:latin typeface="Courier"/>
              </a:rPr>
              <a:t>            </a:t>
            </a:r>
            <a:r>
              <a:rPr>
                <a:solidFill>
                  <a:srgbClr val="4070A0"/>
                </a:solidFill>
                <a:latin typeface="Courier"/>
              </a:rPr>
              <a:t>"YouTube API..."</a:t>
            </a:r>
            <a:r>
              <a:rPr>
                <a:solidFill>
                  <a:srgbClr val="666666"/>
                </a:solidFill>
                <a:latin typeface="Courier"/>
              </a:rPr>
              <a:t>);</a:t>
            </a:r>
            <a:br/>
            <a:r>
              <a:rPr>
                <a:latin typeface="Courier"/>
              </a:rPr>
              <a:t>        </a:t>
            </a:r>
            <a:r>
              <a:rPr b="1">
                <a:solidFill>
                  <a:srgbClr val="007020"/>
                </a:solidFill>
                <a:latin typeface="Courier"/>
              </a:rPr>
              <a:t>return</a:t>
            </a:r>
            <a:r>
              <a:rPr>
                <a:latin typeface="Courier"/>
              </a:rPr>
              <a:t> </a:t>
            </a:r>
            <a:r>
              <a:rPr b="1">
                <a:solidFill>
                  <a:srgbClr val="007020"/>
                </a:solidFill>
                <a:latin typeface="Courier"/>
              </a:rPr>
              <a:t>new</a:t>
            </a:r>
            <a:r>
              <a:rPr>
                <a:latin typeface="Courier"/>
              </a:rPr>
              <a:t> </a:t>
            </a:r>
            <a:r>
              <a:rPr>
                <a:solidFill>
                  <a:srgbClr val="008000"/>
                </a:solidFill>
                <a:latin typeface="Courier"/>
              </a:rPr>
              <a:t>ArrayList</a:t>
            </a:r>
            <a:r>
              <a:rPr>
                <a:solidFill>
                  <a:srgbClr val="666666"/>
                </a:solidFill>
                <a:latin typeface="Courier"/>
              </a:rPr>
              <a:t>&lt;&gt;();</a:t>
            </a:r>
            <a:r>
              <a:rPr>
                <a:latin typeface="Courier"/>
              </a:rPr>
              <a:t> </a:t>
            </a:r>
            <a:r>
              <a:rPr i="1">
                <a:solidFill>
                  <a:srgbClr val="60A0B0"/>
                </a:solidFill>
                <a:latin typeface="Courier"/>
              </a:rPr>
              <a:t>// Simplified</a:t>
            </a:r>
            <a:br/>
            <a:r>
              <a:rPr>
                <a:latin typeface="Courier"/>
              </a:rPr>
              <a:t>    </a:t>
            </a:r>
            <a:r>
              <a:rPr>
                <a:solidFill>
                  <a:srgbClr val="666666"/>
                </a:solidFill>
                <a:latin typeface="Courier"/>
              </a:rPr>
              <a:t>}</a:t>
            </a:r>
            <a:br/>
            <a:br/>
            <a:r>
              <a:rPr>
                <a:latin typeface="Courier"/>
              </a:rPr>
              <a:t>    </a:t>
            </a:r>
            <a:r>
              <a:rPr>
                <a:solidFill>
                  <a:srgbClr val="7D9029"/>
                </a:solidFill>
                <a:latin typeface="Courier"/>
              </a:rPr>
              <a:t>@Override</a:t>
            </a:r>
            <a:br/>
            <a:r>
              <a:rPr>
                <a:latin typeface="Courier"/>
              </a:rPr>
              <a:t>    </a:t>
            </a:r>
            <a:r>
              <a:rPr b="1">
                <a:solidFill>
                  <a:srgbClr val="007020"/>
                </a:solidFill>
                <a:latin typeface="Courier"/>
              </a:rPr>
              <a:t>public</a:t>
            </a:r>
            <a:r>
              <a:rPr>
                <a:latin typeface="Courier"/>
              </a:rPr>
              <a:t> Video </a:t>
            </a:r>
            <a:r>
              <a:rPr>
                <a:solidFill>
                  <a:srgbClr val="06287E"/>
                </a:solidFill>
                <a:latin typeface="Courier"/>
              </a:rPr>
              <a:t>getVideoInfo</a:t>
            </a:r>
            <a:r>
              <a:rPr>
                <a:solidFill>
                  <a:srgbClr val="666666"/>
                </a:solidFill>
                <a:latin typeface="Courier"/>
              </a:rPr>
              <a:t>(</a:t>
            </a:r>
            <a:r>
              <a:rPr>
                <a:solidFill>
                  <a:srgbClr val="008000"/>
                </a:solidFill>
                <a:latin typeface="Courier"/>
              </a:rPr>
              <a:t>String</a:t>
            </a:r>
            <a:r>
              <a:rPr>
                <a:latin typeface="Courier"/>
              </a:rPr>
              <a:t> id</a:t>
            </a:r>
            <a:r>
              <a:rPr>
                <a:solidFill>
                  <a:srgbClr val="666666"/>
                </a:solidFill>
                <a:latin typeface="Courier"/>
              </a:rPr>
              <a:t>)</a:t>
            </a:r>
            <a:r>
              <a:rPr>
                <a:latin typeface="Courier"/>
              </a:rPr>
              <a:t> </a:t>
            </a:r>
            <a:r>
              <a:rPr>
                <a:solidFill>
                  <a:srgbClr val="666666"/>
                </a:solidFill>
                <a:latin typeface="Courier"/>
              </a:rPr>
              <a:t>{</a:t>
            </a:r>
            <a:br/>
            <a:r>
              <a:rPr>
                <a:latin typeface="Courier"/>
              </a:rPr>
              <a:t>        </a:t>
            </a:r>
            <a:r>
              <a:rPr i="1">
                <a:solidFill>
                  <a:srgbClr val="60A0B0"/>
                </a:solidFill>
                <a:latin typeface="Courier"/>
              </a:rPr>
              <a:t>// Get metadata about some video.</a:t>
            </a:r>
            <a:br/>
            <a:r>
              <a:rPr>
                <a:latin typeface="Courier"/>
              </a:rPr>
              <a:t>        </a:t>
            </a:r>
            <a:r>
              <a:rPr>
                <a:solidFill>
                  <a:srgbClr val="008000"/>
                </a:solidFill>
                <a:latin typeface="Courier"/>
              </a:rPr>
              <a:t>System</a:t>
            </a:r>
            <a:r>
              <a:rPr>
                <a:solidFill>
                  <a:srgbClr val="666666"/>
                </a:solidFill>
                <a:latin typeface="Courier"/>
              </a:rPr>
              <a:t>.</a:t>
            </a:r>
            <a:r>
              <a:rPr>
                <a:solidFill>
                  <a:srgbClr val="06287E"/>
                </a:solidFill>
                <a:latin typeface="Courier"/>
              </a:rPr>
              <a:t>out</a:t>
            </a:r>
            <a:r>
              <a:rPr>
                <a:solidFill>
                  <a:srgbClr val="666666"/>
                </a:solidFill>
                <a:latin typeface="Courier"/>
              </a:rPr>
              <a:t>.</a:t>
            </a:r>
            <a:r>
              <a:rPr>
                <a:solidFill>
                  <a:srgbClr val="06287E"/>
                </a:solidFill>
                <a:latin typeface="Courier"/>
              </a:rPr>
              <a:t>println</a:t>
            </a:r>
            <a:r>
              <a:rPr>
                <a:solidFill>
                  <a:srgbClr val="666666"/>
                </a:solidFill>
                <a:latin typeface="Courier"/>
              </a:rPr>
              <a:t>(</a:t>
            </a:r>
            <a:r>
              <a:rPr>
                <a:solidFill>
                  <a:srgbClr val="4070A0"/>
                </a:solidFill>
                <a:latin typeface="Courier"/>
              </a:rPr>
              <a:t>"Downloading info for video: "</a:t>
            </a:r>
            <a:r>
              <a:rPr>
                <a:latin typeface="Courier"/>
              </a:rPr>
              <a:t> </a:t>
            </a:r>
            <a:r>
              <a:rPr>
                <a:solidFill>
                  <a:srgbClr val="666666"/>
                </a:solidFill>
                <a:latin typeface="Courier"/>
              </a:rPr>
              <a:t>+</a:t>
            </a:r>
            <a:br/>
            <a:r>
              <a:rPr>
                <a:latin typeface="Courier"/>
              </a:rPr>
              <a:t>            id</a:t>
            </a:r>
            <a:r>
              <a:rPr>
                <a:solidFill>
                  <a:srgbClr val="666666"/>
                </a:solidFill>
                <a:latin typeface="Courier"/>
              </a:rPr>
              <a:t>);</a:t>
            </a:r>
            <a:br/>
            <a:r>
              <a:rPr>
                <a:latin typeface="Courier"/>
              </a:rPr>
              <a:t>        </a:t>
            </a:r>
            <a:r>
              <a:rPr b="1">
                <a:solidFill>
                  <a:srgbClr val="007020"/>
                </a:solidFill>
                <a:latin typeface="Courier"/>
              </a:rPr>
              <a:t>return</a:t>
            </a:r>
            <a:r>
              <a:rPr>
                <a:latin typeface="Courier"/>
              </a:rPr>
              <a:t> </a:t>
            </a:r>
            <a:r>
              <a:rPr b="1">
                <a:solidFill>
                  <a:srgbClr val="007020"/>
                </a:solidFill>
                <a:latin typeface="Courier"/>
              </a:rPr>
              <a:t>new</a:t>
            </a:r>
            <a:r>
              <a:rPr>
                <a:latin typeface="Courier"/>
              </a:rPr>
              <a:t> </a:t>
            </a:r>
            <a:r>
              <a:rPr>
                <a:solidFill>
                  <a:srgbClr val="06287E"/>
                </a:solidFill>
                <a:latin typeface="Courier"/>
              </a:rPr>
              <a:t>Video</a:t>
            </a:r>
            <a:r>
              <a:rPr>
                <a:solidFill>
                  <a:srgbClr val="666666"/>
                </a:solidFill>
                <a:latin typeface="Courier"/>
              </a:rPr>
              <a:t>(</a:t>
            </a:r>
            <a:r>
              <a:rPr>
                <a:latin typeface="Courier"/>
              </a:rPr>
              <a:t>id</a:t>
            </a:r>
            <a:r>
              <a:rPr>
                <a:solidFill>
                  <a:srgbClr val="666666"/>
                </a:solidFill>
                <a:latin typeface="Courier"/>
              </a:rPr>
              <a:t>,</a:t>
            </a:r>
            <a:r>
              <a:rPr>
                <a:latin typeface="Courier"/>
              </a:rPr>
              <a:t> </a:t>
            </a:r>
            <a:r>
              <a:rPr>
                <a:solidFill>
                  <a:srgbClr val="4070A0"/>
                </a:solidFill>
                <a:latin typeface="Courier"/>
              </a:rPr>
              <a:t>"Sample Video"</a:t>
            </a:r>
            <a:r>
              <a:rPr>
                <a:solidFill>
                  <a:srgbClr val="666666"/>
                </a:solidFill>
                <a:latin typeface="Courier"/>
              </a:rPr>
              <a:t>);</a:t>
            </a:r>
            <a:br/>
            <a:r>
              <a:rPr>
                <a:latin typeface="Courier"/>
              </a:rPr>
              <a:t>    </a:t>
            </a:r>
            <a:r>
              <a:rPr>
                <a:solidFill>
                  <a:srgbClr val="666666"/>
                </a:solidFill>
                <a:latin typeface="Courier"/>
              </a:rPr>
              <a:t>}</a:t>
            </a:r>
            <a:br/>
            <a:br/>
            <a:r>
              <a:rPr>
                <a:latin typeface="Courier"/>
              </a:rPr>
              <a:t>    </a:t>
            </a:r>
            <a:r>
              <a:rPr>
                <a:solidFill>
                  <a:srgbClr val="7D9029"/>
                </a:solidFill>
                <a:latin typeface="Courier"/>
              </a:rPr>
              <a:t>@Override</a:t>
            </a:r>
            <a:br/>
            <a:r>
              <a:rPr>
                <a:latin typeface="Courier"/>
              </a:rPr>
              <a:t>    </a:t>
            </a:r>
            <a:r>
              <a:rPr b="1">
                <a:solidFill>
                  <a:srgbClr val="007020"/>
                </a:solidFill>
                <a:latin typeface="Courier"/>
              </a:rPr>
              <a:t>public</a:t>
            </a:r>
            <a:r>
              <a:rPr>
                <a:latin typeface="Courier"/>
              </a:rPr>
              <a:t> </a:t>
            </a:r>
            <a:r>
              <a:rPr>
                <a:solidFill>
                  <a:srgbClr val="902000"/>
                </a:solidFill>
                <a:latin typeface="Courier"/>
              </a:rPr>
              <a:t>void</a:t>
            </a:r>
            <a:r>
              <a:rPr>
                <a:latin typeface="Courier"/>
              </a:rPr>
              <a:t> </a:t>
            </a:r>
            <a:r>
              <a:rPr>
                <a:solidFill>
                  <a:srgbClr val="06287E"/>
                </a:solidFill>
                <a:latin typeface="Courier"/>
              </a:rPr>
              <a:t>downloadVideo</a:t>
            </a:r>
            <a:r>
              <a:rPr>
                <a:solidFill>
                  <a:srgbClr val="666666"/>
                </a:solidFill>
                <a:latin typeface="Courier"/>
              </a:rPr>
              <a:t>(</a:t>
            </a:r>
            <a:r>
              <a:rPr>
                <a:solidFill>
                  <a:srgbClr val="008000"/>
                </a:solidFill>
                <a:latin typeface="Courier"/>
              </a:rPr>
              <a:t>String</a:t>
            </a:r>
            <a:r>
              <a:rPr>
                <a:latin typeface="Courier"/>
              </a:rPr>
              <a:t> id</a:t>
            </a:r>
            <a:r>
              <a:rPr>
                <a:solidFill>
                  <a:srgbClr val="666666"/>
                </a:solidFill>
                <a:latin typeface="Courier"/>
              </a:rPr>
              <a:t>)</a:t>
            </a:r>
            <a:r>
              <a:rPr>
                <a:latin typeface="Courier"/>
              </a:rPr>
              <a:t> </a:t>
            </a:r>
            <a:r>
              <a:rPr>
                <a:solidFill>
                  <a:srgbClr val="666666"/>
                </a:solidFill>
                <a:latin typeface="Courier"/>
              </a:rPr>
              <a:t>{</a:t>
            </a:r>
            <a:br/>
            <a:r>
              <a:rPr>
                <a:latin typeface="Courier"/>
              </a:rPr>
              <a:t>        </a:t>
            </a:r>
            <a:r>
              <a:rPr i="1">
                <a:solidFill>
                  <a:srgbClr val="60A0B0"/>
                </a:solidFill>
                <a:latin typeface="Courier"/>
              </a:rPr>
              <a:t>// Download a video file from YouTube.</a:t>
            </a:r>
            <a:br/>
            <a:r>
              <a:rPr>
                <a:latin typeface="Courier"/>
              </a:rPr>
              <a:t>        </a:t>
            </a:r>
            <a:r>
              <a:rPr>
                <a:solidFill>
                  <a:srgbClr val="008000"/>
                </a:solidFill>
                <a:latin typeface="Courier"/>
              </a:rPr>
              <a:t>System</a:t>
            </a:r>
            <a:r>
              <a:rPr>
                <a:solidFill>
                  <a:srgbClr val="666666"/>
                </a:solidFill>
                <a:latin typeface="Courier"/>
              </a:rPr>
              <a:t>.</a:t>
            </a:r>
            <a:r>
              <a:rPr>
                <a:solidFill>
                  <a:srgbClr val="06287E"/>
                </a:solidFill>
                <a:latin typeface="Courier"/>
              </a:rPr>
              <a:t>out</a:t>
            </a:r>
            <a:r>
              <a:rPr>
                <a:solidFill>
                  <a:srgbClr val="666666"/>
                </a:solidFill>
                <a:latin typeface="Courier"/>
              </a:rPr>
              <a:t>.</a:t>
            </a:r>
            <a:r>
              <a:rPr>
                <a:solidFill>
                  <a:srgbClr val="06287E"/>
                </a:solidFill>
                <a:latin typeface="Courier"/>
              </a:rPr>
              <a:t>println</a:t>
            </a:r>
            <a:r>
              <a:rPr>
                <a:solidFill>
                  <a:srgbClr val="666666"/>
                </a:solidFill>
                <a:latin typeface="Courier"/>
              </a:rPr>
              <a:t>(</a:t>
            </a:r>
            <a:r>
              <a:rPr>
                <a:solidFill>
                  <a:srgbClr val="4070A0"/>
                </a:solidFill>
                <a:latin typeface="Courier"/>
              </a:rPr>
              <a:t>"Downloading video file: "</a:t>
            </a:r>
            <a:r>
              <a:rPr>
                <a:latin typeface="Courier"/>
              </a:rPr>
              <a:t> </a:t>
            </a:r>
            <a:r>
              <a:rPr>
                <a:solidFill>
                  <a:srgbClr val="666666"/>
                </a:solidFill>
                <a:latin typeface="Courier"/>
              </a:rPr>
              <a:t>+</a:t>
            </a:r>
            <a:r>
              <a:rPr>
                <a:latin typeface="Courier"/>
              </a:rPr>
              <a:t> id</a:t>
            </a:r>
            <a:r>
              <a:rPr>
                <a:solidFill>
                  <a:srgbClr val="666666"/>
                </a:solidFill>
                <a:latin typeface="Courier"/>
              </a:rPr>
              <a:t>);</a:t>
            </a:r>
            <a:br/>
            <a:r>
              <a:rPr>
                <a:latin typeface="Courier"/>
              </a:rPr>
              <a:t>    </a:t>
            </a:r>
            <a:r>
              <a:rPr>
                <a:solidFill>
                  <a:srgbClr val="666666"/>
                </a:solidFill>
                <a:latin typeface="Courier"/>
              </a:rPr>
              <a:t>}</a:t>
            </a:r>
            <a:br/>
            <a:r>
              <a:rPr>
                <a:solidFill>
                  <a:srgbClr val="666666"/>
                </a:solidFill>
                <a:latin typeface="Courier"/>
              </a:rPr>
              <a:t>}</a:t>
            </a:r>
          </a:p>
        </p:txBody>
      </p:sp>
    </p:spTree>
  </p:cSld>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Proxy: Java Code Example - Proxy (Caching)</a:t>
            </a:r>
          </a:p>
        </p:txBody>
      </p:sp>
      <p:sp>
        <p:nvSpPr>
          <p:cNvPr id="3" name="Content Placeholder 2"/>
          <p:cNvSpPr>
            <a:spLocks noGrp="1"/>
          </p:cNvSpPr>
          <p:nvPr>
            <p:ph idx="1"/>
          </p:nvPr>
        </p:nvSpPr>
        <p:spPr/>
        <p:txBody>
          <a:bodyPr/>
          <a:lstStyle/>
          <a:p>
            <a:pPr lvl="0" indent="0">
              <a:buNone/>
            </a:pPr>
            <a:r>
              <a:rPr b="1">
                <a:solidFill>
                  <a:srgbClr val="007020"/>
                </a:solidFill>
                <a:latin typeface="Courier"/>
              </a:rPr>
              <a:t>import</a:t>
            </a:r>
            <a:r>
              <a:rPr>
                <a:latin typeface="Courier"/>
              </a:rPr>
              <a:t> </a:t>
            </a:r>
            <a:r>
              <a:rPr b="1">
                <a:solidFill>
                  <a:srgbClr val="008000"/>
                </a:solidFill>
                <a:latin typeface="Courier"/>
              </a:rPr>
              <a:t>java</a:t>
            </a:r>
            <a:r>
              <a:rPr>
                <a:solidFill>
                  <a:srgbClr val="666666"/>
                </a:solidFill>
                <a:latin typeface="Courier"/>
              </a:rPr>
              <a:t>.</a:t>
            </a:r>
            <a:r>
              <a:rPr b="1">
                <a:solidFill>
                  <a:srgbClr val="008000"/>
                </a:solidFill>
                <a:latin typeface="Courier"/>
              </a:rPr>
              <a:t>util</a:t>
            </a:r>
            <a:r>
              <a:rPr>
                <a:solidFill>
                  <a:srgbClr val="666666"/>
                </a:solidFill>
                <a:latin typeface="Courier"/>
              </a:rPr>
              <a:t>.*;</a:t>
            </a:r>
            <a:br/>
            <a:br/>
            <a:r>
              <a:rPr i="1">
                <a:solidFill>
                  <a:srgbClr val="60A0B0"/>
                </a:solidFill>
                <a:latin typeface="Courier"/>
              </a:rPr>
              <a:t>// To save some bandwidth, we can cache request results</a:t>
            </a:r>
            <a:br/>
            <a:r>
              <a:rPr i="1">
                <a:solidFill>
                  <a:srgbClr val="60A0B0"/>
                </a:solidFill>
                <a:latin typeface="Courier"/>
              </a:rPr>
              <a:t>// and keep them for some time. But it may be impossible</a:t>
            </a:r>
            <a:br/>
            <a:r>
              <a:rPr i="1">
                <a:solidFill>
                  <a:srgbClr val="60A0B0"/>
                </a:solidFill>
                <a:latin typeface="Courier"/>
              </a:rPr>
              <a:t>// to put such code directly into the service class. For</a:t>
            </a:r>
            <a:br/>
            <a:r>
              <a:rPr i="1">
                <a:solidFill>
                  <a:srgbClr val="60A0B0"/>
                </a:solidFill>
                <a:latin typeface="Courier"/>
              </a:rPr>
              <a:t>// example, it could have been provided as part of a</a:t>
            </a:r>
            <a:br/>
            <a:r>
              <a:rPr i="1">
                <a:solidFill>
                  <a:srgbClr val="60A0B0"/>
                </a:solidFill>
                <a:latin typeface="Courier"/>
              </a:rPr>
              <a:t>// third party library and/or defined as final.</a:t>
            </a:r>
            <a:br/>
            <a:r>
              <a:rPr b="1">
                <a:solidFill>
                  <a:srgbClr val="007020"/>
                </a:solidFill>
                <a:latin typeface="Courier"/>
              </a:rPr>
              <a:t>public</a:t>
            </a:r>
            <a:r>
              <a:rPr>
                <a:latin typeface="Courier"/>
              </a:rPr>
              <a:t> </a:t>
            </a:r>
            <a:r>
              <a:rPr b="1">
                <a:solidFill>
                  <a:srgbClr val="007020"/>
                </a:solidFill>
                <a:latin typeface="Courier"/>
              </a:rPr>
              <a:t>class</a:t>
            </a:r>
            <a:r>
              <a:rPr>
                <a:latin typeface="Courier"/>
              </a:rPr>
              <a:t> CachedYouTubeClass</a:t>
            </a:r>
            <a:br/>
            <a:r>
              <a:rPr>
                <a:latin typeface="Courier"/>
              </a:rPr>
              <a:t>        </a:t>
            </a:r>
            <a:r>
              <a:rPr b="1">
                <a:solidFill>
                  <a:srgbClr val="007020"/>
                </a:solidFill>
                <a:latin typeface="Courier"/>
              </a:rPr>
              <a:t>implements</a:t>
            </a:r>
            <a:r>
              <a:rPr>
                <a:latin typeface="Courier"/>
              </a:rPr>
              <a:t> ThirdPartyYouTubeLib </a:t>
            </a:r>
            <a:r>
              <a:rPr>
                <a:solidFill>
                  <a:srgbClr val="666666"/>
                </a:solidFill>
                <a:latin typeface="Courier"/>
              </a:rPr>
              <a:t>{</a:t>
            </a:r>
            <a:br/>
            <a:br/>
            <a:r>
              <a:rPr>
                <a:latin typeface="Courier"/>
              </a:rPr>
              <a:t>    </a:t>
            </a:r>
            <a:r>
              <a:rPr b="1">
                <a:solidFill>
                  <a:srgbClr val="007020"/>
                </a:solidFill>
                <a:latin typeface="Courier"/>
              </a:rPr>
              <a:t>private</a:t>
            </a:r>
            <a:r>
              <a:rPr>
                <a:latin typeface="Courier"/>
              </a:rPr>
              <a:t> ThirdPartyYouTubeLib service</a:t>
            </a:r>
            <a:r>
              <a:rPr>
                <a:solidFill>
                  <a:srgbClr val="666666"/>
                </a:solidFill>
                <a:latin typeface="Courier"/>
              </a:rPr>
              <a:t>;</a:t>
            </a:r>
            <a:br/>
            <a:r>
              <a:rPr>
                <a:latin typeface="Courier"/>
              </a:rPr>
              <a:t>    </a:t>
            </a:r>
            <a:r>
              <a:rPr b="1">
                <a:solidFill>
                  <a:srgbClr val="007020"/>
                </a:solidFill>
                <a:latin typeface="Courier"/>
              </a:rPr>
              <a:t>private</a:t>
            </a:r>
            <a:r>
              <a:rPr>
                <a:latin typeface="Courier"/>
              </a:rPr>
              <a:t> </a:t>
            </a:r>
            <a:r>
              <a:rPr>
                <a:solidFill>
                  <a:srgbClr val="008000"/>
                </a:solidFill>
                <a:latin typeface="Courier"/>
              </a:rPr>
              <a:t>List</a:t>
            </a:r>
            <a:r>
              <a:rPr>
                <a:solidFill>
                  <a:srgbClr val="666666"/>
                </a:solidFill>
                <a:latin typeface="Courier"/>
              </a:rPr>
              <a:t>&lt;</a:t>
            </a:r>
            <a:r>
              <a:rPr>
                <a:latin typeface="Courier"/>
              </a:rPr>
              <a:t>Video</a:t>
            </a:r>
            <a:r>
              <a:rPr>
                <a:solidFill>
                  <a:srgbClr val="666666"/>
                </a:solidFill>
                <a:latin typeface="Courier"/>
              </a:rPr>
              <a:t>&gt;</a:t>
            </a:r>
            <a:r>
              <a:rPr>
                <a:latin typeface="Courier"/>
              </a:rPr>
              <a:t> listCache </a:t>
            </a:r>
            <a:r>
              <a:rPr>
                <a:solidFill>
                  <a:srgbClr val="666666"/>
                </a:solidFill>
                <a:latin typeface="Courier"/>
              </a:rPr>
              <a:t>=</a:t>
            </a:r>
            <a:r>
              <a:rPr>
                <a:latin typeface="Courier"/>
              </a:rPr>
              <a:t> </a:t>
            </a:r>
            <a:r>
              <a:rPr b="1">
                <a:solidFill>
                  <a:srgbClr val="007020"/>
                </a:solidFill>
                <a:latin typeface="Courier"/>
              </a:rPr>
              <a:t>null</a:t>
            </a:r>
            <a:r>
              <a:rPr>
                <a:solidFill>
                  <a:srgbClr val="666666"/>
                </a:solidFill>
                <a:latin typeface="Courier"/>
              </a:rPr>
              <a:t>;</a:t>
            </a:r>
            <a:br/>
            <a:r>
              <a:rPr>
                <a:latin typeface="Courier"/>
              </a:rPr>
              <a:t>    </a:t>
            </a:r>
            <a:r>
              <a:rPr b="1">
                <a:solidFill>
                  <a:srgbClr val="007020"/>
                </a:solidFill>
                <a:latin typeface="Courier"/>
              </a:rPr>
              <a:t>private</a:t>
            </a:r>
            <a:r>
              <a:rPr>
                <a:latin typeface="Courier"/>
              </a:rPr>
              <a:t> </a:t>
            </a:r>
            <a:r>
              <a:rPr>
                <a:solidFill>
                  <a:srgbClr val="008000"/>
                </a:solidFill>
                <a:latin typeface="Courier"/>
              </a:rPr>
              <a:t>Map</a:t>
            </a:r>
            <a:r>
              <a:rPr>
                <a:solidFill>
                  <a:srgbClr val="666666"/>
                </a:solidFill>
                <a:latin typeface="Courier"/>
              </a:rPr>
              <a:t>&lt;</a:t>
            </a:r>
            <a:r>
              <a:rPr>
                <a:solidFill>
                  <a:srgbClr val="008000"/>
                </a:solidFill>
                <a:latin typeface="Courier"/>
              </a:rPr>
              <a:t>String</a:t>
            </a:r>
            <a:r>
              <a:rPr>
                <a:solidFill>
                  <a:srgbClr val="666666"/>
                </a:solidFill>
                <a:latin typeface="Courier"/>
              </a:rPr>
              <a:t>,</a:t>
            </a:r>
            <a:r>
              <a:rPr>
                <a:latin typeface="Courier"/>
              </a:rPr>
              <a:t> Video</a:t>
            </a:r>
            <a:r>
              <a:rPr>
                <a:solidFill>
                  <a:srgbClr val="666666"/>
                </a:solidFill>
                <a:latin typeface="Courier"/>
              </a:rPr>
              <a:t>&gt;</a:t>
            </a:r>
            <a:r>
              <a:rPr>
                <a:latin typeface="Courier"/>
              </a:rPr>
              <a:t> videoCache </a:t>
            </a:r>
            <a:r>
              <a:rPr>
                <a:solidFill>
                  <a:srgbClr val="666666"/>
                </a:solidFill>
                <a:latin typeface="Courier"/>
              </a:rPr>
              <a:t>=</a:t>
            </a:r>
            <a:r>
              <a:rPr>
                <a:latin typeface="Courier"/>
              </a:rPr>
              <a:t> </a:t>
            </a:r>
            <a:r>
              <a:rPr b="1">
                <a:solidFill>
                  <a:srgbClr val="007020"/>
                </a:solidFill>
                <a:latin typeface="Courier"/>
              </a:rPr>
              <a:t>new</a:t>
            </a:r>
            <a:r>
              <a:rPr>
                <a:latin typeface="Courier"/>
              </a:rPr>
              <a:t> </a:t>
            </a:r>
            <a:r>
              <a:rPr>
                <a:solidFill>
                  <a:srgbClr val="008000"/>
                </a:solidFill>
                <a:latin typeface="Courier"/>
              </a:rPr>
              <a:t>HashMap</a:t>
            </a:r>
            <a:r>
              <a:rPr>
                <a:solidFill>
                  <a:srgbClr val="666666"/>
                </a:solidFill>
                <a:latin typeface="Courier"/>
              </a:rPr>
              <a:t>&lt;&gt;();</a:t>
            </a:r>
            <a:br/>
            <a:r>
              <a:rPr>
                <a:latin typeface="Courier"/>
              </a:rPr>
              <a:t>    </a:t>
            </a:r>
            <a:r>
              <a:rPr b="1">
                <a:solidFill>
                  <a:srgbClr val="007020"/>
                </a:solidFill>
                <a:latin typeface="Courier"/>
              </a:rPr>
              <a:t>private</a:t>
            </a:r>
            <a:r>
              <a:rPr>
                <a:latin typeface="Courier"/>
              </a:rPr>
              <a:t> </a:t>
            </a:r>
            <a:r>
              <a:rPr>
                <a:solidFill>
                  <a:srgbClr val="902000"/>
                </a:solidFill>
                <a:latin typeface="Courier"/>
              </a:rPr>
              <a:t>boolean</a:t>
            </a:r>
            <a:r>
              <a:rPr>
                <a:latin typeface="Courier"/>
              </a:rPr>
              <a:t> needReset </a:t>
            </a:r>
            <a:r>
              <a:rPr>
                <a:solidFill>
                  <a:srgbClr val="666666"/>
                </a:solidFill>
                <a:latin typeface="Courier"/>
              </a:rPr>
              <a:t>=</a:t>
            </a:r>
            <a:r>
              <a:rPr>
                <a:latin typeface="Courier"/>
              </a:rPr>
              <a:t> </a:t>
            </a:r>
            <a:r>
              <a:rPr b="1">
                <a:solidFill>
                  <a:srgbClr val="007020"/>
                </a:solidFill>
                <a:latin typeface="Courier"/>
              </a:rPr>
              <a:t>false</a:t>
            </a:r>
            <a:r>
              <a:rPr>
                <a:solidFill>
                  <a:srgbClr val="666666"/>
                </a:solidFill>
                <a:latin typeface="Courier"/>
              </a:rPr>
              <a:t>;</a:t>
            </a:r>
            <a:br/>
            <a:br/>
            <a:r>
              <a:rPr>
                <a:latin typeface="Courier"/>
              </a:rPr>
              <a:t>    </a:t>
            </a:r>
            <a:r>
              <a:rPr b="1">
                <a:solidFill>
                  <a:srgbClr val="007020"/>
                </a:solidFill>
                <a:latin typeface="Courier"/>
              </a:rPr>
              <a:t>public</a:t>
            </a:r>
            <a:r>
              <a:rPr>
                <a:latin typeface="Courier"/>
              </a:rPr>
              <a:t> </a:t>
            </a:r>
            <a:r>
              <a:rPr>
                <a:solidFill>
                  <a:srgbClr val="06287E"/>
                </a:solidFill>
                <a:latin typeface="Courier"/>
              </a:rPr>
              <a:t>CachedYouTubeClass</a:t>
            </a:r>
            <a:r>
              <a:rPr>
                <a:solidFill>
                  <a:srgbClr val="666666"/>
                </a:solidFill>
                <a:latin typeface="Courier"/>
              </a:rPr>
              <a:t>(</a:t>
            </a:r>
            <a:r>
              <a:rPr>
                <a:latin typeface="Courier"/>
              </a:rPr>
              <a:t>ThirdPartyYouTubeLib service</a:t>
            </a:r>
            <a:r>
              <a:rPr>
                <a:solidFill>
                  <a:srgbClr val="666666"/>
                </a:solidFill>
                <a:latin typeface="Courier"/>
              </a:rPr>
              <a:t>)</a:t>
            </a:r>
            <a:r>
              <a:rPr>
                <a:latin typeface="Courier"/>
              </a:rPr>
              <a:t> </a:t>
            </a:r>
            <a:r>
              <a:rPr>
                <a:solidFill>
                  <a:srgbClr val="666666"/>
                </a:solidFill>
                <a:latin typeface="Courier"/>
              </a:rPr>
              <a:t>{</a:t>
            </a:r>
            <a:br/>
            <a:r>
              <a:rPr>
                <a:latin typeface="Courier"/>
              </a:rPr>
              <a:t>        </a:t>
            </a:r>
            <a:r>
              <a:rPr b="1">
                <a:solidFill>
                  <a:srgbClr val="007020"/>
                </a:solidFill>
                <a:latin typeface="Courier"/>
              </a:rPr>
              <a:t>this</a:t>
            </a:r>
            <a:r>
              <a:rPr>
                <a:solidFill>
                  <a:srgbClr val="666666"/>
                </a:solidFill>
                <a:latin typeface="Courier"/>
              </a:rPr>
              <a:t>.</a:t>
            </a:r>
            <a:r>
              <a:rPr>
                <a:solidFill>
                  <a:srgbClr val="06287E"/>
                </a:solidFill>
                <a:latin typeface="Courier"/>
              </a:rPr>
              <a:t>service</a:t>
            </a:r>
            <a:r>
              <a:rPr>
                <a:latin typeface="Courier"/>
              </a:rPr>
              <a:t> </a:t>
            </a:r>
            <a:r>
              <a:rPr>
                <a:solidFill>
                  <a:srgbClr val="666666"/>
                </a:solidFill>
                <a:latin typeface="Courier"/>
              </a:rPr>
              <a:t>=</a:t>
            </a:r>
            <a:r>
              <a:rPr>
                <a:latin typeface="Courier"/>
              </a:rPr>
              <a:t> service</a:t>
            </a:r>
            <a:r>
              <a:rPr>
                <a:solidFill>
                  <a:srgbClr val="666666"/>
                </a:solidFill>
                <a:latin typeface="Courier"/>
              </a:rPr>
              <a:t>;</a:t>
            </a:r>
            <a:br/>
            <a:r>
              <a:rPr>
                <a:latin typeface="Courier"/>
              </a:rPr>
              <a:t>    </a:t>
            </a:r>
            <a:r>
              <a:rPr>
                <a:solidFill>
                  <a:srgbClr val="666666"/>
                </a:solidFill>
                <a:latin typeface="Courier"/>
              </a:rPr>
              <a:t>}</a:t>
            </a:r>
            <a:br/>
            <a:br/>
            <a:r>
              <a:rPr>
                <a:latin typeface="Courier"/>
              </a:rPr>
              <a:t>    </a:t>
            </a:r>
            <a:r>
              <a:rPr>
                <a:solidFill>
                  <a:srgbClr val="7D9029"/>
                </a:solidFill>
                <a:latin typeface="Courier"/>
              </a:rPr>
              <a:t>@Override</a:t>
            </a:r>
            <a:br/>
            <a:r>
              <a:rPr>
                <a:latin typeface="Courier"/>
              </a:rPr>
              <a:t>    </a:t>
            </a:r>
            <a:r>
              <a:rPr b="1">
                <a:solidFill>
                  <a:srgbClr val="007020"/>
                </a:solidFill>
                <a:latin typeface="Courier"/>
              </a:rPr>
              <a:t>public</a:t>
            </a:r>
            <a:r>
              <a:rPr>
                <a:latin typeface="Courier"/>
              </a:rPr>
              <a:t> </a:t>
            </a:r>
            <a:r>
              <a:rPr>
                <a:solidFill>
                  <a:srgbClr val="008000"/>
                </a:solidFill>
                <a:latin typeface="Courier"/>
              </a:rPr>
              <a:t>List</a:t>
            </a:r>
            <a:r>
              <a:rPr>
                <a:solidFill>
                  <a:srgbClr val="666666"/>
                </a:solidFill>
                <a:latin typeface="Courier"/>
              </a:rPr>
              <a:t>&lt;</a:t>
            </a:r>
            <a:r>
              <a:rPr>
                <a:latin typeface="Courier"/>
              </a:rPr>
              <a:t>Video</a:t>
            </a:r>
            <a:r>
              <a:rPr>
                <a:solidFill>
                  <a:srgbClr val="666666"/>
                </a:solidFill>
                <a:latin typeface="Courier"/>
              </a:rPr>
              <a:t>&gt;</a:t>
            </a:r>
            <a:r>
              <a:rPr>
                <a:latin typeface="Courier"/>
              </a:rPr>
              <a:t> </a:t>
            </a:r>
            <a:r>
              <a:rPr>
                <a:solidFill>
                  <a:srgbClr val="06287E"/>
                </a:solidFill>
                <a:latin typeface="Courier"/>
              </a:rPr>
              <a:t>listVideos</a:t>
            </a:r>
            <a:r>
              <a:rPr>
                <a:solidFill>
                  <a:srgbClr val="666666"/>
                </a:solidFill>
                <a:latin typeface="Courier"/>
              </a:rPr>
              <a:t>()</a:t>
            </a:r>
            <a:r>
              <a:rPr>
                <a:latin typeface="Courier"/>
              </a:rPr>
              <a:t> </a:t>
            </a:r>
            <a:r>
              <a:rPr>
                <a:solidFill>
                  <a:srgbClr val="666666"/>
                </a:solidFill>
                <a:latin typeface="Courier"/>
              </a:rPr>
              <a:t>{</a:t>
            </a:r>
            <a:br/>
            <a:r>
              <a:rPr>
                <a:latin typeface="Courier"/>
              </a:rPr>
              <a:t>        </a:t>
            </a:r>
            <a:r>
              <a:rPr b="1">
                <a:solidFill>
                  <a:srgbClr val="007020"/>
                </a:solidFill>
                <a:latin typeface="Courier"/>
              </a:rPr>
              <a:t>if</a:t>
            </a:r>
            <a:r>
              <a:rPr>
                <a:latin typeface="Courier"/>
              </a:rPr>
              <a:t> </a:t>
            </a:r>
            <a:r>
              <a:rPr>
                <a:solidFill>
                  <a:srgbClr val="666666"/>
                </a:solidFill>
                <a:latin typeface="Courier"/>
              </a:rPr>
              <a:t>(</a:t>
            </a:r>
            <a:r>
              <a:rPr>
                <a:latin typeface="Courier"/>
              </a:rPr>
              <a:t>listCache </a:t>
            </a:r>
            <a:r>
              <a:rPr>
                <a:solidFill>
                  <a:srgbClr val="666666"/>
                </a:solidFill>
                <a:latin typeface="Courier"/>
              </a:rPr>
              <a:t>==</a:t>
            </a:r>
            <a:r>
              <a:rPr>
                <a:latin typeface="Courier"/>
              </a:rPr>
              <a:t> </a:t>
            </a:r>
            <a:r>
              <a:rPr b="1">
                <a:solidFill>
                  <a:srgbClr val="007020"/>
                </a:solidFill>
                <a:latin typeface="Courier"/>
              </a:rPr>
              <a:t>null</a:t>
            </a:r>
            <a:r>
              <a:rPr>
                <a:latin typeface="Courier"/>
              </a:rPr>
              <a:t> </a:t>
            </a:r>
            <a:r>
              <a:rPr>
                <a:solidFill>
                  <a:srgbClr val="666666"/>
                </a:solidFill>
                <a:latin typeface="Courier"/>
              </a:rPr>
              <a:t>||</a:t>
            </a:r>
            <a:r>
              <a:rPr>
                <a:latin typeface="Courier"/>
              </a:rPr>
              <a:t> needReset</a:t>
            </a:r>
            <a:r>
              <a:rPr>
                <a:solidFill>
                  <a:srgbClr val="666666"/>
                </a:solidFill>
                <a:latin typeface="Courier"/>
              </a:rPr>
              <a:t>)</a:t>
            </a:r>
            <a:r>
              <a:rPr>
                <a:latin typeface="Courier"/>
              </a:rPr>
              <a:t> </a:t>
            </a:r>
            <a:r>
              <a:rPr>
                <a:solidFill>
                  <a:srgbClr val="666666"/>
                </a:solidFill>
                <a:latin typeface="Courier"/>
              </a:rPr>
              <a:t>{</a:t>
            </a:r>
            <a:br/>
            <a:r>
              <a:rPr>
                <a:latin typeface="Courier"/>
              </a:rPr>
              <a:t>            listCache </a:t>
            </a:r>
            <a:r>
              <a:rPr>
                <a:solidFill>
                  <a:srgbClr val="666666"/>
                </a:solidFill>
                <a:latin typeface="Courier"/>
              </a:rPr>
              <a:t>=</a:t>
            </a:r>
            <a:r>
              <a:rPr>
                <a:latin typeface="Courier"/>
              </a:rPr>
              <a:t> service</a:t>
            </a:r>
            <a:r>
              <a:rPr>
                <a:solidFill>
                  <a:srgbClr val="666666"/>
                </a:solidFill>
                <a:latin typeface="Courier"/>
              </a:rPr>
              <a:t>.</a:t>
            </a:r>
            <a:r>
              <a:rPr>
                <a:solidFill>
                  <a:srgbClr val="06287E"/>
                </a:solidFill>
                <a:latin typeface="Courier"/>
              </a:rPr>
              <a:t>listVideos</a:t>
            </a:r>
            <a:r>
              <a:rPr>
                <a:solidFill>
                  <a:srgbClr val="666666"/>
                </a:solidFill>
                <a:latin typeface="Courier"/>
              </a:rPr>
              <a:t>();</a:t>
            </a:r>
            <a:br/>
            <a:r>
              <a:rPr>
                <a:latin typeface="Courier"/>
              </a:rPr>
              <a:t>            needReset </a:t>
            </a:r>
            <a:r>
              <a:rPr>
                <a:solidFill>
                  <a:srgbClr val="666666"/>
                </a:solidFill>
                <a:latin typeface="Courier"/>
              </a:rPr>
              <a:t>=</a:t>
            </a:r>
            <a:r>
              <a:rPr>
                <a:latin typeface="Courier"/>
              </a:rPr>
              <a:t> </a:t>
            </a:r>
            <a:r>
              <a:rPr b="1">
                <a:solidFill>
                  <a:srgbClr val="007020"/>
                </a:solidFill>
                <a:latin typeface="Courier"/>
              </a:rPr>
              <a:t>false</a:t>
            </a:r>
            <a:r>
              <a:rPr>
                <a:solidFill>
                  <a:srgbClr val="666666"/>
                </a:solidFill>
                <a:latin typeface="Courier"/>
              </a:rPr>
              <a:t>;</a:t>
            </a:r>
            <a:br/>
            <a:r>
              <a:rPr>
                <a:latin typeface="Courier"/>
              </a:rPr>
              <a:t>        </a:t>
            </a:r>
            <a:r>
              <a:rPr>
                <a:solidFill>
                  <a:srgbClr val="666666"/>
                </a:solidFill>
                <a:latin typeface="Courier"/>
              </a:rPr>
              <a:t>}</a:t>
            </a:r>
            <a:br/>
            <a:r>
              <a:rPr>
                <a:latin typeface="Courier"/>
              </a:rPr>
              <a:t>        </a:t>
            </a:r>
            <a:r>
              <a:rPr b="1">
                <a:solidFill>
                  <a:srgbClr val="007020"/>
                </a:solidFill>
                <a:latin typeface="Courier"/>
              </a:rPr>
              <a:t>return</a:t>
            </a:r>
            <a:r>
              <a:rPr>
                <a:latin typeface="Courier"/>
              </a:rPr>
              <a:t> listCache</a:t>
            </a:r>
            <a:r>
              <a:rPr>
                <a:solidFill>
                  <a:srgbClr val="666666"/>
                </a:solidFill>
                <a:latin typeface="Courier"/>
              </a:rPr>
              <a:t>;</a:t>
            </a:r>
            <a:br/>
            <a:r>
              <a:rPr>
                <a:latin typeface="Courier"/>
              </a:rPr>
              <a:t>    </a:t>
            </a:r>
            <a:r>
              <a:rPr>
                <a:solidFill>
                  <a:srgbClr val="666666"/>
                </a:solidFill>
                <a:latin typeface="Courier"/>
              </a:rPr>
              <a:t>}</a:t>
            </a:r>
            <a:br/>
            <a:br/>
            <a:r>
              <a:rPr>
                <a:latin typeface="Courier"/>
              </a:rPr>
              <a:t>    </a:t>
            </a:r>
            <a:r>
              <a:rPr>
                <a:solidFill>
                  <a:srgbClr val="7D9029"/>
                </a:solidFill>
                <a:latin typeface="Courier"/>
              </a:rPr>
              <a:t>@Override</a:t>
            </a:r>
            <a:br/>
            <a:r>
              <a:rPr>
                <a:latin typeface="Courier"/>
              </a:rPr>
              <a:t>    </a:t>
            </a:r>
            <a:r>
              <a:rPr b="1">
                <a:solidFill>
                  <a:srgbClr val="007020"/>
                </a:solidFill>
                <a:latin typeface="Courier"/>
              </a:rPr>
              <a:t>public</a:t>
            </a:r>
            <a:r>
              <a:rPr>
                <a:latin typeface="Courier"/>
              </a:rPr>
              <a:t> Video </a:t>
            </a:r>
            <a:r>
              <a:rPr>
                <a:solidFill>
                  <a:srgbClr val="06287E"/>
                </a:solidFill>
                <a:latin typeface="Courier"/>
              </a:rPr>
              <a:t>getVideoInfo</a:t>
            </a:r>
            <a:r>
              <a:rPr>
                <a:solidFill>
                  <a:srgbClr val="666666"/>
                </a:solidFill>
                <a:latin typeface="Courier"/>
              </a:rPr>
              <a:t>(</a:t>
            </a:r>
            <a:r>
              <a:rPr>
                <a:solidFill>
                  <a:srgbClr val="008000"/>
                </a:solidFill>
                <a:latin typeface="Courier"/>
              </a:rPr>
              <a:t>String</a:t>
            </a:r>
            <a:r>
              <a:rPr>
                <a:latin typeface="Courier"/>
              </a:rPr>
              <a:t> id</a:t>
            </a:r>
            <a:r>
              <a:rPr>
                <a:solidFill>
                  <a:srgbClr val="666666"/>
                </a:solidFill>
                <a:latin typeface="Courier"/>
              </a:rPr>
              <a:t>)</a:t>
            </a:r>
            <a:r>
              <a:rPr>
                <a:latin typeface="Courier"/>
              </a:rPr>
              <a:t> </a:t>
            </a:r>
            <a:r>
              <a:rPr>
                <a:solidFill>
                  <a:srgbClr val="666666"/>
                </a:solidFill>
                <a:latin typeface="Courier"/>
              </a:rPr>
              <a:t>{</a:t>
            </a:r>
            <a:br/>
            <a:r>
              <a:rPr>
                <a:latin typeface="Courier"/>
              </a:rPr>
              <a:t>        </a:t>
            </a:r>
            <a:r>
              <a:rPr b="1">
                <a:solidFill>
                  <a:srgbClr val="007020"/>
                </a:solidFill>
                <a:latin typeface="Courier"/>
              </a:rPr>
              <a:t>if</a:t>
            </a:r>
            <a:r>
              <a:rPr>
                <a:latin typeface="Courier"/>
              </a:rPr>
              <a:t> </a:t>
            </a:r>
            <a:r>
              <a:rPr>
                <a:solidFill>
                  <a:srgbClr val="666666"/>
                </a:solidFill>
                <a:latin typeface="Courier"/>
              </a:rPr>
              <a:t>(!</a:t>
            </a:r>
            <a:r>
              <a:rPr>
                <a:latin typeface="Courier"/>
              </a:rPr>
              <a:t>videoCache</a:t>
            </a:r>
            <a:r>
              <a:rPr>
                <a:solidFill>
                  <a:srgbClr val="666666"/>
                </a:solidFill>
                <a:latin typeface="Courier"/>
              </a:rPr>
              <a:t>.</a:t>
            </a:r>
            <a:r>
              <a:rPr>
                <a:solidFill>
                  <a:srgbClr val="06287E"/>
                </a:solidFill>
                <a:latin typeface="Courier"/>
              </a:rPr>
              <a:t>containsKey</a:t>
            </a:r>
            <a:r>
              <a:rPr>
                <a:solidFill>
                  <a:srgbClr val="666666"/>
                </a:solidFill>
                <a:latin typeface="Courier"/>
              </a:rPr>
              <a:t>(</a:t>
            </a:r>
            <a:r>
              <a:rPr>
                <a:latin typeface="Courier"/>
              </a:rPr>
              <a:t>id</a:t>
            </a:r>
            <a:r>
              <a:rPr>
                <a:solidFill>
                  <a:srgbClr val="666666"/>
                </a:solidFill>
                <a:latin typeface="Courier"/>
              </a:rPr>
              <a:t>)</a:t>
            </a:r>
            <a:r>
              <a:rPr>
                <a:latin typeface="Courier"/>
              </a:rPr>
              <a:t> </a:t>
            </a:r>
            <a:r>
              <a:rPr>
                <a:solidFill>
                  <a:srgbClr val="666666"/>
                </a:solidFill>
                <a:latin typeface="Courier"/>
              </a:rPr>
              <a:t>||</a:t>
            </a:r>
            <a:r>
              <a:rPr>
                <a:latin typeface="Courier"/>
              </a:rPr>
              <a:t> needReset</a:t>
            </a:r>
            <a:r>
              <a:rPr>
                <a:solidFill>
                  <a:srgbClr val="666666"/>
                </a:solidFill>
                <a:latin typeface="Courier"/>
              </a:rPr>
              <a:t>)</a:t>
            </a:r>
            <a:r>
              <a:rPr>
                <a:latin typeface="Courier"/>
              </a:rPr>
              <a:t> </a:t>
            </a:r>
            <a:r>
              <a:rPr>
                <a:solidFill>
                  <a:srgbClr val="666666"/>
                </a:solidFill>
                <a:latin typeface="Courier"/>
              </a:rPr>
              <a:t>{</a:t>
            </a:r>
            <a:br/>
            <a:r>
              <a:rPr>
                <a:latin typeface="Courier"/>
              </a:rPr>
              <a:t>            videoCache</a:t>
            </a:r>
            <a:r>
              <a:rPr>
                <a:solidFill>
                  <a:srgbClr val="666666"/>
                </a:solidFill>
                <a:latin typeface="Courier"/>
              </a:rPr>
              <a:t>.</a:t>
            </a:r>
            <a:r>
              <a:rPr>
                <a:solidFill>
                  <a:srgbClr val="06287E"/>
                </a:solidFill>
                <a:latin typeface="Courier"/>
              </a:rPr>
              <a:t>put</a:t>
            </a:r>
            <a:r>
              <a:rPr>
                <a:solidFill>
                  <a:srgbClr val="666666"/>
                </a:solidFill>
                <a:latin typeface="Courier"/>
              </a:rPr>
              <a:t>(</a:t>
            </a:r>
            <a:r>
              <a:rPr>
                <a:latin typeface="Courier"/>
              </a:rPr>
              <a:t>id</a:t>
            </a:r>
            <a:r>
              <a:rPr>
                <a:solidFill>
                  <a:srgbClr val="666666"/>
                </a:solidFill>
                <a:latin typeface="Courier"/>
              </a:rPr>
              <a:t>,</a:t>
            </a:r>
            <a:r>
              <a:rPr>
                <a:latin typeface="Courier"/>
              </a:rPr>
              <a:t> service</a:t>
            </a:r>
            <a:r>
              <a:rPr>
                <a:solidFill>
                  <a:srgbClr val="666666"/>
                </a:solidFill>
                <a:latin typeface="Courier"/>
              </a:rPr>
              <a:t>.</a:t>
            </a:r>
            <a:r>
              <a:rPr>
                <a:solidFill>
                  <a:srgbClr val="06287E"/>
                </a:solidFill>
                <a:latin typeface="Courier"/>
              </a:rPr>
              <a:t>getVideoInfo</a:t>
            </a:r>
            <a:r>
              <a:rPr>
                <a:solidFill>
                  <a:srgbClr val="666666"/>
                </a:solidFill>
                <a:latin typeface="Courier"/>
              </a:rPr>
              <a:t>(</a:t>
            </a:r>
            <a:r>
              <a:rPr>
                <a:latin typeface="Courier"/>
              </a:rPr>
              <a:t>id</a:t>
            </a:r>
            <a:r>
              <a:rPr>
                <a:solidFill>
                  <a:srgbClr val="666666"/>
                </a:solidFill>
                <a:latin typeface="Courier"/>
              </a:rPr>
              <a:t>));</a:t>
            </a:r>
            <a:br/>
            <a:r>
              <a:rPr>
                <a:latin typeface="Courier"/>
              </a:rPr>
              <a:t>        </a:t>
            </a:r>
            <a:r>
              <a:rPr>
                <a:solidFill>
                  <a:srgbClr val="666666"/>
                </a:solidFill>
                <a:latin typeface="Courier"/>
              </a:rPr>
              <a:t>}</a:t>
            </a:r>
            <a:br/>
            <a:r>
              <a:rPr>
                <a:latin typeface="Courier"/>
              </a:rPr>
              <a:t>        </a:t>
            </a:r>
            <a:r>
              <a:rPr b="1">
                <a:solidFill>
                  <a:srgbClr val="007020"/>
                </a:solidFill>
                <a:latin typeface="Courier"/>
              </a:rPr>
              <a:t>return</a:t>
            </a:r>
            <a:r>
              <a:rPr>
                <a:latin typeface="Courier"/>
              </a:rPr>
              <a:t> videoCache</a:t>
            </a:r>
            <a:r>
              <a:rPr>
                <a:solidFill>
                  <a:srgbClr val="666666"/>
                </a:solidFill>
                <a:latin typeface="Courier"/>
              </a:rPr>
              <a:t>.</a:t>
            </a:r>
            <a:r>
              <a:rPr>
                <a:solidFill>
                  <a:srgbClr val="06287E"/>
                </a:solidFill>
                <a:latin typeface="Courier"/>
              </a:rPr>
              <a:t>get</a:t>
            </a:r>
            <a:r>
              <a:rPr>
                <a:solidFill>
                  <a:srgbClr val="666666"/>
                </a:solidFill>
                <a:latin typeface="Courier"/>
              </a:rPr>
              <a:t>(</a:t>
            </a:r>
            <a:r>
              <a:rPr>
                <a:latin typeface="Courier"/>
              </a:rPr>
              <a:t>id</a:t>
            </a:r>
            <a:r>
              <a:rPr>
                <a:solidFill>
                  <a:srgbClr val="666666"/>
                </a:solidFill>
                <a:latin typeface="Courier"/>
              </a:rPr>
              <a:t>);</a:t>
            </a:r>
            <a:br/>
            <a:r>
              <a:rPr>
                <a:latin typeface="Courier"/>
              </a:rPr>
              <a:t>    </a:t>
            </a:r>
            <a:r>
              <a:rPr>
                <a:solidFill>
                  <a:srgbClr val="666666"/>
                </a:solidFill>
                <a:latin typeface="Courier"/>
              </a:rPr>
              <a:t>}</a:t>
            </a:r>
            <a:br/>
            <a:br/>
            <a:r>
              <a:rPr>
                <a:latin typeface="Courier"/>
              </a:rPr>
              <a:t>    </a:t>
            </a:r>
            <a:r>
              <a:rPr>
                <a:solidFill>
                  <a:srgbClr val="7D9029"/>
                </a:solidFill>
                <a:latin typeface="Courier"/>
              </a:rPr>
              <a:t>@Override</a:t>
            </a:r>
            <a:br/>
            <a:r>
              <a:rPr>
                <a:latin typeface="Courier"/>
              </a:rPr>
              <a:t>    </a:t>
            </a:r>
            <a:r>
              <a:rPr b="1">
                <a:solidFill>
                  <a:srgbClr val="007020"/>
                </a:solidFill>
                <a:latin typeface="Courier"/>
              </a:rPr>
              <a:t>public</a:t>
            </a:r>
            <a:r>
              <a:rPr>
                <a:latin typeface="Courier"/>
              </a:rPr>
              <a:t> </a:t>
            </a:r>
            <a:r>
              <a:rPr>
                <a:solidFill>
                  <a:srgbClr val="902000"/>
                </a:solidFill>
                <a:latin typeface="Courier"/>
              </a:rPr>
              <a:t>void</a:t>
            </a:r>
            <a:r>
              <a:rPr>
                <a:latin typeface="Courier"/>
              </a:rPr>
              <a:t> </a:t>
            </a:r>
            <a:r>
              <a:rPr>
                <a:solidFill>
                  <a:srgbClr val="06287E"/>
                </a:solidFill>
                <a:latin typeface="Courier"/>
              </a:rPr>
              <a:t>downloadVideo</a:t>
            </a:r>
            <a:r>
              <a:rPr>
                <a:solidFill>
                  <a:srgbClr val="666666"/>
                </a:solidFill>
                <a:latin typeface="Courier"/>
              </a:rPr>
              <a:t>(</a:t>
            </a:r>
            <a:r>
              <a:rPr>
                <a:solidFill>
                  <a:srgbClr val="008000"/>
                </a:solidFill>
                <a:latin typeface="Courier"/>
              </a:rPr>
              <a:t>String</a:t>
            </a:r>
            <a:r>
              <a:rPr>
                <a:latin typeface="Courier"/>
              </a:rPr>
              <a:t> id</a:t>
            </a:r>
            <a:r>
              <a:rPr>
                <a:solidFill>
                  <a:srgbClr val="666666"/>
                </a:solidFill>
                <a:latin typeface="Courier"/>
              </a:rPr>
              <a:t>)</a:t>
            </a:r>
            <a:r>
              <a:rPr>
                <a:latin typeface="Courier"/>
              </a:rPr>
              <a:t> </a:t>
            </a:r>
            <a:r>
              <a:rPr>
                <a:solidFill>
                  <a:srgbClr val="666666"/>
                </a:solidFill>
                <a:latin typeface="Courier"/>
              </a:rPr>
              <a:t>{</a:t>
            </a:r>
            <a:br/>
            <a:r>
              <a:rPr>
                <a:latin typeface="Courier"/>
              </a:rPr>
              <a:t>        service</a:t>
            </a:r>
            <a:r>
              <a:rPr>
                <a:solidFill>
                  <a:srgbClr val="666666"/>
                </a:solidFill>
                <a:latin typeface="Courier"/>
              </a:rPr>
              <a:t>.</a:t>
            </a:r>
            <a:r>
              <a:rPr>
                <a:solidFill>
                  <a:srgbClr val="06287E"/>
                </a:solidFill>
                <a:latin typeface="Courier"/>
              </a:rPr>
              <a:t>downloadVideo</a:t>
            </a:r>
            <a:r>
              <a:rPr>
                <a:solidFill>
                  <a:srgbClr val="666666"/>
                </a:solidFill>
                <a:latin typeface="Courier"/>
              </a:rPr>
              <a:t>(</a:t>
            </a:r>
            <a:r>
              <a:rPr>
                <a:latin typeface="Courier"/>
              </a:rPr>
              <a:t>id</a:t>
            </a:r>
            <a:r>
              <a:rPr>
                <a:solidFill>
                  <a:srgbClr val="666666"/>
                </a:solidFill>
                <a:latin typeface="Courier"/>
              </a:rPr>
              <a:t>);</a:t>
            </a:r>
            <a:br/>
            <a:r>
              <a:rPr>
                <a:latin typeface="Courier"/>
              </a:rPr>
              <a:t>    </a:t>
            </a:r>
            <a:r>
              <a:rPr>
                <a:solidFill>
                  <a:srgbClr val="666666"/>
                </a:solidFill>
                <a:latin typeface="Courier"/>
              </a:rPr>
              <a:t>}</a:t>
            </a:r>
            <a:br/>
            <a:br/>
            <a:r>
              <a:rPr>
                <a:latin typeface="Courier"/>
              </a:rPr>
              <a:t>    </a:t>
            </a:r>
            <a:r>
              <a:rPr b="1">
                <a:solidFill>
                  <a:srgbClr val="007020"/>
                </a:solidFill>
                <a:latin typeface="Courier"/>
              </a:rPr>
              <a:t>public</a:t>
            </a:r>
            <a:r>
              <a:rPr>
                <a:latin typeface="Courier"/>
              </a:rPr>
              <a:t> </a:t>
            </a:r>
            <a:r>
              <a:rPr>
                <a:solidFill>
                  <a:srgbClr val="902000"/>
                </a:solidFill>
                <a:latin typeface="Courier"/>
              </a:rPr>
              <a:t>void</a:t>
            </a:r>
            <a:r>
              <a:rPr>
                <a:latin typeface="Courier"/>
              </a:rPr>
              <a:t> </a:t>
            </a:r>
            <a:r>
              <a:rPr>
                <a:solidFill>
                  <a:srgbClr val="06287E"/>
                </a:solidFill>
                <a:latin typeface="Courier"/>
              </a:rPr>
              <a:t>reset</a:t>
            </a:r>
            <a:r>
              <a:rPr>
                <a:solidFill>
                  <a:srgbClr val="666666"/>
                </a:solidFill>
                <a:latin typeface="Courier"/>
              </a:rPr>
              <a:t>()</a:t>
            </a:r>
            <a:r>
              <a:rPr>
                <a:latin typeface="Courier"/>
              </a:rPr>
              <a:t> </a:t>
            </a:r>
            <a:r>
              <a:rPr>
                <a:solidFill>
                  <a:srgbClr val="666666"/>
                </a:solidFill>
                <a:latin typeface="Courier"/>
              </a:rPr>
              <a:t>{</a:t>
            </a:r>
            <a:br/>
            <a:r>
              <a:rPr>
                <a:latin typeface="Courier"/>
              </a:rPr>
              <a:t>        needReset </a:t>
            </a:r>
            <a:r>
              <a:rPr>
                <a:solidFill>
                  <a:srgbClr val="666666"/>
                </a:solidFill>
                <a:latin typeface="Courier"/>
              </a:rPr>
              <a:t>=</a:t>
            </a:r>
            <a:r>
              <a:rPr>
                <a:latin typeface="Courier"/>
              </a:rPr>
              <a:t> </a:t>
            </a:r>
            <a:r>
              <a:rPr b="1">
                <a:solidFill>
                  <a:srgbClr val="007020"/>
                </a:solidFill>
                <a:latin typeface="Courier"/>
              </a:rPr>
              <a:t>true</a:t>
            </a:r>
            <a:r>
              <a:rPr>
                <a:solidFill>
                  <a:srgbClr val="666666"/>
                </a:solidFill>
                <a:latin typeface="Courier"/>
              </a:rPr>
              <a:t>;</a:t>
            </a:r>
            <a:br/>
            <a:r>
              <a:rPr>
                <a:latin typeface="Courier"/>
              </a:rPr>
              <a:t>    </a:t>
            </a:r>
            <a:r>
              <a:rPr>
                <a:solidFill>
                  <a:srgbClr val="666666"/>
                </a:solidFill>
                <a:latin typeface="Courier"/>
              </a:rPr>
              <a:t>}</a:t>
            </a:r>
            <a:br/>
            <a:r>
              <a:rPr>
                <a:solidFill>
                  <a:srgbClr val="666666"/>
                </a:solidFill>
                <a:latin typeface="Courier"/>
              </a:rPr>
              <a:t>}</a:t>
            </a:r>
          </a:p>
        </p:txBody>
      </p:sp>
    </p:spTree>
  </p:cSld>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Proxy: Java Code Example - Manager Class</a:t>
            </a:r>
          </a:p>
        </p:txBody>
      </p:sp>
      <p:sp>
        <p:nvSpPr>
          <p:cNvPr id="3" name="Content Placeholder 2"/>
          <p:cNvSpPr>
            <a:spLocks noGrp="1"/>
          </p:cNvSpPr>
          <p:nvPr>
            <p:ph idx="1"/>
          </p:nvPr>
        </p:nvSpPr>
        <p:spPr/>
        <p:txBody>
          <a:bodyPr/>
          <a:lstStyle/>
          <a:p>
            <a:pPr lvl="0" indent="0">
              <a:buNone/>
            </a:pPr>
            <a:r>
              <a:rPr b="1">
                <a:solidFill>
                  <a:srgbClr val="007020"/>
                </a:solidFill>
                <a:latin typeface="Courier"/>
              </a:rPr>
              <a:t>import</a:t>
            </a:r>
            <a:r>
              <a:rPr>
                <a:latin typeface="Courier"/>
              </a:rPr>
              <a:t> </a:t>
            </a:r>
            <a:r>
              <a:rPr b="1">
                <a:solidFill>
                  <a:srgbClr val="008000"/>
                </a:solidFill>
                <a:latin typeface="Courier"/>
              </a:rPr>
              <a:t>java</a:t>
            </a:r>
            <a:r>
              <a:rPr>
                <a:solidFill>
                  <a:srgbClr val="666666"/>
                </a:solidFill>
                <a:latin typeface="Courier"/>
              </a:rPr>
              <a:t>.</a:t>
            </a:r>
            <a:r>
              <a:rPr b="1">
                <a:solidFill>
                  <a:srgbClr val="008000"/>
                </a:solidFill>
                <a:latin typeface="Courier"/>
              </a:rPr>
              <a:t>util</a:t>
            </a:r>
            <a:r>
              <a:rPr>
                <a:solidFill>
                  <a:srgbClr val="666666"/>
                </a:solidFill>
                <a:latin typeface="Courier"/>
              </a:rPr>
              <a:t>.</a:t>
            </a:r>
            <a:r>
              <a:rPr b="1">
                <a:solidFill>
                  <a:srgbClr val="008000"/>
                </a:solidFill>
                <a:latin typeface="Courier"/>
              </a:rPr>
              <a:t>List</a:t>
            </a:r>
            <a:r>
              <a:rPr>
                <a:solidFill>
                  <a:srgbClr val="666666"/>
                </a:solidFill>
                <a:latin typeface="Courier"/>
              </a:rPr>
              <a:t>;</a:t>
            </a:r>
            <a:br/>
            <a:br/>
            <a:r>
              <a:rPr i="1">
                <a:solidFill>
                  <a:srgbClr val="60A0B0"/>
                </a:solidFill>
                <a:latin typeface="Courier"/>
              </a:rPr>
              <a:t>// The GUI class, which used to work directly with a</a:t>
            </a:r>
            <a:br/>
            <a:r>
              <a:rPr i="1">
                <a:solidFill>
                  <a:srgbClr val="60A0B0"/>
                </a:solidFill>
                <a:latin typeface="Courier"/>
              </a:rPr>
              <a:t>// service object, stays unchanged as long as it works</a:t>
            </a:r>
            <a:br/>
            <a:r>
              <a:rPr i="1">
                <a:solidFill>
                  <a:srgbClr val="60A0B0"/>
                </a:solidFill>
                <a:latin typeface="Courier"/>
              </a:rPr>
              <a:t>// with the service object through an interface. We can</a:t>
            </a:r>
            <a:br/>
            <a:r>
              <a:rPr i="1">
                <a:solidFill>
                  <a:srgbClr val="60A0B0"/>
                </a:solidFill>
                <a:latin typeface="Courier"/>
              </a:rPr>
              <a:t>// safely pass a proxy object instead of a real service</a:t>
            </a:r>
            <a:br/>
            <a:r>
              <a:rPr i="1">
                <a:solidFill>
                  <a:srgbClr val="60A0B0"/>
                </a:solidFill>
                <a:latin typeface="Courier"/>
              </a:rPr>
              <a:t>// object since they both implement the same interface.</a:t>
            </a:r>
            <a:br/>
            <a:r>
              <a:rPr b="1">
                <a:solidFill>
                  <a:srgbClr val="007020"/>
                </a:solidFill>
                <a:latin typeface="Courier"/>
              </a:rPr>
              <a:t>public</a:t>
            </a:r>
            <a:r>
              <a:rPr>
                <a:latin typeface="Courier"/>
              </a:rPr>
              <a:t> </a:t>
            </a:r>
            <a:r>
              <a:rPr b="1">
                <a:solidFill>
                  <a:srgbClr val="007020"/>
                </a:solidFill>
                <a:latin typeface="Courier"/>
              </a:rPr>
              <a:t>class</a:t>
            </a:r>
            <a:r>
              <a:rPr>
                <a:latin typeface="Courier"/>
              </a:rPr>
              <a:t> YouTubeManager </a:t>
            </a:r>
            <a:r>
              <a:rPr>
                <a:solidFill>
                  <a:srgbClr val="666666"/>
                </a:solidFill>
                <a:latin typeface="Courier"/>
              </a:rPr>
              <a:t>{</a:t>
            </a:r>
            <a:br/>
            <a:r>
              <a:rPr>
                <a:latin typeface="Courier"/>
              </a:rPr>
              <a:t>    </a:t>
            </a:r>
            <a:r>
              <a:rPr b="1">
                <a:solidFill>
                  <a:srgbClr val="007020"/>
                </a:solidFill>
                <a:latin typeface="Courier"/>
              </a:rPr>
              <a:t>private</a:t>
            </a:r>
            <a:r>
              <a:rPr>
                <a:latin typeface="Courier"/>
              </a:rPr>
              <a:t> ThirdPartyYouTubeLib service</a:t>
            </a:r>
            <a:r>
              <a:rPr>
                <a:solidFill>
                  <a:srgbClr val="666666"/>
                </a:solidFill>
                <a:latin typeface="Courier"/>
              </a:rPr>
              <a:t>;</a:t>
            </a:r>
            <a:br/>
            <a:br/>
            <a:r>
              <a:rPr>
                <a:latin typeface="Courier"/>
              </a:rPr>
              <a:t>    </a:t>
            </a:r>
            <a:r>
              <a:rPr b="1">
                <a:solidFill>
                  <a:srgbClr val="007020"/>
                </a:solidFill>
                <a:latin typeface="Courier"/>
              </a:rPr>
              <a:t>public</a:t>
            </a:r>
            <a:r>
              <a:rPr>
                <a:latin typeface="Courier"/>
              </a:rPr>
              <a:t> </a:t>
            </a:r>
            <a:r>
              <a:rPr>
                <a:solidFill>
                  <a:srgbClr val="06287E"/>
                </a:solidFill>
                <a:latin typeface="Courier"/>
              </a:rPr>
              <a:t>YouTubeManager</a:t>
            </a:r>
            <a:r>
              <a:rPr>
                <a:solidFill>
                  <a:srgbClr val="666666"/>
                </a:solidFill>
                <a:latin typeface="Courier"/>
              </a:rPr>
              <a:t>(</a:t>
            </a:r>
            <a:r>
              <a:rPr>
                <a:latin typeface="Courier"/>
              </a:rPr>
              <a:t>ThirdPartyYouTubeLib service</a:t>
            </a:r>
            <a:r>
              <a:rPr>
                <a:solidFill>
                  <a:srgbClr val="666666"/>
                </a:solidFill>
                <a:latin typeface="Courier"/>
              </a:rPr>
              <a:t>)</a:t>
            </a:r>
            <a:r>
              <a:rPr>
                <a:latin typeface="Courier"/>
              </a:rPr>
              <a:t> </a:t>
            </a:r>
            <a:r>
              <a:rPr>
                <a:solidFill>
                  <a:srgbClr val="666666"/>
                </a:solidFill>
                <a:latin typeface="Courier"/>
              </a:rPr>
              <a:t>{</a:t>
            </a:r>
            <a:br/>
            <a:r>
              <a:rPr>
                <a:latin typeface="Courier"/>
              </a:rPr>
              <a:t>        </a:t>
            </a:r>
            <a:r>
              <a:rPr b="1">
                <a:solidFill>
                  <a:srgbClr val="007020"/>
                </a:solidFill>
                <a:latin typeface="Courier"/>
              </a:rPr>
              <a:t>this</a:t>
            </a:r>
            <a:r>
              <a:rPr>
                <a:solidFill>
                  <a:srgbClr val="666666"/>
                </a:solidFill>
                <a:latin typeface="Courier"/>
              </a:rPr>
              <a:t>.</a:t>
            </a:r>
            <a:r>
              <a:rPr>
                <a:solidFill>
                  <a:srgbClr val="06287E"/>
                </a:solidFill>
                <a:latin typeface="Courier"/>
              </a:rPr>
              <a:t>service</a:t>
            </a:r>
            <a:r>
              <a:rPr>
                <a:latin typeface="Courier"/>
              </a:rPr>
              <a:t> </a:t>
            </a:r>
            <a:r>
              <a:rPr>
                <a:solidFill>
                  <a:srgbClr val="666666"/>
                </a:solidFill>
                <a:latin typeface="Courier"/>
              </a:rPr>
              <a:t>=</a:t>
            </a:r>
            <a:r>
              <a:rPr>
                <a:latin typeface="Courier"/>
              </a:rPr>
              <a:t> service</a:t>
            </a:r>
            <a:r>
              <a:rPr>
                <a:solidFill>
                  <a:srgbClr val="666666"/>
                </a:solidFill>
                <a:latin typeface="Courier"/>
              </a:rPr>
              <a:t>;</a:t>
            </a:r>
            <a:br/>
            <a:r>
              <a:rPr>
                <a:latin typeface="Courier"/>
              </a:rPr>
              <a:t>    </a:t>
            </a:r>
            <a:r>
              <a:rPr>
                <a:solidFill>
                  <a:srgbClr val="666666"/>
                </a:solidFill>
                <a:latin typeface="Courier"/>
              </a:rPr>
              <a:t>}</a:t>
            </a:r>
            <a:br/>
            <a:br/>
            <a:r>
              <a:rPr>
                <a:latin typeface="Courier"/>
              </a:rPr>
              <a:t>    </a:t>
            </a:r>
            <a:r>
              <a:rPr b="1">
                <a:solidFill>
                  <a:srgbClr val="007020"/>
                </a:solidFill>
                <a:latin typeface="Courier"/>
              </a:rPr>
              <a:t>public</a:t>
            </a:r>
            <a:r>
              <a:rPr>
                <a:latin typeface="Courier"/>
              </a:rPr>
              <a:t> </a:t>
            </a:r>
            <a:r>
              <a:rPr>
                <a:solidFill>
                  <a:srgbClr val="902000"/>
                </a:solidFill>
                <a:latin typeface="Courier"/>
              </a:rPr>
              <a:t>void</a:t>
            </a:r>
            <a:r>
              <a:rPr>
                <a:latin typeface="Courier"/>
              </a:rPr>
              <a:t> </a:t>
            </a:r>
            <a:r>
              <a:rPr>
                <a:solidFill>
                  <a:srgbClr val="06287E"/>
                </a:solidFill>
                <a:latin typeface="Courier"/>
              </a:rPr>
              <a:t>renderVideoPage</a:t>
            </a:r>
            <a:r>
              <a:rPr>
                <a:solidFill>
                  <a:srgbClr val="666666"/>
                </a:solidFill>
                <a:latin typeface="Courier"/>
              </a:rPr>
              <a:t>(</a:t>
            </a:r>
            <a:r>
              <a:rPr>
                <a:solidFill>
                  <a:srgbClr val="008000"/>
                </a:solidFill>
                <a:latin typeface="Courier"/>
              </a:rPr>
              <a:t>String</a:t>
            </a:r>
            <a:r>
              <a:rPr>
                <a:latin typeface="Courier"/>
              </a:rPr>
              <a:t> id</a:t>
            </a:r>
            <a:r>
              <a:rPr>
                <a:solidFill>
                  <a:srgbClr val="666666"/>
                </a:solidFill>
                <a:latin typeface="Courier"/>
              </a:rPr>
              <a:t>)</a:t>
            </a:r>
            <a:r>
              <a:rPr>
                <a:latin typeface="Courier"/>
              </a:rPr>
              <a:t> </a:t>
            </a:r>
            <a:r>
              <a:rPr>
                <a:solidFill>
                  <a:srgbClr val="666666"/>
                </a:solidFill>
                <a:latin typeface="Courier"/>
              </a:rPr>
              <a:t>{</a:t>
            </a:r>
            <a:br/>
            <a:r>
              <a:rPr>
                <a:latin typeface="Courier"/>
              </a:rPr>
              <a:t>        Video info </a:t>
            </a:r>
            <a:r>
              <a:rPr>
                <a:solidFill>
                  <a:srgbClr val="666666"/>
                </a:solidFill>
                <a:latin typeface="Courier"/>
              </a:rPr>
              <a:t>=</a:t>
            </a:r>
            <a:r>
              <a:rPr>
                <a:latin typeface="Courier"/>
              </a:rPr>
              <a:t> service</a:t>
            </a:r>
            <a:r>
              <a:rPr>
                <a:solidFill>
                  <a:srgbClr val="666666"/>
                </a:solidFill>
                <a:latin typeface="Courier"/>
              </a:rPr>
              <a:t>.</a:t>
            </a:r>
            <a:r>
              <a:rPr>
                <a:solidFill>
                  <a:srgbClr val="06287E"/>
                </a:solidFill>
                <a:latin typeface="Courier"/>
              </a:rPr>
              <a:t>getVideoInfo</a:t>
            </a:r>
            <a:r>
              <a:rPr>
                <a:solidFill>
                  <a:srgbClr val="666666"/>
                </a:solidFill>
                <a:latin typeface="Courier"/>
              </a:rPr>
              <a:t>(</a:t>
            </a:r>
            <a:r>
              <a:rPr>
                <a:latin typeface="Courier"/>
              </a:rPr>
              <a:t>id</a:t>
            </a:r>
            <a:r>
              <a:rPr>
                <a:solidFill>
                  <a:srgbClr val="666666"/>
                </a:solidFill>
                <a:latin typeface="Courier"/>
              </a:rPr>
              <a:t>);</a:t>
            </a:r>
            <a:br/>
            <a:r>
              <a:rPr>
                <a:latin typeface="Courier"/>
              </a:rPr>
              <a:t>        </a:t>
            </a:r>
            <a:r>
              <a:rPr>
                <a:solidFill>
                  <a:srgbClr val="008000"/>
                </a:solidFill>
                <a:latin typeface="Courier"/>
              </a:rPr>
              <a:t>System</a:t>
            </a:r>
            <a:r>
              <a:rPr>
                <a:solidFill>
                  <a:srgbClr val="666666"/>
                </a:solidFill>
                <a:latin typeface="Courier"/>
              </a:rPr>
              <a:t>.</a:t>
            </a:r>
            <a:r>
              <a:rPr>
                <a:solidFill>
                  <a:srgbClr val="06287E"/>
                </a:solidFill>
                <a:latin typeface="Courier"/>
              </a:rPr>
              <a:t>out</a:t>
            </a:r>
            <a:r>
              <a:rPr>
                <a:solidFill>
                  <a:srgbClr val="666666"/>
                </a:solidFill>
                <a:latin typeface="Courier"/>
              </a:rPr>
              <a:t>.</a:t>
            </a:r>
            <a:r>
              <a:rPr>
                <a:solidFill>
                  <a:srgbClr val="06287E"/>
                </a:solidFill>
                <a:latin typeface="Courier"/>
              </a:rPr>
              <a:t>println</a:t>
            </a:r>
            <a:r>
              <a:rPr>
                <a:solidFill>
                  <a:srgbClr val="666666"/>
                </a:solidFill>
                <a:latin typeface="Courier"/>
              </a:rPr>
              <a:t>(</a:t>
            </a:r>
            <a:r>
              <a:rPr>
                <a:solidFill>
                  <a:srgbClr val="4070A0"/>
                </a:solidFill>
                <a:latin typeface="Courier"/>
              </a:rPr>
              <a:t>"Rendering video page: "</a:t>
            </a:r>
            <a:r>
              <a:rPr>
                <a:latin typeface="Courier"/>
              </a:rPr>
              <a:t> </a:t>
            </a:r>
            <a:r>
              <a:rPr>
                <a:solidFill>
                  <a:srgbClr val="666666"/>
                </a:solidFill>
                <a:latin typeface="Courier"/>
              </a:rPr>
              <a:t>+</a:t>
            </a:r>
            <a:br/>
            <a:r>
              <a:rPr>
                <a:latin typeface="Courier"/>
              </a:rPr>
              <a:t>            info</a:t>
            </a:r>
            <a:r>
              <a:rPr>
                <a:solidFill>
                  <a:srgbClr val="666666"/>
                </a:solidFill>
                <a:latin typeface="Courier"/>
              </a:rPr>
              <a:t>.</a:t>
            </a:r>
            <a:r>
              <a:rPr>
                <a:solidFill>
                  <a:srgbClr val="06287E"/>
                </a:solidFill>
                <a:latin typeface="Courier"/>
              </a:rPr>
              <a:t>getTitle</a:t>
            </a:r>
            <a:r>
              <a:rPr>
                <a:solidFill>
                  <a:srgbClr val="666666"/>
                </a:solidFill>
                <a:latin typeface="Courier"/>
              </a:rPr>
              <a:t>());</a:t>
            </a:r>
            <a:br/>
            <a:r>
              <a:rPr>
                <a:latin typeface="Courier"/>
              </a:rPr>
              <a:t>    </a:t>
            </a:r>
            <a:r>
              <a:rPr>
                <a:solidFill>
                  <a:srgbClr val="666666"/>
                </a:solidFill>
                <a:latin typeface="Courier"/>
              </a:rPr>
              <a:t>}</a:t>
            </a:r>
            <a:br/>
            <a:br/>
            <a:r>
              <a:rPr>
                <a:latin typeface="Courier"/>
              </a:rPr>
              <a:t>    </a:t>
            </a:r>
            <a:r>
              <a:rPr b="1">
                <a:solidFill>
                  <a:srgbClr val="007020"/>
                </a:solidFill>
                <a:latin typeface="Courier"/>
              </a:rPr>
              <a:t>public</a:t>
            </a:r>
            <a:r>
              <a:rPr>
                <a:latin typeface="Courier"/>
              </a:rPr>
              <a:t> </a:t>
            </a:r>
            <a:r>
              <a:rPr>
                <a:solidFill>
                  <a:srgbClr val="902000"/>
                </a:solidFill>
                <a:latin typeface="Courier"/>
              </a:rPr>
              <a:t>void</a:t>
            </a:r>
            <a:r>
              <a:rPr>
                <a:latin typeface="Courier"/>
              </a:rPr>
              <a:t> </a:t>
            </a:r>
            <a:r>
              <a:rPr>
                <a:solidFill>
                  <a:srgbClr val="06287E"/>
                </a:solidFill>
                <a:latin typeface="Courier"/>
              </a:rPr>
              <a:t>renderListPanel</a:t>
            </a:r>
            <a:r>
              <a:rPr>
                <a:solidFill>
                  <a:srgbClr val="666666"/>
                </a:solidFill>
                <a:latin typeface="Courier"/>
              </a:rPr>
              <a:t>()</a:t>
            </a:r>
            <a:r>
              <a:rPr>
                <a:latin typeface="Courier"/>
              </a:rPr>
              <a:t> </a:t>
            </a:r>
            <a:r>
              <a:rPr>
                <a:solidFill>
                  <a:srgbClr val="666666"/>
                </a:solidFill>
                <a:latin typeface="Courier"/>
              </a:rPr>
              <a:t>{</a:t>
            </a:r>
            <a:br/>
            <a:r>
              <a:rPr>
                <a:latin typeface="Courier"/>
              </a:rPr>
              <a:t>        </a:t>
            </a:r>
            <a:r>
              <a:rPr>
                <a:solidFill>
                  <a:srgbClr val="008000"/>
                </a:solidFill>
                <a:latin typeface="Courier"/>
              </a:rPr>
              <a:t>List</a:t>
            </a:r>
            <a:r>
              <a:rPr>
                <a:solidFill>
                  <a:srgbClr val="666666"/>
                </a:solidFill>
                <a:latin typeface="Courier"/>
              </a:rPr>
              <a:t>&lt;</a:t>
            </a:r>
            <a:r>
              <a:rPr>
                <a:latin typeface="Courier"/>
              </a:rPr>
              <a:t>Video</a:t>
            </a:r>
            <a:r>
              <a:rPr>
                <a:solidFill>
                  <a:srgbClr val="666666"/>
                </a:solidFill>
                <a:latin typeface="Courier"/>
              </a:rPr>
              <a:t>&gt;</a:t>
            </a:r>
            <a:r>
              <a:rPr>
                <a:latin typeface="Courier"/>
              </a:rPr>
              <a:t> list </a:t>
            </a:r>
            <a:r>
              <a:rPr>
                <a:solidFill>
                  <a:srgbClr val="666666"/>
                </a:solidFill>
                <a:latin typeface="Courier"/>
              </a:rPr>
              <a:t>=</a:t>
            </a:r>
            <a:r>
              <a:rPr>
                <a:latin typeface="Courier"/>
              </a:rPr>
              <a:t> service</a:t>
            </a:r>
            <a:r>
              <a:rPr>
                <a:solidFill>
                  <a:srgbClr val="666666"/>
                </a:solidFill>
                <a:latin typeface="Courier"/>
              </a:rPr>
              <a:t>.</a:t>
            </a:r>
            <a:r>
              <a:rPr>
                <a:solidFill>
                  <a:srgbClr val="06287E"/>
                </a:solidFill>
                <a:latin typeface="Courier"/>
              </a:rPr>
              <a:t>listVideos</a:t>
            </a:r>
            <a:r>
              <a:rPr>
                <a:solidFill>
                  <a:srgbClr val="666666"/>
                </a:solidFill>
                <a:latin typeface="Courier"/>
              </a:rPr>
              <a:t>();</a:t>
            </a:r>
            <a:br/>
            <a:r>
              <a:rPr>
                <a:latin typeface="Courier"/>
              </a:rPr>
              <a:t>        </a:t>
            </a:r>
            <a:r>
              <a:rPr>
                <a:solidFill>
                  <a:srgbClr val="008000"/>
                </a:solidFill>
                <a:latin typeface="Courier"/>
              </a:rPr>
              <a:t>System</a:t>
            </a:r>
            <a:r>
              <a:rPr>
                <a:solidFill>
                  <a:srgbClr val="666666"/>
                </a:solidFill>
                <a:latin typeface="Courier"/>
              </a:rPr>
              <a:t>.</a:t>
            </a:r>
            <a:r>
              <a:rPr>
                <a:solidFill>
                  <a:srgbClr val="06287E"/>
                </a:solidFill>
                <a:latin typeface="Courier"/>
              </a:rPr>
              <a:t>out</a:t>
            </a:r>
            <a:r>
              <a:rPr>
                <a:solidFill>
                  <a:srgbClr val="666666"/>
                </a:solidFill>
                <a:latin typeface="Courier"/>
              </a:rPr>
              <a:t>.</a:t>
            </a:r>
            <a:r>
              <a:rPr>
                <a:solidFill>
                  <a:srgbClr val="06287E"/>
                </a:solidFill>
                <a:latin typeface="Courier"/>
              </a:rPr>
              <a:t>println</a:t>
            </a:r>
            <a:r>
              <a:rPr>
                <a:solidFill>
                  <a:srgbClr val="666666"/>
                </a:solidFill>
                <a:latin typeface="Courier"/>
              </a:rPr>
              <a:t>(</a:t>
            </a:r>
            <a:r>
              <a:rPr>
                <a:solidFill>
                  <a:srgbClr val="4070A0"/>
                </a:solidFill>
                <a:latin typeface="Courier"/>
              </a:rPr>
              <a:t>"Rendering video list: "</a:t>
            </a:r>
            <a:r>
              <a:rPr>
                <a:latin typeface="Courier"/>
              </a:rPr>
              <a:t> </a:t>
            </a:r>
            <a:r>
              <a:rPr>
                <a:solidFill>
                  <a:srgbClr val="666666"/>
                </a:solidFill>
                <a:latin typeface="Courier"/>
              </a:rPr>
              <a:t>+</a:t>
            </a:r>
            <a:br/>
            <a:r>
              <a:rPr>
                <a:latin typeface="Courier"/>
              </a:rPr>
              <a:t>            list</a:t>
            </a:r>
            <a:r>
              <a:rPr>
                <a:solidFill>
                  <a:srgbClr val="666666"/>
                </a:solidFill>
                <a:latin typeface="Courier"/>
              </a:rPr>
              <a:t>.</a:t>
            </a:r>
            <a:r>
              <a:rPr>
                <a:solidFill>
                  <a:srgbClr val="06287E"/>
                </a:solidFill>
                <a:latin typeface="Courier"/>
              </a:rPr>
              <a:t>size</a:t>
            </a:r>
            <a:r>
              <a:rPr>
                <a:solidFill>
                  <a:srgbClr val="666666"/>
                </a:solidFill>
                <a:latin typeface="Courier"/>
              </a:rPr>
              <a:t>()</a:t>
            </a:r>
            <a:r>
              <a:rPr>
                <a:latin typeface="Courier"/>
              </a:rPr>
              <a:t> </a:t>
            </a:r>
            <a:r>
              <a:rPr>
                <a:solidFill>
                  <a:srgbClr val="666666"/>
                </a:solidFill>
                <a:latin typeface="Courier"/>
              </a:rPr>
              <a:t>+</a:t>
            </a:r>
            <a:r>
              <a:rPr>
                <a:latin typeface="Courier"/>
              </a:rPr>
              <a:t> </a:t>
            </a:r>
            <a:r>
              <a:rPr>
                <a:solidFill>
                  <a:srgbClr val="4070A0"/>
                </a:solidFill>
                <a:latin typeface="Courier"/>
              </a:rPr>
              <a:t>" videos"</a:t>
            </a:r>
            <a:r>
              <a:rPr>
                <a:solidFill>
                  <a:srgbClr val="666666"/>
                </a:solidFill>
                <a:latin typeface="Courier"/>
              </a:rPr>
              <a:t>);</a:t>
            </a:r>
            <a:br/>
            <a:r>
              <a:rPr>
                <a:latin typeface="Courier"/>
              </a:rPr>
              <a:t>    </a:t>
            </a:r>
            <a:r>
              <a:rPr>
                <a:solidFill>
                  <a:srgbClr val="666666"/>
                </a:solidFill>
                <a:latin typeface="Courier"/>
              </a:rPr>
              <a:t>}</a:t>
            </a:r>
            <a:br/>
            <a:br/>
            <a:r>
              <a:rPr>
                <a:latin typeface="Courier"/>
              </a:rPr>
              <a:t>    </a:t>
            </a:r>
            <a:r>
              <a:rPr b="1">
                <a:solidFill>
                  <a:srgbClr val="007020"/>
                </a:solidFill>
                <a:latin typeface="Courier"/>
              </a:rPr>
              <a:t>public</a:t>
            </a:r>
            <a:r>
              <a:rPr>
                <a:latin typeface="Courier"/>
              </a:rPr>
              <a:t> </a:t>
            </a:r>
            <a:r>
              <a:rPr>
                <a:solidFill>
                  <a:srgbClr val="902000"/>
                </a:solidFill>
                <a:latin typeface="Courier"/>
              </a:rPr>
              <a:t>void</a:t>
            </a:r>
            <a:r>
              <a:rPr>
                <a:latin typeface="Courier"/>
              </a:rPr>
              <a:t> </a:t>
            </a:r>
            <a:r>
              <a:rPr>
                <a:solidFill>
                  <a:srgbClr val="06287E"/>
                </a:solidFill>
                <a:latin typeface="Courier"/>
              </a:rPr>
              <a:t>reactOnUserInput</a:t>
            </a:r>
            <a:r>
              <a:rPr>
                <a:solidFill>
                  <a:srgbClr val="666666"/>
                </a:solidFill>
                <a:latin typeface="Courier"/>
              </a:rPr>
              <a:t>(</a:t>
            </a:r>
            <a:r>
              <a:rPr>
                <a:solidFill>
                  <a:srgbClr val="008000"/>
                </a:solidFill>
                <a:latin typeface="Courier"/>
              </a:rPr>
              <a:t>String</a:t>
            </a:r>
            <a:r>
              <a:rPr>
                <a:latin typeface="Courier"/>
              </a:rPr>
              <a:t> id</a:t>
            </a:r>
            <a:r>
              <a:rPr>
                <a:solidFill>
                  <a:srgbClr val="666666"/>
                </a:solidFill>
                <a:latin typeface="Courier"/>
              </a:rPr>
              <a:t>)</a:t>
            </a:r>
            <a:r>
              <a:rPr>
                <a:latin typeface="Courier"/>
              </a:rPr>
              <a:t> </a:t>
            </a:r>
            <a:r>
              <a:rPr>
                <a:solidFill>
                  <a:srgbClr val="666666"/>
                </a:solidFill>
                <a:latin typeface="Courier"/>
              </a:rPr>
              <a:t>{</a:t>
            </a:r>
            <a:br/>
            <a:r>
              <a:rPr>
                <a:latin typeface="Courier"/>
              </a:rPr>
              <a:t>        </a:t>
            </a:r>
            <a:r>
              <a:rPr>
                <a:solidFill>
                  <a:srgbClr val="06287E"/>
                </a:solidFill>
                <a:latin typeface="Courier"/>
              </a:rPr>
              <a:t>renderListPanel</a:t>
            </a:r>
            <a:r>
              <a:rPr>
                <a:solidFill>
                  <a:srgbClr val="666666"/>
                </a:solidFill>
                <a:latin typeface="Courier"/>
              </a:rPr>
              <a:t>();</a:t>
            </a:r>
            <a:br/>
            <a:r>
              <a:rPr>
                <a:latin typeface="Courier"/>
              </a:rPr>
              <a:t>        </a:t>
            </a:r>
            <a:r>
              <a:rPr>
                <a:solidFill>
                  <a:srgbClr val="06287E"/>
                </a:solidFill>
                <a:latin typeface="Courier"/>
              </a:rPr>
              <a:t>renderVideoPage</a:t>
            </a:r>
            <a:r>
              <a:rPr>
                <a:solidFill>
                  <a:srgbClr val="666666"/>
                </a:solidFill>
                <a:latin typeface="Courier"/>
              </a:rPr>
              <a:t>(</a:t>
            </a:r>
            <a:r>
              <a:rPr>
                <a:latin typeface="Courier"/>
              </a:rPr>
              <a:t>id</a:t>
            </a:r>
            <a:r>
              <a:rPr>
                <a:solidFill>
                  <a:srgbClr val="666666"/>
                </a:solidFill>
                <a:latin typeface="Courier"/>
              </a:rPr>
              <a:t>);</a:t>
            </a:r>
            <a:br/>
            <a:r>
              <a:rPr>
                <a:latin typeface="Courier"/>
              </a:rPr>
              <a:t>    </a:t>
            </a:r>
            <a:r>
              <a:rPr>
                <a:solidFill>
                  <a:srgbClr val="666666"/>
                </a:solidFill>
                <a:latin typeface="Courier"/>
              </a:rPr>
              <a:t>}</a:t>
            </a:r>
            <a:br/>
            <a:r>
              <a:rPr>
                <a:solidFill>
                  <a:srgbClr val="666666"/>
                </a:solidFill>
                <a:latin typeface="Courier"/>
              </a:rPr>
              <a:t>}</a:t>
            </a:r>
          </a:p>
        </p:txBody>
      </p:sp>
    </p:spTree>
  </p:cSld>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Proxy: Java Code Example - Client</a:t>
            </a:r>
          </a:p>
        </p:txBody>
      </p:sp>
      <p:sp>
        <p:nvSpPr>
          <p:cNvPr id="3" name="Content Placeholder 2"/>
          <p:cNvSpPr>
            <a:spLocks noGrp="1"/>
          </p:cNvSpPr>
          <p:nvPr>
            <p:ph idx="1"/>
          </p:nvPr>
        </p:nvSpPr>
        <p:spPr/>
        <p:txBody>
          <a:bodyPr/>
          <a:lstStyle/>
          <a:p>
            <a:pPr lvl="0" indent="0">
              <a:buNone/>
            </a:pPr>
            <a:r>
              <a:rPr b="1">
                <a:solidFill>
                  <a:srgbClr val="007020"/>
                </a:solidFill>
                <a:latin typeface="Courier"/>
              </a:rPr>
              <a:t>public</a:t>
            </a:r>
            <a:r>
              <a:rPr>
                <a:latin typeface="Courier"/>
              </a:rPr>
              <a:t> </a:t>
            </a:r>
            <a:r>
              <a:rPr b="1">
                <a:solidFill>
                  <a:srgbClr val="007020"/>
                </a:solidFill>
                <a:latin typeface="Courier"/>
              </a:rPr>
              <a:t>class</a:t>
            </a:r>
            <a:r>
              <a:rPr>
                <a:latin typeface="Courier"/>
              </a:rPr>
              <a:t> ProxyDemo </a:t>
            </a:r>
            <a:r>
              <a:rPr>
                <a:solidFill>
                  <a:srgbClr val="666666"/>
                </a:solidFill>
                <a:latin typeface="Courier"/>
              </a:rPr>
              <a:t>{</a:t>
            </a:r>
            <a:br/>
            <a:r>
              <a:rPr>
                <a:latin typeface="Courier"/>
              </a:rPr>
              <a:t>    </a:t>
            </a:r>
            <a:r>
              <a:rPr b="1">
                <a:solidFill>
                  <a:srgbClr val="007020"/>
                </a:solidFill>
                <a:latin typeface="Courier"/>
              </a:rPr>
              <a:t>public</a:t>
            </a:r>
            <a:r>
              <a:rPr>
                <a:latin typeface="Courier"/>
              </a:rPr>
              <a:t> </a:t>
            </a:r>
            <a:r>
              <a:rPr>
                <a:solidFill>
                  <a:srgbClr val="902000"/>
                </a:solidFill>
                <a:latin typeface="Courier"/>
              </a:rPr>
              <a:t>static</a:t>
            </a:r>
            <a:r>
              <a:rPr>
                <a:latin typeface="Courier"/>
              </a:rPr>
              <a:t> </a:t>
            </a:r>
            <a:r>
              <a:rPr>
                <a:solidFill>
                  <a:srgbClr val="902000"/>
                </a:solidFill>
                <a:latin typeface="Courier"/>
              </a:rPr>
              <a:t>void</a:t>
            </a:r>
            <a:r>
              <a:rPr>
                <a:latin typeface="Courier"/>
              </a:rPr>
              <a:t> </a:t>
            </a:r>
            <a:r>
              <a:rPr>
                <a:solidFill>
                  <a:srgbClr val="06287E"/>
                </a:solidFill>
                <a:latin typeface="Courier"/>
              </a:rPr>
              <a:t>main</a:t>
            </a:r>
            <a:r>
              <a:rPr>
                <a:solidFill>
                  <a:srgbClr val="666666"/>
                </a:solidFill>
                <a:latin typeface="Courier"/>
              </a:rPr>
              <a:t>(</a:t>
            </a:r>
            <a:r>
              <a:rPr>
                <a:solidFill>
                  <a:srgbClr val="008000"/>
                </a:solidFill>
                <a:latin typeface="Courier"/>
              </a:rPr>
              <a:t>String</a:t>
            </a:r>
            <a:r>
              <a:rPr>
                <a:solidFill>
                  <a:srgbClr val="666666"/>
                </a:solidFill>
                <a:latin typeface="Courier"/>
              </a:rPr>
              <a:t>[]</a:t>
            </a:r>
            <a:r>
              <a:rPr>
                <a:latin typeface="Courier"/>
              </a:rPr>
              <a:t> args</a:t>
            </a:r>
            <a:r>
              <a:rPr>
                <a:solidFill>
                  <a:srgbClr val="666666"/>
                </a:solidFill>
                <a:latin typeface="Courier"/>
              </a:rPr>
              <a:t>)</a:t>
            </a:r>
            <a:r>
              <a:rPr>
                <a:latin typeface="Courier"/>
              </a:rPr>
              <a:t> </a:t>
            </a:r>
            <a:r>
              <a:rPr>
                <a:solidFill>
                  <a:srgbClr val="666666"/>
                </a:solidFill>
                <a:latin typeface="Courier"/>
              </a:rPr>
              <a:t>{</a:t>
            </a:r>
            <a:br/>
            <a:r>
              <a:rPr>
                <a:latin typeface="Courier"/>
              </a:rPr>
              <a:t>        </a:t>
            </a:r>
            <a:r>
              <a:rPr i="1">
                <a:solidFill>
                  <a:srgbClr val="60A0B0"/>
                </a:solidFill>
                <a:latin typeface="Courier"/>
              </a:rPr>
              <a:t>// Create the real service</a:t>
            </a:r>
            <a:br/>
            <a:r>
              <a:rPr>
                <a:latin typeface="Courier"/>
              </a:rPr>
              <a:t>        ThirdPartyYouTubeLib youtubeService </a:t>
            </a:r>
            <a:r>
              <a:rPr>
                <a:solidFill>
                  <a:srgbClr val="666666"/>
                </a:solidFill>
                <a:latin typeface="Courier"/>
              </a:rPr>
              <a:t>=</a:t>
            </a:r>
            <a:br/>
            <a:r>
              <a:rPr>
                <a:latin typeface="Courier"/>
              </a:rPr>
              <a:t>            </a:t>
            </a:r>
            <a:r>
              <a:rPr b="1">
                <a:solidFill>
                  <a:srgbClr val="007020"/>
                </a:solidFill>
                <a:latin typeface="Courier"/>
              </a:rPr>
              <a:t>new</a:t>
            </a:r>
            <a:r>
              <a:rPr>
                <a:latin typeface="Courier"/>
              </a:rPr>
              <a:t> </a:t>
            </a:r>
            <a:r>
              <a:rPr>
                <a:solidFill>
                  <a:srgbClr val="06287E"/>
                </a:solidFill>
                <a:latin typeface="Courier"/>
              </a:rPr>
              <a:t>ThirdPartyYouTubeClass</a:t>
            </a:r>
            <a:r>
              <a:rPr>
                <a:solidFill>
                  <a:srgbClr val="666666"/>
                </a:solidFill>
                <a:latin typeface="Courier"/>
              </a:rPr>
              <a:t>();</a:t>
            </a:r>
            <a:br/>
            <a:br/>
            <a:r>
              <a:rPr>
                <a:latin typeface="Courier"/>
              </a:rPr>
              <a:t>        </a:t>
            </a:r>
            <a:r>
              <a:rPr i="1">
                <a:solidFill>
                  <a:srgbClr val="60A0B0"/>
                </a:solidFill>
                <a:latin typeface="Courier"/>
              </a:rPr>
              <a:t>// Create the caching proxy</a:t>
            </a:r>
            <a:br/>
            <a:r>
              <a:rPr>
                <a:latin typeface="Courier"/>
              </a:rPr>
              <a:t>        ThirdPartyYouTubeLib youtubeProxy </a:t>
            </a:r>
            <a:r>
              <a:rPr>
                <a:solidFill>
                  <a:srgbClr val="666666"/>
                </a:solidFill>
                <a:latin typeface="Courier"/>
              </a:rPr>
              <a:t>=</a:t>
            </a:r>
            <a:br/>
            <a:r>
              <a:rPr>
                <a:latin typeface="Courier"/>
              </a:rPr>
              <a:t>            </a:t>
            </a:r>
            <a:r>
              <a:rPr b="1">
                <a:solidFill>
                  <a:srgbClr val="007020"/>
                </a:solidFill>
                <a:latin typeface="Courier"/>
              </a:rPr>
              <a:t>new</a:t>
            </a:r>
            <a:r>
              <a:rPr>
                <a:latin typeface="Courier"/>
              </a:rPr>
              <a:t> </a:t>
            </a:r>
            <a:r>
              <a:rPr>
                <a:solidFill>
                  <a:srgbClr val="06287E"/>
                </a:solidFill>
                <a:latin typeface="Courier"/>
              </a:rPr>
              <a:t>CachedYouTubeClass</a:t>
            </a:r>
            <a:r>
              <a:rPr>
                <a:solidFill>
                  <a:srgbClr val="666666"/>
                </a:solidFill>
                <a:latin typeface="Courier"/>
              </a:rPr>
              <a:t>(</a:t>
            </a:r>
            <a:r>
              <a:rPr>
                <a:latin typeface="Courier"/>
              </a:rPr>
              <a:t>youtubeService</a:t>
            </a:r>
            <a:r>
              <a:rPr>
                <a:solidFill>
                  <a:srgbClr val="666666"/>
                </a:solidFill>
                <a:latin typeface="Courier"/>
              </a:rPr>
              <a:t>);</a:t>
            </a:r>
            <a:br/>
            <a:br/>
            <a:r>
              <a:rPr>
                <a:latin typeface="Courier"/>
              </a:rPr>
              <a:t>        </a:t>
            </a:r>
            <a:r>
              <a:rPr i="1">
                <a:solidFill>
                  <a:srgbClr val="60A0B0"/>
                </a:solidFill>
                <a:latin typeface="Courier"/>
              </a:rPr>
              <a:t>// The manager works through the interface,</a:t>
            </a:r>
            <a:br/>
            <a:r>
              <a:rPr>
                <a:latin typeface="Courier"/>
              </a:rPr>
              <a:t>        </a:t>
            </a:r>
            <a:r>
              <a:rPr i="1">
                <a:solidFill>
                  <a:srgbClr val="60A0B0"/>
                </a:solidFill>
                <a:latin typeface="Courier"/>
              </a:rPr>
              <a:t>// so it does not know if it is using the real</a:t>
            </a:r>
            <a:br/>
            <a:r>
              <a:rPr>
                <a:latin typeface="Courier"/>
              </a:rPr>
              <a:t>        </a:t>
            </a:r>
            <a:r>
              <a:rPr i="1">
                <a:solidFill>
                  <a:srgbClr val="60A0B0"/>
                </a:solidFill>
                <a:latin typeface="Courier"/>
              </a:rPr>
              <a:t>// service or the proxy</a:t>
            </a:r>
            <a:br/>
            <a:r>
              <a:rPr>
                <a:latin typeface="Courier"/>
              </a:rPr>
              <a:t>        YouTubeManager manager </a:t>
            </a:r>
            <a:r>
              <a:rPr>
                <a:solidFill>
                  <a:srgbClr val="666666"/>
                </a:solidFill>
                <a:latin typeface="Courier"/>
              </a:rPr>
              <a:t>=</a:t>
            </a:r>
            <a:br/>
            <a:r>
              <a:rPr>
                <a:latin typeface="Courier"/>
              </a:rPr>
              <a:t>            </a:t>
            </a:r>
            <a:r>
              <a:rPr b="1">
                <a:solidFill>
                  <a:srgbClr val="007020"/>
                </a:solidFill>
                <a:latin typeface="Courier"/>
              </a:rPr>
              <a:t>new</a:t>
            </a:r>
            <a:r>
              <a:rPr>
                <a:latin typeface="Courier"/>
              </a:rPr>
              <a:t> </a:t>
            </a:r>
            <a:r>
              <a:rPr>
                <a:solidFill>
                  <a:srgbClr val="06287E"/>
                </a:solidFill>
                <a:latin typeface="Courier"/>
              </a:rPr>
              <a:t>YouTubeManager</a:t>
            </a:r>
            <a:r>
              <a:rPr>
                <a:solidFill>
                  <a:srgbClr val="666666"/>
                </a:solidFill>
                <a:latin typeface="Courier"/>
              </a:rPr>
              <a:t>(</a:t>
            </a:r>
            <a:r>
              <a:rPr>
                <a:latin typeface="Courier"/>
              </a:rPr>
              <a:t>youtubeProxy</a:t>
            </a:r>
            <a:r>
              <a:rPr>
                <a:solidFill>
                  <a:srgbClr val="666666"/>
                </a:solidFill>
                <a:latin typeface="Courier"/>
              </a:rPr>
              <a:t>);</a:t>
            </a:r>
            <a:br/>
            <a:br/>
            <a:r>
              <a:rPr>
                <a:latin typeface="Courier"/>
              </a:rPr>
              <a:t>        </a:t>
            </a:r>
            <a:r>
              <a:rPr i="1">
                <a:solidFill>
                  <a:srgbClr val="60A0B0"/>
                </a:solidFill>
                <a:latin typeface="Courier"/>
              </a:rPr>
              <a:t>// First call - fetches from the real service</a:t>
            </a:r>
            <a:br/>
            <a:r>
              <a:rPr>
                <a:latin typeface="Courier"/>
              </a:rPr>
              <a:t>        manager</a:t>
            </a:r>
            <a:r>
              <a:rPr>
                <a:solidFill>
                  <a:srgbClr val="666666"/>
                </a:solidFill>
                <a:latin typeface="Courier"/>
              </a:rPr>
              <a:t>.</a:t>
            </a:r>
            <a:r>
              <a:rPr>
                <a:solidFill>
                  <a:srgbClr val="06287E"/>
                </a:solidFill>
                <a:latin typeface="Courier"/>
              </a:rPr>
              <a:t>reactOnUserInput</a:t>
            </a:r>
            <a:r>
              <a:rPr>
                <a:solidFill>
                  <a:srgbClr val="666666"/>
                </a:solidFill>
                <a:latin typeface="Courier"/>
              </a:rPr>
              <a:t>(</a:t>
            </a:r>
            <a:r>
              <a:rPr>
                <a:solidFill>
                  <a:srgbClr val="4070A0"/>
                </a:solidFill>
                <a:latin typeface="Courier"/>
              </a:rPr>
              <a:t>"video123"</a:t>
            </a:r>
            <a:r>
              <a:rPr>
                <a:solidFill>
                  <a:srgbClr val="666666"/>
                </a:solidFill>
                <a:latin typeface="Courier"/>
              </a:rPr>
              <a:t>);</a:t>
            </a:r>
            <a:br/>
            <a:br/>
            <a:r>
              <a:rPr>
                <a:latin typeface="Courier"/>
              </a:rPr>
              <a:t>        </a:t>
            </a:r>
            <a:r>
              <a:rPr i="1">
                <a:solidFill>
                  <a:srgbClr val="60A0B0"/>
                </a:solidFill>
                <a:latin typeface="Courier"/>
              </a:rPr>
              <a:t>// Second call - uses cached data</a:t>
            </a:r>
            <a:br/>
            <a:r>
              <a:rPr>
                <a:latin typeface="Courier"/>
              </a:rPr>
              <a:t>        manager</a:t>
            </a:r>
            <a:r>
              <a:rPr>
                <a:solidFill>
                  <a:srgbClr val="666666"/>
                </a:solidFill>
                <a:latin typeface="Courier"/>
              </a:rPr>
              <a:t>.</a:t>
            </a:r>
            <a:r>
              <a:rPr>
                <a:solidFill>
                  <a:srgbClr val="06287E"/>
                </a:solidFill>
                <a:latin typeface="Courier"/>
              </a:rPr>
              <a:t>reactOnUserInput</a:t>
            </a:r>
            <a:r>
              <a:rPr>
                <a:solidFill>
                  <a:srgbClr val="666666"/>
                </a:solidFill>
                <a:latin typeface="Courier"/>
              </a:rPr>
              <a:t>(</a:t>
            </a:r>
            <a:r>
              <a:rPr>
                <a:solidFill>
                  <a:srgbClr val="4070A0"/>
                </a:solidFill>
                <a:latin typeface="Courier"/>
              </a:rPr>
              <a:t>"video123"</a:t>
            </a:r>
            <a:r>
              <a:rPr>
                <a:solidFill>
                  <a:srgbClr val="666666"/>
                </a:solidFill>
                <a:latin typeface="Courier"/>
              </a:rPr>
              <a:t>);</a:t>
            </a:r>
            <a:br/>
            <a:br/>
            <a:r>
              <a:rPr>
                <a:latin typeface="Courier"/>
              </a:rPr>
              <a:t>        </a:t>
            </a:r>
            <a:r>
              <a:rPr i="1">
                <a:solidFill>
                  <a:srgbClr val="60A0B0"/>
                </a:solidFill>
                <a:latin typeface="Courier"/>
              </a:rPr>
              <a:t>// Expected Output:</a:t>
            </a:r>
            <a:br/>
            <a:r>
              <a:rPr>
                <a:latin typeface="Courier"/>
              </a:rPr>
              <a:t>        </a:t>
            </a:r>
            <a:r>
              <a:rPr i="1">
                <a:solidFill>
                  <a:srgbClr val="60A0B0"/>
                </a:solidFill>
                <a:latin typeface="Courier"/>
              </a:rPr>
              <a:t>// Rendering video list: ... videos</a:t>
            </a:r>
            <a:br/>
            <a:r>
              <a:rPr>
                <a:latin typeface="Courier"/>
              </a:rPr>
              <a:t>        </a:t>
            </a:r>
            <a:r>
              <a:rPr i="1">
                <a:solidFill>
                  <a:srgbClr val="60A0B0"/>
                </a:solidFill>
                <a:latin typeface="Courier"/>
              </a:rPr>
              <a:t>// Rendering video page: video123</a:t>
            </a:r>
            <a:br/>
            <a:r>
              <a:rPr>
                <a:latin typeface="Courier"/>
              </a:rPr>
              <a:t>        </a:t>
            </a:r>
            <a:r>
              <a:rPr i="1">
                <a:solidFill>
                  <a:srgbClr val="60A0B0"/>
                </a:solidFill>
                <a:latin typeface="Courier"/>
              </a:rPr>
              <a:t>// Rendering video list: ... videos  (served from cache)</a:t>
            </a:r>
            <a:br/>
            <a:r>
              <a:rPr>
                <a:latin typeface="Courier"/>
              </a:rPr>
              <a:t>        </a:t>
            </a:r>
            <a:r>
              <a:rPr i="1">
                <a:solidFill>
                  <a:srgbClr val="60A0B0"/>
                </a:solidFill>
                <a:latin typeface="Courier"/>
              </a:rPr>
              <a:t>// Rendering video page: video123    (served from cache)</a:t>
            </a:r>
            <a:br/>
            <a:r>
              <a:rPr>
                <a:latin typeface="Courier"/>
              </a:rPr>
              <a:t>    </a:t>
            </a:r>
            <a:r>
              <a:rPr>
                <a:solidFill>
                  <a:srgbClr val="666666"/>
                </a:solidFill>
                <a:latin typeface="Courier"/>
              </a:rPr>
              <a:t>}</a:t>
            </a:r>
            <a:br/>
            <a:r>
              <a:rPr>
                <a:solidFill>
                  <a:srgbClr val="666666"/>
                </a:solidFill>
                <a:latin typeface="Courier"/>
              </a:rPr>
              <a:t>}</a:t>
            </a:r>
          </a:p>
        </p:txBody>
      </p:sp>
    </p:spTree>
  </p:cSld>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Proxy - Sequence Diagram</a:t>
            </a:r>
          </a:p>
        </p:txBody>
      </p:sp>
      <p:pic>
        <p:nvPicPr>
          <p:cNvPr descr="assets/proxy-sequence.png" id="0" name="Picture 1"/>
          <p:cNvPicPr>
            <a:picLocks noGrp="1" noChangeAspect="1"/>
          </p:cNvPicPr>
          <p:nvPr/>
        </p:nvPicPr>
        <p:blipFill>
          <a:blip r:embed="rId2"/>
          <a:stretch>
            <a:fillRect/>
          </a:stretch>
        </p:blipFill>
        <p:spPr bwMode="auto">
          <a:xfrm>
            <a:off x="5003800" y="203200"/>
            <a:ext cx="2247900" cy="3873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a:t>
            </a:r>
          </a:p>
        </p:txBody>
      </p:sp>
    </p:spTree>
  </p:cSld>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Proxy: Applicability</a:t>
            </a:r>
          </a:p>
        </p:txBody>
      </p:sp>
      <p:sp>
        <p:nvSpPr>
          <p:cNvPr id="3" name="Content Placeholder 2"/>
          <p:cNvSpPr>
            <a:spLocks noGrp="1"/>
          </p:cNvSpPr>
          <p:nvPr>
            <p:ph idx="1"/>
          </p:nvPr>
        </p:nvSpPr>
        <p:spPr/>
        <p:txBody>
          <a:bodyPr/>
          <a:lstStyle/>
          <a:p>
            <a:pPr lvl="0" indent="0" marL="0">
              <a:buNone/>
            </a:pPr>
            <a:r>
              <a:rPr/>
              <a:t>There are dozens of ways to utilize the Proxy pattern. Here are the most common:</a:t>
            </a:r>
          </a:p>
          <a:p>
            <a:pPr lvl="0"/>
            <a:r>
              <a:rPr b="1"/>
              <a:t>Lazy initialization (virtual proxy)</a:t>
            </a:r>
            <a:r>
              <a:rPr/>
              <a:t>: When you have a heavyweight service object that wastes system resources by being always up, even though you only need it from time to time. Instead of creating the object when the app launches, you can delay the object’s initialization to a time when it is actually needed</a:t>
            </a:r>
          </a:p>
        </p:txBody>
      </p:sp>
    </p:spTree>
  </p:cSld>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Proxy: Applicability (cont.)</a:t>
            </a:r>
          </a:p>
        </p:txBody>
      </p:sp>
      <p:sp>
        <p:nvSpPr>
          <p:cNvPr id="3" name="Content Placeholder 2"/>
          <p:cNvSpPr>
            <a:spLocks noGrp="1"/>
          </p:cNvSpPr>
          <p:nvPr>
            <p:ph idx="1"/>
          </p:nvPr>
        </p:nvSpPr>
        <p:spPr/>
        <p:txBody>
          <a:bodyPr/>
          <a:lstStyle/>
          <a:p>
            <a:pPr lvl="0"/>
            <a:r>
              <a:rPr b="1"/>
              <a:t>Access control (protection proxy)</a:t>
            </a:r>
            <a:r>
              <a:rPr/>
              <a:t>: When you want only specific clients to be able to use the service object; for instance, when your objects are crucial parts of an operating system and clients are various launched applications (including malicious ones)</a:t>
            </a:r>
          </a:p>
          <a:p>
            <a:pPr lvl="0"/>
            <a:r>
              <a:rPr b="1"/>
              <a:t>Local execution of a remote service (remote proxy)</a:t>
            </a:r>
            <a:r>
              <a:rPr/>
              <a:t>: When the service object is located on a remote server. In this case, the proxy passes the client request over the network, handling all of the nasty details of working with the network</a:t>
            </a:r>
          </a:p>
        </p:txBody>
      </p:sp>
    </p:spTree>
  </p:cSld>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Proxy: Applicability (cont.)</a:t>
            </a:r>
          </a:p>
        </p:txBody>
      </p:sp>
      <p:sp>
        <p:nvSpPr>
          <p:cNvPr id="3" name="Content Placeholder 2"/>
          <p:cNvSpPr>
            <a:spLocks noGrp="1"/>
          </p:cNvSpPr>
          <p:nvPr>
            <p:ph idx="1"/>
          </p:nvPr>
        </p:nvSpPr>
        <p:spPr/>
        <p:txBody>
          <a:bodyPr/>
          <a:lstStyle/>
          <a:p>
            <a:pPr lvl="0"/>
            <a:r>
              <a:rPr b="1"/>
              <a:t>Logging requests (logging proxy)</a:t>
            </a:r>
            <a:r>
              <a:rPr/>
              <a:t>: When you want to keep a history of requests to the service object. The proxy can log each request before passing it to the service</a:t>
            </a:r>
          </a:p>
          <a:p>
            <a:pPr lvl="0"/>
            <a:r>
              <a:rPr b="1"/>
              <a:t>Caching request results (caching proxy)</a:t>
            </a:r>
            <a:r>
              <a:rPr/>
              <a:t>: When you need to cache results of client requests and manage the life cycle of this cache, especially if results are quite large. The proxy can implement caching for recurring requests that always yield the same results</a:t>
            </a:r>
          </a:p>
          <a:p>
            <a:pPr lvl="0"/>
            <a:r>
              <a:rPr b="1"/>
              <a:t>Smart reference</a:t>
            </a:r>
            <a:r>
              <a:rPr/>
              <a:t>: When you need to be able to dismiss a heavyweight object once there are no clients that use it. The proxy can keep track of clients that obtained a reference to the service object or its results. From time to time, the proxy may go over the clients and check whether they are still active. If the client list gets empty, the proxy might dismiss the service object and free the underlying system resources</a:t>
            </a:r>
          </a:p>
        </p:txBody>
      </p:sp>
    </p:spTree>
  </p:cSld>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Proxy: How to Implement</a:t>
            </a:r>
          </a:p>
        </p:txBody>
      </p:sp>
      <p:sp>
        <p:nvSpPr>
          <p:cNvPr id="3" name="Content Placeholder 2"/>
          <p:cNvSpPr>
            <a:spLocks noGrp="1"/>
          </p:cNvSpPr>
          <p:nvPr>
            <p:ph idx="1"/>
          </p:nvPr>
        </p:nvSpPr>
        <p:spPr/>
        <p:txBody>
          <a:bodyPr/>
          <a:lstStyle/>
          <a:p>
            <a:pPr lvl="0" indent="-342900" marL="342900">
              <a:buAutoNum type="arabicPeriod"/>
            </a:pPr>
            <a:r>
              <a:rPr/>
              <a:t>If there is no pre-existing </a:t>
            </a:r>
            <a:r>
              <a:rPr b="1"/>
              <a:t>service interface</a:t>
            </a:r>
            <a:r>
              <a:rPr/>
              <a:t>, create one to make proxy and service objects interchangeable. Extracting the interface from the service class is not always possible, because you would need to change all of the service’s clients to use that interface. An alternative is to make the proxy a </a:t>
            </a:r>
            <a:r>
              <a:rPr b="1"/>
              <a:t>subclass</a:t>
            </a:r>
            <a:r>
              <a:rPr/>
              <a:t> of the service class</a:t>
            </a:r>
          </a:p>
          <a:p>
            <a:pPr lvl="0" indent="-342900" marL="342900">
              <a:buAutoNum type="arabicPeriod"/>
            </a:pPr>
            <a:r>
              <a:rPr/>
              <a:t>Create the </a:t>
            </a:r>
            <a:r>
              <a:rPr b="1"/>
              <a:t>proxy class</a:t>
            </a:r>
            <a:r>
              <a:rPr/>
              <a:t>. It should have a field for storing a reference to the service. Usually, proxies create and manage the whole life cycle of their services. On rare occasions, a service is passed to the proxy via a constructor by the client</a:t>
            </a:r>
          </a:p>
        </p:txBody>
      </p:sp>
    </p:spTree>
  </p:cSld>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Proxy: How to Implement (cont.)</a:t>
            </a:r>
          </a:p>
        </p:txBody>
      </p:sp>
      <p:sp>
        <p:nvSpPr>
          <p:cNvPr id="3" name="Content Placeholder 2"/>
          <p:cNvSpPr>
            <a:spLocks noGrp="1"/>
          </p:cNvSpPr>
          <p:nvPr>
            <p:ph idx="1"/>
          </p:nvPr>
        </p:nvSpPr>
        <p:spPr/>
        <p:txBody>
          <a:bodyPr/>
          <a:lstStyle/>
          <a:p>
            <a:pPr lvl="0" indent="-342900" marL="342900">
              <a:buAutoNum startAt="3" type="arabicPeriod"/>
            </a:pPr>
            <a:r>
              <a:rPr/>
              <a:t>Implement the </a:t>
            </a:r>
            <a:r>
              <a:rPr b="1"/>
              <a:t>proxy methods</a:t>
            </a:r>
            <a:r>
              <a:rPr/>
              <a:t> according to their purposes. In most cases, after doing some work, the proxy should delegate the work to the service object</a:t>
            </a:r>
          </a:p>
          <a:p>
            <a:pPr lvl="0" indent="-342900" marL="342900">
              <a:buAutoNum startAt="3" type="arabicPeriod"/>
            </a:pPr>
            <a:r>
              <a:rPr/>
              <a:t>Consider introducing a </a:t>
            </a:r>
            <a:r>
              <a:rPr b="1"/>
              <a:t>creation method</a:t>
            </a:r>
            <a:r>
              <a:rPr/>
              <a:t> that decides whether the client gets a proxy or a real service. This can be a simple static method in the proxy class or a full-blown factory method</a:t>
            </a:r>
          </a:p>
          <a:p>
            <a:pPr lvl="0" indent="-342900" marL="342900">
              <a:buAutoNum startAt="3" type="arabicPeriod"/>
            </a:pPr>
            <a:r>
              <a:rPr/>
              <a:t>Consider implementing </a:t>
            </a:r>
            <a:r>
              <a:rPr b="1"/>
              <a:t>lazy initialization</a:t>
            </a:r>
            <a:r>
              <a:rPr/>
              <a:t> for the service object</a:t>
            </a:r>
          </a:p>
        </p:txBody>
      </p:sp>
    </p:spTree>
  </p:cSld>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Proxy: Pros and Cons</a:t>
            </a:r>
          </a:p>
        </p:txBody>
      </p:sp>
      <p:sp>
        <p:nvSpPr>
          <p:cNvPr id="3" name="Content Placeholder 2"/>
          <p:cNvSpPr>
            <a:spLocks noGrp="1"/>
          </p:cNvSpPr>
          <p:nvPr>
            <p:ph idx="1"/>
          </p:nvPr>
        </p:nvSpPr>
        <p:spPr/>
        <p:txBody>
          <a:bodyPr/>
          <a:lstStyle/>
          <a:p>
            <a:pPr lvl="0" indent="0" marL="0">
              <a:buNone/>
            </a:pPr>
            <a:r>
              <a:rPr b="1"/>
              <a:t>Pros:</a:t>
            </a:r>
            <a:r>
              <a:rPr/>
              <a:t> - You can control the service object </a:t>
            </a:r>
            <a:r>
              <a:rPr b="1"/>
              <a:t>without clients knowing</a:t>
            </a:r>
            <a:r>
              <a:rPr/>
              <a:t> about it - You can manage the </a:t>
            </a:r>
            <a:r>
              <a:rPr b="1"/>
              <a:t>lifecycle</a:t>
            </a:r>
            <a:r>
              <a:rPr/>
              <a:t> of the service object when clients do not care about it - The proxy works even if the </a:t>
            </a:r>
            <a:r>
              <a:rPr b="1"/>
              <a:t>service object is not ready</a:t>
            </a:r>
            <a:r>
              <a:rPr/>
              <a:t> or is not available - </a:t>
            </a:r>
            <a:r>
              <a:rPr b="1"/>
              <a:t>Open/Closed Principle</a:t>
            </a:r>
            <a:r>
              <a:rPr/>
              <a:t>: You can introduce new proxies without changing the service or clients</a:t>
            </a:r>
          </a:p>
          <a:p>
            <a:pPr lvl="0" indent="0" marL="0">
              <a:buNone/>
            </a:pPr>
            <a:r>
              <a:rPr b="1"/>
              <a:t>Cons:</a:t>
            </a:r>
            <a:r>
              <a:rPr/>
              <a:t> - The code may become </a:t>
            </a:r>
            <a:r>
              <a:rPr b="1"/>
              <a:t>more complicated</a:t>
            </a:r>
            <a:r>
              <a:rPr/>
              <a:t> since you need to introduce a lot of new classes - The response from the service might get </a:t>
            </a:r>
            <a:r>
              <a:rPr b="1"/>
              <a:t>delayed</a:t>
            </a:r>
          </a:p>
        </p:txBody>
      </p:sp>
    </p:spTree>
  </p:cSld>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Proxy: Relations with Other Patterns</a:t>
            </a:r>
          </a:p>
        </p:txBody>
      </p:sp>
      <p:sp>
        <p:nvSpPr>
          <p:cNvPr id="3" name="Content Placeholder 2"/>
          <p:cNvSpPr>
            <a:spLocks noGrp="1"/>
          </p:cNvSpPr>
          <p:nvPr>
            <p:ph idx="1"/>
          </p:nvPr>
        </p:nvSpPr>
        <p:spPr/>
        <p:txBody>
          <a:bodyPr/>
          <a:lstStyle/>
          <a:p>
            <a:pPr lvl="0"/>
            <a:r>
              <a:rPr b="1"/>
              <a:t>Adapter</a:t>
            </a:r>
            <a:r>
              <a:rPr/>
              <a:t> provides a different interface to the wrapped object, </a:t>
            </a:r>
            <a:r>
              <a:rPr b="1"/>
              <a:t>Proxy</a:t>
            </a:r>
            <a:r>
              <a:rPr/>
              <a:t> provides it with the same interface, and </a:t>
            </a:r>
            <a:r>
              <a:rPr b="1"/>
              <a:t>Decorator</a:t>
            </a:r>
            <a:r>
              <a:rPr/>
              <a:t> provides it with an enhanced interface</a:t>
            </a:r>
          </a:p>
          <a:p>
            <a:pPr lvl="0"/>
            <a:r>
              <a:rPr b="1"/>
              <a:t>Facade</a:t>
            </a:r>
            <a:r>
              <a:rPr/>
              <a:t> is similar to </a:t>
            </a:r>
            <a:r>
              <a:rPr b="1"/>
              <a:t>Proxy</a:t>
            </a:r>
            <a:r>
              <a:rPr/>
              <a:t> in that both buffer a complex entity and initialize it on its own. Unlike Facade, Proxy has the same interface as its service object, which makes them interchangeable</a:t>
            </a:r>
          </a:p>
          <a:p>
            <a:pPr lvl="0"/>
            <a:r>
              <a:rPr b="1"/>
              <a:t>Decorator</a:t>
            </a:r>
            <a:r>
              <a:rPr/>
              <a:t> and </a:t>
            </a:r>
            <a:r>
              <a:rPr b="1"/>
              <a:t>Proxy</a:t>
            </a:r>
            <a:r>
              <a:rPr/>
              <a:t> have similar structures, but very different intents. Both patterns are built on the composition principle, where one object is supposed to delegate some of the work to another. The difference is that a Proxy usually manages the lifecycle of its service object on its own, whereas the composition of Decorators is always controlled by the client</a:t>
            </a:r>
          </a:p>
        </p:txBody>
      </p:sp>
    </p:spTree>
  </p:cSld>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Module H: Takeaway</a:t>
            </a:r>
          </a:p>
        </p:txBody>
      </p:sp>
      <p:sp>
        <p:nvSpPr>
          <p:cNvPr id="3" name="Content Placeholder 2"/>
          <p:cNvSpPr>
            <a:spLocks noGrp="1"/>
          </p:cNvSpPr>
          <p:nvPr>
            <p:ph idx="1"/>
          </p:nvPr>
        </p:nvSpPr>
        <p:spPr/>
        <p:txBody>
          <a:bodyPr/>
          <a:lstStyle/>
          <a:p>
            <a:pPr lvl="0"/>
            <a:r>
              <a:rPr/>
              <a:t>The Proxy pattern provides a </a:t>
            </a:r>
            <a:r>
              <a:rPr b="1"/>
              <a:t>substitute or placeholder</a:t>
            </a:r>
            <a:r>
              <a:rPr/>
              <a:t> for another object</a:t>
            </a:r>
          </a:p>
          <a:p>
            <a:pPr lvl="0"/>
            <a:r>
              <a:rPr/>
              <a:t>It controls access and adds behavior </a:t>
            </a:r>
            <a:r>
              <a:rPr b="1"/>
              <a:t>without modifying</a:t>
            </a:r>
            <a:r>
              <a:rPr/>
              <a:t> the original service</a:t>
            </a:r>
          </a:p>
          <a:p>
            <a:pPr lvl="0"/>
            <a:r>
              <a:rPr/>
              <a:t>There are many types: </a:t>
            </a:r>
            <a:r>
              <a:rPr b="1"/>
              <a:t>virtual, protection, remote, logging, caching, smart reference</a:t>
            </a:r>
          </a:p>
          <a:p>
            <a:pPr lvl="0"/>
            <a:r>
              <a:rPr/>
              <a:t>It follows the </a:t>
            </a:r>
            <a:r>
              <a:rPr b="1"/>
              <a:t>Open/Closed Principle</a:t>
            </a:r>
            <a:r>
              <a:rPr/>
              <a:t> by allowing new proxies without changing existing code</a:t>
            </a:r>
          </a:p>
          <a:p>
            <a:pPr lvl="0"/>
            <a:r>
              <a:rPr/>
              <a:t>It is similar to Decorator in structure but different in </a:t>
            </a:r>
            <a:r>
              <a:rPr b="1"/>
              <a:t>intent and lifecycle management</a:t>
            </a:r>
          </a:p>
        </p:txBody>
      </p:sp>
    </p:spTree>
  </p:cSld>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Summary: Structural Design Patterns Comparison</a:t>
            </a:r>
          </a:p>
        </p:txBody>
      </p:sp>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2311400"/>
                <a:gridCol w="2565400"/>
                <a:gridCol w="3340100"/>
              </a:tblGrid>
              <a:tr h="0">
                <a:tc>
                  <a:txBody>
                    <a:bodyPr/>
                    <a:lstStyle/>
                    <a:p>
                      <a:pPr lvl="0" indent="0" marL="0">
                        <a:buNone/>
                      </a:pPr>
                      <a:r>
                        <a:rPr/>
                        <a:t>Pattern</a:t>
                      </a:r>
                    </a:p>
                  </a:txBody>
                  <a:tcPr/>
                </a:tc>
                <a:tc>
                  <a:txBody>
                    <a:bodyPr/>
                    <a:lstStyle/>
                    <a:p>
                      <a:pPr lvl="0" indent="0" marL="0">
                        <a:buNone/>
                      </a:pPr>
                      <a:r>
                        <a:rPr/>
                        <a:t>Key Idea</a:t>
                      </a:r>
                    </a:p>
                  </a:txBody>
                  <a:tcPr/>
                </a:tc>
                <a:tc>
                  <a:txBody>
                    <a:bodyPr/>
                    <a:lstStyle/>
                    <a:p>
                      <a:pPr lvl="0" indent="0" marL="0">
                        <a:buNone/>
                      </a:pPr>
                      <a:r>
                        <a:rPr/>
                        <a:t>Typical Use</a:t>
                      </a:r>
                    </a:p>
                  </a:txBody>
                  <a:tcPr/>
                </a:tc>
              </a:tr>
              <a:tr h="0">
                <a:tc>
                  <a:txBody>
                    <a:bodyPr/>
                    <a:lstStyle/>
                    <a:p>
                      <a:pPr lvl="0" indent="0" marL="0">
                        <a:buNone/>
                      </a:pPr>
                      <a:r>
                        <a:rPr b="1"/>
                        <a:t>Adapter</a:t>
                      </a:r>
                    </a:p>
                  </a:txBody>
                </a:tc>
                <a:tc>
                  <a:txBody>
                    <a:bodyPr/>
                    <a:lstStyle/>
                    <a:p>
                      <a:pPr lvl="0" indent="0" marL="0">
                        <a:buNone/>
                      </a:pPr>
                      <a:r>
                        <a:rPr/>
                        <a:t>Convert interface</a:t>
                      </a:r>
                    </a:p>
                  </a:txBody>
                </a:tc>
                <a:tc>
                  <a:txBody>
                    <a:bodyPr/>
                    <a:lstStyle/>
                    <a:p>
                      <a:pPr lvl="0" indent="0" marL="0">
                        <a:buNone/>
                      </a:pPr>
                      <a:r>
                        <a:rPr/>
                        <a:t>Legacy/third-party integration</a:t>
                      </a:r>
                    </a:p>
                  </a:txBody>
                </a:tc>
              </a:tr>
              <a:tr h="0">
                <a:tc>
                  <a:txBody>
                    <a:bodyPr/>
                    <a:lstStyle/>
                    <a:p>
                      <a:pPr lvl="0" indent="0" marL="0">
                        <a:buNone/>
                      </a:pPr>
                      <a:r>
                        <a:rPr b="1"/>
                        <a:t>Bridge</a:t>
                      </a:r>
                    </a:p>
                  </a:txBody>
                </a:tc>
                <a:tc>
                  <a:txBody>
                    <a:bodyPr/>
                    <a:lstStyle/>
                    <a:p>
                      <a:pPr lvl="0" indent="0" marL="0">
                        <a:buNone/>
                      </a:pPr>
                      <a:r>
                        <a:rPr/>
                        <a:t>Separate abstraction/impl</a:t>
                      </a:r>
                    </a:p>
                  </a:txBody>
                </a:tc>
                <a:tc>
                  <a:txBody>
                    <a:bodyPr/>
                    <a:lstStyle/>
                    <a:p>
                      <a:pPr lvl="0" indent="0" marL="0">
                        <a:buNone/>
                      </a:pPr>
                      <a:r>
                        <a:rPr/>
                        <a:t>Multi-dimensional hierarchies</a:t>
                      </a:r>
                    </a:p>
                  </a:txBody>
                </a:tc>
              </a:tr>
              <a:tr h="0">
                <a:tc>
                  <a:txBody>
                    <a:bodyPr/>
                    <a:lstStyle/>
                    <a:p>
                      <a:pPr lvl="0" indent="0" marL="0">
                        <a:buNone/>
                      </a:pPr>
                      <a:r>
                        <a:rPr b="1"/>
                        <a:t>Composite</a:t>
                      </a:r>
                    </a:p>
                  </a:txBody>
                </a:tc>
                <a:tc>
                  <a:txBody>
                    <a:bodyPr/>
                    <a:lstStyle/>
                    <a:p>
                      <a:pPr lvl="0" indent="0" marL="0">
                        <a:buNone/>
                      </a:pPr>
                      <a:r>
                        <a:rPr/>
                        <a:t>Tree structure</a:t>
                      </a:r>
                    </a:p>
                  </a:txBody>
                </a:tc>
                <a:tc>
                  <a:txBody>
                    <a:bodyPr/>
                    <a:lstStyle/>
                    <a:p>
                      <a:pPr lvl="0" indent="0" marL="0">
                        <a:buNone/>
                      </a:pPr>
                      <a:r>
                        <a:rPr/>
                        <a:t>Part-whole hierarchies</a:t>
                      </a:r>
                    </a:p>
                  </a:txBody>
                </a:tc>
              </a:tr>
              <a:tr h="0">
                <a:tc>
                  <a:txBody>
                    <a:bodyPr/>
                    <a:lstStyle/>
                    <a:p>
                      <a:pPr lvl="0" indent="0" marL="0">
                        <a:buNone/>
                      </a:pPr>
                      <a:r>
                        <a:rPr b="1"/>
                        <a:t>Decorator</a:t>
                      </a:r>
                    </a:p>
                  </a:txBody>
                </a:tc>
                <a:tc>
                  <a:txBody>
                    <a:bodyPr/>
                    <a:lstStyle/>
                    <a:p>
                      <a:pPr lvl="0" indent="0" marL="0">
                        <a:buNone/>
                      </a:pPr>
                      <a:r>
                        <a:rPr/>
                        <a:t>Add behavior dynamically</a:t>
                      </a:r>
                    </a:p>
                  </a:txBody>
                </a:tc>
                <a:tc>
                  <a:txBody>
                    <a:bodyPr/>
                    <a:lstStyle/>
                    <a:p>
                      <a:pPr lvl="0" indent="0" marL="0">
                        <a:buNone/>
                      </a:pPr>
                      <a:r>
                        <a:rPr/>
                        <a:t>Layered behaviors</a:t>
                      </a:r>
                    </a:p>
                  </a:txBody>
                </a:tc>
              </a:tr>
              <a:tr h="0">
                <a:tc>
                  <a:txBody>
                    <a:bodyPr/>
                    <a:lstStyle/>
                    <a:p>
                      <a:pPr lvl="0" indent="0" marL="0">
                        <a:buNone/>
                      </a:pPr>
                      <a:r>
                        <a:rPr b="1"/>
                        <a:t>Facade</a:t>
                      </a:r>
                    </a:p>
                  </a:txBody>
                </a:tc>
                <a:tc>
                  <a:txBody>
                    <a:bodyPr/>
                    <a:lstStyle/>
                    <a:p>
                      <a:pPr lvl="0" indent="0" marL="0">
                        <a:buNone/>
                      </a:pPr>
                      <a:r>
                        <a:rPr/>
                        <a:t>Simplify interface</a:t>
                      </a:r>
                    </a:p>
                  </a:txBody>
                </a:tc>
                <a:tc>
                  <a:txBody>
                    <a:bodyPr/>
                    <a:lstStyle/>
                    <a:p>
                      <a:pPr lvl="0" indent="0" marL="0">
                        <a:buNone/>
                      </a:pPr>
                      <a:r>
                        <a:rPr/>
                        <a:t>Complex subsystem access</a:t>
                      </a:r>
                    </a:p>
                  </a:txBody>
                </a:tc>
              </a:tr>
              <a:tr h="0">
                <a:tc>
                  <a:txBody>
                    <a:bodyPr/>
                    <a:lstStyle/>
                    <a:p>
                      <a:pPr lvl="0" indent="0" marL="0">
                        <a:buNone/>
                      </a:pPr>
                      <a:r>
                        <a:rPr b="1"/>
                        <a:t>Flyweight</a:t>
                      </a:r>
                    </a:p>
                  </a:txBody>
                </a:tc>
                <a:tc>
                  <a:txBody>
                    <a:bodyPr/>
                    <a:lstStyle/>
                    <a:p>
                      <a:pPr lvl="0" indent="0" marL="0">
                        <a:buNone/>
                      </a:pPr>
                      <a:r>
                        <a:rPr/>
                        <a:t>Share state</a:t>
                      </a:r>
                    </a:p>
                  </a:txBody>
                </a:tc>
                <a:tc>
                  <a:txBody>
                    <a:bodyPr/>
                    <a:lstStyle/>
                    <a:p>
                      <a:pPr lvl="0" indent="0" marL="0">
                        <a:buNone/>
                      </a:pPr>
                      <a:r>
                        <a:rPr/>
                        <a:t>Memory optimization</a:t>
                      </a:r>
                    </a:p>
                  </a:txBody>
                </a:tc>
              </a:tr>
              <a:tr h="0">
                <a:tc>
                  <a:txBody>
                    <a:bodyPr/>
                    <a:lstStyle/>
                    <a:p>
                      <a:pPr lvl="0" indent="0" marL="0">
                        <a:buNone/>
                      </a:pPr>
                      <a:r>
                        <a:rPr b="1"/>
                        <a:t>Proxy</a:t>
                      </a:r>
                    </a:p>
                  </a:txBody>
                </a:tc>
                <a:tc>
                  <a:txBody>
                    <a:bodyPr/>
                    <a:lstStyle/>
                    <a:p>
                      <a:pPr lvl="0" indent="0" marL="0">
                        <a:buNone/>
                      </a:pPr>
                      <a:r>
                        <a:rPr/>
                        <a:t>Control access</a:t>
                      </a:r>
                    </a:p>
                  </a:txBody>
                </a:tc>
                <a:tc>
                  <a:txBody>
                    <a:bodyPr/>
                    <a:lstStyle/>
                    <a:p>
                      <a:pPr lvl="0" indent="0" marL="0">
                        <a:buNone/>
                      </a:pPr>
                      <a:r>
                        <a:rPr/>
                        <a:t>Lazy init, caching, security</a:t>
                      </a:r>
                    </a:p>
                  </a:txBody>
                </a:tc>
              </a:tr>
            </a:tbl>
          </a:graphicData>
        </a:graphic>
      </p:graphicFrame>
    </p:spTree>
  </p:cSld>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Structural Patterns: Key Relationships</a:t>
            </a:r>
          </a:p>
        </p:txBody>
      </p:sp>
      <p:sp>
        <p:nvSpPr>
          <p:cNvPr id="3" name="Content Placeholder 2"/>
          <p:cNvSpPr>
            <a:spLocks noGrp="1"/>
          </p:cNvSpPr>
          <p:nvPr>
            <p:ph idx="1"/>
          </p:nvPr>
        </p:nvSpPr>
        <p:spPr/>
        <p:txBody>
          <a:bodyPr/>
          <a:lstStyle/>
          <a:p>
            <a:pPr lvl="0"/>
            <a:r>
              <a:rPr b="1"/>
              <a:t>Adapter</a:t>
            </a:r>
            <a:r>
              <a:rPr/>
              <a:t> vs </a:t>
            </a:r>
            <a:r>
              <a:rPr b="1"/>
              <a:t>Bridge</a:t>
            </a:r>
            <a:r>
              <a:rPr/>
              <a:t>: Adapter retrofits, Bridge designs up-front</a:t>
            </a:r>
          </a:p>
          <a:p>
            <a:pPr lvl="0"/>
            <a:r>
              <a:rPr b="1"/>
              <a:t>Composite</a:t>
            </a:r>
            <a:r>
              <a:rPr/>
              <a:t> vs </a:t>
            </a:r>
            <a:r>
              <a:rPr b="1"/>
              <a:t>Decorator</a:t>
            </a:r>
            <a:r>
              <a:rPr/>
              <a:t>: Both use recursive composition, but for different purposes</a:t>
            </a:r>
          </a:p>
          <a:p>
            <a:pPr lvl="0"/>
            <a:r>
              <a:rPr b="1"/>
              <a:t>Decorator</a:t>
            </a:r>
            <a:r>
              <a:rPr/>
              <a:t> vs </a:t>
            </a:r>
            <a:r>
              <a:rPr b="1"/>
              <a:t>Proxy</a:t>
            </a:r>
            <a:r>
              <a:rPr/>
              <a:t>: Similar structures, different lifecycle management</a:t>
            </a:r>
          </a:p>
          <a:p>
            <a:pPr lvl="0"/>
            <a:r>
              <a:rPr b="1"/>
              <a:t>Facade</a:t>
            </a:r>
            <a:r>
              <a:rPr/>
              <a:t> vs </a:t>
            </a:r>
            <a:r>
              <a:rPr b="1"/>
              <a:t>Adapter</a:t>
            </a:r>
            <a:r>
              <a:rPr/>
              <a:t>: Facade simplifies a subsystem, Adapter wraps a single object</a:t>
            </a:r>
          </a:p>
          <a:p>
            <a:pPr lvl="0"/>
            <a:r>
              <a:rPr b="1"/>
              <a:t>Flyweight</a:t>
            </a:r>
            <a:r>
              <a:rPr/>
              <a:t> vs </a:t>
            </a:r>
            <a:r>
              <a:rPr b="1"/>
              <a:t>Singleton</a:t>
            </a:r>
            <a:r>
              <a:rPr/>
              <a:t>: Flyweight has multiple shared instances, Singleton has one mutable instance</a:t>
            </a:r>
          </a:p>
          <a:p>
            <a:pPr lvl="0"/>
            <a:r>
              <a:rPr b="1"/>
              <a:t>Facade</a:t>
            </a:r>
            <a:r>
              <a:rPr/>
              <a:t> vs </a:t>
            </a:r>
            <a:r>
              <a:rPr b="1"/>
              <a:t>Mediator</a:t>
            </a:r>
            <a:r>
              <a:rPr/>
              <a:t>: Both organize collaboration, but Facade does not add functionality</a:t>
            </a:r>
          </a:p>
        </p:txBody>
      </p:sp>
    </p:spTree>
  </p:cSld>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References</a:t>
            </a:r>
          </a:p>
        </p:txBody>
      </p:sp>
      <p:sp>
        <p:nvSpPr>
          <p:cNvPr id="3" name="Content Placeholder 2"/>
          <p:cNvSpPr>
            <a:spLocks noGrp="1"/>
          </p:cNvSpPr>
          <p:nvPr>
            <p:ph idx="1"/>
          </p:nvPr>
        </p:nvSpPr>
        <p:spPr/>
        <p:txBody>
          <a:bodyPr/>
          <a:lstStyle/>
          <a:p>
            <a:pPr lvl="0"/>
            <a:r>
              <a:rPr/>
              <a:t>Gamma, E., Helm, R., Johnson, R., &amp; Vlissides, J. (1994). </a:t>
            </a:r>
            <a:r>
              <a:rPr i="1"/>
              <a:t>Design Patterns: Elements of Reusable Object-Oriented Software</a:t>
            </a:r>
            <a:r>
              <a:rPr/>
              <a:t>. Addison-Wesley.</a:t>
            </a:r>
          </a:p>
          <a:p>
            <a:pPr lvl="0"/>
            <a:r>
              <a:rPr/>
              <a:t>Freeman, E., &amp; Robson, E. (2020). </a:t>
            </a:r>
            <a:r>
              <a:rPr i="1"/>
              <a:t>Head First Design Patterns: Building Extensible and Maintainable Object-Oriented Software</a:t>
            </a:r>
            <a:r>
              <a:rPr/>
              <a:t> (2nd ed.). O’Reilly Media.</a:t>
            </a:r>
          </a:p>
          <a:p>
            <a:pPr lvl="0"/>
            <a:r>
              <a:rPr/>
              <a:t>Refactoring.Guru. </a:t>
            </a:r>
            <a:r>
              <a:rPr i="1"/>
              <a:t>Structural Design Patterns</a:t>
            </a:r>
            <a:r>
              <a:rPr/>
              <a:t>. </a:t>
            </a:r>
            <a:r>
              <a:rPr>
                <a:hlinkClick r:id="rId2"/>
              </a:rPr>
              <a:t>https://refactoring.guru/design-patterns/structural-patterns</a:t>
            </a:r>
          </a:p>
          <a:p>
            <a:pPr lvl="0"/>
            <a:r>
              <a:rPr/>
              <a:t>Refactoring.Guru. </a:t>
            </a:r>
            <a:r>
              <a:rPr i="1"/>
              <a:t>Adapter</a:t>
            </a:r>
            <a:r>
              <a:rPr/>
              <a:t>. </a:t>
            </a:r>
            <a:r>
              <a:rPr>
                <a:hlinkClick r:id="rId3"/>
              </a:rPr>
              <a:t>https://refactoring.guru/design-patterns/adapter</a:t>
            </a:r>
          </a:p>
          <a:p>
            <a:pPr lvl="0"/>
            <a:r>
              <a:rPr/>
              <a:t>Refactoring.Guru. </a:t>
            </a:r>
            <a:r>
              <a:rPr i="1"/>
              <a:t>Bridge</a:t>
            </a:r>
            <a:r>
              <a:rPr/>
              <a:t>. </a:t>
            </a:r>
            <a:r>
              <a:rPr>
                <a:hlinkClick r:id="rId4"/>
              </a:rPr>
              <a:t>https://refactoring.guru/design-patterns/bridge</a:t>
            </a:r>
          </a:p>
          <a:p>
            <a:pPr lvl="0"/>
            <a:r>
              <a:rPr/>
              <a:t>Refactoring.Guru. </a:t>
            </a:r>
            <a:r>
              <a:rPr i="1"/>
              <a:t>Composite</a:t>
            </a:r>
            <a:r>
              <a:rPr/>
              <a:t>. </a:t>
            </a:r>
            <a:r>
              <a:rPr>
                <a:hlinkClick r:id="rId5"/>
              </a:rPr>
              <a:t>https://refactoring.guru/design-patterns/composite</a:t>
            </a:r>
          </a:p>
        </p:txBody>
      </p:sp>
    </p:spTree>
  </p:cSld>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References (cont.)</a:t>
            </a:r>
          </a:p>
        </p:txBody>
      </p:sp>
      <p:sp>
        <p:nvSpPr>
          <p:cNvPr id="3" name="Content Placeholder 2"/>
          <p:cNvSpPr>
            <a:spLocks noGrp="1"/>
          </p:cNvSpPr>
          <p:nvPr>
            <p:ph idx="1"/>
          </p:nvPr>
        </p:nvSpPr>
        <p:spPr/>
        <p:txBody>
          <a:bodyPr/>
          <a:lstStyle/>
          <a:p>
            <a:pPr lvl="0"/>
            <a:r>
              <a:rPr/>
              <a:t>Refactoring.Guru. </a:t>
            </a:r>
            <a:r>
              <a:rPr i="1"/>
              <a:t>Decorator</a:t>
            </a:r>
            <a:r>
              <a:rPr/>
              <a:t>. </a:t>
            </a:r>
            <a:r>
              <a:rPr>
                <a:hlinkClick r:id="rId2"/>
              </a:rPr>
              <a:t>https://refactoring.guru/design-patterns/decorator</a:t>
            </a:r>
          </a:p>
          <a:p>
            <a:pPr lvl="0"/>
            <a:r>
              <a:rPr/>
              <a:t>Refactoring.Guru. </a:t>
            </a:r>
            <a:r>
              <a:rPr i="1"/>
              <a:t>Facade</a:t>
            </a:r>
            <a:r>
              <a:rPr/>
              <a:t>. </a:t>
            </a:r>
            <a:r>
              <a:rPr>
                <a:hlinkClick r:id="rId3"/>
              </a:rPr>
              <a:t>https://refactoring.guru/design-patterns/facade</a:t>
            </a:r>
          </a:p>
          <a:p>
            <a:pPr lvl="0"/>
            <a:r>
              <a:rPr/>
              <a:t>Refactoring.Guru. </a:t>
            </a:r>
            <a:r>
              <a:rPr i="1"/>
              <a:t>Flyweight</a:t>
            </a:r>
            <a:r>
              <a:rPr/>
              <a:t>. </a:t>
            </a:r>
            <a:r>
              <a:rPr>
                <a:hlinkClick r:id="rId4"/>
              </a:rPr>
              <a:t>https://refactoring.guru/design-patterns/flyweight</a:t>
            </a:r>
          </a:p>
          <a:p>
            <a:pPr lvl="0"/>
            <a:r>
              <a:rPr/>
              <a:t>Refactoring.Guru. </a:t>
            </a:r>
            <a:r>
              <a:rPr i="1"/>
              <a:t>Proxy</a:t>
            </a:r>
            <a:r>
              <a:rPr/>
              <a:t>. </a:t>
            </a:r>
            <a:r>
              <a:rPr>
                <a:hlinkClick r:id="rId5"/>
              </a:rPr>
              <a:t>https://refactoring.guru/design-patterns/proxy</a:t>
            </a:r>
          </a:p>
          <a:p>
            <a:pPr lvl="0"/>
            <a:r>
              <a:rPr/>
              <a:t>Bloch, J. (2018). </a:t>
            </a:r>
            <a:r>
              <a:rPr i="1"/>
              <a:t>Effective Java</a:t>
            </a:r>
            <a:r>
              <a:rPr/>
              <a:t> (3rd ed.). Addison-Wesley.</a:t>
            </a:r>
          </a:p>
        </p:txBody>
      </p:sp>
    </p:spTree>
  </p:cSld>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Thank You</a:t>
            </a:r>
          </a:p>
        </p:txBody>
      </p:sp>
      <p:sp>
        <p:nvSpPr>
          <p:cNvPr id="3" name="Content Placeholder 2"/>
          <p:cNvSpPr>
            <a:spLocks noGrp="1"/>
          </p:cNvSpPr>
          <p:nvPr>
            <p:ph idx="1"/>
          </p:nvPr>
        </p:nvSpPr>
        <p:spPr/>
        <p:txBody>
          <a:bodyPr/>
          <a:lstStyle/>
          <a:p>
            <a:pPr lvl="0" indent="0" marL="0">
              <a:spcBef>
                <a:spcPts val="3000"/>
              </a:spcBef>
              <a:buNone/>
            </a:pPr>
            <a:r>
              <a:rPr b="1"/>
              <a:t>Questions?</a:t>
            </a:r>
          </a:p>
          <a:p>
            <a:pPr lvl="0" indent="0" marL="0">
              <a:buNone/>
            </a:pPr>
            <a:r>
              <a:rPr b="1"/>
              <a:t>CEN206 Object-Oriented Programming</a:t>
            </a:r>
            <a:r>
              <a:rPr/>
              <a:t> </a:t>
            </a:r>
            <a:r>
              <a:rPr b="1"/>
              <a:t>Week-10: Structural Design Patterns</a:t>
            </a:r>
            <a:r>
              <a:rPr/>
              <a:t> Spring Semester, 2025-2026</a:t>
            </a:r>
          </a:p>
          <a:p>
            <a:pPr lvl="0" indent="0" marL="0">
              <a:buNone/>
            </a:pPr>
            <a:r>
              <a:rPr/>
              <a:t>Asst. Prof. Dr. Ugur CORUH</a:t>
            </a:r>
          </a:p>
        </p:txBody>
      </p:sp>
    </p:spTree>
  </p:cSld>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0">
                  <a:buNone/>
                </a:pPr>
                <a14:m>
                  <m:oMath xmlns:m="http://schemas.openxmlformats.org/officeDocument/2006/math">
                    <m:r>
                      <m:t>E</m:t>
                    </m:r>
                    <m:r>
                      <m:t>n</m:t>
                    </m:r>
                    <m:r>
                      <m:t>d</m:t>
                    </m:r>
                    <m:r>
                      <m:rPr>
                        <m:sty m:val="p"/>
                      </m:rPr>
                      <m:t>−</m:t>
                    </m:r>
                    <m:r>
                      <m:t>O</m:t>
                    </m:r>
                    <m:r>
                      <m:t>f</m:t>
                    </m:r>
                    <m:r>
                      <m:rPr>
                        <m:sty m:val="p"/>
                      </m:rPr>
                      <m:t>−</m:t>
                    </m:r>
                    <m:r>
                      <m:t>W</m:t>
                    </m:r>
                    <m:r>
                      <m:t>e</m:t>
                    </m:r>
                    <m:r>
                      <m:t>e</m:t>
                    </m:r>
                    <m:r>
                      <m:t>k</m:t>
                    </m:r>
                    <m:r>
                      <m:rPr>
                        <m:sty m:val="p"/>
                      </m:rPr>
                      <m:t>−</m:t>
                    </m:r>
                    <m:r>
                      <m:t>10</m:t>
                    </m:r>
                    <m:r>
                      <m:rPr>
                        <m:sty m:val="p"/>
                      </m:rPr>
                      <m:t>−</m:t>
                    </m:r>
                    <m:r>
                      <m:t>M</m:t>
                    </m:r>
                    <m:r>
                      <m:t>o</m:t>
                    </m:r>
                    <m:r>
                      <m:t>d</m:t>
                    </m:r>
                    <m:r>
                      <m:t>u</m:t>
                    </m:r>
                    <m:r>
                      <m:t>l</m:t>
                    </m:r>
                    <m:r>
                      <m:t>e</m:t>
                    </m:r>
                  </m:oMath>
                </a14:m>
              </a:p>
            </p:txBody>
          </p:sp>
        </mc:Choice>
      </mc:AlternateContent>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CEN206 Object-Oriented Programming</dc:title>
  <dc:creator>Author: Asst. Prof. Dr. Ugur CORUH</dc:creator>
  <cp:keywords/>
  <dcterms:created xsi:type="dcterms:W3CDTF">2026-03-03T13:29:41Z</dcterms:created>
  <dcterms:modified xsi:type="dcterms:W3CDTF">2026-03-03T13:29:41Z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class">
    <vt:lpwstr>lead</vt:lpwstr>
  </property>
  <property fmtid="{D5CDD505-2E9C-101B-9397-08002B2CF9AE}" pid="3" name="backgroundColor">
    <vt:lpwstr/>
  </property>
  <property fmtid="{D5CDD505-2E9C-101B-9397-08002B2CF9AE}" pid="4" name="backgroundImage">
    <vt:lpwstr>url(‘assets/hero-background.svg’)</vt:lpwstr>
  </property>
  <property fmtid="{D5CDD505-2E9C-101B-9397-08002B2CF9AE}" pid="5" name="date">
    <vt:lpwstr/>
  </property>
  <property fmtid="{D5CDD505-2E9C-101B-9397-08002B2CF9AE}" pid="6" name="disable-header-and-footer">
    <vt:lpwstr>False</vt:lpwstr>
  </property>
  <property fmtid="{D5CDD505-2E9C-101B-9397-08002B2CF9AE}" pid="7" name="footer">
    <vt:lpwstr>height:50px RTEU CEN206 Week-10</vt:lpwstr>
  </property>
  <property fmtid="{D5CDD505-2E9C-101B-9397-08002B2CF9AE}" pid="8" name="footer-center">
    <vt:lpwstr>© Copyright 2025-2026</vt:lpwstr>
  </property>
  <property fmtid="{D5CDD505-2E9C-101B-9397-08002B2CF9AE}" pid="9" name="footer-left">
    <vt:lpwstr>© Copyright 2025-2026 Asst. Prof. Dr. Ugur CORUH</vt:lpwstr>
  </property>
  <property fmtid="{D5CDD505-2E9C-101B-9397-08002B2CF9AE}" pid="10" name="footer-right">
    <vt:lpwstr/>
  </property>
  <property fmtid="{D5CDD505-2E9C-101B-9397-08002B2CF9AE}" pid="11" name="geometry">
    <vt:lpwstr>left=2.54cm,right=2.54cm,top=1.91cm,bottom=1.91cm</vt:lpwstr>
  </property>
  <property fmtid="{D5CDD505-2E9C-101B-9397-08002B2CF9AE}" pid="12" name="header">
    <vt:lpwstr>CEN206 Object-Oriented Programming</vt:lpwstr>
  </property>
  <property fmtid="{D5CDD505-2E9C-101B-9397-08002B2CF9AE}" pid="13" name="header-center">
    <vt:lpwstr/>
  </property>
  <property fmtid="{D5CDD505-2E9C-101B-9397-08002B2CF9AE}" pid="14" name="header-left">
    <vt:lpwstr/>
  </property>
  <property fmtid="{D5CDD505-2E9C-101B-9397-08002B2CF9AE}" pid="15" name="header-right">
    <vt:lpwstr/>
  </property>
  <property fmtid="{D5CDD505-2E9C-101B-9397-08002B2CF9AE}" pid="16" name="links-as-notes">
    <vt:lpwstr>True</vt:lpwstr>
  </property>
  <property fmtid="{D5CDD505-2E9C-101B-9397-08002B2CF9AE}" pid="17" name="listings-disable-line-numbers">
    <vt:lpwstr>True</vt:lpwstr>
  </property>
  <property fmtid="{D5CDD505-2E9C-101B-9397-08002B2CF9AE}" pid="18" name="listings-no-page-break">
    <vt:lpwstr>False</vt:lpwstr>
  </property>
  <property fmtid="{D5CDD505-2E9C-101B-9397-08002B2CF9AE}" pid="19" name="lof">
    <vt:lpwstr>True</vt:lpwstr>
  </property>
  <property fmtid="{D5CDD505-2E9C-101B-9397-08002B2CF9AE}" pid="20" name="logo">
    <vt:lpwstr>assets/2021-10-19-15-01-36-image.png</vt:lpwstr>
  </property>
  <property fmtid="{D5CDD505-2E9C-101B-9397-08002B2CF9AE}" pid="21" name="logo-width">
    <vt:lpwstr>100</vt:lpwstr>
  </property>
  <property fmtid="{D5CDD505-2E9C-101B-9397-08002B2CF9AE}" pid="22" name="lot">
    <vt:lpwstr>True</vt:lpwstr>
  </property>
  <property fmtid="{D5CDD505-2E9C-101B-9397-08002B2CF9AE}" pid="23" name="marp">
    <vt:lpwstr>True</vt:lpwstr>
  </property>
  <property fmtid="{D5CDD505-2E9C-101B-9397-08002B2CF9AE}" pid="24" name="math">
    <vt:lpwstr>katex</vt:lpwstr>
  </property>
  <property fmtid="{D5CDD505-2E9C-101B-9397-08002B2CF9AE}" pid="25" name="page-background">
    <vt:lpwstr/>
  </property>
  <property fmtid="{D5CDD505-2E9C-101B-9397-08002B2CF9AE}" pid="26" name="page-background-opacity">
    <vt:lpwstr/>
  </property>
  <property fmtid="{D5CDD505-2E9C-101B-9397-08002B2CF9AE}" pid="27" name="paginate">
    <vt:lpwstr>True</vt:lpwstr>
  </property>
  <property fmtid="{D5CDD505-2E9C-101B-9397-08002B2CF9AE}" pid="28" name="style">
    <vt:lpwstr>img[alt~=“center”] { display: block; margin: 0 auto; }</vt:lpwstr>
  </property>
  <property fmtid="{D5CDD505-2E9C-101B-9397-08002B2CF9AE}" pid="29" name="subparagraph">
    <vt:lpwstr>True</vt:lpwstr>
  </property>
  <property fmtid="{D5CDD505-2E9C-101B-9397-08002B2CF9AE}" pid="30" name="subtitle">
    <vt:lpwstr>Structural Design Patterns</vt:lpwstr>
  </property>
  <property fmtid="{D5CDD505-2E9C-101B-9397-08002B2CF9AE}" pid="31" name="theme">
    <vt:lpwstr>default</vt:lpwstr>
  </property>
  <property fmtid="{D5CDD505-2E9C-101B-9397-08002B2CF9AE}" pid="32" name="titlepage">
    <vt:lpwstr>True</vt:lpwstr>
  </property>
  <property fmtid="{D5CDD505-2E9C-101B-9397-08002B2CF9AE}" pid="33" name="titlepage-color">
    <vt:lpwstr>FFFFFF</vt:lpwstr>
  </property>
  <property fmtid="{D5CDD505-2E9C-101B-9397-08002B2CF9AE}" pid="34" name="titlepage-rule-color">
    <vt:lpwstr>CCCCCC</vt:lpwstr>
  </property>
  <property fmtid="{D5CDD505-2E9C-101B-9397-08002B2CF9AE}" pid="35" name="titlepage-rule-height">
    <vt:lpwstr>4</vt:lpwstr>
  </property>
  <property fmtid="{D5CDD505-2E9C-101B-9397-08002B2CF9AE}" pid="36" name="titlepage-text-color">
    <vt:lpwstr>000000</vt:lpwstr>
  </property>
</Properties>
</file>