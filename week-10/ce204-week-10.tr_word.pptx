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2" Type="http://schemas.openxmlformats.org/officeDocument/2006/relationships/viewProps" Target="viewProps.xml" /><Relationship Id="rId191" Type="http://schemas.openxmlformats.org/officeDocument/2006/relationships/presProps" Target="presProps.xml" /><Relationship Id="rId1" Type="http://schemas.openxmlformats.org/officeDocument/2006/relationships/slideMaster" Target="slideMasters/slideMaster1.xml" /><Relationship Id="rId194" Type="http://schemas.openxmlformats.org/officeDocument/2006/relationships/tableStyles" Target="tableStyles.xml" /><Relationship Id="rId19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10.tr.md_doc.pdf" TargetMode="External" /><Relationship Id="rId3" Type="http://schemas.openxmlformats.org/officeDocument/2006/relationships/hyperlink" Target="ce204-week-10.tr.md_word.docx" TargetMode="External" /><Relationship Id="rId4" Type="http://schemas.openxmlformats.org/officeDocument/2006/relationships/hyperlink" Target="ce204-week-10.tr.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tructural-patterns"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adapter"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bridge"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composite" TargetMode="Externa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decorator" TargetMode="Externa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acade" TargetMode="Externa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flyweight" TargetMode="Externa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proxy" TargetMode="Externa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structural-patterns" TargetMode="External" /><Relationship Id="rId3" Type="http://schemas.openxmlformats.org/officeDocument/2006/relationships/hyperlink" Target="https://refactoring.guru/design-patterns/adapter" TargetMode="External" /><Relationship Id="rId4" Type="http://schemas.openxmlformats.org/officeDocument/2006/relationships/hyperlink" Target="https://refactoring.guru/design-patterns/bridge" TargetMode="External" /><Relationship Id="rId5" Type="http://schemas.openxmlformats.org/officeDocument/2006/relationships/hyperlink" Target="https://refactoring.guru/design-patterns/composite" TargetMode="External"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efactoring.guru/design-patterns/decorator" TargetMode="External" /><Relationship Id="rId3" Type="http://schemas.openxmlformats.org/officeDocument/2006/relationships/hyperlink" Target="https://refactoring.guru/design-patterns/facade" TargetMode="External" /><Relationship Id="rId4" Type="http://schemas.openxmlformats.org/officeDocument/2006/relationships/hyperlink" Target="https://refactoring.guru/design-patterns/flyweight" TargetMode="External" /><Relationship Id="rId5" Type="http://schemas.openxmlformats.org/officeDocument/2006/relationships/hyperlink" Target="https://refactoring.guru/design-patterns/proxy" TargetMode="Externa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Nesne Yönelimli Programlama</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Yapısal Tasarım Desenleri</a:t>
            </a:r>
            <a:br/>
            <a:br/>
            <a:r>
              <a:rPr/>
              <a:t>Yazar: Öğr. Gör. Dr. Uğur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Nesne Yönelimli Programlama</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Hafta-10 (Yapısal Tasarım Desenleri)</a:t>
            </a:r>
          </a:p>
        </p:txBody>
      </p:sp>
      <p:sp>
        <p:nvSpPr>
          <p:cNvPr id="3" name="Content Placeholder 2"/>
          <p:cNvSpPr>
            <a:spLocks noGrp="1"/>
          </p:cNvSpPr>
          <p:nvPr>
            <p:ph idx="1"/>
          </p:nvPr>
        </p:nvSpPr>
        <p:spPr/>
        <p:txBody>
          <a:bodyPr/>
          <a:lstStyle/>
          <a:p>
            <a:pPr lvl="0" indent="0" marL="0">
              <a:spcBef>
                <a:spcPts val="3000"/>
              </a:spcBef>
              <a:buNone/>
            </a:pPr>
            <a:r>
              <a:rPr b="1"/>
              <a:t>Bahar Dönemi, 2025-2026</a:t>
            </a:r>
          </a:p>
          <a:p>
            <a:pPr lvl="0" indent="0" marL="0">
              <a:buNone/>
            </a:pPr>
            <a:r>
              <a:rPr/>
              <a:t>İndir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Yapısal Tasarım Desenleri</a:t>
            </a:r>
          </a:p>
        </p:txBody>
      </p:sp>
      <p:sp>
        <p:nvSpPr>
          <p:cNvPr id="3" name="Content Placeholder 2"/>
          <p:cNvSpPr>
            <a:spLocks noGrp="1"/>
          </p:cNvSpPr>
          <p:nvPr>
            <p:ph idx="1"/>
          </p:nvPr>
        </p:nvSpPr>
        <p:spPr/>
        <p:txBody>
          <a:bodyPr/>
          <a:lstStyle/>
          <a:p>
            <a:pPr lvl="0" indent="0" marL="0">
              <a:spcBef>
                <a:spcPts val="3000"/>
              </a:spcBef>
              <a:buNone/>
            </a:pPr>
            <a:r>
              <a:rPr b="1"/>
              <a:t>Haftalık Ana Hatlar</a:t>
            </a:r>
          </a:p>
          <a:p>
            <a:pPr lvl="0"/>
            <a:r>
              <a:rPr b="1"/>
              <a:t>Modül A:</a:t>
            </a:r>
            <a:r>
              <a:rPr/>
              <a:t> Yapısal Desenlere Giriş</a:t>
            </a:r>
          </a:p>
          <a:p>
            <a:pPr lvl="0"/>
            <a:r>
              <a:rPr b="1"/>
              <a:t>Modül B:</a:t>
            </a:r>
            <a:r>
              <a:rPr/>
              <a:t> Adapter (Adaptör) Deseni</a:t>
            </a:r>
          </a:p>
          <a:p>
            <a:pPr lvl="0"/>
            <a:r>
              <a:rPr b="1"/>
              <a:t>Modül C:</a:t>
            </a:r>
            <a:r>
              <a:rPr/>
              <a:t> Bridge (Köprü) Deseni</a:t>
            </a:r>
          </a:p>
          <a:p>
            <a:pPr lvl="0"/>
            <a:r>
              <a:rPr b="1"/>
              <a:t>Modül D:</a:t>
            </a:r>
            <a:r>
              <a:rPr/>
              <a:t> Composite (Bileşik) Deseni</a:t>
            </a:r>
          </a:p>
          <a:p>
            <a:pPr lvl="0"/>
            <a:r>
              <a:rPr b="1"/>
              <a:t>Modül E:</a:t>
            </a:r>
            <a:r>
              <a:rPr/>
              <a:t> Decorator (Dekoratör) Deseni</a:t>
            </a:r>
          </a:p>
          <a:p>
            <a:pPr lvl="0"/>
            <a:r>
              <a:rPr b="1"/>
              <a:t>Modül F:</a:t>
            </a:r>
            <a:r>
              <a:rPr/>
              <a:t> Facade (Cephe) Deseni</a:t>
            </a:r>
          </a:p>
          <a:p>
            <a:pPr lvl="0"/>
            <a:r>
              <a:rPr b="1"/>
              <a:t>Modül G:</a:t>
            </a:r>
            <a:r>
              <a:rPr/>
              <a:t> Flyweight (Sinek Siklet) Deseni</a:t>
            </a:r>
          </a:p>
          <a:p>
            <a:pPr lvl="0"/>
            <a:r>
              <a:rPr b="1"/>
              <a:t>Modül H:</a:t>
            </a:r>
            <a:r>
              <a:rPr/>
              <a:t> Proxy (Vekil) Deseni</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A: Yapısal Desenlere Giriş</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A: Ana Hatlar</a:t>
            </a:r>
          </a:p>
        </p:txBody>
      </p:sp>
      <p:sp>
        <p:nvSpPr>
          <p:cNvPr id="3" name="Content Placeholder 2"/>
          <p:cNvSpPr>
            <a:spLocks noGrp="1"/>
          </p:cNvSpPr>
          <p:nvPr>
            <p:ph idx="1"/>
          </p:nvPr>
        </p:nvSpPr>
        <p:spPr/>
        <p:txBody>
          <a:bodyPr/>
          <a:lstStyle/>
          <a:p>
            <a:pPr lvl="0"/>
            <a:r>
              <a:rPr/>
              <a:t>Yapısal Tasarım Desenleri Nedir?</a:t>
            </a:r>
          </a:p>
          <a:p>
            <a:pPr lvl="0"/>
            <a:r>
              <a:rPr/>
              <a:t>Yapısal Desenlerin Sınıflandırılması</a:t>
            </a:r>
          </a:p>
          <a:p>
            <a:pPr lvl="0"/>
            <a:r>
              <a:rPr/>
              <a:t>Yedi Yapısal Desenin Genel Görünümü</a:t>
            </a:r>
          </a:p>
          <a:p>
            <a:pPr lvl="0"/>
            <a:r>
              <a:rPr/>
              <a:t>Yapısal Desenleri Ne Zaman Kullanmalı</a:t>
            </a:r>
          </a:p>
          <a:p>
            <a:pPr lvl="0"/>
            <a:r>
              <a:rPr/>
              <a:t>Modül Özeti</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Yapısal Tasarım Desenleri Nedir?</a:t>
            </a:r>
          </a:p>
        </p:txBody>
      </p:sp>
      <p:sp>
        <p:nvSpPr>
          <p:cNvPr id="3" name="Content Placeholder 2"/>
          <p:cNvSpPr>
            <a:spLocks noGrp="1"/>
          </p:cNvSpPr>
          <p:nvPr>
            <p:ph idx="1"/>
          </p:nvPr>
        </p:nvSpPr>
        <p:spPr/>
        <p:txBody>
          <a:bodyPr/>
          <a:lstStyle/>
          <a:p>
            <a:pPr lvl="0" indent="0" marL="0">
              <a:buNone/>
            </a:pPr>
            <a:r>
              <a:rPr/>
              <a:t>Yapısal tasarım desenleri, nesnelerin ve sınıfların </a:t>
            </a:r>
            <a:r>
              <a:rPr b="1"/>
              <a:t>daha büyük yapılar halinde nasıl birleştirileceğini</a:t>
            </a:r>
            <a:r>
              <a:rPr/>
              <a:t> açıklarken, bu yapıların </a:t>
            </a:r>
            <a:r>
              <a:rPr b="1"/>
              <a:t>esnek ve verimli</a:t>
            </a:r>
            <a:r>
              <a:rPr/>
              <a:t> kalmasını sağlar.</a:t>
            </a:r>
          </a:p>
          <a:p>
            <a:pPr lvl="0" indent="0" marL="0">
              <a:buNone/>
            </a:pPr>
            <a:r>
              <a:rPr/>
              <a:t>Ele aldıkları konular:</a:t>
            </a:r>
          </a:p>
          <a:p>
            <a:pPr lvl="0"/>
            <a:r>
              <a:rPr b="1"/>
              <a:t>Sınıf bileşimi</a:t>
            </a:r>
            <a:r>
              <a:rPr/>
              <a:t>: Sınıfların birbirinden nasıl miras aldığı</a:t>
            </a:r>
          </a:p>
          <a:p>
            <a:pPr lvl="0"/>
            <a:r>
              <a:rPr b="1"/>
              <a:t>Nesne bileşimi</a:t>
            </a:r>
            <a:r>
              <a:rPr/>
              <a:t>: Nesnelerin daha büyük yapılar oluşturmak için nasıl birleştirildiği</a:t>
            </a:r>
          </a:p>
          <a:p>
            <a:pPr lvl="0"/>
            <a:r>
              <a:rPr b="1"/>
              <a:t>Arayüz basitleştirme</a:t>
            </a:r>
            <a:r>
              <a:rPr/>
              <a:t>: Karmaşık alt sistemlerin istemcilere nasıl sunulduğu</a:t>
            </a:r>
          </a:p>
          <a:p>
            <a:pPr lvl="0"/>
            <a:r>
              <a:rPr b="1"/>
              <a:t>Bellek optimizasyonu</a:t>
            </a:r>
            <a:r>
              <a:rPr/>
              <a:t>: Paylaşılan durumun kaynak tüketimini nasıl azalttığı</a:t>
            </a:r>
          </a:p>
          <a:p>
            <a:pPr lvl="0" indent="0" marL="0">
              <a:buNone/>
            </a:pPr>
            <a:r>
              <a:rPr/>
              <a:t>Kaynak: </a:t>
            </a:r>
            <a:r>
              <a:rPr>
                <a:hlinkClick r:id="rId2"/>
              </a:rPr>
              <a:t>refactoring.guru</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Yapısal Desenlerin Önemi</a:t>
            </a:r>
          </a:p>
        </p:txBody>
      </p:sp>
      <p:sp>
        <p:nvSpPr>
          <p:cNvPr id="3" name="Content Placeholder 2"/>
          <p:cNvSpPr>
            <a:spLocks noGrp="1"/>
          </p:cNvSpPr>
          <p:nvPr>
            <p:ph idx="1"/>
          </p:nvPr>
        </p:nvSpPr>
        <p:spPr/>
        <p:txBody>
          <a:bodyPr/>
          <a:lstStyle/>
          <a:p>
            <a:pPr lvl="0"/>
            <a:r>
              <a:rPr b="1"/>
              <a:t>Ölçeklenebilir mimariler</a:t>
            </a:r>
            <a:r>
              <a:rPr/>
              <a:t> oluşturmanıza yardımcı olurlar; bileşenler arasında net ilişkiler tanımlarlar</a:t>
            </a:r>
          </a:p>
          <a:p>
            <a:pPr lvl="0"/>
            <a:r>
              <a:rPr/>
              <a:t>Etkileşen sınıflar arasında </a:t>
            </a:r>
            <a:r>
              <a:rPr b="1"/>
              <a:t>gevşek bağlılığı</a:t>
            </a:r>
            <a:r>
              <a:rPr/>
              <a:t> teşvik ederler</a:t>
            </a:r>
          </a:p>
          <a:p>
            <a:pPr lvl="0"/>
            <a:r>
              <a:rPr/>
              <a:t>Çalışma zamanında nesnelerin </a:t>
            </a:r>
            <a:r>
              <a:rPr b="1"/>
              <a:t>esnek bileşimini</a:t>
            </a:r>
            <a:r>
              <a:rPr/>
              <a:t> sağlarlar</a:t>
            </a:r>
          </a:p>
          <a:p>
            <a:pPr lvl="0"/>
            <a:r>
              <a:rPr b="1"/>
              <a:t>Sınıf hiyerarşileri</a:t>
            </a:r>
            <a:r>
              <a:rPr/>
              <a:t> ve </a:t>
            </a:r>
            <a:r>
              <a:rPr b="1"/>
              <a:t>nesne ilişkilerini</a:t>
            </a:r>
            <a:r>
              <a:rPr/>
              <a:t> organize etmek için kanıtlanmış çözümler sunarlar</a:t>
            </a:r>
          </a:p>
          <a:p>
            <a:pPr lvl="0"/>
            <a:r>
              <a:rPr/>
              <a:t>Kalıtım yerine bileşim yoluyla </a:t>
            </a:r>
            <a:r>
              <a:rPr b="1"/>
              <a:t>kod tekrarını</a:t>
            </a:r>
            <a:r>
              <a:rPr/>
              <a:t> azaltırlar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Yedi Yapısal Desen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Desen</a:t>
                      </a:r>
                    </a:p>
                  </a:txBody>
                  <a:tcPr/>
                </a:tc>
                <a:tc>
                  <a:txBody>
                    <a:bodyPr/>
                    <a:lstStyle/>
                    <a:p>
                      <a:pPr lvl="0" indent="0" marL="0">
                        <a:buNone/>
                      </a:pPr>
                      <a:r>
                        <a:rPr/>
                        <a:t>Amacı</a:t>
                      </a:r>
                    </a:p>
                  </a:txBody>
                  <a:tcPr/>
                </a:tc>
              </a:tr>
              <a:tr h="0">
                <a:tc>
                  <a:txBody>
                    <a:bodyPr/>
                    <a:lstStyle/>
                    <a:p>
                      <a:pPr lvl="0" indent="0" marL="0">
                        <a:buNone/>
                      </a:pPr>
                      <a:r>
                        <a:rPr b="1"/>
                        <a:t>Adapter (Adaptör)</a:t>
                      </a:r>
                    </a:p>
                  </a:txBody>
                </a:tc>
                <a:tc>
                  <a:txBody>
                    <a:bodyPr/>
                    <a:lstStyle/>
                    <a:p>
                      <a:pPr lvl="0" indent="0" marL="0">
                        <a:buNone/>
                      </a:pPr>
                      <a:r>
                        <a:rPr/>
                        <a:t>Uyumsuz arayüzlerin birlikte çalışmasını sağlar</a:t>
                      </a:r>
                    </a:p>
                  </a:txBody>
                </a:tc>
              </a:tr>
              <a:tr h="0">
                <a:tc>
                  <a:txBody>
                    <a:bodyPr/>
                    <a:lstStyle/>
                    <a:p>
                      <a:pPr lvl="0" indent="0" marL="0">
                        <a:buNone/>
                      </a:pPr>
                      <a:r>
                        <a:rPr b="1"/>
                        <a:t>Bridge (Köprü)</a:t>
                      </a:r>
                    </a:p>
                  </a:txBody>
                </a:tc>
                <a:tc>
                  <a:txBody>
                    <a:bodyPr/>
                    <a:lstStyle/>
                    <a:p>
                      <a:pPr lvl="0" indent="0" marL="0">
                        <a:buNone/>
                      </a:pPr>
                      <a:r>
                        <a:rPr/>
                        <a:t>Soyutlamayı uygulamadan ayırır</a:t>
                      </a:r>
                    </a:p>
                  </a:txBody>
                </a:tc>
              </a:tr>
              <a:tr h="0">
                <a:tc>
                  <a:txBody>
                    <a:bodyPr/>
                    <a:lstStyle/>
                    <a:p>
                      <a:pPr lvl="0" indent="0" marL="0">
                        <a:buNone/>
                      </a:pPr>
                      <a:r>
                        <a:rPr b="1"/>
                        <a:t>Composite (Bileşik)</a:t>
                      </a:r>
                    </a:p>
                  </a:txBody>
                </a:tc>
                <a:tc>
                  <a:txBody>
                    <a:bodyPr/>
                    <a:lstStyle/>
                    <a:p>
                      <a:pPr lvl="0" indent="0" marL="0">
                        <a:buNone/>
                      </a:pPr>
                      <a:r>
                        <a:rPr/>
                        <a:t>Nesneleri ağaç yapılarına dönüştürür</a:t>
                      </a:r>
                    </a:p>
                  </a:txBody>
                </a:tc>
              </a:tr>
              <a:tr h="0">
                <a:tc>
                  <a:txBody>
                    <a:bodyPr/>
                    <a:lstStyle/>
                    <a:p>
                      <a:pPr lvl="0" indent="0" marL="0">
                        <a:buNone/>
                      </a:pPr>
                      <a:r>
                        <a:rPr b="1"/>
                        <a:t>Decorator (Dekoratör)</a:t>
                      </a:r>
                    </a:p>
                  </a:txBody>
                </a:tc>
                <a:tc>
                  <a:txBody>
                    <a:bodyPr/>
                    <a:lstStyle/>
                    <a:p>
                      <a:pPr lvl="0" indent="0" marL="0">
                        <a:buNone/>
                      </a:pPr>
                      <a:r>
                        <a:rPr/>
                        <a:t>Sorumlulukları dinamik olarak ekler</a:t>
                      </a:r>
                    </a:p>
                  </a:txBody>
                </a:tc>
              </a:tr>
              <a:tr h="0">
                <a:tc>
                  <a:txBody>
                    <a:bodyPr/>
                    <a:lstStyle/>
                    <a:p>
                      <a:pPr lvl="0" indent="0" marL="0">
                        <a:buNone/>
                      </a:pPr>
                      <a:r>
                        <a:rPr b="1"/>
                        <a:t>Facade (Cephe)</a:t>
                      </a:r>
                    </a:p>
                  </a:txBody>
                </a:tc>
                <a:tc>
                  <a:txBody>
                    <a:bodyPr/>
                    <a:lstStyle/>
                    <a:p>
                      <a:pPr lvl="0" indent="0" marL="0">
                        <a:buNone/>
                      </a:pPr>
                      <a:r>
                        <a:rPr/>
                        <a:t>Karmaşık alt sistem arayüzlerini basitleştirir</a:t>
                      </a:r>
                    </a:p>
                  </a:txBody>
                </a:tc>
              </a:tr>
              <a:tr h="0">
                <a:tc>
                  <a:txBody>
                    <a:bodyPr/>
                    <a:lstStyle/>
                    <a:p>
                      <a:pPr lvl="0" indent="0" marL="0">
                        <a:buNone/>
                      </a:pPr>
                      <a:r>
                        <a:rPr b="1"/>
                        <a:t>Flyweight (Sinek Siklet)</a:t>
                      </a:r>
                    </a:p>
                  </a:txBody>
                </a:tc>
                <a:tc>
                  <a:txBody>
                    <a:bodyPr/>
                    <a:lstStyle/>
                    <a:p>
                      <a:pPr lvl="0" indent="0" marL="0">
                        <a:buNone/>
                      </a:pPr>
                      <a:r>
                        <a:rPr/>
                        <a:t>Çok sayıda nesneyi desteklemek için durumu paylaşır</a:t>
                      </a:r>
                    </a:p>
                  </a:txBody>
                </a:tc>
              </a:tr>
              <a:tr h="0">
                <a:tc>
                  <a:txBody>
                    <a:bodyPr/>
                    <a:lstStyle/>
                    <a:p>
                      <a:pPr lvl="0" indent="0" marL="0">
                        <a:buNone/>
                      </a:pPr>
                      <a:r>
                        <a:rPr b="1"/>
                        <a:t>Proxy (Vekil)</a:t>
                      </a:r>
                    </a:p>
                  </a:txBody>
                </a:tc>
                <a:tc>
                  <a:txBody>
                    <a:bodyPr/>
                    <a:lstStyle/>
                    <a:p>
                      <a:pPr lvl="0" indent="0" marL="0">
                        <a:buNone/>
                      </a:pPr>
                      <a:r>
                        <a:rPr/>
                        <a:t>Başka bir nesneye erişimi kontrol eder</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Yapısal Desenler Genel Görünümü</a:t>
            </a:r>
          </a:p>
        </p:txBody>
      </p:sp>
      <p:pic>
        <p:nvPicPr>
          <p:cNvPr descr="assets/structural-patterns-overview.png" id="0" name="Picture 1"/>
          <p:cNvPicPr>
            <a:picLocks noGrp="1" noChangeAspect="1"/>
          </p:cNvPicPr>
          <p:nvPr/>
        </p:nvPicPr>
        <p:blipFill>
          <a:blip r:embed="rId2"/>
          <a:stretch>
            <a:fillRect/>
          </a:stretch>
        </p:blipFill>
        <p:spPr bwMode="auto">
          <a:xfrm>
            <a:off x="3835400" y="203200"/>
            <a:ext cx="4572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Amaca Göre Sınıflandırma</a:t>
            </a:r>
          </a:p>
        </p:txBody>
      </p:sp>
      <p:sp>
        <p:nvSpPr>
          <p:cNvPr id="3" name="Content Placeholder 2"/>
          <p:cNvSpPr>
            <a:spLocks noGrp="1"/>
          </p:cNvSpPr>
          <p:nvPr>
            <p:ph idx="1"/>
          </p:nvPr>
        </p:nvSpPr>
        <p:spPr/>
        <p:txBody>
          <a:bodyPr/>
          <a:lstStyle/>
          <a:p>
            <a:pPr lvl="0" indent="0" marL="0">
              <a:buNone/>
            </a:pPr>
            <a:r>
              <a:rPr b="1"/>
              <a:t>Arayüz Desenleri</a:t>
            </a:r>
            <a:r>
              <a:rPr/>
              <a:t> - Arayüzleri uyarlama veya basitleştirme ile ilgilenir: - Adapter (Adaptör), Facade (Cephe)</a:t>
            </a:r>
          </a:p>
          <a:p>
            <a:pPr lvl="0" indent="0" marL="0">
              <a:buNone/>
            </a:pPr>
            <a:r>
              <a:rPr b="1"/>
              <a:t>Bileşim Desenleri</a:t>
            </a:r>
            <a:r>
              <a:rPr/>
              <a:t> - Nesneleri yapılar halinde birleştirme ile ilgilenir: - Composite (Bileşik), Decorator (Dekoratör)</a:t>
            </a:r>
          </a:p>
          <a:p>
            <a:pPr lvl="0" indent="0" marL="0">
              <a:buNone/>
            </a:pPr>
            <a:r>
              <a:rPr b="1"/>
              <a:t>Ayrıştırma Desenleri</a:t>
            </a:r>
            <a:r>
              <a:rPr/>
              <a:t> - Kaygıları ayırma ile ilgilenir: - Bridge (Köprü)</a:t>
            </a:r>
          </a:p>
          <a:p>
            <a:pPr lvl="0" indent="0" marL="0">
              <a:buNone/>
            </a:pPr>
            <a:r>
              <a:rPr b="1"/>
              <a:t>Optimizasyon Desenleri</a:t>
            </a:r>
            <a:r>
              <a:rPr/>
              <a:t> - Kaynak yönetimi ile ilgilenir: - Flyweight (Sinek Siklet)</a:t>
            </a:r>
          </a:p>
          <a:p>
            <a:pPr lvl="0" indent="0" marL="0">
              <a:buNone/>
            </a:pPr>
            <a:r>
              <a:rPr b="1"/>
              <a:t>Erişim Kontrolü Desenleri</a:t>
            </a:r>
            <a:r>
              <a:rPr/>
              <a:t> - Nesne erişimini kontrol etme ile ilgilenir: - Proxy (Vekil)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A: Özet</a:t>
            </a:r>
          </a:p>
        </p:txBody>
      </p:sp>
      <p:sp>
        <p:nvSpPr>
          <p:cNvPr id="3" name="Content Placeholder 2"/>
          <p:cNvSpPr>
            <a:spLocks noGrp="1"/>
          </p:cNvSpPr>
          <p:nvPr>
            <p:ph idx="1"/>
          </p:nvPr>
        </p:nvSpPr>
        <p:spPr/>
        <p:txBody>
          <a:bodyPr/>
          <a:lstStyle/>
          <a:p>
            <a:pPr lvl="0"/>
            <a:r>
              <a:rPr/>
              <a:t>Yapısal desenler, sınıfların ve nesnelerin daha büyük yapılar oluşturmak için nasıl </a:t>
            </a:r>
            <a:r>
              <a:rPr b="1"/>
              <a:t>birleştirildiğini</a:t>
            </a:r>
            <a:r>
              <a:rPr/>
              <a:t> ele alır</a:t>
            </a:r>
          </a:p>
          <a:p>
            <a:pPr lvl="0"/>
            <a:r>
              <a:rPr/>
              <a:t>Yapıların </a:t>
            </a:r>
            <a:r>
              <a:rPr b="1"/>
              <a:t>esnek</a:t>
            </a:r>
            <a:r>
              <a:rPr/>
              <a:t> ve </a:t>
            </a:r>
            <a:r>
              <a:rPr b="1"/>
              <a:t>verimli</a:t>
            </a:r>
            <a:r>
              <a:rPr/>
              <a:t> kalmasını sağlarlar</a:t>
            </a:r>
          </a:p>
          <a:p>
            <a:pPr lvl="0"/>
            <a:r>
              <a:rPr/>
              <a:t>Her biri ayrı bir yapısal problemi çözen </a:t>
            </a:r>
            <a:r>
              <a:rPr b="1"/>
              <a:t>yedi</a:t>
            </a:r>
            <a:r>
              <a:rPr/>
              <a:t> yapısal desen vardır</a:t>
            </a:r>
          </a:p>
          <a:p>
            <a:pPr lvl="0"/>
            <a:r>
              <a:rPr/>
              <a:t>Bu desenleri anlamak, </a:t>
            </a:r>
            <a:r>
              <a:rPr b="1"/>
              <a:t>sürdürülebilir</a:t>
            </a:r>
            <a:r>
              <a:rPr/>
              <a:t> nesne yönelimli sistemler oluşturmak için gereklidir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B: Adapter (Adaptör) Deseni</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B: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Amaç</a:t>
            </a:r>
          </a:p>
        </p:txBody>
      </p:sp>
      <p:sp>
        <p:nvSpPr>
          <p:cNvPr id="3" name="Content Placeholder 2"/>
          <p:cNvSpPr>
            <a:spLocks noGrp="1"/>
          </p:cNvSpPr>
          <p:nvPr>
            <p:ph idx="1"/>
          </p:nvPr>
        </p:nvSpPr>
        <p:spPr/>
        <p:txBody>
          <a:bodyPr/>
          <a:lstStyle/>
          <a:p>
            <a:pPr lvl="0" indent="0" marL="0">
              <a:buNone/>
            </a:pPr>
            <a:r>
              <a:rPr b="1"/>
              <a:t>Adapter (Adaptör)</a:t>
            </a:r>
            <a:r>
              <a:rPr/>
              <a:t>, </a:t>
            </a:r>
            <a:r>
              <a:rPr b="1"/>
              <a:t>uyumsuz arayüzlere</a:t>
            </a:r>
            <a:r>
              <a:rPr/>
              <a:t> sahip nesnelerin birlikte çalışmasını sağlayan yapısal bir tasarım desenidir.</a:t>
            </a:r>
          </a:p>
          <a:p>
            <a:pPr lvl="0"/>
            <a:r>
              <a:rPr/>
              <a:t>Ayrıca şöyle de bilinir: </a:t>
            </a:r>
            <a:r>
              <a:rPr b="1"/>
              <a:t>Wrapper (Sarmalayıcı)</a:t>
            </a:r>
          </a:p>
          <a:p>
            <a:pPr lvl="0"/>
            <a:r>
              <a:rPr/>
              <a:t>Bir sınıfın arayüzünü, istemcilerin beklediği başka bir arayüze dönüştürür</a:t>
            </a:r>
          </a:p>
          <a:p>
            <a:pPr lvl="0"/>
            <a:r>
              <a:rPr/>
              <a:t>Uyumsuz arayüzler nedeniyle birlikte çalışamayacak sınıfların birlikte çalışmasını sağlar</a:t>
            </a:r>
          </a:p>
          <a:p>
            <a:pPr lvl="0" indent="0" marL="0">
              <a:buNone/>
            </a:pPr>
            <a:r>
              <a:rPr/>
              <a:t>Kaynak: </a:t>
            </a:r>
            <a:r>
              <a:rPr>
                <a:hlinkClick r:id="rId2"/>
              </a:rPr>
              <a:t>refactoring.guru</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Problem</a:t>
            </a:r>
          </a:p>
        </p:txBody>
      </p:sp>
      <p:sp>
        <p:nvSpPr>
          <p:cNvPr id="3" name="Content Placeholder 2"/>
          <p:cNvSpPr>
            <a:spLocks noGrp="1"/>
          </p:cNvSpPr>
          <p:nvPr>
            <p:ph idx="1"/>
          </p:nvPr>
        </p:nvSpPr>
        <p:spPr/>
        <p:txBody>
          <a:bodyPr/>
          <a:lstStyle/>
          <a:p>
            <a:pPr lvl="0" indent="0" marL="0">
              <a:buNone/>
            </a:pPr>
            <a:r>
              <a:rPr/>
              <a:t>Bir </a:t>
            </a:r>
            <a:r>
              <a:rPr b="1"/>
              <a:t>borsa izleme uygulaması</a:t>
            </a:r>
            <a:r>
              <a:rPr/>
              <a:t> oluşturduğunuzu hayal edin. Uygulama, birden fazla kaynaktan </a:t>
            </a:r>
            <a:r>
              <a:rPr b="1"/>
              <a:t>XML formatında</a:t>
            </a:r>
            <a:r>
              <a:rPr/>
              <a:t> hisse senedi verilerini indirir.</a:t>
            </a:r>
          </a:p>
          <a:p>
            <a:pPr lvl="0" indent="0" marL="0">
              <a:buNone/>
            </a:pPr>
            <a:r>
              <a:rPr/>
              <a:t>Bir noktada, akıllı bir </a:t>
            </a:r>
            <a:r>
              <a:rPr b="1"/>
              <a:t>üçüncü taraf analiz kütüphanesi</a:t>
            </a:r>
            <a:r>
              <a:rPr/>
              <a:t> entegre ederek uygulamayı iyileştirmeye karar verirsiniz. Ancak bir sorun vardır: analiz kütüphanesi yalnızca </a:t>
            </a:r>
            <a:r>
              <a:rPr b="1"/>
              <a:t>JSON formatındaki</a:t>
            </a:r>
            <a:r>
              <a:rPr/>
              <a:t> verilerle çalışır.</a:t>
            </a:r>
          </a:p>
          <a:p>
            <a:pPr lvl="0" indent="0" marL="0">
              <a:buNone/>
            </a:pPr>
            <a:r>
              <a:rPr/>
              <a:t>Analiz kütüphanesini “olduğu gibi” kullanamazsınız çünkü uygulamanızla uyumsuz bir formatta veri bekler.</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Problem (devam)</a:t>
            </a:r>
          </a:p>
        </p:txBody>
      </p:sp>
      <p:sp>
        <p:nvSpPr>
          <p:cNvPr id="3" name="Content Placeholder 2"/>
          <p:cNvSpPr>
            <a:spLocks noGrp="1"/>
          </p:cNvSpPr>
          <p:nvPr>
            <p:ph idx="1"/>
          </p:nvPr>
        </p:nvSpPr>
        <p:spPr/>
        <p:txBody>
          <a:bodyPr/>
          <a:lstStyle/>
          <a:p>
            <a:pPr lvl="0" indent="0" marL="0">
              <a:buNone/>
            </a:pPr>
            <a:r>
              <a:rPr/>
              <a:t>Kütüphaneyi XML ile çalışacak şekilde değiştirebilirsiniz, ancak: - Bu, kütüphaneye bağımlı olan </a:t>
            </a:r>
            <a:r>
              <a:rPr b="1"/>
              <a:t>mevcut kodu bozabilir</a:t>
            </a:r>
            <a:r>
              <a:rPr/>
              <a:t> - Kütüphanenin </a:t>
            </a:r>
            <a:r>
              <a:rPr b="1"/>
              <a:t>kaynak koduna erişiminiz olmayabilir</a:t>
            </a:r>
          </a:p>
          <a:p>
            <a:pPr lvl="0" indent="0" marL="0">
              <a:buNone/>
            </a:pPr>
            <a:r>
              <a:rPr/>
              <a:t>Bu durum, </a:t>
            </a:r>
            <a:r>
              <a:rPr b="1"/>
              <a:t>üçüncü taraf</a:t>
            </a:r>
            <a:r>
              <a:rPr/>
              <a:t> veya </a:t>
            </a:r>
            <a:r>
              <a:rPr b="1"/>
              <a:t>eski</a:t>
            </a:r>
            <a:r>
              <a:rPr/>
              <a:t> kodu entegre ederken sıkça ortaya çıkar.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Çözüm</a:t>
            </a:r>
          </a:p>
        </p:txBody>
      </p:sp>
      <p:sp>
        <p:nvSpPr>
          <p:cNvPr id="3" name="Content Placeholder 2"/>
          <p:cNvSpPr>
            <a:spLocks noGrp="1"/>
          </p:cNvSpPr>
          <p:nvPr>
            <p:ph idx="1"/>
          </p:nvPr>
        </p:nvSpPr>
        <p:spPr/>
        <p:txBody>
          <a:bodyPr/>
          <a:lstStyle/>
          <a:p>
            <a:pPr lvl="0" indent="0" marL="0">
              <a:buNone/>
            </a:pPr>
            <a:r>
              <a:rPr/>
              <a:t>Bir </a:t>
            </a:r>
            <a:r>
              <a:rPr b="1"/>
              <a:t>adaptör</a:t>
            </a:r>
            <a:r>
              <a:rPr/>
              <a:t> oluşturabilirsiniz – bir nesnenin arayüzünü başka bir nesnenin anlayabileceği şekilde dönüştüren özel bir nesne.</a:t>
            </a:r>
          </a:p>
          <a:p>
            <a:pPr lvl="0"/>
            <a:r>
              <a:rPr/>
              <a:t>Adaptör, perde arkasında gerçekleşen dönüşümün karmaşıklığını gizlemek için nesnelerden birini </a:t>
            </a:r>
            <a:r>
              <a:rPr b="1"/>
              <a:t>sarar</a:t>
            </a:r>
          </a:p>
          <a:p>
            <a:pPr lvl="0"/>
            <a:r>
              <a:rPr/>
              <a:t>Sarılan nesne adaptörün farkında bile değildir</a:t>
            </a:r>
          </a:p>
          <a:p>
            <a:pPr lvl="0"/>
            <a:r>
              <a:rPr/>
              <a:t>Adaptör çağrıları bir formatta alır ve bunları sarılan nesnenin anlayabileceği çağrılara çevirir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Çözüm (devam)</a:t>
            </a:r>
          </a:p>
        </p:txBody>
      </p:sp>
      <p:sp>
        <p:nvSpPr>
          <p:cNvPr id="3" name="Content Placeholder 2"/>
          <p:cNvSpPr>
            <a:spLocks noGrp="1"/>
          </p:cNvSpPr>
          <p:nvPr>
            <p:ph idx="1"/>
          </p:nvPr>
        </p:nvSpPr>
        <p:spPr/>
        <p:txBody>
          <a:bodyPr/>
          <a:lstStyle/>
          <a:p>
            <a:pPr lvl="0" indent="0" marL="0">
              <a:buNone/>
            </a:pPr>
            <a:r>
              <a:rPr/>
              <a:t>Adaptörlerin çalışma şekli:</a:t>
            </a:r>
          </a:p>
          <a:p>
            <a:pPr lvl="0" indent="-342900" marL="342900">
              <a:buAutoNum type="arabicPeriod"/>
            </a:pPr>
            <a:r>
              <a:rPr/>
              <a:t>Adaptör, mevcut nesnelerden biriyle uyumlu bir arayüze sahip olur</a:t>
            </a:r>
          </a:p>
          <a:p>
            <a:pPr lvl="0" indent="-342900" marL="342900">
              <a:buAutoNum type="arabicPeriod"/>
            </a:pPr>
            <a:r>
              <a:rPr/>
              <a:t>Bu arayüzü kullanarak, mevcut nesne adaptörün yöntemlerini güvenle çağırabilir</a:t>
            </a:r>
          </a:p>
          <a:p>
            <a:pPr lvl="0" indent="-342900" marL="342900">
              <a:buAutoNum type="arabicPeriod"/>
            </a:pPr>
            <a:r>
              <a:rPr/>
              <a:t>Bir çağrı aldığında, adaptör isteği ikinci nesneye iletir, ancak ikinci nesnenin beklediği format ve sırada</a:t>
            </a:r>
          </a:p>
          <a:p>
            <a:pPr lvl="0" indent="0" marL="0">
              <a:buNone/>
            </a:pPr>
            <a:r>
              <a:rPr/>
              <a:t>Bazen her iki yönde de çağrıları dönüştürebilen </a:t>
            </a:r>
            <a:r>
              <a:rPr b="1"/>
              <a:t>çift yönlü bir adaptör</a:t>
            </a:r>
            <a:r>
              <a:rPr/>
              <a:t> oluşturmak bile mümkündür.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Gerçek Dünya Benzetmesi</a:t>
            </a:r>
          </a:p>
        </p:txBody>
      </p:sp>
      <p:sp>
        <p:nvSpPr>
          <p:cNvPr id="3" name="Content Placeholder 2"/>
          <p:cNvSpPr>
            <a:spLocks noGrp="1"/>
          </p:cNvSpPr>
          <p:nvPr>
            <p:ph idx="1"/>
          </p:nvPr>
        </p:nvSpPr>
        <p:spPr/>
        <p:txBody>
          <a:bodyPr/>
          <a:lstStyle/>
          <a:p>
            <a:pPr lvl="0" indent="0" marL="0">
              <a:buNone/>
            </a:pPr>
            <a:r>
              <a:rPr/>
              <a:t>ABD’den Avrupa’ya ilk kez seyahat ettiğinizde, dizüstü bilgisayarınızı şarj etmeye çalışırken sürprizle karşılaşabilirsiniz. </a:t>
            </a:r>
            <a:r>
              <a:rPr b="1"/>
              <a:t>Elektrik fişi ve priz</a:t>
            </a:r>
            <a:r>
              <a:rPr/>
              <a:t> standartları farklı ülkelerde farklıdır.</a:t>
            </a:r>
          </a:p>
          <a:p>
            <a:pPr lvl="0" indent="0" marL="0">
              <a:buNone/>
            </a:pPr>
            <a:r>
              <a:rPr/>
              <a:t>Bir </a:t>
            </a:r>
            <a:r>
              <a:rPr b="1"/>
              <a:t>elektrik fişi adaptörü</a:t>
            </a:r>
            <a:r>
              <a:rPr/>
              <a:t> bu sorunu çözer. Bir ucunda Amerikan tarzı priz ve diğer ucunda Avrupa tarzı fiş bulunur; iki uyumsuz arayüz arasında çevirmen görevi görür.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Yapı (Nesne Adaptörü)</a:t>
            </a:r>
          </a:p>
        </p:txBody>
      </p:sp>
      <p:sp>
        <p:nvSpPr>
          <p:cNvPr id="3" name="Content Placeholder 2"/>
          <p:cNvSpPr>
            <a:spLocks noGrp="1"/>
          </p:cNvSpPr>
          <p:nvPr>
            <p:ph idx="1"/>
          </p:nvPr>
        </p:nvSpPr>
        <p:spPr/>
        <p:txBody>
          <a:bodyPr/>
          <a:lstStyle/>
          <a:p>
            <a:pPr lvl="0" indent="0" marL="0">
              <a:buNone/>
            </a:pPr>
            <a:r>
              <a:rPr b="1"/>
              <a:t>Nesne Adaptörü</a:t>
            </a:r>
            <a:r>
              <a:rPr/>
              <a:t> bileşimi kullanır:</a:t>
            </a:r>
          </a:p>
          <a:p>
            <a:pPr lvl="0" indent="-342900" marL="342900">
              <a:buAutoNum type="arabicPeriod"/>
            </a:pPr>
            <a:r>
              <a:rPr b="1"/>
              <a:t>İstemci</a:t>
            </a:r>
            <a:r>
              <a:rPr/>
              <a:t> - Programın mevcut iş mantığını içeren bir sınıf</a:t>
            </a:r>
          </a:p>
          <a:p>
            <a:pPr lvl="0" indent="-342900" marL="342900">
              <a:buAutoNum type="arabicPeriod"/>
            </a:pPr>
            <a:r>
              <a:rPr b="1"/>
              <a:t>İstemci Arayüzü</a:t>
            </a:r>
            <a:r>
              <a:rPr/>
              <a:t> - İstemci koduyla işbirliği yapabilmek için diğer sınıfların uyması gereken bir protokol</a:t>
            </a:r>
          </a:p>
          <a:p>
            <a:pPr lvl="0" indent="-342900" marL="342900">
              <a:buAutoNum type="arabicPeriod"/>
            </a:pPr>
            <a:r>
              <a:rPr b="1"/>
              <a:t>Servis</a:t>
            </a:r>
            <a:r>
              <a:rPr/>
              <a:t> - Genellikle üçüncü taraf veya eski olan yararlı bir sınıf. İstemci bu sınıfı doğrudan kullanamaz çünkü uyumsuz bir arayüze sahiptir</a:t>
            </a:r>
          </a:p>
          <a:p>
            <a:pPr lvl="0" indent="-342900" marL="342900">
              <a:buAutoNum type="arabicPeriod"/>
            </a:pPr>
            <a:r>
              <a:rPr b="1"/>
              <a:t>Adaptör</a:t>
            </a:r>
            <a:r>
              <a:rPr/>
              <a:t> - Hem istemci hem de servis ile çalışabilen bir sınıf. Servis nesnesini sararken istemci arayüzünü uygular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Yapı (Sınıf Adaptörü)</a:t>
            </a:r>
          </a:p>
        </p:txBody>
      </p:sp>
      <p:sp>
        <p:nvSpPr>
          <p:cNvPr id="3" name="Content Placeholder 2"/>
          <p:cNvSpPr>
            <a:spLocks noGrp="1"/>
          </p:cNvSpPr>
          <p:nvPr>
            <p:ph idx="1"/>
          </p:nvPr>
        </p:nvSpPr>
        <p:spPr/>
        <p:txBody>
          <a:bodyPr/>
          <a:lstStyle/>
          <a:p>
            <a:pPr lvl="0" indent="0" marL="0">
              <a:buNone/>
            </a:pPr>
            <a:r>
              <a:rPr b="1"/>
              <a:t>Sınıf Adaptörü</a:t>
            </a:r>
            <a:r>
              <a:rPr/>
              <a:t> çoklu kalıtım kullanır:</a:t>
            </a:r>
          </a:p>
          <a:p>
            <a:pPr lvl="0"/>
            <a:r>
              <a:rPr/>
              <a:t>Adaptör, hem istemci hem de servis sınıflarından </a:t>
            </a:r>
            <a:r>
              <a:rPr b="1"/>
              <a:t>aynı anda</a:t>
            </a:r>
            <a:r>
              <a:rPr/>
              <a:t> arayüzleri miras alır</a:t>
            </a:r>
          </a:p>
          <a:p>
            <a:pPr lvl="0"/>
            <a:r>
              <a:rPr/>
              <a:t>Bu yaklaşım yalnızca </a:t>
            </a:r>
            <a:r>
              <a:rPr b="1"/>
              <a:t>çoklu kalıtımı</a:t>
            </a:r>
            <a:r>
              <a:rPr/>
              <a:t> destekleyen dillerde mümkündür (örn., C++)</a:t>
            </a:r>
          </a:p>
          <a:p>
            <a:pPr lvl="0"/>
            <a:r>
              <a:rPr/>
              <a:t>Sarmalama gerekmez; uyarlama geçersiz kılınan yöntemlerde gerçekleşir</a:t>
            </a:r>
          </a:p>
          <a:p>
            <a:pPr lvl="0"/>
            <a:r>
              <a:rPr/>
              <a:t>Adaptör her iki taraftaki yöntemleri geçersiz kılarak aralarında çeviri yapar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Adapter - Sınıf Diyagramı</a:t>
            </a:r>
          </a:p>
        </p:txBody>
      </p:sp>
      <p:pic>
        <p:nvPicPr>
          <p:cNvPr descr="assets/adapter-structure.png" id="0" name="Picture 1"/>
          <p:cNvPicPr>
            <a:picLocks noGrp="1" noChangeAspect="1"/>
          </p:cNvPicPr>
          <p:nvPr/>
        </p:nvPicPr>
        <p:blipFill>
          <a:blip r:embed="rId2"/>
          <a:stretch>
            <a:fillRect/>
          </a:stretch>
        </p:blipFill>
        <p:spPr bwMode="auto">
          <a:xfrm>
            <a:off x="3568700" y="1219200"/>
            <a:ext cx="5105400" cy="1854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Java Kod Örneği - Arayüzler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target interface that the client expects</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RoundPeg </a:t>
            </a:r>
            <a:r>
              <a:rPr>
                <a:solidFill>
                  <a:srgbClr val="666666"/>
                </a:solidFill>
                <a:latin typeface="Courier"/>
              </a:rPr>
              <a:t>{</a:t>
            </a:r>
            <a:b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br/>
            <a:r>
              <a:rPr>
                <a:solidFill>
                  <a:srgbClr val="666666"/>
                </a:solidFill>
                <a:latin typeface="Courier"/>
              </a:rPr>
              <a:t>}</a:t>
            </a:r>
            <a:br/>
            <a:br/>
            <a:r>
              <a:rPr i="1">
                <a:solidFill>
                  <a:srgbClr val="60A0B0"/>
                </a:solidFill>
                <a:latin typeface="Courier"/>
              </a:rPr>
              <a:t>// Concrete implementation of round peg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RoundPegImpl </a:t>
            </a:r>
            <a:r>
              <a:rPr b="1">
                <a:solidFill>
                  <a:srgbClr val="007020"/>
                </a:solidFill>
                <a:latin typeface="Courier"/>
              </a:rPr>
              <a:t>implements</a:t>
            </a:r>
            <a:r>
              <a:rPr>
                <a:latin typeface="Courier"/>
              </a:rPr>
              <a:t> RoundPeg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RoundPegImpl</a:t>
            </a:r>
            <a:r>
              <a:rPr>
                <a:solidFill>
                  <a:srgbClr val="666666"/>
                </a:solidFill>
                <a:latin typeface="Courier"/>
              </a:rPr>
              <a:t>(</a:t>
            </a:r>
            <a:r>
              <a:rPr>
                <a:solidFill>
                  <a:srgbClr val="902000"/>
                </a:solidFill>
                <a:latin typeface="Courier"/>
              </a:rPr>
              <a:t>double</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Java Kod Örneği - Servis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incompatible class (service) that we want to adapt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SquarePeg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width</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SquarePeg</a:t>
            </a:r>
            <a:r>
              <a:rPr>
                <a:solidFill>
                  <a:srgbClr val="666666"/>
                </a:solidFill>
                <a:latin typeface="Courier"/>
              </a:rPr>
              <a:t>(</a:t>
            </a:r>
            <a:r>
              <a:rPr>
                <a:solidFill>
                  <a:srgbClr val="902000"/>
                </a:solidFill>
                <a:latin typeface="Courier"/>
              </a:rPr>
              <a:t>double</a:t>
            </a:r>
            <a:r>
              <a:rPr>
                <a:latin typeface="Courier"/>
              </a:rPr>
              <a:t> width</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latin typeface="Courier"/>
              </a:rPr>
              <a:t> </a:t>
            </a:r>
            <a:r>
              <a:rPr>
                <a:solidFill>
                  <a:srgbClr val="666666"/>
                </a:solidFill>
                <a:latin typeface="Courier"/>
              </a:rPr>
              <a:t>=</a:t>
            </a:r>
            <a:r>
              <a:rPr>
                <a:latin typeface="Courier"/>
              </a:rPr>
              <a:t> width</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getWidth</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width</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getSquare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pow</a:t>
            </a:r>
            <a:r>
              <a:rPr>
                <a:solidFill>
                  <a:srgbClr val="666666"/>
                </a:solidFill>
                <a:latin typeface="Courier"/>
              </a:rPr>
              <a:t>(</a:t>
            </a:r>
            <a:r>
              <a:rPr b="1">
                <a:solidFill>
                  <a:srgbClr val="007020"/>
                </a:solidFill>
                <a:latin typeface="Courier"/>
              </a:rPr>
              <a:t>this</a:t>
            </a:r>
            <a:r>
              <a:rPr>
                <a:solidFill>
                  <a:srgbClr val="666666"/>
                </a:solidFill>
                <a:latin typeface="Courier"/>
              </a:rPr>
              <a:t>.</a:t>
            </a:r>
            <a:r>
              <a:rPr>
                <a:solidFill>
                  <a:srgbClr val="06287E"/>
                </a:solidFill>
                <a:latin typeface="Courier"/>
              </a:rPr>
              <a:t>width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Java Kod Örneği - Adaptör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adapter makes SquarePeg compatible with RoundPeg</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SquarePegAdapter </a:t>
            </a:r>
            <a:r>
              <a:rPr b="1">
                <a:solidFill>
                  <a:srgbClr val="007020"/>
                </a:solidFill>
                <a:latin typeface="Courier"/>
              </a:rPr>
              <a:t>implements</a:t>
            </a:r>
            <a:r>
              <a:rPr>
                <a:latin typeface="Courier"/>
              </a:rPr>
              <a:t> RoundPeg </a:t>
            </a:r>
            <a:r>
              <a:rPr>
                <a:solidFill>
                  <a:srgbClr val="666666"/>
                </a:solidFill>
                <a:latin typeface="Courier"/>
              </a:rPr>
              <a:t>{</a:t>
            </a:r>
            <a:br/>
            <a:r>
              <a:rPr>
                <a:latin typeface="Courier"/>
              </a:rPr>
              <a:t>    </a:t>
            </a:r>
            <a:r>
              <a:rPr b="1">
                <a:solidFill>
                  <a:srgbClr val="007020"/>
                </a:solidFill>
                <a:latin typeface="Courier"/>
              </a:rPr>
              <a:t>private</a:t>
            </a:r>
            <a:r>
              <a:rPr>
                <a:latin typeface="Courier"/>
              </a:rPr>
              <a:t> SquarePeg peg</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SquarePegAdapter</a:t>
            </a:r>
            <a:r>
              <a:rPr>
                <a:solidFill>
                  <a:srgbClr val="666666"/>
                </a:solidFill>
                <a:latin typeface="Courier"/>
              </a:rPr>
              <a:t>(</a:t>
            </a:r>
            <a:r>
              <a:rPr>
                <a:latin typeface="Courier"/>
              </a:rPr>
              <a:t>SquarePeg peg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peg</a:t>
            </a:r>
            <a:r>
              <a:rPr>
                <a:latin typeface="Courier"/>
              </a:rPr>
              <a:t> </a:t>
            </a:r>
            <a:r>
              <a:rPr>
                <a:solidFill>
                  <a:srgbClr val="666666"/>
                </a:solidFill>
                <a:latin typeface="Courier"/>
              </a:rPr>
              <a:t>=</a:t>
            </a:r>
            <a:r>
              <a:rPr>
                <a:latin typeface="Courier"/>
              </a:rPr>
              <a:t> peg</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Calculate the minimum circle radius that can</a:t>
            </a:r>
            <a:br/>
            <a:r>
              <a:rPr>
                <a:latin typeface="Courier"/>
              </a:rPr>
              <a:t>        </a:t>
            </a:r>
            <a:r>
              <a:rPr i="1">
                <a:solidFill>
                  <a:srgbClr val="60A0B0"/>
                </a:solidFill>
                <a:latin typeface="Courier"/>
              </a:rPr>
              <a:t>// fit this square peg</a:t>
            </a:r>
            <a:br/>
            <a:r>
              <a:rPr>
                <a:latin typeface="Courier"/>
              </a:rPr>
              <a:t>        </a:t>
            </a:r>
            <a:r>
              <a:rPr b="1">
                <a:solidFill>
                  <a:srgbClr val="007020"/>
                </a:solidFill>
                <a:latin typeface="Courier"/>
              </a:rPr>
              <a:t>return</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sqrt</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pow</a:t>
            </a:r>
            <a:r>
              <a:rPr>
                <a:solidFill>
                  <a:srgbClr val="666666"/>
                </a:solidFill>
                <a:latin typeface="Courier"/>
              </a:rPr>
              <a:t>(</a:t>
            </a:r>
            <a:r>
              <a:rPr>
                <a:latin typeface="Courier"/>
              </a:rPr>
              <a:t>peg</a:t>
            </a:r>
            <a:r>
              <a:rPr>
                <a:solidFill>
                  <a:srgbClr val="666666"/>
                </a:solidFill>
                <a:latin typeface="Courier"/>
              </a:rPr>
              <a:t>.</a:t>
            </a:r>
            <a:r>
              <a:rPr>
                <a:solidFill>
                  <a:srgbClr val="06287E"/>
                </a:solidFill>
                <a:latin typeface="Courier"/>
              </a:rPr>
              <a:t>getWidth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Java Kod Örneği - Yuvarlak Delik</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client class that works with RoundPeg interface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RoundHole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RoundHole</a:t>
            </a:r>
            <a:r>
              <a:rPr>
                <a:solidFill>
                  <a:srgbClr val="666666"/>
                </a:solidFill>
                <a:latin typeface="Courier"/>
              </a:rPr>
              <a:t>(</a:t>
            </a:r>
            <a:r>
              <a:rPr>
                <a:solidFill>
                  <a:srgbClr val="902000"/>
                </a:solidFill>
                <a:latin typeface="Courier"/>
              </a:rPr>
              <a:t>double</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double</a:t>
            </a:r>
            <a:r>
              <a:rPr>
                <a:latin typeface="Courier"/>
              </a:rPr>
              <a:t> </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fits</a:t>
            </a:r>
            <a:r>
              <a:rPr>
                <a:solidFill>
                  <a:srgbClr val="666666"/>
                </a:solidFill>
                <a:latin typeface="Courier"/>
              </a:rPr>
              <a:t>(</a:t>
            </a:r>
            <a:r>
              <a:rPr>
                <a:latin typeface="Courier"/>
              </a:rPr>
              <a:t>RoundPeg peg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getRadius</a:t>
            </a:r>
            <a:r>
              <a:rPr>
                <a:solidFill>
                  <a:srgbClr val="666666"/>
                </a:solidFill>
                <a:latin typeface="Courier"/>
              </a:rPr>
              <a:t>()</a:t>
            </a:r>
            <a:r>
              <a:rPr>
                <a:latin typeface="Courier"/>
              </a:rPr>
              <a:t> </a:t>
            </a:r>
            <a:r>
              <a:rPr>
                <a:solidFill>
                  <a:srgbClr val="666666"/>
                </a:solidFill>
                <a:latin typeface="Courier"/>
              </a:rPr>
              <a:t>&gt;=</a:t>
            </a:r>
            <a:r>
              <a:rPr>
                <a:latin typeface="Courier"/>
              </a:rPr>
              <a:t> peg</a:t>
            </a:r>
            <a:r>
              <a:rPr>
                <a:solidFill>
                  <a:srgbClr val="666666"/>
                </a:solidFill>
                <a:latin typeface="Courier"/>
              </a:rPr>
              <a:t>.</a:t>
            </a:r>
            <a:r>
              <a:rPr>
                <a:solidFill>
                  <a:srgbClr val="06287E"/>
                </a:solidFill>
                <a:latin typeface="Courier"/>
              </a:rPr>
              <a:t>getRadius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Java Kod Örneği - İstemci</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AdapterDemo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RoundHole hole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RoundHole</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RoundPegImpl roundPeg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RoundPegImpl</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roundPeg</a:t>
            </a:r>
            <a:r>
              <a:rPr>
                <a:solidFill>
                  <a:srgbClr val="666666"/>
                </a:solidFill>
                <a:latin typeface="Courier"/>
              </a:rPr>
              <a:t>));</a:t>
            </a:r>
            <a:r>
              <a:rPr>
                <a:latin typeface="Courier"/>
              </a:rPr>
              <a:t> </a:t>
            </a:r>
            <a:r>
              <a:rPr i="1">
                <a:solidFill>
                  <a:srgbClr val="60A0B0"/>
                </a:solidFill>
                <a:latin typeface="Courier"/>
              </a:rPr>
              <a:t>// true</a:t>
            </a:r>
            <a:br/>
            <a:br/>
            <a:r>
              <a:rPr>
                <a:latin typeface="Courier"/>
              </a:rPr>
              <a:t>        SquarePeg smallSquarePeg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SquarePeg</a:t>
            </a:r>
            <a:r>
              <a:rPr>
                <a:solidFill>
                  <a:srgbClr val="666666"/>
                </a:solidFill>
                <a:latin typeface="Courier"/>
              </a:rPr>
              <a:t>(</a:t>
            </a:r>
            <a:r>
              <a:rPr>
                <a:solidFill>
                  <a:srgbClr val="40A070"/>
                </a:solidFill>
                <a:latin typeface="Courier"/>
              </a:rPr>
              <a:t>5</a:t>
            </a:r>
            <a:r>
              <a:rPr>
                <a:solidFill>
                  <a:srgbClr val="666666"/>
                </a:solidFill>
                <a:latin typeface="Courier"/>
              </a:rPr>
              <a:t>);</a:t>
            </a:r>
            <a:br/>
            <a:r>
              <a:rPr>
                <a:latin typeface="Courier"/>
              </a:rPr>
              <a:t>        SquarePeg largeSquarePeg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SquarePeg</a:t>
            </a:r>
            <a:r>
              <a:rPr>
                <a:solidFill>
                  <a:srgbClr val="666666"/>
                </a:solidFill>
                <a:latin typeface="Courier"/>
              </a:rPr>
              <a:t>(</a:t>
            </a:r>
            <a:r>
              <a:rPr>
                <a:solidFill>
                  <a:srgbClr val="40A070"/>
                </a:solidFill>
                <a:latin typeface="Courier"/>
              </a:rPr>
              <a:t>10</a:t>
            </a:r>
            <a:r>
              <a:rPr>
                <a:solidFill>
                  <a:srgbClr val="666666"/>
                </a:solidFill>
                <a:latin typeface="Courier"/>
              </a:rPr>
              <a:t>);</a:t>
            </a:r>
            <a:br/>
            <a:br/>
            <a:r>
              <a:rPr>
                <a:latin typeface="Courier"/>
              </a:rPr>
              <a:t>        </a:t>
            </a:r>
            <a:r>
              <a:rPr i="1">
                <a:solidFill>
                  <a:srgbClr val="60A0B0"/>
                </a:solidFill>
                <a:latin typeface="Courier"/>
              </a:rPr>
              <a:t>// hole.fits(smallSquarePeg); // Won't compile!</a:t>
            </a:r>
            <a:br/>
            <a:br/>
            <a:r>
              <a:rPr>
                <a:latin typeface="Courier"/>
              </a:rPr>
              <a:t>        </a:t>
            </a:r>
            <a:r>
              <a:rPr i="1">
                <a:solidFill>
                  <a:srgbClr val="60A0B0"/>
                </a:solidFill>
                <a:latin typeface="Courier"/>
              </a:rPr>
              <a:t>// Use adapter to make square pegs compatible</a:t>
            </a:r>
            <a:br/>
            <a:r>
              <a:rPr>
                <a:latin typeface="Courier"/>
              </a:rPr>
              <a:t>        SquarePegAdapter smallAdapter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SquarePegAdapter</a:t>
            </a:r>
            <a:r>
              <a:rPr>
                <a:solidFill>
                  <a:srgbClr val="666666"/>
                </a:solidFill>
                <a:latin typeface="Courier"/>
              </a:rPr>
              <a:t>(</a:t>
            </a:r>
            <a:r>
              <a:rPr>
                <a:latin typeface="Courier"/>
              </a:rPr>
              <a:t>smallSquarePeg</a:t>
            </a:r>
            <a:r>
              <a:rPr>
                <a:solidFill>
                  <a:srgbClr val="666666"/>
                </a:solidFill>
                <a:latin typeface="Courier"/>
              </a:rPr>
              <a:t>);</a:t>
            </a:r>
            <a:br/>
            <a:r>
              <a:rPr>
                <a:latin typeface="Courier"/>
              </a:rPr>
              <a:t>        SquarePegAdapter largeAdapter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SquarePegAdapter</a:t>
            </a:r>
            <a:r>
              <a:rPr>
                <a:solidFill>
                  <a:srgbClr val="666666"/>
                </a:solidFill>
                <a:latin typeface="Courier"/>
              </a:rPr>
              <a:t>(</a:t>
            </a:r>
            <a:r>
              <a:rPr>
                <a:latin typeface="Courier"/>
              </a:rPr>
              <a:t>largeSquarePeg</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smallAdapter</a:t>
            </a:r>
            <a:r>
              <a:rPr>
                <a:solidFill>
                  <a:srgbClr val="666666"/>
                </a:solidFill>
                <a:latin typeface="Courier"/>
              </a:rPr>
              <a:t>));</a:t>
            </a:r>
            <a:r>
              <a:rPr>
                <a:latin typeface="Courier"/>
              </a:rPr>
              <a:t> </a:t>
            </a:r>
            <a:r>
              <a:rPr i="1">
                <a:solidFill>
                  <a:srgbClr val="60A0B0"/>
                </a:solidFill>
                <a:latin typeface="Courier"/>
              </a:rPr>
              <a:t>// true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hole</a:t>
            </a:r>
            <a:r>
              <a:rPr>
                <a:solidFill>
                  <a:srgbClr val="666666"/>
                </a:solidFill>
                <a:latin typeface="Courier"/>
              </a:rPr>
              <a:t>.</a:t>
            </a:r>
            <a:r>
              <a:rPr>
                <a:solidFill>
                  <a:srgbClr val="06287E"/>
                </a:solidFill>
                <a:latin typeface="Courier"/>
              </a:rPr>
              <a:t>fits</a:t>
            </a:r>
            <a:r>
              <a:rPr>
                <a:solidFill>
                  <a:srgbClr val="666666"/>
                </a:solidFill>
                <a:latin typeface="Courier"/>
              </a:rPr>
              <a:t>(</a:t>
            </a:r>
            <a:r>
              <a:rPr>
                <a:latin typeface="Courier"/>
              </a:rPr>
              <a:t>largeAdapter</a:t>
            </a:r>
            <a:r>
              <a:rPr>
                <a:solidFill>
                  <a:srgbClr val="666666"/>
                </a:solidFill>
                <a:latin typeface="Courier"/>
              </a:rPr>
              <a:t>));</a:t>
            </a:r>
            <a:r>
              <a:rPr>
                <a:latin typeface="Courier"/>
              </a:rPr>
              <a:t> </a:t>
            </a:r>
            <a:r>
              <a:rPr i="1">
                <a:solidFill>
                  <a:srgbClr val="60A0B0"/>
                </a:solidFill>
                <a:latin typeface="Courier"/>
              </a:rPr>
              <a:t>// false</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Adapter - Sıra Diyagramı</a:t>
            </a:r>
          </a:p>
        </p:txBody>
      </p:sp>
      <p:pic>
        <p:nvPicPr>
          <p:cNvPr descr="assets/adapter-sequence.png" id="0" name="Picture 1"/>
          <p:cNvPicPr>
            <a:picLocks noGrp="1" noChangeAspect="1"/>
          </p:cNvPicPr>
          <p:nvPr/>
        </p:nvPicPr>
        <p:blipFill>
          <a:blip r:embed="rId2"/>
          <a:stretch>
            <a:fillRect/>
          </a:stretch>
        </p:blipFill>
        <p:spPr bwMode="auto">
          <a:xfrm>
            <a:off x="4064000" y="203200"/>
            <a:ext cx="4102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Uygulanabilirlik</a:t>
            </a:r>
          </a:p>
        </p:txBody>
      </p:sp>
      <p:sp>
        <p:nvSpPr>
          <p:cNvPr id="3" name="Content Placeholder 2"/>
          <p:cNvSpPr>
            <a:spLocks noGrp="1"/>
          </p:cNvSpPr>
          <p:nvPr>
            <p:ph idx="1"/>
          </p:nvPr>
        </p:nvSpPr>
        <p:spPr/>
        <p:txBody>
          <a:bodyPr/>
          <a:lstStyle/>
          <a:p>
            <a:pPr lvl="0" indent="0" marL="0">
              <a:buNone/>
            </a:pPr>
            <a:r>
              <a:rPr/>
              <a:t>Adapter (Adaptör) desenini şu durumlarda kullanın:</a:t>
            </a:r>
          </a:p>
          <a:p>
            <a:pPr lvl="0"/>
            <a:r>
              <a:rPr/>
              <a:t>Mevcut bir sınıfı kullanmak istediğinizde, ancak arayüzü kodunuzun geri kalanıyla </a:t>
            </a:r>
            <a:r>
              <a:rPr b="1"/>
              <a:t>uyumlu olmadığında</a:t>
            </a:r>
          </a:p>
          <a:p>
            <a:pPr lvl="0"/>
            <a:r>
              <a:rPr/>
              <a:t>İlgisiz veya öngörülemeyen, uyumlu arayüzlere sahip olmayan sınıflarla işbirliği yapan </a:t>
            </a:r>
            <a:r>
              <a:rPr b="1"/>
              <a:t>yeniden kullanılabilir bir sınıf</a:t>
            </a:r>
            <a:r>
              <a:rPr/>
              <a:t> oluşturmak istediğinizde</a:t>
            </a:r>
          </a:p>
          <a:p>
            <a:pPr lvl="0"/>
            <a:r>
              <a:rPr/>
              <a:t>Birkaç mevcut alt sınıfı kullanmanız gerektiğinde, ancak her birinin arayüzünü alt sınıflayarak uyarlamak pratik olmadığında. Bir </a:t>
            </a:r>
            <a:r>
              <a:rPr b="1"/>
              <a:t>nesne adaptörü</a:t>
            </a:r>
            <a:r>
              <a:rPr/>
              <a:t> üst sınıfının arayüzünü uyarlayabilir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Uygulanabilirlik (devam)</a:t>
            </a:r>
          </a:p>
        </p:txBody>
      </p:sp>
      <p:sp>
        <p:nvSpPr>
          <p:cNvPr id="3" name="Content Placeholder 2"/>
          <p:cNvSpPr>
            <a:spLocks noGrp="1"/>
          </p:cNvSpPr>
          <p:nvPr>
            <p:ph idx="1"/>
          </p:nvPr>
        </p:nvSpPr>
        <p:spPr/>
        <p:txBody>
          <a:bodyPr/>
          <a:lstStyle/>
          <a:p>
            <a:pPr lvl="0"/>
            <a:r>
              <a:rPr/>
              <a:t>Kodunuz ile eski bir sınıf, üçüncü taraf sınıf veya garip bir arayüze sahip başka bir sınıf arasında çevirmen görevi görecek bir </a:t>
            </a:r>
            <a:r>
              <a:rPr b="1"/>
              <a:t>ara katman sınıfına</a:t>
            </a:r>
            <a:r>
              <a:rPr/>
              <a:t> ihtiyacınız olduğunda</a:t>
            </a:r>
          </a:p>
          <a:p>
            <a:pPr lvl="0"/>
            <a:r>
              <a:rPr/>
              <a:t>Üst sınıfa eklenemeyen bazı ortak işlevlerden yoksun olan </a:t>
            </a:r>
            <a:r>
              <a:rPr b="1"/>
              <a:t>mevcut alt sınıfları yeniden kullanmak</a:t>
            </a:r>
            <a:r>
              <a:rPr/>
              <a:t> istediğinizde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Nasıl Uygulanır</a:t>
            </a:r>
          </a:p>
        </p:txBody>
      </p:sp>
      <p:sp>
        <p:nvSpPr>
          <p:cNvPr id="3" name="Content Placeholder 2"/>
          <p:cNvSpPr>
            <a:spLocks noGrp="1"/>
          </p:cNvSpPr>
          <p:nvPr>
            <p:ph idx="1"/>
          </p:nvPr>
        </p:nvSpPr>
        <p:spPr/>
        <p:txBody>
          <a:bodyPr/>
          <a:lstStyle/>
          <a:p>
            <a:pPr lvl="0" indent="-342900" marL="342900">
              <a:buAutoNum type="arabicPeriod"/>
            </a:pPr>
            <a:r>
              <a:rPr/>
              <a:t>En az iki sınıfın </a:t>
            </a:r>
            <a:r>
              <a:rPr b="1"/>
              <a:t>uyumsuz arayüzlere</a:t>
            </a:r>
            <a:r>
              <a:rPr/>
              <a:t> sahip olduğundan emin olun: yararlı bir servis sınıfı ve servis sınıfını kullanmaktan fayda sağlayacak bir veya daha fazla istemci sınıfı</a:t>
            </a:r>
          </a:p>
          <a:p>
            <a:pPr lvl="0" indent="-342900" marL="342900">
              <a:buAutoNum type="arabicPeriod"/>
            </a:pPr>
            <a:r>
              <a:rPr b="1"/>
              <a:t>İstemci arayüzünü</a:t>
            </a:r>
            <a:r>
              <a:rPr/>
              <a:t> tanımlayın ve istemcilerin servis ile nasıl iletişim kurduğunu açıklayın</a:t>
            </a:r>
          </a:p>
          <a:p>
            <a:pPr lvl="0" indent="-342900" marL="342900">
              <a:buAutoNum type="arabicPeriod"/>
            </a:pPr>
            <a:r>
              <a:rPr b="1"/>
              <a:t>Adaptör sınıfını</a:t>
            </a:r>
            <a:r>
              <a:rPr/>
              <a:t> oluşturun ve istemci arayüzünü uygulamasını sağlayın. Şimdilik tüm yöntemleri boş bırakın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Nasıl Uygulanır (devam)</a:t>
            </a:r>
          </a:p>
        </p:txBody>
      </p:sp>
      <p:sp>
        <p:nvSpPr>
          <p:cNvPr id="3" name="Content Placeholder 2"/>
          <p:cNvSpPr>
            <a:spLocks noGrp="1"/>
          </p:cNvSpPr>
          <p:nvPr>
            <p:ph idx="1"/>
          </p:nvPr>
        </p:nvSpPr>
        <p:spPr/>
        <p:txBody>
          <a:bodyPr/>
          <a:lstStyle/>
          <a:p>
            <a:pPr lvl="0" indent="-342900" marL="342900">
              <a:buAutoNum startAt="4" type="arabicPeriod"/>
            </a:pPr>
            <a:r>
              <a:rPr/>
              <a:t>Adaptör sınıfına servis nesnesine referans saklamak için bir </a:t>
            </a:r>
            <a:r>
              <a:rPr b="1"/>
              <a:t>alan ekleyin</a:t>
            </a:r>
            <a:r>
              <a:rPr/>
              <a:t>. Yaygın uygulama bu alanı yapıcı aracılığıyla başlatmaktır, ancak bazen adaptörün yöntemlerini çağırırken iletmek daha uygundur</a:t>
            </a:r>
          </a:p>
          <a:p>
            <a:pPr lvl="0" indent="-342900" marL="342900">
              <a:buAutoNum startAt="4" type="arabicPeriod"/>
            </a:pPr>
            <a:r>
              <a:rPr/>
              <a:t>İstemci arayüzünün tüm yöntemlerini adaptör sınıfında tek tek </a:t>
            </a:r>
            <a:r>
              <a:rPr b="1"/>
              <a:t>uygulayın</a:t>
            </a:r>
            <a:r>
              <a:rPr/>
              <a:t>. Adaptör, gerçek işin çoğunu servis nesnesine devretmeli, yalnızca arayüz veya veri formatı dönüşümünü ele almalıdır</a:t>
            </a:r>
          </a:p>
          <a:p>
            <a:pPr lvl="0" indent="-342900" marL="342900">
              <a:buAutoNum startAt="4" type="arabicPeriod"/>
            </a:pPr>
            <a:r>
              <a:rPr/>
              <a:t>İstemciler adaptörü </a:t>
            </a:r>
            <a:r>
              <a:rPr b="1"/>
              <a:t>istemci arayüzü</a:t>
            </a:r>
            <a:r>
              <a:rPr/>
              <a:t> üzerinden kullanmalıdır. Bu, istemci kodunu etkilemeden adaptörleri değiştirmenize veya genişletmenize olanak tanır</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Avantajlar ve Dezavantajlar</a:t>
            </a:r>
          </a:p>
        </p:txBody>
      </p:sp>
      <p:sp>
        <p:nvSpPr>
          <p:cNvPr id="3" name="Content Placeholder 2"/>
          <p:cNvSpPr>
            <a:spLocks noGrp="1"/>
          </p:cNvSpPr>
          <p:nvPr>
            <p:ph idx="1"/>
          </p:nvPr>
        </p:nvSpPr>
        <p:spPr/>
        <p:txBody>
          <a:bodyPr/>
          <a:lstStyle/>
          <a:p>
            <a:pPr lvl="0" indent="0" marL="0">
              <a:buNone/>
            </a:pPr>
            <a:r>
              <a:rPr b="1"/>
              <a:t>Avantajlar:</a:t>
            </a:r>
            <a:r>
              <a:rPr/>
              <a:t> - </a:t>
            </a:r>
            <a:r>
              <a:rPr b="1"/>
              <a:t>Tek Sorumluluk İlkesi</a:t>
            </a:r>
            <a:r>
              <a:rPr/>
              <a:t>: Arayüz veya veri dönüştürme kodunu programın birincil iş mantığından ayırabilirsiniz - </a:t>
            </a:r>
            <a:r>
              <a:rPr b="1"/>
              <a:t>Açık/Kapalı İlkesi</a:t>
            </a:r>
            <a:r>
              <a:rPr/>
              <a:t>: İstemci arayüzü üzerinden adaptörlerle çalıştıkları sürece, mevcut istemci kodunu bozmadan programa yeni adaptör türleri ekleyebilirsiniz</a:t>
            </a:r>
          </a:p>
          <a:p>
            <a:pPr lvl="0" indent="0" marL="0">
              <a:buNone/>
            </a:pPr>
            <a:r>
              <a:rPr b="1"/>
              <a:t>Dezavantajlar:</a:t>
            </a:r>
            <a:r>
              <a:rPr/>
              <a:t> - Bir dizi yeni arayüz ve sınıf tanıtmanız gerektiğinden kodun genel karmaşıklığı artar. Bazen servis sınıfını kodunuzun geri kalanıyla eşleşecek şekilde değiştirmek daha basittir</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Diğer Desenlerle İlişkiler</a:t>
            </a:r>
          </a:p>
        </p:txBody>
      </p:sp>
      <p:sp>
        <p:nvSpPr>
          <p:cNvPr id="3" name="Content Placeholder 2"/>
          <p:cNvSpPr>
            <a:spLocks noGrp="1"/>
          </p:cNvSpPr>
          <p:nvPr>
            <p:ph idx="1"/>
          </p:nvPr>
        </p:nvSpPr>
        <p:spPr/>
        <p:txBody>
          <a:bodyPr/>
          <a:lstStyle/>
          <a:p>
            <a:pPr lvl="0"/>
            <a:r>
              <a:rPr b="1"/>
              <a:t>Bridge (Köprü)</a:t>
            </a:r>
            <a:r>
              <a:rPr/>
              <a:t> genellikle baştan tasarlanır ve bir uygulamanın parçalarını bağımsız olarak geliştirmenize olanak tanır. </a:t>
            </a:r>
            <a:r>
              <a:rPr b="1"/>
              <a:t>Adapter (Adaptör)</a:t>
            </a:r>
            <a:r>
              <a:rPr/>
              <a:t> genellikle mevcut bir uygulamayla birlikte kullanılır ve aksi takdirde uyumsuz olan sınıfların birlikte çalışmasını sağlar</a:t>
            </a:r>
          </a:p>
          <a:p>
            <a:pPr lvl="0"/>
            <a:r>
              <a:rPr b="1"/>
              <a:t>Adapter (Adaptör)</a:t>
            </a:r>
            <a:r>
              <a:rPr/>
              <a:t> mevcut bir nesnenin arayüzünü değiştirirken, </a:t>
            </a:r>
            <a:r>
              <a:rPr b="1"/>
              <a:t>Decorator (Dekoratör)</a:t>
            </a:r>
            <a:r>
              <a:rPr/>
              <a:t> arayüzünü değiştirmeden bir nesneyi geliştirir. Decorator (Dekoratör) özyinelemeli bileşimi desteklerken, Adapter (Adaptör) ile bu mümkün değildir</a:t>
            </a:r>
          </a:p>
          <a:p>
            <a:pPr lvl="0"/>
            <a:r>
              <a:rPr b="1"/>
              <a:t>Adapter (Adaptör)</a:t>
            </a:r>
            <a:r>
              <a:rPr/>
              <a:t> sarılan nesneye farklı bir arayüz sağlarken, </a:t>
            </a:r>
            <a:r>
              <a:rPr b="1"/>
              <a:t>Proxy (Vekil)</a:t>
            </a:r>
            <a:r>
              <a:rPr/>
              <a:t> aynı arayüzü sağlar ve </a:t>
            </a:r>
            <a:r>
              <a:rPr b="1"/>
              <a:t>Decorator (Dekoratör)</a:t>
            </a:r>
            <a:r>
              <a:rPr/>
              <a:t> geliştirilmiş bir arayüz sağlar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Adapter (Adaptör): Diğer Desenlerle İlişkiler (devam)</a:t>
            </a:r>
          </a:p>
        </p:txBody>
      </p:sp>
      <p:sp>
        <p:nvSpPr>
          <p:cNvPr id="3" name="Content Placeholder 2"/>
          <p:cNvSpPr>
            <a:spLocks noGrp="1"/>
          </p:cNvSpPr>
          <p:nvPr>
            <p:ph idx="1"/>
          </p:nvPr>
        </p:nvSpPr>
        <p:spPr/>
        <p:txBody>
          <a:bodyPr/>
          <a:lstStyle/>
          <a:p>
            <a:pPr lvl="0"/>
            <a:r>
              <a:rPr b="1"/>
              <a:t>Facade (Cephe)</a:t>
            </a:r>
            <a:r>
              <a:rPr/>
              <a:t> mevcut nesneler için yeni bir arayüz tanımlarken, </a:t>
            </a:r>
            <a:r>
              <a:rPr b="1"/>
              <a:t>Adapter (Adaptör)</a:t>
            </a:r>
            <a:r>
              <a:rPr/>
              <a:t> mevcut arayüzü kullanılabilir hale getirmeye çalışır. Adapter (Adaptör) genellikle yalnızca bir nesneyi sararken, Facade (Cephe) bütün bir nesne alt sistemiyle çalışır</a:t>
            </a:r>
          </a:p>
          <a:p>
            <a:pPr lvl="0"/>
            <a:r>
              <a:rPr b="1"/>
              <a:t>Bridge (Köprü)</a:t>
            </a:r>
            <a:r>
              <a:rPr/>
              <a:t>, </a:t>
            </a:r>
            <a:r>
              <a:rPr b="1"/>
              <a:t>State</a:t>
            </a:r>
            <a:r>
              <a:rPr/>
              <a:t>, </a:t>
            </a:r>
            <a:r>
              <a:rPr b="1"/>
              <a:t>Strategy</a:t>
            </a:r>
            <a:r>
              <a:rPr/>
              <a:t> (ve bir dereceye kadar </a:t>
            </a:r>
            <a:r>
              <a:rPr b="1"/>
              <a:t>Adapter (Adaptör)</a:t>
            </a:r>
            <a:r>
              <a:rPr/>
              <a:t>) çok benzer yapılara sahiptir. Tüm bu desenler, işi başka nesnelere devreden bileşime dayanır. Ancak hepsi farklı problemleri çözer</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B: Özet</a:t>
            </a:r>
          </a:p>
        </p:txBody>
      </p:sp>
      <p:sp>
        <p:nvSpPr>
          <p:cNvPr id="3" name="Content Placeholder 2"/>
          <p:cNvSpPr>
            <a:spLocks noGrp="1"/>
          </p:cNvSpPr>
          <p:nvPr>
            <p:ph idx="1"/>
          </p:nvPr>
        </p:nvSpPr>
        <p:spPr/>
        <p:txBody>
          <a:bodyPr/>
          <a:lstStyle/>
          <a:p>
            <a:pPr lvl="0"/>
            <a:r>
              <a:rPr/>
              <a:t>Adapter (Adaptör) deseni, iki uyumsuz arayüz arasında bir </a:t>
            </a:r>
            <a:r>
              <a:rPr b="1"/>
              <a:t>köprü</a:t>
            </a:r>
            <a:r>
              <a:rPr/>
              <a:t> görevi görür</a:t>
            </a:r>
          </a:p>
          <a:p>
            <a:pPr lvl="0"/>
            <a:r>
              <a:rPr/>
              <a:t>Mevcut bir sınıfı, istemci beklentileriyle uyumlu hale getirmek için yeni bir arayüzle sarar</a:t>
            </a:r>
          </a:p>
          <a:p>
            <a:pPr lvl="0"/>
            <a:r>
              <a:rPr b="1"/>
              <a:t>Eski</a:t>
            </a:r>
            <a:r>
              <a:rPr/>
              <a:t> veya </a:t>
            </a:r>
            <a:r>
              <a:rPr b="1"/>
              <a:t>üçüncü taraf</a:t>
            </a:r>
            <a:r>
              <a:rPr/>
              <a:t> kodu sisteminize entegre etmeniz gerektiğinde kullanın</a:t>
            </a:r>
          </a:p>
          <a:p>
            <a:pPr lvl="0"/>
            <a:r>
              <a:rPr b="1"/>
              <a:t>Tek Sorumluluk</a:t>
            </a:r>
            <a:r>
              <a:rPr/>
              <a:t> ve </a:t>
            </a:r>
            <a:r>
              <a:rPr b="1"/>
              <a:t>Açık/Kapalı</a:t>
            </a:r>
            <a:r>
              <a:rPr/>
              <a:t> ilkelerini takip eder</a:t>
            </a:r>
          </a:p>
          <a:p>
            <a:pPr lvl="0"/>
            <a:r>
              <a:rPr/>
              <a:t>İki varyantı vardır: </a:t>
            </a:r>
            <a:r>
              <a:rPr b="1"/>
              <a:t>Nesne Adaptörü</a:t>
            </a:r>
            <a:r>
              <a:rPr/>
              <a:t> (bileşim) ve </a:t>
            </a:r>
            <a:r>
              <a:rPr b="1"/>
              <a:t>Sınıf Adaptörü</a:t>
            </a:r>
            <a:r>
              <a:rPr/>
              <a:t> (çoklu kalıtım)</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C: Bridge (Köprü) Deseni</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C: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Amaç</a:t>
            </a:r>
          </a:p>
        </p:txBody>
      </p:sp>
      <p:sp>
        <p:nvSpPr>
          <p:cNvPr id="3" name="Content Placeholder 2"/>
          <p:cNvSpPr>
            <a:spLocks noGrp="1"/>
          </p:cNvSpPr>
          <p:nvPr>
            <p:ph idx="1"/>
          </p:nvPr>
        </p:nvSpPr>
        <p:spPr/>
        <p:txBody>
          <a:bodyPr/>
          <a:lstStyle/>
          <a:p>
            <a:pPr lvl="0" indent="0" marL="0">
              <a:buNone/>
            </a:pPr>
            <a:r>
              <a:rPr b="1"/>
              <a:t>Bridge (Köprü)</a:t>
            </a:r>
            <a:r>
              <a:rPr/>
              <a:t>, büyük bir sınıfı veya birbiriyle yakından ilişkili bir dizi sınıfı </a:t>
            </a:r>
            <a:r>
              <a:rPr b="1"/>
              <a:t>iki ayrı hiyerarşiye</a:t>
            </a:r>
            <a:r>
              <a:rPr/>
              <a:t> – soyutlama ve uygulama – ayırmanızı sağlayan ve bunların birbirinden </a:t>
            </a:r>
            <a:r>
              <a:rPr b="1"/>
              <a:t>bağımsız olarak</a:t>
            </a:r>
            <a:r>
              <a:rPr/>
              <a:t> geliştirilebileceği yapısal bir tasarım desenidir.</a:t>
            </a:r>
          </a:p>
          <a:p>
            <a:pPr lvl="0" indent="0" marL="0">
              <a:buNone/>
            </a:pPr>
            <a:r>
              <a:rPr/>
              <a:t>Kaynak: </a:t>
            </a:r>
            <a:r>
              <a:rPr>
                <a:hlinkClick r:id="rId2"/>
              </a:rPr>
              <a:t>refactoring.guru</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Problem</a:t>
            </a:r>
          </a:p>
        </p:txBody>
      </p:sp>
      <p:sp>
        <p:nvSpPr>
          <p:cNvPr id="3" name="Content Placeholder 2"/>
          <p:cNvSpPr>
            <a:spLocks noGrp="1"/>
          </p:cNvSpPr>
          <p:nvPr>
            <p:ph idx="1"/>
          </p:nvPr>
        </p:nvSpPr>
        <p:spPr/>
        <p:txBody>
          <a:bodyPr/>
          <a:lstStyle/>
          <a:p>
            <a:pPr lvl="0" indent="0" marL="0">
              <a:buNone/>
            </a:pPr>
            <a:r>
              <a:rPr/>
              <a:t>Diyelim ki bir geometrik </a:t>
            </a:r>
            <a:r>
              <a:rPr>
                <a:latin typeface="Courier"/>
              </a:rPr>
              <a:t>Shape</a:t>
            </a:r>
            <a:r>
              <a:rPr/>
              <a:t> sınıfınız ve bir çift alt sınıfınız var: </a:t>
            </a:r>
            <a:r>
              <a:rPr>
                <a:latin typeface="Courier"/>
              </a:rPr>
              <a:t>Circle</a:t>
            </a:r>
            <a:r>
              <a:rPr/>
              <a:t> ve </a:t>
            </a:r>
            <a:r>
              <a:rPr>
                <a:latin typeface="Courier"/>
              </a:rPr>
              <a:t>Square</a:t>
            </a:r>
            <a:r>
              <a:rPr/>
              <a:t>. Bu sınıf hiyerarşisini renkleri de dahil edecek şekilde genişletmek istiyorsunuz, bu yüzden </a:t>
            </a:r>
            <a:r>
              <a:rPr>
                <a:latin typeface="Courier"/>
              </a:rPr>
              <a:t>Red</a:t>
            </a:r>
            <a:r>
              <a:rPr/>
              <a:t> ve </a:t>
            </a:r>
            <a:r>
              <a:rPr>
                <a:latin typeface="Courier"/>
              </a:rPr>
              <a:t>Blue</a:t>
            </a:r>
            <a:r>
              <a:rPr/>
              <a:t> şekil alt sınıfları oluşturmayı planlıyorsunuz.</a:t>
            </a:r>
          </a:p>
          <a:p>
            <a:pPr lvl="0" indent="0" marL="0">
              <a:buNone/>
            </a:pPr>
            <a:r>
              <a:rPr/>
              <a:t>Ancak zaten iki alt sınıfınız olduğundan, </a:t>
            </a:r>
            <a:r>
              <a:rPr>
                <a:latin typeface="Courier"/>
              </a:rPr>
              <a:t>BlueCircle</a:t>
            </a:r>
            <a:r>
              <a:rPr/>
              <a:t> ve </a:t>
            </a:r>
            <a:r>
              <a:rPr>
                <a:latin typeface="Courier"/>
              </a:rPr>
              <a:t>RedSquare</a:t>
            </a:r>
            <a:r>
              <a:rPr/>
              <a:t> gibi </a:t>
            </a:r>
            <a:r>
              <a:rPr b="1"/>
              <a:t>dört</a:t>
            </a:r>
            <a:r>
              <a:rPr/>
              <a:t> sınıf kombinasyonu oluşturmanız gerekecektir.</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Problem (devam)</a:t>
            </a:r>
          </a:p>
        </p:txBody>
      </p:sp>
      <p:sp>
        <p:nvSpPr>
          <p:cNvPr id="3" name="Content Placeholder 2"/>
          <p:cNvSpPr>
            <a:spLocks noGrp="1"/>
          </p:cNvSpPr>
          <p:nvPr>
            <p:ph idx="1"/>
          </p:nvPr>
        </p:nvSpPr>
        <p:spPr/>
        <p:txBody>
          <a:bodyPr/>
          <a:lstStyle/>
          <a:p>
            <a:pPr lvl="0" indent="0" marL="0">
              <a:buNone/>
            </a:pPr>
            <a:r>
              <a:rPr/>
              <a:t>Hiyerarşiye yeni şekil türleri ve renkler eklemek hiyerarşiyi </a:t>
            </a:r>
            <a:r>
              <a:rPr b="1"/>
              <a:t>üstel olarak</a:t>
            </a:r>
            <a:r>
              <a:rPr/>
              <a:t> büyütecektir. Örneğin: - Bir </a:t>
            </a:r>
            <a:r>
              <a:rPr b="1"/>
              <a:t>Triangle</a:t>
            </a:r>
            <a:r>
              <a:rPr/>
              <a:t> şekli eklemek 2 yeni alt sınıf gerektirir (her renk için bir tane) - Bir </a:t>
            </a:r>
            <a:r>
              <a:rPr b="1"/>
              <a:t>Green</a:t>
            </a:r>
            <a:r>
              <a:rPr/>
              <a:t> renk eklemek 3 yeni alt sınıf gerektirir (her şekil için bir tane)</a:t>
            </a:r>
          </a:p>
          <a:p>
            <a:pPr lvl="0" indent="0" marL="0">
              <a:buNone/>
            </a:pPr>
            <a:r>
              <a:rPr/>
              <a:t>Bu sorun, şekil sınıflarını </a:t>
            </a:r>
            <a:r>
              <a:rPr b="1"/>
              <a:t>iki bağımsız boyutta</a:t>
            </a:r>
            <a:r>
              <a:rPr/>
              <a:t> genişletmeye çalışmamızdan kaynaklanır: biçim ve renk. Bu, sınıf kalıtımında çok yaygın bir sorundur.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Çözüm</a:t>
            </a:r>
          </a:p>
        </p:txBody>
      </p:sp>
      <p:sp>
        <p:nvSpPr>
          <p:cNvPr id="3" name="Content Placeholder 2"/>
          <p:cNvSpPr>
            <a:spLocks noGrp="1"/>
          </p:cNvSpPr>
          <p:nvPr>
            <p:ph idx="1"/>
          </p:nvPr>
        </p:nvSpPr>
        <p:spPr/>
        <p:txBody>
          <a:bodyPr/>
          <a:lstStyle/>
          <a:p>
            <a:pPr lvl="0" indent="0" marL="0">
              <a:buNone/>
            </a:pPr>
            <a:r>
              <a:rPr/>
              <a:t>Bridge (Köprü) deseni, </a:t>
            </a:r>
            <a:r>
              <a:rPr b="1"/>
              <a:t>kalıtımdan</a:t>
            </a:r>
            <a:r>
              <a:rPr/>
              <a:t> </a:t>
            </a:r>
            <a:r>
              <a:rPr b="1"/>
              <a:t>nesne bileşimine</a:t>
            </a:r>
            <a:r>
              <a:rPr/>
              <a:t> geçerek bu sorunu çözmeye çalışır. Bu, boyutlardan birini ayrı bir sınıf hiyerarşisine çıkarmanız anlamına gelir; böylece orijinal sınıflar, tüm durumu ve davranışları tek bir sınıfta tutmak yerine yeni hiyerarşideki bir nesneye referans verir.</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Çözüm (devam)</a:t>
            </a:r>
          </a:p>
        </p:txBody>
      </p:sp>
      <p:sp>
        <p:nvSpPr>
          <p:cNvPr id="3" name="Content Placeholder 2"/>
          <p:cNvSpPr>
            <a:spLocks noGrp="1"/>
          </p:cNvSpPr>
          <p:nvPr>
            <p:ph idx="1"/>
          </p:nvPr>
        </p:nvSpPr>
        <p:spPr/>
        <p:txBody>
          <a:bodyPr/>
          <a:lstStyle/>
          <a:p>
            <a:pPr lvl="0" indent="0" marL="0">
              <a:buNone/>
            </a:pPr>
            <a:r>
              <a:rPr/>
              <a:t>Bu yaklaşımı izleyerek, renkle ilgili kodu kendi sınıfına çıkarabiliriz: </a:t>
            </a:r>
            <a:r>
              <a:rPr>
                <a:latin typeface="Courier"/>
              </a:rPr>
              <a:t>Red</a:t>
            </a:r>
            <a:r>
              <a:rPr/>
              <a:t> ve </a:t>
            </a:r>
            <a:r>
              <a:rPr>
                <a:latin typeface="Courier"/>
              </a:rPr>
              <a:t>Blue</a:t>
            </a:r>
            <a:r>
              <a:rPr/>
              <a:t> olmak üzere iki alt sınıfla. </a:t>
            </a:r>
            <a:r>
              <a:rPr>
                <a:latin typeface="Courier"/>
              </a:rPr>
              <a:t>Shape</a:t>
            </a:r>
            <a:r>
              <a:rPr/>
              <a:t> sınıfı daha sonra renk nesnelerinden birine işaret eden bir referans alanı alır.</a:t>
            </a:r>
          </a:p>
          <a:p>
            <a:pPr lvl="0" indent="0" marL="0">
              <a:buNone/>
            </a:pPr>
            <a:r>
              <a:rPr/>
              <a:t>Artık şekil, renkle ilgili herhangi bir işi bağlantılı renk nesnesine </a:t>
            </a:r>
            <a:r>
              <a:rPr b="1"/>
              <a:t>devredebilir</a:t>
            </a:r>
            <a:r>
              <a:rPr/>
              <a:t>. Bu referans, </a:t>
            </a:r>
            <a:r>
              <a:rPr>
                <a:latin typeface="Courier"/>
              </a:rPr>
              <a:t>Shape</a:t>
            </a:r>
            <a:r>
              <a:rPr/>
              <a:t> ve </a:t>
            </a:r>
            <a:r>
              <a:rPr>
                <a:latin typeface="Courier"/>
              </a:rPr>
              <a:t>Color</a:t>
            </a:r>
            <a:r>
              <a:rPr/>
              <a:t> sınıfları arasında bir </a:t>
            </a:r>
            <a:r>
              <a:rPr b="1"/>
              <a:t>köprü</a:t>
            </a:r>
            <a:r>
              <a:rPr/>
              <a:t> görevi görecektir.</a:t>
            </a:r>
          </a:p>
          <a:p>
            <a:pPr lvl="0" indent="0" marL="0">
              <a:buNone/>
            </a:pPr>
            <a:r>
              <a:rPr/>
              <a:t>Bundan sonra, yeni renkler eklemek şekil hiyerarşisini değiştirmeyi gerektirmeyecektir ve bunun tersi de geçerlidir.</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Soyutlama ve Uygulama</a:t>
            </a:r>
          </a:p>
        </p:txBody>
      </p:sp>
      <p:sp>
        <p:nvSpPr>
          <p:cNvPr id="3" name="Content Placeholder 2"/>
          <p:cNvSpPr>
            <a:spLocks noGrp="1"/>
          </p:cNvSpPr>
          <p:nvPr>
            <p:ph idx="1"/>
          </p:nvPr>
        </p:nvSpPr>
        <p:spPr/>
        <p:txBody>
          <a:bodyPr/>
          <a:lstStyle/>
          <a:p>
            <a:pPr lvl="0" indent="0" marL="0">
              <a:buNone/>
            </a:pPr>
            <a:r>
              <a:rPr b="1"/>
              <a:t>Soyutlama</a:t>
            </a:r>
            <a:r>
              <a:rPr/>
              <a:t> (arayüz olarak da adlandırılır), bazı varlıklar için üst düzey kontrol katmanıdır. Bu katmanın kendi başına gerçek bir iş yapması beklenmez. İşi </a:t>
            </a:r>
            <a:r>
              <a:rPr b="1"/>
              <a:t>uygulama</a:t>
            </a:r>
            <a:r>
              <a:rPr/>
              <a:t> katmanına (platform olarak da adlandırılır) devretmelidir.</a:t>
            </a:r>
          </a:p>
          <a:p>
            <a:pPr lvl="0" indent="0" marL="0">
              <a:buNone/>
            </a:pPr>
            <a:r>
              <a:rPr/>
              <a:t>Not: Bunlar programlama dilinizdeki arayüzler veya soyut sınıflarla aynı şey değildir. Genel kavramlardır.</a:t>
            </a:r>
          </a:p>
          <a:p>
            <a:pPr lvl="0"/>
            <a:r>
              <a:rPr b="1"/>
              <a:t>Soyutlama</a:t>
            </a:r>
            <a:r>
              <a:rPr/>
              <a:t>: Bir uygulamanın GUI katmanı (örn., uzaktan kumanda)</a:t>
            </a:r>
          </a:p>
          <a:p>
            <a:pPr lvl="0"/>
            <a:r>
              <a:rPr b="1"/>
              <a:t>Uygulama</a:t>
            </a:r>
            <a:r>
              <a:rPr/>
              <a:t>: İşletim sistemi API’si, cihaza özgü kod (örn., TV, Radyo)</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Gerçek Dünya Benzetmesi</a:t>
            </a:r>
          </a:p>
        </p:txBody>
      </p:sp>
      <p:sp>
        <p:nvSpPr>
          <p:cNvPr id="3" name="Content Placeholder 2"/>
          <p:cNvSpPr>
            <a:spLocks noGrp="1"/>
          </p:cNvSpPr>
          <p:nvPr>
            <p:ph idx="1"/>
          </p:nvPr>
        </p:nvSpPr>
        <p:spPr/>
        <p:txBody>
          <a:bodyPr/>
          <a:lstStyle/>
          <a:p>
            <a:pPr lvl="0" indent="0" marL="0">
              <a:buNone/>
            </a:pPr>
            <a:r>
              <a:rPr/>
              <a:t>Bir </a:t>
            </a:r>
            <a:r>
              <a:rPr b="1"/>
              <a:t>uzaktan kumanda</a:t>
            </a:r>
            <a:r>
              <a:rPr/>
              <a:t> ve bir </a:t>
            </a:r>
            <a:r>
              <a:rPr b="1"/>
              <a:t>cihaz</a:t>
            </a:r>
            <a:r>
              <a:rPr/>
              <a:t> (TV, Radyo) düşünün.</a:t>
            </a:r>
          </a:p>
          <a:p>
            <a:pPr lvl="0"/>
            <a:r>
              <a:rPr/>
              <a:t>Uzaktan kumanda </a:t>
            </a:r>
            <a:r>
              <a:rPr b="1"/>
              <a:t>soyutlamadır</a:t>
            </a:r>
            <a:r>
              <a:rPr/>
              <a:t> – üst düzey kontroller sağlar (güç, ses, kanal)</a:t>
            </a:r>
          </a:p>
          <a:p>
            <a:pPr lvl="0"/>
            <a:r>
              <a:rPr/>
              <a:t>Cihaz </a:t>
            </a:r>
            <a:r>
              <a:rPr b="1"/>
              <a:t>uygulamadır</a:t>
            </a:r>
            <a:r>
              <a:rPr/>
              <a:t> – bu kontrollerin gerçekte nasıl çalıştığını tanımlar</a:t>
            </a:r>
          </a:p>
          <a:p>
            <a:pPr lvl="0"/>
            <a:r>
              <a:rPr/>
              <a:t>Farklı uzaktan kumandaları farklı cihazlarla eşleştirebilirsiniz</a:t>
            </a:r>
          </a:p>
          <a:p>
            <a:pPr lvl="0"/>
            <a:r>
              <a:rPr/>
              <a:t>Cihaz sınıflarını değiştirmeden ekstra düğmelere sahip gelişmiş bir uzaktan kumanda oluşturabilirsiniz</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Yapı</a:t>
            </a:r>
          </a:p>
        </p:txBody>
      </p:sp>
      <p:sp>
        <p:nvSpPr>
          <p:cNvPr id="3" name="Content Placeholder 2"/>
          <p:cNvSpPr>
            <a:spLocks noGrp="1"/>
          </p:cNvSpPr>
          <p:nvPr>
            <p:ph idx="1"/>
          </p:nvPr>
        </p:nvSpPr>
        <p:spPr/>
        <p:txBody>
          <a:bodyPr/>
          <a:lstStyle/>
          <a:p>
            <a:pPr lvl="0" indent="-342900" marL="342900">
              <a:buAutoNum type="arabicPeriod"/>
            </a:pPr>
            <a:r>
              <a:rPr b="1"/>
              <a:t>Soyutlama</a:t>
            </a:r>
            <a:r>
              <a:rPr/>
              <a:t> – Üst düzey kontrol mantığı sağlar. Gerçek alt düzey işi yapmak için uygulama nesnesine güvenir</a:t>
            </a:r>
          </a:p>
          <a:p>
            <a:pPr lvl="0" indent="-342900" marL="342900">
              <a:buAutoNum type="arabicPeriod"/>
            </a:pPr>
            <a:r>
              <a:rPr b="1"/>
              <a:t>Uygulama</a:t>
            </a:r>
            <a:r>
              <a:rPr/>
              <a:t> – Tüm somut uygulamalar için ortak olan arayüzü bildirir. Bir soyutlama, uygulama nesnesiyle yalnızca burada bildirilen yöntemler aracılığıyla iletişim kurabilir</a:t>
            </a:r>
          </a:p>
          <a:p>
            <a:pPr lvl="0" indent="-342900" marL="342900">
              <a:buAutoNum type="arabicPeriod"/>
            </a:pPr>
            <a:r>
              <a:rPr b="1"/>
              <a:t>Somut Uygulamalar</a:t>
            </a:r>
            <a:r>
              <a:rPr/>
              <a:t> – Platforma özgü kod içerir</a:t>
            </a:r>
          </a:p>
          <a:p>
            <a:pPr lvl="0" indent="-342900" marL="342900">
              <a:buAutoNum type="arabicPeriod"/>
            </a:pPr>
            <a:r>
              <a:rPr b="1"/>
              <a:t>İyileştirilmiş Soyutlamalar</a:t>
            </a:r>
            <a:r>
              <a:rPr/>
              <a:t> – Kontrol mantığının varyantlarını sağlar. Ebeveynleri gibi, farklı uygulamalarla genel uygulama arayüzü üzerinden çalışırlar</a:t>
            </a:r>
          </a:p>
          <a:p>
            <a:pPr lvl="0" indent="-342900" marL="342900">
              <a:buAutoNum type="arabicPeriod"/>
            </a:pPr>
            <a:r>
              <a:rPr b="1"/>
              <a:t>İstemci</a:t>
            </a:r>
            <a:r>
              <a:rPr/>
              <a:t> – Bir soyutlama nesnesini uygulama nesnelerinden biriyle bağlar</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Bridge - Sınıf Diyagramı</a:t>
            </a:r>
          </a:p>
        </p:txBody>
      </p:sp>
      <p:pic>
        <p:nvPicPr>
          <p:cNvPr descr="assets/bridge-structure.png" id="0" name="Picture 1"/>
          <p:cNvPicPr>
            <a:picLocks noGrp="1" noChangeAspect="1"/>
          </p:cNvPicPr>
          <p:nvPr/>
        </p:nvPicPr>
        <p:blipFill>
          <a:blip r:embed="rId2"/>
          <a:stretch>
            <a:fillRect/>
          </a:stretch>
        </p:blipFill>
        <p:spPr bwMode="auto">
          <a:xfrm>
            <a:off x="3568700" y="279400"/>
            <a:ext cx="5105400" cy="3733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Uygulama Arayüzü</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implementation interface declares methods common to all</a:t>
            </a:r>
            <a:br/>
            <a:r>
              <a:rPr i="1">
                <a:solidFill>
                  <a:srgbClr val="60A0B0"/>
                </a:solidFill>
                <a:latin typeface="Courier"/>
              </a:rPr>
              <a:t>// concrete implementation classes. It does not have to match the</a:t>
            </a:r>
            <a:br/>
            <a:r>
              <a:rPr i="1">
                <a:solidFill>
                  <a:srgbClr val="60A0B0"/>
                </a:solidFill>
                <a:latin typeface="Courier"/>
              </a:rPr>
              <a:t>// abstraction's interface.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Device </a:t>
            </a:r>
            <a:r>
              <a:rPr>
                <a:solidFill>
                  <a:srgbClr val="666666"/>
                </a:solidFill>
                <a:latin typeface="Courier"/>
              </a:rPr>
              <a:t>{</a:t>
            </a:r>
            <a:b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b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b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br/>
            <a:r>
              <a:rPr>
                <a:solidFill>
                  <a:srgbClr val="666666"/>
                </a:solidFill>
                <a:latin typeface="Courier"/>
              </a:rPr>
              <a: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Somut Uygulamalar</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Tv </a:t>
            </a:r>
            <a:r>
              <a:rPr b="1">
                <a:solidFill>
                  <a:srgbClr val="007020"/>
                </a:solidFill>
                <a:latin typeface="Courier"/>
              </a:rPr>
              <a:t>implements</a:t>
            </a:r>
            <a:r>
              <a:rPr>
                <a:latin typeface="Courier"/>
              </a:rPr>
              <a:t> Device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volume </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channel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volume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volume</a:t>
            </a:r>
            <a:r>
              <a:rPr>
                <a:latin typeface="Courier"/>
              </a:rPr>
              <a:t> </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max</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min</a:t>
            </a:r>
            <a:r>
              <a:rPr>
                <a:solidFill>
                  <a:srgbClr val="666666"/>
                </a:solidFill>
                <a:latin typeface="Courier"/>
              </a:rPr>
              <a:t>(</a:t>
            </a:r>
            <a:r>
              <a:rPr>
                <a:solidFill>
                  <a:srgbClr val="40A070"/>
                </a:solidFill>
                <a:latin typeface="Courier"/>
              </a:rPr>
              <a:t>100</a:t>
            </a:r>
            <a:r>
              <a:rPr>
                <a:solidFill>
                  <a:srgbClr val="666666"/>
                </a:solidFill>
                <a:latin typeface="Courier"/>
              </a:rPr>
              <a:t>,</a:t>
            </a:r>
            <a:r>
              <a:rPr>
                <a:latin typeface="Courier"/>
              </a:rPr>
              <a:t> percent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channel</a:t>
            </a:r>
            <a:r>
              <a:rPr>
                <a:latin typeface="Courier"/>
              </a:rPr>
              <a:t> </a:t>
            </a:r>
            <a:r>
              <a:rPr>
                <a:solidFill>
                  <a:srgbClr val="666666"/>
                </a:solidFill>
                <a:latin typeface="Courier"/>
              </a:rPr>
              <a:t>=</a:t>
            </a:r>
            <a:r>
              <a:rPr>
                <a:latin typeface="Courier"/>
              </a:rPr>
              <a:t> channel</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Somut Uygulamalar (devam)</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Radio </a:t>
            </a:r>
            <a:r>
              <a:rPr b="1">
                <a:solidFill>
                  <a:srgbClr val="007020"/>
                </a:solidFill>
                <a:latin typeface="Courier"/>
              </a:rPr>
              <a:t>implements</a:t>
            </a:r>
            <a:r>
              <a:rPr>
                <a:latin typeface="Courier"/>
              </a:rPr>
              <a:t> Device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volume </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channel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disable</a:t>
            </a:r>
            <a:r>
              <a:rPr>
                <a:solidFill>
                  <a:srgbClr val="666666"/>
                </a:solidFill>
                <a:latin typeface="Courier"/>
              </a:rPr>
              <a:t>()</a:t>
            </a:r>
            <a:r>
              <a:rPr>
                <a:latin typeface="Courier"/>
              </a:rPr>
              <a:t> </a:t>
            </a:r>
            <a:r>
              <a:rPr>
                <a:solidFill>
                  <a:srgbClr val="666666"/>
                </a:solidFill>
                <a:latin typeface="Courier"/>
              </a:rPr>
              <a:t>{</a:t>
            </a:r>
            <a:r>
              <a:rPr>
                <a:latin typeface="Courier"/>
              </a:rPr>
              <a:t> on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volume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setVolume</a:t>
            </a:r>
            <a:r>
              <a:rPr>
                <a:solidFill>
                  <a:srgbClr val="666666"/>
                </a:solidFill>
                <a:latin typeface="Courier"/>
              </a:rPr>
              <a:t>(</a:t>
            </a:r>
            <a:r>
              <a:rPr>
                <a:solidFill>
                  <a:srgbClr val="902000"/>
                </a:solidFill>
                <a:latin typeface="Courier"/>
              </a:rPr>
              <a:t>int</a:t>
            </a:r>
            <a:r>
              <a:rPr>
                <a:latin typeface="Courier"/>
              </a:rPr>
              <a:t> percent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volume</a:t>
            </a:r>
            <a:r>
              <a:rPr>
                <a:latin typeface="Courier"/>
              </a:rPr>
              <a:t> </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max</a:t>
            </a:r>
            <a:r>
              <a:rPr>
                <a:solidFill>
                  <a:srgbClr val="666666"/>
                </a:solidFill>
                <a:latin typeface="Courier"/>
              </a:rPr>
              <a:t>(</a:t>
            </a:r>
            <a:r>
              <a:rPr>
                <a:solidFill>
                  <a:srgbClr val="40A070"/>
                </a:solidFill>
                <a:latin typeface="Courier"/>
              </a:rPr>
              <a:t>0</a:t>
            </a:r>
            <a:r>
              <a:rPr>
                <a:solidFill>
                  <a:srgbClr val="666666"/>
                </a:solidFill>
                <a:latin typeface="Courier"/>
              </a:rPr>
              <a:t>,</a:t>
            </a:r>
            <a:r>
              <a:rPr>
                <a:latin typeface="Courier"/>
              </a:rPr>
              <a:t> </a:t>
            </a:r>
            <a:r>
              <a:rPr>
                <a:solidFill>
                  <a:srgbClr val="008000"/>
                </a:solidFill>
                <a:latin typeface="Courier"/>
              </a:rPr>
              <a:t>Math</a:t>
            </a:r>
            <a:r>
              <a:rPr>
                <a:solidFill>
                  <a:srgbClr val="666666"/>
                </a:solidFill>
                <a:latin typeface="Courier"/>
              </a:rPr>
              <a:t>.</a:t>
            </a:r>
            <a:r>
              <a:rPr>
                <a:solidFill>
                  <a:srgbClr val="06287E"/>
                </a:solidFill>
                <a:latin typeface="Courier"/>
              </a:rPr>
              <a:t>min</a:t>
            </a:r>
            <a:r>
              <a:rPr>
                <a:solidFill>
                  <a:srgbClr val="666666"/>
                </a:solidFill>
                <a:latin typeface="Courier"/>
              </a:rPr>
              <a:t>(</a:t>
            </a:r>
            <a:r>
              <a:rPr>
                <a:solidFill>
                  <a:srgbClr val="40A070"/>
                </a:solidFill>
                <a:latin typeface="Courier"/>
              </a:rPr>
              <a:t>100</a:t>
            </a:r>
            <a:r>
              <a:rPr>
                <a:solidFill>
                  <a:srgbClr val="666666"/>
                </a:solidFill>
                <a:latin typeface="Courier"/>
              </a:rPr>
              <a:t>,</a:t>
            </a:r>
            <a:r>
              <a:rPr>
                <a:latin typeface="Courier"/>
              </a:rPr>
              <a:t> percent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int</a:t>
            </a:r>
            <a:r>
              <a:rPr>
                <a:latin typeface="Courier"/>
              </a:rPr>
              <a:t> </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setChannel</a:t>
            </a:r>
            <a:r>
              <a:rPr>
                <a:solidFill>
                  <a:srgbClr val="666666"/>
                </a:solidFill>
                <a:latin typeface="Courier"/>
              </a:rPr>
              <a:t>(</a:t>
            </a:r>
            <a:r>
              <a:rPr>
                <a:solidFill>
                  <a:srgbClr val="902000"/>
                </a:solidFill>
                <a:latin typeface="Courier"/>
              </a:rPr>
              <a:t>int</a:t>
            </a:r>
            <a:r>
              <a:rPr>
                <a:latin typeface="Courier"/>
              </a:rPr>
              <a:t> channel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channel</a:t>
            </a:r>
            <a:r>
              <a:rPr>
                <a:latin typeface="Courier"/>
              </a:rPr>
              <a:t> </a:t>
            </a:r>
            <a:r>
              <a:rPr>
                <a:solidFill>
                  <a:srgbClr val="666666"/>
                </a:solidFill>
                <a:latin typeface="Courier"/>
              </a:rPr>
              <a:t>=</a:t>
            </a:r>
            <a:r>
              <a:rPr>
                <a:latin typeface="Courier"/>
              </a:rPr>
              <a:t> channel</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Soyutlama</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abstraction defines the interface for the "control" part</a:t>
            </a:r>
            <a:br/>
            <a:r>
              <a:rPr i="1">
                <a:solidFill>
                  <a:srgbClr val="60A0B0"/>
                </a:solidFill>
                <a:latin typeface="Courier"/>
              </a:rPr>
              <a:t>// of the two class hierarchies. It maintains a reference to an</a:t>
            </a:r>
            <a:br/>
            <a:r>
              <a:rPr i="1">
                <a:solidFill>
                  <a:srgbClr val="60A0B0"/>
                </a:solidFill>
                <a:latin typeface="Courier"/>
              </a:rPr>
              <a:t>// object of the implementation hierarchy and delegates all of</a:t>
            </a:r>
            <a:br/>
            <a:r>
              <a:rPr i="1">
                <a:solidFill>
                  <a:srgbClr val="60A0B0"/>
                </a:solidFill>
                <a:latin typeface="Courier"/>
              </a:rPr>
              <a:t>// the real work to this object.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RemoteControl </a:t>
            </a:r>
            <a:r>
              <a:rPr>
                <a:solidFill>
                  <a:srgbClr val="666666"/>
                </a:solidFill>
                <a:latin typeface="Courier"/>
              </a:rPr>
              <a:t>{</a:t>
            </a:r>
            <a:br/>
            <a:r>
              <a:rPr>
                <a:latin typeface="Courier"/>
              </a:rPr>
              <a:t>    </a:t>
            </a:r>
            <a:r>
              <a:rPr b="1">
                <a:solidFill>
                  <a:srgbClr val="007020"/>
                </a:solidFill>
                <a:latin typeface="Courier"/>
              </a:rPr>
              <a:t>protected</a:t>
            </a:r>
            <a:r>
              <a:rPr>
                <a:latin typeface="Courier"/>
              </a:rPr>
              <a:t> Device device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RemoteControl</a:t>
            </a:r>
            <a:r>
              <a:rPr>
                <a:solidFill>
                  <a:srgbClr val="666666"/>
                </a:solidFill>
                <a:latin typeface="Courier"/>
              </a:rPr>
              <a:t>(</a:t>
            </a:r>
            <a:r>
              <a:rPr>
                <a:latin typeface="Courier"/>
              </a:rPr>
              <a:t>Device device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device</a:t>
            </a:r>
            <a:r>
              <a:rPr>
                <a:latin typeface="Courier"/>
              </a:rPr>
              <a:t> </a:t>
            </a:r>
            <a:r>
              <a:rPr>
                <a:solidFill>
                  <a:srgbClr val="666666"/>
                </a:solidFill>
                <a:latin typeface="Courier"/>
              </a:rPr>
              <a:t>=</a:t>
            </a:r>
            <a:r>
              <a:rPr>
                <a:latin typeface="Courier"/>
              </a:rPr>
              <a:t> device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togglePower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isEnabled</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disable</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enable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volumeDown</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volumeUp</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channelDown</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setChannel</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channelUp</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setChannel</a:t>
            </a:r>
            <a:r>
              <a:rPr>
                <a:solidFill>
                  <a:srgbClr val="666666"/>
                </a:solidFill>
                <a:latin typeface="Courier"/>
              </a:rPr>
              <a:t>(</a:t>
            </a:r>
            <a:r>
              <a:rPr>
                <a:latin typeface="Courier"/>
              </a:rPr>
              <a:t>device</a:t>
            </a:r>
            <a:r>
              <a:rPr>
                <a:solidFill>
                  <a:srgbClr val="666666"/>
                </a:solidFill>
                <a:latin typeface="Courier"/>
              </a:rPr>
              <a:t>.</a:t>
            </a:r>
            <a:r>
              <a:rPr>
                <a:solidFill>
                  <a:srgbClr val="06287E"/>
                </a:solidFill>
                <a:latin typeface="Courier"/>
              </a:rPr>
              <a:t>getChannel</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İyileştirilmiş Soyutlama</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You can extend the abstraction hierarchy independently</a:t>
            </a:r>
            <a:br/>
            <a:r>
              <a:rPr i="1">
                <a:solidFill>
                  <a:srgbClr val="60A0B0"/>
                </a:solidFill>
                <a:latin typeface="Courier"/>
              </a:rPr>
              <a:t>// from device classes.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AdvancedRemoteControl </a:t>
            </a:r>
            <a:r>
              <a:rPr b="1">
                <a:solidFill>
                  <a:srgbClr val="007020"/>
                </a:solidFill>
                <a:latin typeface="Courier"/>
              </a:rPr>
              <a:t>extends</a:t>
            </a:r>
            <a:r>
              <a:rPr>
                <a:latin typeface="Courier"/>
              </a:rPr>
              <a:t> RemoteControl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AdvancedRemoteControl</a:t>
            </a:r>
            <a:r>
              <a:rPr>
                <a:solidFill>
                  <a:srgbClr val="666666"/>
                </a:solidFill>
                <a:latin typeface="Courier"/>
              </a:rPr>
              <a:t>(</a:t>
            </a:r>
            <a:r>
              <a:rPr>
                <a:latin typeface="Courier"/>
              </a:rPr>
              <a:t>Device device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device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mute</a:t>
            </a:r>
            <a:r>
              <a:rPr>
                <a:solidFill>
                  <a:srgbClr val="666666"/>
                </a:solidFill>
                <a:latin typeface="Courier"/>
              </a:rPr>
              <a:t>()</a:t>
            </a:r>
            <a:r>
              <a:rPr>
                <a:latin typeface="Courier"/>
              </a:rPr>
              <a:t> </a:t>
            </a:r>
            <a:r>
              <a:rPr>
                <a:solidFill>
                  <a:srgbClr val="666666"/>
                </a:solidFill>
                <a:latin typeface="Courier"/>
              </a:rPr>
              <a:t>{</a:t>
            </a:r>
            <a:br/>
            <a:r>
              <a:rPr>
                <a:latin typeface="Courier"/>
              </a:rPr>
              <a:t>        device</a:t>
            </a:r>
            <a:r>
              <a:rPr>
                <a:solidFill>
                  <a:srgbClr val="666666"/>
                </a:solidFill>
                <a:latin typeface="Courier"/>
              </a:rPr>
              <a:t>.</a:t>
            </a:r>
            <a:r>
              <a:rPr>
                <a:solidFill>
                  <a:srgbClr val="06287E"/>
                </a:solidFill>
                <a:latin typeface="Courier"/>
              </a:rPr>
              <a:t>setVolume</a:t>
            </a:r>
            <a:r>
              <a:rPr>
                <a:solidFill>
                  <a:srgbClr val="666666"/>
                </a:solidFill>
                <a:latin typeface="Courier"/>
              </a:rPr>
              <a:t>(</a:t>
            </a:r>
            <a:r>
              <a:rPr>
                <a:solidFill>
                  <a:srgbClr val="40A070"/>
                </a:solidFill>
                <a:latin typeface="Courier"/>
              </a:rPr>
              <a:t>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Java Kod Örneği - İstemci</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BridgeDemo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Pair a basic remote with a TV</a:t>
            </a:r>
            <a:br/>
            <a:r>
              <a:rPr>
                <a:latin typeface="Courier"/>
              </a:rPr>
              <a:t>        Device tv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Tv</a:t>
            </a:r>
            <a:r>
              <a:rPr>
                <a:solidFill>
                  <a:srgbClr val="666666"/>
                </a:solidFill>
                <a:latin typeface="Courier"/>
              </a:rPr>
              <a:t>();</a:t>
            </a:r>
            <a:br/>
            <a:r>
              <a:rPr>
                <a:latin typeface="Courier"/>
              </a:rPr>
              <a:t>        RemoteControl remote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RemoteControl</a:t>
            </a:r>
            <a:r>
              <a:rPr>
                <a:solidFill>
                  <a:srgbClr val="666666"/>
                </a:solidFill>
                <a:latin typeface="Courier"/>
              </a:rPr>
              <a:t>(</a:t>
            </a:r>
            <a:r>
              <a:rPr>
                <a:latin typeface="Courier"/>
              </a:rPr>
              <a:t>tv</a:t>
            </a:r>
            <a:r>
              <a:rPr>
                <a:solidFill>
                  <a:srgbClr val="666666"/>
                </a:solidFill>
                <a:latin typeface="Courier"/>
              </a:rPr>
              <a:t>);</a:t>
            </a:r>
            <a:br/>
            <a:r>
              <a:rPr>
                <a:latin typeface="Courier"/>
              </a:rPr>
              <a:t>        remote</a:t>
            </a:r>
            <a:r>
              <a:rPr>
                <a:solidFill>
                  <a:srgbClr val="666666"/>
                </a:solidFill>
                <a:latin typeface="Courier"/>
              </a:rPr>
              <a:t>.</a:t>
            </a:r>
            <a:r>
              <a:rPr>
                <a:solidFill>
                  <a:srgbClr val="06287E"/>
                </a:solidFill>
                <a:latin typeface="Courier"/>
              </a:rPr>
              <a:t>togglePower</a:t>
            </a:r>
            <a:r>
              <a:rPr>
                <a:solidFill>
                  <a:srgbClr val="666666"/>
                </a:solidFill>
                <a:latin typeface="Courier"/>
              </a:rPr>
              <a:t>();</a:t>
            </a:r>
            <a:br/>
            <a:r>
              <a:rPr>
                <a:latin typeface="Courier"/>
              </a:rPr>
              <a:t>        remote</a:t>
            </a:r>
            <a:r>
              <a:rPr>
                <a:solidFill>
                  <a:srgbClr val="666666"/>
                </a:solidFill>
                <a:latin typeface="Courier"/>
              </a:rPr>
              <a:t>.</a:t>
            </a:r>
            <a:r>
              <a:rPr>
                <a:solidFill>
                  <a:srgbClr val="06287E"/>
                </a:solidFill>
                <a:latin typeface="Courier"/>
              </a:rPr>
              <a:t>volumeUp</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"TV Volume: "</a:t>
            </a:r>
            <a:r>
              <a:rPr>
                <a:latin typeface="Courier"/>
              </a:rPr>
              <a:t> </a:t>
            </a:r>
            <a:r>
              <a:rPr>
                <a:solidFill>
                  <a:srgbClr val="666666"/>
                </a:solidFill>
                <a:latin typeface="Courier"/>
              </a:rPr>
              <a:t>+</a:t>
            </a:r>
            <a:r>
              <a:rPr>
                <a:latin typeface="Courier"/>
              </a:rPr>
              <a:t> tv</a:t>
            </a:r>
            <a:r>
              <a:rPr>
                <a:solidFill>
                  <a:srgbClr val="666666"/>
                </a:solidFill>
                <a:latin typeface="Courier"/>
              </a:rPr>
              <a:t>.</a:t>
            </a:r>
            <a:r>
              <a:rPr>
                <a:solidFill>
                  <a:srgbClr val="06287E"/>
                </a:solidFill>
                <a:latin typeface="Courier"/>
              </a:rPr>
              <a:t>getVolume</a:t>
            </a:r>
            <a:r>
              <a:rPr>
                <a:solidFill>
                  <a:srgbClr val="666666"/>
                </a:solidFill>
                <a:latin typeface="Courier"/>
              </a:rPr>
              <a:t>());</a:t>
            </a:r>
            <a:br/>
            <a:br/>
            <a:r>
              <a:rPr>
                <a:latin typeface="Courier"/>
              </a:rPr>
              <a:t>        </a:t>
            </a:r>
            <a:r>
              <a:rPr i="1">
                <a:solidFill>
                  <a:srgbClr val="60A0B0"/>
                </a:solidFill>
                <a:latin typeface="Courier"/>
              </a:rPr>
              <a:t>// Pair an advanced remote with a Radio</a:t>
            </a:r>
            <a:br/>
            <a:r>
              <a:rPr>
                <a:latin typeface="Courier"/>
              </a:rPr>
              <a:t>        Device radio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Radio</a:t>
            </a:r>
            <a:r>
              <a:rPr>
                <a:solidFill>
                  <a:srgbClr val="666666"/>
                </a:solidFill>
                <a:latin typeface="Courier"/>
              </a:rPr>
              <a:t>();</a:t>
            </a:r>
            <a:br/>
            <a:r>
              <a:rPr>
                <a:latin typeface="Courier"/>
              </a:rPr>
              <a:t>        AdvancedRemoteControl advancedRemote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AdvancedRemoteControl</a:t>
            </a:r>
            <a:r>
              <a:rPr>
                <a:solidFill>
                  <a:srgbClr val="666666"/>
                </a:solidFill>
                <a:latin typeface="Courier"/>
              </a:rPr>
              <a:t>(</a:t>
            </a:r>
            <a:r>
              <a:rPr>
                <a:latin typeface="Courier"/>
              </a:rPr>
              <a:t>radio</a:t>
            </a:r>
            <a:r>
              <a:rPr>
                <a:solidFill>
                  <a:srgbClr val="666666"/>
                </a:solidFill>
                <a:latin typeface="Courier"/>
              </a:rPr>
              <a:t>);</a:t>
            </a:r>
            <a:br/>
            <a:r>
              <a:rPr>
                <a:latin typeface="Courier"/>
              </a:rPr>
              <a:t>        advancedRemote</a:t>
            </a:r>
            <a:r>
              <a:rPr>
                <a:solidFill>
                  <a:srgbClr val="666666"/>
                </a:solidFill>
                <a:latin typeface="Courier"/>
              </a:rPr>
              <a:t>.</a:t>
            </a:r>
            <a:r>
              <a:rPr>
                <a:solidFill>
                  <a:srgbClr val="06287E"/>
                </a:solidFill>
                <a:latin typeface="Courier"/>
              </a:rPr>
              <a:t>togglePower</a:t>
            </a:r>
            <a:r>
              <a:rPr>
                <a:solidFill>
                  <a:srgbClr val="666666"/>
                </a:solidFill>
                <a:latin typeface="Courier"/>
              </a:rPr>
              <a:t>();</a:t>
            </a:r>
            <a:br/>
            <a:r>
              <a:rPr>
                <a:latin typeface="Courier"/>
              </a:rPr>
              <a:t>        advancedRemote</a:t>
            </a:r>
            <a:r>
              <a:rPr>
                <a:solidFill>
                  <a:srgbClr val="666666"/>
                </a:solidFill>
                <a:latin typeface="Courier"/>
              </a:rPr>
              <a:t>.</a:t>
            </a:r>
            <a:r>
              <a:rPr>
                <a:solidFill>
                  <a:srgbClr val="06287E"/>
                </a:solidFill>
                <a:latin typeface="Courier"/>
              </a:rPr>
              <a:t>mute</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"Radio Volume: "</a:t>
            </a:r>
            <a:r>
              <a:rPr>
                <a:latin typeface="Courier"/>
              </a:rPr>
              <a:t> </a:t>
            </a:r>
            <a:r>
              <a:rPr>
                <a:solidFill>
                  <a:srgbClr val="666666"/>
                </a:solidFill>
                <a:latin typeface="Courier"/>
              </a:rPr>
              <a:t>+</a:t>
            </a:r>
            <a:br/>
            <a:r>
              <a:rPr>
                <a:latin typeface="Courier"/>
              </a:rPr>
              <a:t>            radio</a:t>
            </a:r>
            <a:r>
              <a:rPr>
                <a:solidFill>
                  <a:srgbClr val="666666"/>
                </a:solidFill>
                <a:latin typeface="Courier"/>
              </a:rPr>
              <a:t>.</a:t>
            </a:r>
            <a:r>
              <a:rPr>
                <a:solidFill>
                  <a:srgbClr val="06287E"/>
                </a:solidFill>
                <a:latin typeface="Courier"/>
              </a:rPr>
              <a:t>getVolume</a:t>
            </a:r>
            <a:r>
              <a:rPr>
                <a:solidFill>
                  <a:srgbClr val="666666"/>
                </a:solidFill>
                <a:latin typeface="Courier"/>
              </a:rPr>
              <a:t>());</a:t>
            </a:r>
            <a:r>
              <a:rPr>
                <a:latin typeface="Courier"/>
              </a:rPr>
              <a:t> </a:t>
            </a:r>
            <a:r>
              <a:rPr i="1">
                <a:solidFill>
                  <a:srgbClr val="60A0B0"/>
                </a:solidFill>
                <a:latin typeface="Courier"/>
              </a:rPr>
              <a:t>// 0</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Bridge - Sıra Diyagramı</a:t>
            </a:r>
          </a:p>
        </p:txBody>
      </p:sp>
      <p:pic>
        <p:nvPicPr>
          <p:cNvPr descr="assets/bridge-sequence.png" id="0" name="Picture 1"/>
          <p:cNvPicPr>
            <a:picLocks noGrp="1" noChangeAspect="1"/>
          </p:cNvPicPr>
          <p:nvPr/>
        </p:nvPicPr>
        <p:blipFill>
          <a:blip r:embed="rId2"/>
          <a:stretch>
            <a:fillRect/>
          </a:stretch>
        </p:blipFill>
        <p:spPr bwMode="auto">
          <a:xfrm>
            <a:off x="4064000" y="203200"/>
            <a:ext cx="4102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Uygulanabilirlik</a:t>
            </a:r>
          </a:p>
        </p:txBody>
      </p:sp>
      <p:sp>
        <p:nvSpPr>
          <p:cNvPr id="3" name="Content Placeholder 2"/>
          <p:cNvSpPr>
            <a:spLocks noGrp="1"/>
          </p:cNvSpPr>
          <p:nvPr>
            <p:ph idx="1"/>
          </p:nvPr>
        </p:nvSpPr>
        <p:spPr/>
        <p:txBody>
          <a:bodyPr/>
          <a:lstStyle/>
          <a:p>
            <a:pPr lvl="0" indent="0" marL="0">
              <a:buNone/>
            </a:pPr>
            <a:r>
              <a:rPr/>
              <a:t>Bridge (Köprü) desenini şu durumlarda kullanın:</a:t>
            </a:r>
          </a:p>
          <a:p>
            <a:pPr lvl="0"/>
            <a:r>
              <a:rPr/>
              <a:t>Bazı işlevselliğin birkaç varyantına sahip olan bir </a:t>
            </a:r>
            <a:r>
              <a:rPr b="1"/>
              <a:t>monolitik sınıfı</a:t>
            </a:r>
            <a:r>
              <a:rPr/>
              <a:t> bölmek ve organize etmek istediğinizde (örn., sınıf çeşitli veritabanı sunucularıyla çalışabiliyorsa)</a:t>
            </a:r>
          </a:p>
          <a:p>
            <a:pPr lvl="0"/>
            <a:r>
              <a:rPr/>
              <a:t>Bir sınıfı birkaç </a:t>
            </a:r>
            <a:r>
              <a:rPr b="1"/>
              <a:t>ortogonal (bağımsız) boyutta</a:t>
            </a:r>
            <a:r>
              <a:rPr/>
              <a:t> genişletmeniz gerektiğinde</a:t>
            </a:r>
          </a:p>
          <a:p>
            <a:pPr lvl="0"/>
            <a:r>
              <a:rPr/>
              <a:t>Çalışma zamanında </a:t>
            </a:r>
            <a:r>
              <a:rPr b="1"/>
              <a:t>uygulamaları değiştirebilmeniz</a:t>
            </a:r>
            <a:r>
              <a:rPr/>
              <a:t> gerektiğinde</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Uygulanabilirlik (devam)</a:t>
            </a:r>
          </a:p>
        </p:txBody>
      </p:sp>
      <p:sp>
        <p:nvSpPr>
          <p:cNvPr id="3" name="Content Placeholder 2"/>
          <p:cNvSpPr>
            <a:spLocks noGrp="1"/>
          </p:cNvSpPr>
          <p:nvPr>
            <p:ph idx="1"/>
          </p:nvPr>
        </p:nvSpPr>
        <p:spPr/>
        <p:txBody>
          <a:bodyPr/>
          <a:lstStyle/>
          <a:p>
            <a:pPr lvl="0" indent="0" marL="0">
              <a:buNone/>
            </a:pPr>
            <a:r>
              <a:rPr b="1"/>
              <a:t>Monolitik sınıf yeniden yapılandırma</a:t>
            </a:r>
            <a:r>
              <a:rPr/>
              <a:t>: Bir sınıf ne kadar büyürse, nasıl çalıştığını anlamak o kadar zorlaşır ve bir değişiklik yapmak o kadar uzun sürer. Bridge (Köprü), monolitik sınıfı her biri bağımsız olarak değiştirilebilen birkaç sınıf hiyerarşisine ayırmanıza olanak tanır.</a:t>
            </a:r>
          </a:p>
          <a:p>
            <a:pPr lvl="0" indent="0" marL="0">
              <a:buNone/>
            </a:pPr>
            <a:r>
              <a:rPr b="1"/>
              <a:t>Ortogonal boyutlar</a:t>
            </a:r>
            <a:r>
              <a:rPr/>
              <a:t>: Her boyut için ayrı bir sınıf hiyerarşisi çıkarın. Orijinal sınıf, her şeyi kendi başına yapmak yerine, ilgili işi bu hiyerarşilere ait nesnelere devreder.</a:t>
            </a:r>
          </a:p>
          <a:p>
            <a:pPr lvl="0" indent="0" marL="0">
              <a:buNone/>
            </a:pPr>
            <a:r>
              <a:rPr b="1"/>
              <a:t>Çalışma zamanı değiştirme</a:t>
            </a:r>
            <a:r>
              <a:rPr/>
              <a:t>: İsteğe bağlı olmakla birlikte, Bridge (Köprü) deseni, soyutlama içindeki uygulama nesnesini çalışma zamanında değiştirmenize olanak tanır. Bu, bir alana yeni bir değer atamak kadar kolaydır.</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Nasıl Uygulanır</a:t>
            </a:r>
          </a:p>
        </p:txBody>
      </p:sp>
      <p:sp>
        <p:nvSpPr>
          <p:cNvPr id="3" name="Content Placeholder 2"/>
          <p:cNvSpPr>
            <a:spLocks noGrp="1"/>
          </p:cNvSpPr>
          <p:nvPr>
            <p:ph idx="1"/>
          </p:nvPr>
        </p:nvSpPr>
        <p:spPr/>
        <p:txBody>
          <a:bodyPr/>
          <a:lstStyle/>
          <a:p>
            <a:pPr lvl="0" indent="-342900" marL="342900">
              <a:buAutoNum type="arabicPeriod"/>
            </a:pPr>
            <a:r>
              <a:rPr/>
              <a:t>Sınıflarınızdaki </a:t>
            </a:r>
            <a:r>
              <a:rPr b="1"/>
              <a:t>ortogonal boyutları</a:t>
            </a:r>
            <a:r>
              <a:rPr/>
              <a:t> belirleyin. Bu bağımsız kavramlar şunlar olabilir: soyutlama/platform, alan/altyapı, ön yüz/arka yüz veya arayüz/uygulama</a:t>
            </a:r>
          </a:p>
          <a:p>
            <a:pPr lvl="0" indent="-342900" marL="342900">
              <a:buAutoNum type="arabicPeriod"/>
            </a:pPr>
            <a:r>
              <a:rPr b="1"/>
              <a:t>İstemcinin hangi işlemlere ihtiyaç duyduğunu</a:t>
            </a:r>
            <a:r>
              <a:rPr/>
              <a:t> belirleyin ve bunları temel soyutlama sınıfında tanımlayın</a:t>
            </a:r>
          </a:p>
          <a:p>
            <a:pPr lvl="0" indent="-342900" marL="342900">
              <a:buAutoNum type="arabicPeriod"/>
            </a:pPr>
            <a:r>
              <a:rPr b="1"/>
              <a:t>Tüm platformlarda</a:t>
            </a:r>
            <a:r>
              <a:rPr/>
              <a:t> mevcut olan işlemleri belirleyin. Soyutlamanın ihtiyaç duyduğu işlemleri genel uygulama arayüzünde bildirin</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Nasıl Uygulanır (devam)</a:t>
            </a:r>
          </a:p>
        </p:txBody>
      </p:sp>
      <p:sp>
        <p:nvSpPr>
          <p:cNvPr id="3" name="Content Placeholder 2"/>
          <p:cNvSpPr>
            <a:spLocks noGrp="1"/>
          </p:cNvSpPr>
          <p:nvPr>
            <p:ph idx="1"/>
          </p:nvPr>
        </p:nvSpPr>
        <p:spPr/>
        <p:txBody>
          <a:bodyPr/>
          <a:lstStyle/>
          <a:p>
            <a:pPr lvl="0" indent="-342900" marL="342900">
              <a:buAutoNum startAt="4" type="arabicPeriod"/>
            </a:pPr>
            <a:r>
              <a:rPr/>
              <a:t>Alanınızdaki tüm platformlar için </a:t>
            </a:r>
            <a:r>
              <a:rPr b="1"/>
              <a:t>somut uygulama sınıfları</a:t>
            </a:r>
            <a:r>
              <a:rPr/>
              <a:t> oluşturun, ancak hepsinin uygulama arayüzünü takip ettiğinden emin olun</a:t>
            </a:r>
          </a:p>
          <a:p>
            <a:pPr lvl="0" indent="-342900" marL="342900">
              <a:buAutoNum startAt="4" type="arabicPeriod"/>
            </a:pPr>
            <a:r>
              <a:rPr/>
              <a:t>Soyutlama sınıfının içine, uygulama türü için bir </a:t>
            </a:r>
            <a:r>
              <a:rPr b="1"/>
              <a:t>referans alanı</a:t>
            </a:r>
            <a:r>
              <a:rPr/>
              <a:t> ekleyin. Soyutlama, işin çoğunu bu alanda referans verilen uygulama nesnesine devreder</a:t>
            </a:r>
          </a:p>
          <a:p>
            <a:pPr lvl="0" indent="-342900" marL="342900">
              <a:buAutoNum startAt="4" type="arabicPeriod"/>
            </a:pPr>
            <a:r>
              <a:rPr/>
              <a:t>Birkaç </a:t>
            </a:r>
            <a:r>
              <a:rPr b="1"/>
              <a:t>üst düzey mantık</a:t>
            </a:r>
            <a:r>
              <a:rPr/>
              <a:t> varyantınız varsa, temel soyutlama sınıfını genişleterek her varyant için </a:t>
            </a:r>
            <a:r>
              <a:rPr b="1"/>
              <a:t>iyileştirilmiş soyutlamalar</a:t>
            </a:r>
            <a:r>
              <a:rPr/>
              <a:t> oluşturun</a:t>
            </a:r>
          </a:p>
          <a:p>
            <a:pPr lvl="0" indent="-342900" marL="342900">
              <a:buAutoNum startAt="4" type="arabicPeriod"/>
            </a:pPr>
            <a:r>
              <a:rPr b="1"/>
              <a:t>İstemci kodu</a:t>
            </a:r>
            <a:r>
              <a:rPr/>
              <a:t>, birini diğeriyle ilişkilendirmek için soyutlamanın yapıcısına bir uygulama nesnesi iletmelidir. Bundan sonra istemci, uygulamayı unutabilir ve yalnızca soyutlama nesnesiyle çalışabilir</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Avantajlar ve Dezavantajlar</a:t>
            </a:r>
          </a:p>
        </p:txBody>
      </p:sp>
      <p:sp>
        <p:nvSpPr>
          <p:cNvPr id="3" name="Content Placeholder 2"/>
          <p:cNvSpPr>
            <a:spLocks noGrp="1"/>
          </p:cNvSpPr>
          <p:nvPr>
            <p:ph idx="1"/>
          </p:nvPr>
        </p:nvSpPr>
        <p:spPr/>
        <p:txBody>
          <a:bodyPr/>
          <a:lstStyle/>
          <a:p>
            <a:pPr lvl="0" indent="0" marL="0">
              <a:buNone/>
            </a:pPr>
            <a:r>
              <a:rPr b="1"/>
              <a:t>Avantajlar:</a:t>
            </a:r>
            <a:r>
              <a:rPr/>
              <a:t> - </a:t>
            </a:r>
            <a:r>
              <a:rPr b="1"/>
              <a:t>Platformdan bağımsız</a:t>
            </a:r>
            <a:r>
              <a:rPr/>
              <a:t> sınıflar ve uygulamalar oluşturabilirsiniz - İstemci kodu üst düzey soyutlamalarla çalışır ve </a:t>
            </a:r>
            <a:r>
              <a:rPr b="1"/>
              <a:t>platform detaylarına maruz kalmaz</a:t>
            </a:r>
            <a:r>
              <a:rPr/>
              <a:t> - </a:t>
            </a:r>
            <a:r>
              <a:rPr b="1"/>
              <a:t>Açık/Kapalı İlkesi</a:t>
            </a:r>
            <a:r>
              <a:rPr/>
              <a:t>: Yeni soyutlamaları ve uygulamaları birbirinden bağımsız olarak tanıtabilirsiniz - </a:t>
            </a:r>
            <a:r>
              <a:rPr b="1"/>
              <a:t>Tek Sorumluluk İlkesi</a:t>
            </a:r>
            <a:r>
              <a:rPr/>
              <a:t>: Soyutlamadaki üst düzey mantığa ve uygulamadaki platform detaylarına odaklanabilirsiniz</a:t>
            </a:r>
          </a:p>
          <a:p>
            <a:pPr lvl="0" indent="0" marL="0">
              <a:buNone/>
            </a:pPr>
            <a:r>
              <a:rPr b="1"/>
              <a:t>Dezavantajlar:</a:t>
            </a:r>
            <a:r>
              <a:rPr/>
              <a:t> - Deseni yüksek uyumlu bir sınıfa uygulayarak kodu </a:t>
            </a:r>
            <a:r>
              <a:rPr b="1"/>
              <a:t>daha karmaşık</a:t>
            </a:r>
            <a:r>
              <a:rPr/>
              <a:t> hale getirebilirsiniz</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Bridge (Köprü): Diğer Desenlerle İlişkiler</a:t>
            </a:r>
          </a:p>
        </p:txBody>
      </p:sp>
      <p:sp>
        <p:nvSpPr>
          <p:cNvPr id="3" name="Content Placeholder 2"/>
          <p:cNvSpPr>
            <a:spLocks noGrp="1"/>
          </p:cNvSpPr>
          <p:nvPr>
            <p:ph idx="1"/>
          </p:nvPr>
        </p:nvSpPr>
        <p:spPr/>
        <p:txBody>
          <a:bodyPr/>
          <a:lstStyle/>
          <a:p>
            <a:pPr lvl="0"/>
            <a:r>
              <a:rPr b="1"/>
              <a:t>Bridge (Köprü)</a:t>
            </a:r>
            <a:r>
              <a:rPr/>
              <a:t> genellikle baştan tasarlanır ve bir uygulamanın parçalarını bağımsız olarak geliştirmenize olanak tanır. Öte yandan, </a:t>
            </a:r>
            <a:r>
              <a:rPr b="1"/>
              <a:t>Adapter (Adaptör)</a:t>
            </a:r>
            <a:r>
              <a:rPr/>
              <a:t> genellikle mevcut bir uygulamayla birlikte kullanılır ve aksi takdirde uyumsuz olan sınıfların birlikte çalışmasını sağlar</a:t>
            </a:r>
          </a:p>
          <a:p>
            <a:pPr lvl="0"/>
            <a:r>
              <a:rPr b="1"/>
              <a:t>Bridge (Köprü)</a:t>
            </a:r>
            <a:r>
              <a:rPr/>
              <a:t>, </a:t>
            </a:r>
            <a:r>
              <a:rPr b="1"/>
              <a:t>State</a:t>
            </a:r>
            <a:r>
              <a:rPr/>
              <a:t>, </a:t>
            </a:r>
            <a:r>
              <a:rPr b="1"/>
              <a:t>Strategy</a:t>
            </a:r>
            <a:r>
              <a:rPr/>
              <a:t> (ve bir dereceye kadar </a:t>
            </a:r>
            <a:r>
              <a:rPr b="1"/>
              <a:t>Adapter (Adaptör)</a:t>
            </a:r>
            <a:r>
              <a:rPr/>
              <a:t>) çok benzer yapılara sahiptir. Tüm bu desenler bileşime dayanır. Ancak hepsi farklı problemleri çözer</a:t>
            </a:r>
          </a:p>
          <a:p>
            <a:pPr lvl="0"/>
            <a:r>
              <a:rPr b="1"/>
              <a:t>Abstract Factory</a:t>
            </a:r>
            <a:r>
              <a:rPr/>
              <a:t>’yi </a:t>
            </a:r>
            <a:r>
              <a:rPr b="1"/>
              <a:t>Bridge (Köprü)</a:t>
            </a:r>
            <a:r>
              <a:rPr/>
              <a:t> ile birlikte kullanabilirsiniz. Bu eşleşme, Bridge (Köprü) tarafından tanımlanan bazı soyutlamaların yalnızca belirli uygulamalarla çalışabildiği durumlarda faydalıdır</a:t>
            </a:r>
          </a:p>
          <a:p>
            <a:pPr lvl="0"/>
            <a:r>
              <a:rPr b="1"/>
              <a:t>Builder</a:t>
            </a:r>
            <a:r>
              <a:rPr/>
              <a:t>’ı </a:t>
            </a:r>
            <a:r>
              <a:rPr b="1"/>
              <a:t>Bridge (Köprü)</a:t>
            </a:r>
            <a:r>
              <a:rPr/>
              <a:t> ile birleştirebilirsiniz: yönetici sınıf soyutlama rolünü oynarken, farklı inşacılar uygulama görevi görür</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C: Özet</a:t>
            </a:r>
          </a:p>
        </p:txBody>
      </p:sp>
      <p:sp>
        <p:nvSpPr>
          <p:cNvPr id="3" name="Content Placeholder 2"/>
          <p:cNvSpPr>
            <a:spLocks noGrp="1"/>
          </p:cNvSpPr>
          <p:nvPr>
            <p:ph idx="1"/>
          </p:nvPr>
        </p:nvSpPr>
        <p:spPr/>
        <p:txBody>
          <a:bodyPr/>
          <a:lstStyle/>
          <a:p>
            <a:pPr lvl="0"/>
            <a:r>
              <a:rPr/>
              <a:t>Bridge (Köprü) deseni, </a:t>
            </a:r>
            <a:r>
              <a:rPr b="1"/>
              <a:t>soyutlamayı uygulamadan ayırır</a:t>
            </a:r>
            <a:r>
              <a:rPr/>
              <a:t> ve her ikisinin bağımsız olarak değişebilmesini sağlar</a:t>
            </a:r>
          </a:p>
          <a:p>
            <a:pPr lvl="0"/>
            <a:r>
              <a:rPr/>
              <a:t>Sınıf hiyerarşilerindeki </a:t>
            </a:r>
            <a:r>
              <a:rPr b="1"/>
              <a:t>kombinatoryal patlamayı</a:t>
            </a:r>
            <a:r>
              <a:rPr/>
              <a:t> çözer</a:t>
            </a:r>
          </a:p>
          <a:p>
            <a:pPr lvl="0"/>
            <a:r>
              <a:rPr/>
              <a:t>Farklı boyutları birleştirmek için kalıtım yerine </a:t>
            </a:r>
            <a:r>
              <a:rPr b="1"/>
              <a:t>bileşim</a:t>
            </a:r>
            <a:r>
              <a:rPr/>
              <a:t> kullanır</a:t>
            </a:r>
          </a:p>
          <a:p>
            <a:pPr lvl="0"/>
            <a:r>
              <a:rPr b="1"/>
              <a:t>Açık/Kapalı</a:t>
            </a:r>
            <a:r>
              <a:rPr/>
              <a:t> ve </a:t>
            </a:r>
            <a:r>
              <a:rPr b="1"/>
              <a:t>Tek Sorumluluk</a:t>
            </a:r>
            <a:r>
              <a:rPr/>
              <a:t> ilkelerini takip eder</a:t>
            </a:r>
          </a:p>
          <a:p>
            <a:pPr lvl="0"/>
            <a:r>
              <a:rPr/>
              <a:t>Sonradan uyarlamak yerine (bunun için Adapter (Adaptör) kullanılır) </a:t>
            </a:r>
            <a:r>
              <a:rPr b="1"/>
              <a:t>baştan tasarlayın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D: Composite (Bileşik) Deseni</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D: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Amaç</a:t>
            </a:r>
          </a:p>
        </p:txBody>
      </p:sp>
      <p:sp>
        <p:nvSpPr>
          <p:cNvPr id="3" name="Content Placeholder 2"/>
          <p:cNvSpPr>
            <a:spLocks noGrp="1"/>
          </p:cNvSpPr>
          <p:nvPr>
            <p:ph idx="1"/>
          </p:nvPr>
        </p:nvSpPr>
        <p:spPr/>
        <p:txBody>
          <a:bodyPr/>
          <a:lstStyle/>
          <a:p>
            <a:pPr lvl="0" indent="0" marL="0">
              <a:buNone/>
            </a:pPr>
            <a:r>
              <a:rPr b="1"/>
              <a:t>Composite (Bileşik)</a:t>
            </a:r>
            <a:r>
              <a:rPr/>
              <a:t>, nesneleri </a:t>
            </a:r>
            <a:r>
              <a:rPr b="1"/>
              <a:t>ağaç yapıları</a:t>
            </a:r>
            <a:r>
              <a:rPr/>
              <a:t> halinde birleştirmenize ve ardından bu yapılarla sanki </a:t>
            </a:r>
            <a:r>
              <a:rPr b="1"/>
              <a:t>bireysel nesneler</a:t>
            </a:r>
            <a:r>
              <a:rPr/>
              <a:t> gibi çalışmanıza olanak tanıyan yapısal bir tasarım desenidir.</a:t>
            </a:r>
          </a:p>
          <a:p>
            <a:pPr lvl="0"/>
            <a:r>
              <a:rPr/>
              <a:t>Ayrıca şöyle de bilinir: </a:t>
            </a:r>
            <a:r>
              <a:rPr b="1"/>
              <a:t>Object Tree (Nesne Ağacı)</a:t>
            </a:r>
          </a:p>
          <a:p>
            <a:pPr lvl="0" indent="0" marL="0">
              <a:buNone/>
            </a:pPr>
            <a:r>
              <a:rPr/>
              <a:t>Kaynak: </a:t>
            </a:r>
            <a:r>
              <a:rPr>
                <a:hlinkClick r:id="rId2"/>
              </a:rPr>
              <a:t>refactoring.guru</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Problem</a:t>
            </a:r>
          </a:p>
        </p:txBody>
      </p:sp>
      <p:sp>
        <p:nvSpPr>
          <p:cNvPr id="3" name="Content Placeholder 2"/>
          <p:cNvSpPr>
            <a:spLocks noGrp="1"/>
          </p:cNvSpPr>
          <p:nvPr>
            <p:ph idx="1"/>
          </p:nvPr>
        </p:nvSpPr>
        <p:spPr/>
        <p:txBody>
          <a:bodyPr/>
          <a:lstStyle/>
          <a:p>
            <a:pPr lvl="0" indent="0" marL="0">
              <a:buNone/>
            </a:pPr>
            <a:r>
              <a:rPr/>
              <a:t>Composite (Bileşik) desenini kullanmak, yalnızca uygulamanızın temel modeli bir </a:t>
            </a:r>
            <a:r>
              <a:rPr b="1"/>
              <a:t>ağaç</a:t>
            </a:r>
            <a:r>
              <a:rPr/>
              <a:t> olarak temsil edilebildiğinde anlamlıdır.</a:t>
            </a:r>
          </a:p>
          <a:p>
            <a:pPr lvl="0" indent="0" marL="0">
              <a:buNone/>
            </a:pPr>
            <a:r>
              <a:rPr/>
              <a:t>Örneğin, iki tür nesneniz olduğunu düşünün: </a:t>
            </a:r>
            <a:r>
              <a:rPr>
                <a:latin typeface="Courier"/>
              </a:rPr>
              <a:t>Products</a:t>
            </a:r>
            <a:r>
              <a:rPr/>
              <a:t> ve </a:t>
            </a:r>
            <a:r>
              <a:rPr>
                <a:latin typeface="Courier"/>
              </a:rPr>
              <a:t>Boxes</a:t>
            </a:r>
            <a:r>
              <a:rPr/>
              <a:t>. Bir </a:t>
            </a:r>
            <a:r>
              <a:rPr>
                <a:latin typeface="Courier"/>
              </a:rPr>
              <a:t>Box</a:t>
            </a:r>
            <a:r>
              <a:rPr/>
              <a:t>, birkaç </a:t>
            </a:r>
            <a:r>
              <a:rPr>
                <a:latin typeface="Courier"/>
              </a:rPr>
              <a:t>Products</a:t>
            </a:r>
            <a:r>
              <a:rPr/>
              <a:t> ve birkaç daha küçük </a:t>
            </a:r>
            <a:r>
              <a:rPr>
                <a:latin typeface="Courier"/>
              </a:rPr>
              <a:t>Boxes</a:t>
            </a:r>
            <a:r>
              <a:rPr/>
              <a:t> içerebilir. Bu küçük </a:t>
            </a:r>
            <a:r>
              <a:rPr>
                <a:latin typeface="Courier"/>
              </a:rPr>
              <a:t>Boxes</a:t>
            </a:r>
            <a:r>
              <a:rPr/>
              <a:t> da bazı </a:t>
            </a:r>
            <a:r>
              <a:rPr>
                <a:latin typeface="Courier"/>
              </a:rPr>
              <a:t>Products</a:t>
            </a:r>
            <a:r>
              <a:rPr/>
              <a:t> veya daha küçük </a:t>
            </a:r>
            <a:r>
              <a:rPr>
                <a:latin typeface="Courier"/>
              </a:rPr>
              <a:t>Boxes</a:t>
            </a:r>
            <a:r>
              <a:rPr/>
              <a:t> içerebilir, vb.</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Problem (devam)</a:t>
            </a:r>
          </a:p>
        </p:txBody>
      </p:sp>
      <p:sp>
        <p:nvSpPr>
          <p:cNvPr id="3" name="Content Placeholder 2"/>
          <p:cNvSpPr>
            <a:spLocks noGrp="1"/>
          </p:cNvSpPr>
          <p:nvPr>
            <p:ph idx="1"/>
          </p:nvPr>
        </p:nvSpPr>
        <p:spPr/>
        <p:txBody>
          <a:bodyPr/>
          <a:lstStyle/>
          <a:p>
            <a:pPr lvl="0" indent="0" marL="0">
              <a:buNone/>
            </a:pPr>
            <a:r>
              <a:rPr/>
              <a:t>Bu sınıfları kullanarak bir sipariş sistemi oluşturmaya karar verdiğinizi düşünün. Siparişler, herhangi bir ambalaj olmadan basit ürünlerin yanı sıra ürünlerle ve diğer kutularla doldurulmuş kutuları da içerebilir.</a:t>
            </a:r>
          </a:p>
          <a:p>
            <a:pPr lvl="0" indent="0" marL="0">
              <a:buNone/>
            </a:pPr>
            <a:r>
              <a:rPr/>
              <a:t>Böyle bir siparişin </a:t>
            </a:r>
            <a:r>
              <a:rPr b="1"/>
              <a:t>toplam fiyatını</a:t>
            </a:r>
            <a:r>
              <a:rPr/>
              <a:t> nasıl belirlersiniz?</a:t>
            </a:r>
          </a:p>
          <a:p>
            <a:pPr lvl="0" indent="0" marL="0">
              <a:buNone/>
            </a:pPr>
            <a:r>
              <a:rPr/>
              <a:t>Doğrudan bir yaklaşım deneyebilirsiniz: tüm kutuları açın, tüm ürünleri gözden geçirin ve ardından toplamı hesaplayın. Ancak bu, belirli sınıfları ve iç içe geçme yapısını önceden bilmeyi gerektirir, bu da kodu yapıya sıkıca bağlar.</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Çözüm</a:t>
            </a:r>
          </a:p>
        </p:txBody>
      </p:sp>
      <p:sp>
        <p:nvSpPr>
          <p:cNvPr id="3" name="Content Placeholder 2"/>
          <p:cNvSpPr>
            <a:spLocks noGrp="1"/>
          </p:cNvSpPr>
          <p:nvPr>
            <p:ph idx="1"/>
          </p:nvPr>
        </p:nvSpPr>
        <p:spPr/>
        <p:txBody>
          <a:bodyPr/>
          <a:lstStyle/>
          <a:p>
            <a:pPr lvl="0" indent="0" marL="0">
              <a:buNone/>
            </a:pPr>
            <a:r>
              <a:rPr/>
              <a:t>Composite (Bileşik) deseni, </a:t>
            </a:r>
            <a:r>
              <a:rPr>
                <a:latin typeface="Courier"/>
              </a:rPr>
              <a:t>Products</a:t>
            </a:r>
            <a:r>
              <a:rPr/>
              <a:t> ve </a:t>
            </a:r>
            <a:r>
              <a:rPr>
                <a:latin typeface="Courier"/>
              </a:rPr>
              <a:t>Boxes</a:t>
            </a:r>
            <a:r>
              <a:rPr/>
              <a:t> ile toplam fiyatı hesaplamak için bir yöntem bildiren </a:t>
            </a:r>
            <a:r>
              <a:rPr b="1"/>
              <a:t>ortak bir arayüz</a:t>
            </a:r>
            <a:r>
              <a:rPr/>
              <a:t> üzerinden çalışmanızı önerir.</a:t>
            </a:r>
          </a:p>
          <a:p>
            <a:pPr lvl="0"/>
            <a:r>
              <a:rPr/>
              <a:t>Bir </a:t>
            </a:r>
            <a:r>
              <a:rPr b="1"/>
              <a:t>ürün</a:t>
            </a:r>
            <a:r>
              <a:rPr/>
              <a:t> için basitçe ürünün fiyatını döndürür</a:t>
            </a:r>
          </a:p>
          <a:p>
            <a:pPr lvl="0"/>
            <a:r>
              <a:rPr/>
              <a:t>Bir </a:t>
            </a:r>
            <a:r>
              <a:rPr b="1"/>
              <a:t>kutu</a:t>
            </a:r>
            <a:r>
              <a:rPr/>
              <a:t> için kutunun içerdiği her öğeyi gözden geçirir, fiyatını sorar ve ardından bu kutu için toplamı döndürür</a:t>
            </a:r>
          </a:p>
          <a:p>
            <a:pPr lvl="0" indent="0" marL="0">
              <a:buNone/>
            </a:pPr>
            <a:r>
              <a:rPr/>
              <a:t>En büyük fayda, ağacı oluşturan nesnelerin somut sınıflarını bilmenize gerek olmamasıdır. Hepsini ortak arayüz üzerinden aynı şekilde işleyebilirsiniz.</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Çözüm (devam)</a:t>
            </a:r>
          </a:p>
        </p:txBody>
      </p:sp>
      <p:sp>
        <p:nvSpPr>
          <p:cNvPr id="3" name="Content Placeholder 2"/>
          <p:cNvSpPr>
            <a:spLocks noGrp="1"/>
          </p:cNvSpPr>
          <p:nvPr>
            <p:ph idx="1"/>
          </p:nvPr>
        </p:nvSpPr>
        <p:spPr/>
        <p:txBody>
          <a:bodyPr/>
          <a:lstStyle/>
          <a:p>
            <a:pPr lvl="0" indent="0" marL="0">
              <a:buNone/>
            </a:pPr>
            <a:r>
              <a:rPr/>
              <a:t>Bir yöntem çağırdığınızda, nesneler isteği ağaçta aşağıya iletir. Bir nesne ağacının tüm bileşenleri üzerinde </a:t>
            </a:r>
            <a:r>
              <a:rPr b="1"/>
              <a:t>özyinelemeli olarak bir davranış çalıştırabilirsiniz</a:t>
            </a:r>
            <a:r>
              <a:rPr/>
              <a:t>.</a:t>
            </a:r>
          </a:p>
          <a:p>
            <a:pPr lvl="0" indent="0" marL="0">
              <a:buNone/>
            </a:pPr>
            <a:r>
              <a:rPr/>
              <a:t>Bu yaklaşım şu nedenle çalışır: - Bir ürün fiyatını doğrudan döndürür - Bir kutu içeriğini yineler ve her öğe üzerinde fiyat yöntemini çağırır - Bir öğe başka bir kutuysa, o kutu da içeriğini yineler, vb. - Sonuç olarak tüm ağaç yapısı otomatik olarak dolaşılır</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Gerçek Dünya Benzetmesi</a:t>
            </a:r>
          </a:p>
        </p:txBody>
      </p:sp>
      <p:sp>
        <p:nvSpPr>
          <p:cNvPr id="3" name="Content Placeholder 2"/>
          <p:cNvSpPr>
            <a:spLocks noGrp="1"/>
          </p:cNvSpPr>
          <p:nvPr>
            <p:ph idx="1"/>
          </p:nvPr>
        </p:nvSpPr>
        <p:spPr/>
        <p:txBody>
          <a:bodyPr/>
          <a:lstStyle/>
          <a:p>
            <a:pPr lvl="0" indent="0" marL="0">
              <a:buNone/>
            </a:pPr>
            <a:r>
              <a:rPr/>
              <a:t>Çoğu ülkenin </a:t>
            </a:r>
            <a:r>
              <a:rPr b="1"/>
              <a:t>orduları</a:t>
            </a:r>
            <a:r>
              <a:rPr/>
              <a:t> hiyerarşiler olarak yapılandırılmıştır. Bir ordu birkaç tümenden oluşur; bir tümen bir dizi tugaydır ve bir tugay bölüklerden oluşur, bunlar da takımlara ayrılabilir. Son olarak, bir takım küçük bir gerçek asker grubudur.</a:t>
            </a:r>
          </a:p>
          <a:p>
            <a:pPr lvl="0" indent="0" marL="0">
              <a:buNone/>
            </a:pPr>
            <a:r>
              <a:rPr b="1"/>
              <a:t>Emirler</a:t>
            </a:r>
            <a:r>
              <a:rPr/>
              <a:t> hiyerarşinin tepesinde verilir ve her seviyeye iletilerek her askerin ne yapması gerektiğini bilmesini sağlar. Bu, Composite (Bileşik) deseninin işi ağaç boyunca nasıl devrettiğini yansıtır.</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Yapı</a:t>
            </a:r>
          </a:p>
        </p:txBody>
      </p:sp>
      <p:sp>
        <p:nvSpPr>
          <p:cNvPr id="3" name="Content Placeholder 2"/>
          <p:cNvSpPr>
            <a:spLocks noGrp="1"/>
          </p:cNvSpPr>
          <p:nvPr>
            <p:ph idx="1"/>
          </p:nvPr>
        </p:nvSpPr>
        <p:spPr/>
        <p:txBody>
          <a:bodyPr/>
          <a:lstStyle/>
          <a:p>
            <a:pPr lvl="0" indent="-342900" marL="342900">
              <a:buAutoNum type="arabicPeriod"/>
            </a:pPr>
            <a:r>
              <a:rPr b="1"/>
              <a:t>Bileşen</a:t>
            </a:r>
            <a:r>
              <a:rPr/>
              <a:t> – Ağacın hem basit hem de karmaşık elemanlarında ortak olan işlemleri tanımlayan arayüz</a:t>
            </a:r>
          </a:p>
          <a:p>
            <a:pPr lvl="0" indent="-342900" marL="342900">
              <a:buAutoNum type="arabicPeriod"/>
            </a:pPr>
            <a:r>
              <a:rPr b="1"/>
              <a:t>Yaprak</a:t>
            </a:r>
            <a:r>
              <a:rPr/>
              <a:t> – Alt elemanları olmayan, ağacın temel bir elemanı. Genellikle yaprak bileşenler, işi devredecek kimseleri olmadığından gerçek işin çoğunu yapar</a:t>
            </a:r>
          </a:p>
          <a:p>
            <a:pPr lvl="0" indent="-342900" marL="342900">
              <a:buAutoNum type="arabicPeriod"/>
            </a:pPr>
            <a:r>
              <a:rPr b="1"/>
              <a:t>Kapsayıcı (Bileşik)</a:t>
            </a:r>
            <a:r>
              <a:rPr/>
              <a:t> – Alt elemanlara sahip bir eleman: yapraklar veya diğer kapsayıcılar. Bir kapsayıcı, alt elemanlarının somut sınıflarını bilmez. Tüm alt elemanlarla yalnızca bileşen arayüzü üzerinden çalışır</a:t>
            </a:r>
          </a:p>
          <a:p>
            <a:pPr lvl="0" indent="-342900" marL="342900">
              <a:buAutoNum type="arabicPeriod"/>
            </a:pPr>
            <a:r>
              <a:rPr b="1"/>
              <a:t>İstemci</a:t>
            </a:r>
            <a:r>
              <a:rPr/>
              <a:t> – Tüm elemanlarla bileşen arayüzü üzerinden çalışır. Sonuç olarak istemci, ağacın hem basit hem de karmaşık elemanlarıyla aynı şekilde çalışabilir</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Composite - Sınıf Diyagramı</a:t>
            </a:r>
          </a:p>
        </p:txBody>
      </p:sp>
      <p:pic>
        <p:nvPicPr>
          <p:cNvPr descr="assets/composite-structure.png" id="0" name="Picture 1"/>
          <p:cNvPicPr>
            <a:picLocks noGrp="1" noChangeAspect="1"/>
          </p:cNvPicPr>
          <p:nvPr/>
        </p:nvPicPr>
        <p:blipFill>
          <a:blip r:embed="rId2"/>
          <a:stretch>
            <a:fillRect/>
          </a:stretch>
        </p:blipFill>
        <p:spPr bwMode="auto">
          <a:xfrm>
            <a:off x="3568700" y="444500"/>
            <a:ext cx="5105400" cy="3390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Java Kod Örneği - Bileşen</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component interface declares common operations for</a:t>
            </a:r>
            <a:br/>
            <a:r>
              <a:rPr i="1">
                <a:solidFill>
                  <a:srgbClr val="60A0B0"/>
                </a:solidFill>
                <a:latin typeface="Courier"/>
              </a:rPr>
              <a:t>// both simple and complex objects of a composition.</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Graphic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br/>
            <a:r>
              <a:rPr>
                <a:solidFill>
                  <a:srgbClr val="666666"/>
                </a:solidFill>
                <a:latin typeface="Courier"/>
              </a:rPr>
              <a: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Java Kod Örneği - Yapraklar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Leaf classes represent end objects of a composition.</a:t>
            </a:r>
            <a:br/>
            <a:r>
              <a:rPr i="1">
                <a:solidFill>
                  <a:srgbClr val="60A0B0"/>
                </a:solidFill>
                <a:latin typeface="Courier"/>
              </a:rPr>
              <a:t>// A leaf object cannot have any sub-objects.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Dot </a:t>
            </a:r>
            <a:r>
              <a:rPr b="1">
                <a:solidFill>
                  <a:srgbClr val="007020"/>
                </a:solidFill>
                <a:latin typeface="Courier"/>
              </a:rPr>
              <a:t>implements</a:t>
            </a:r>
            <a:r>
              <a:rPr>
                <a:latin typeface="Courier"/>
              </a:rPr>
              <a:t> Graphic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902000"/>
                </a:solidFill>
                <a:latin typeface="Courier"/>
              </a:rPr>
              <a:t>int</a:t>
            </a:r>
            <a:r>
              <a:rPr>
                <a:latin typeface="Courier"/>
              </a:rPr>
              <a:t> x</a:t>
            </a:r>
            <a:r>
              <a:rPr>
                <a:solidFill>
                  <a:srgbClr val="666666"/>
                </a:solidFill>
                <a:latin typeface="Courier"/>
              </a:rPr>
              <a:t>,</a:t>
            </a:r>
            <a:r>
              <a:rPr>
                <a:latin typeface="Courier"/>
              </a:rPr>
              <a:t> y</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Dot</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"Draw dot at ("</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y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Java Kod Örneği - Yapraklar (devam)</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Circle </a:t>
            </a:r>
            <a:r>
              <a:rPr b="1">
                <a:solidFill>
                  <a:srgbClr val="007020"/>
                </a:solidFill>
                <a:latin typeface="Courier"/>
              </a:rPr>
              <a:t>extends</a:t>
            </a:r>
            <a:r>
              <a:rPr>
                <a:latin typeface="Courier"/>
              </a:rPr>
              <a:t> Dot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radius</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Circle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902000"/>
                </a:solidFill>
                <a:latin typeface="Courier"/>
              </a:rPr>
              <a:t>int</a:t>
            </a:r>
            <a:r>
              <a:rPr>
                <a:latin typeface="Courier"/>
              </a:rPr>
              <a:t> radius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radius</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"Draw circle at ("</a:t>
            </a:r>
            <a:r>
              <a:rPr>
                <a:latin typeface="Courier"/>
              </a:rPr>
              <a:t> </a:t>
            </a:r>
            <a:r>
              <a:rPr>
                <a:solidFill>
                  <a:srgbClr val="666666"/>
                </a:solidFill>
                <a:latin typeface="Courier"/>
              </a:rPr>
              <a:t>+</a:t>
            </a:r>
            <a:r>
              <a:rPr>
                <a:latin typeface="Courier"/>
              </a:rPr>
              <a:t> x </a:t>
            </a:r>
            <a:r>
              <a:rPr>
                <a:solidFill>
                  <a:srgbClr val="666666"/>
                </a:solidFill>
                <a:latin typeface="Courier"/>
              </a:rPr>
              <a:t>+</a:t>
            </a:r>
            <a:r>
              <a:rPr>
                <a:latin typeface="Courier"/>
              </a:rPr>
              <a:t> </a:t>
            </a:r>
            <a:r>
              <a:rPr>
                <a:solidFill>
                  <a:srgbClr val="4070A0"/>
                </a:solidFill>
                <a:latin typeface="Courier"/>
              </a:rPr>
              <a:t>", "</a:t>
            </a:r>
            <a:r>
              <a:rPr>
                <a:latin typeface="Courier"/>
              </a:rPr>
              <a:t> </a:t>
            </a:r>
            <a:r>
              <a:rPr>
                <a:solidFill>
                  <a:srgbClr val="666666"/>
                </a:solidFill>
                <a:latin typeface="Courier"/>
              </a:rPr>
              <a:t>+</a:t>
            </a:r>
            <a:r>
              <a:rPr>
                <a:latin typeface="Courier"/>
              </a:rPr>
              <a:t> y</a:t>
            </a:r>
            <a:br/>
            <a:r>
              <a:rPr>
                <a:latin typeface="Courier"/>
              </a:rPr>
              <a:t>            </a:t>
            </a:r>
            <a:r>
              <a:rPr>
                <a:solidFill>
                  <a:srgbClr val="666666"/>
                </a:solidFill>
                <a:latin typeface="Courier"/>
              </a:rPr>
              <a:t>+</a:t>
            </a:r>
            <a:r>
              <a:rPr>
                <a:latin typeface="Courier"/>
              </a:rPr>
              <a:t> </a:t>
            </a:r>
            <a:r>
              <a:rPr>
                <a:solidFill>
                  <a:srgbClr val="4070A0"/>
                </a:solidFill>
                <a:latin typeface="Courier"/>
              </a:rPr>
              <a:t>") with radius "</a:t>
            </a:r>
            <a:r>
              <a:rPr>
                <a:latin typeface="Courier"/>
              </a:rPr>
              <a:t> </a:t>
            </a:r>
            <a:r>
              <a:rPr>
                <a:solidFill>
                  <a:srgbClr val="666666"/>
                </a:solidFill>
                <a:latin typeface="Courier"/>
              </a:rPr>
              <a:t>+</a:t>
            </a:r>
            <a:r>
              <a:rPr>
                <a:latin typeface="Courier"/>
              </a:rPr>
              <a:t> radius</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Java Kod Örneği - Bileşik</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Composite class represents complex components that may</a:t>
            </a:r>
            <a:br/>
            <a:r>
              <a:rPr i="1">
                <a:solidFill>
                  <a:srgbClr val="60A0B0"/>
                </a:solidFill>
                <a:latin typeface="Courier"/>
              </a:rPr>
              <a:t>// have children. It delegates work to its children and then</a:t>
            </a:r>
            <a:br/>
            <a:r>
              <a:rPr i="1">
                <a:solidFill>
                  <a:srgbClr val="60A0B0"/>
                </a:solidFill>
                <a:latin typeface="Courier"/>
              </a:rPr>
              <a:t>// aggregates the result.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CompoundGraphic </a:t>
            </a:r>
            <a:r>
              <a:rPr b="1">
                <a:solidFill>
                  <a:srgbClr val="007020"/>
                </a:solidFill>
                <a:latin typeface="Courier"/>
              </a:rPr>
              <a:t>implements</a:t>
            </a:r>
            <a:r>
              <a:rPr>
                <a:latin typeface="Courier"/>
              </a:rPr>
              <a:t> Graphic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Graphic</a:t>
            </a:r>
            <a:r>
              <a:rPr>
                <a:solidFill>
                  <a:srgbClr val="666666"/>
                </a:solidFill>
                <a:latin typeface="Courier"/>
              </a:rPr>
              <a:t>&gt;</a:t>
            </a:r>
            <a:r>
              <a:rPr>
                <a:latin typeface="Courier"/>
              </a:rPr>
              <a:t> children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a:t>
            </a:r>
            <a:r>
              <a:rPr>
                <a:solidFill>
                  <a:srgbClr val="666666"/>
                </a:solidFill>
                <a:latin typeface="Courier"/>
              </a:rPr>
              <a:t>(</a:t>
            </a:r>
            <a:r>
              <a:rPr>
                <a:latin typeface="Courier"/>
              </a:rPr>
              <a:t>Graphic child</a:t>
            </a:r>
            <a:r>
              <a:rPr>
                <a:solidFill>
                  <a:srgbClr val="666666"/>
                </a:solidFill>
                <a:latin typeface="Courier"/>
              </a:rPr>
              <a:t>)</a:t>
            </a:r>
            <a:r>
              <a:rPr>
                <a:latin typeface="Courier"/>
              </a:rPr>
              <a:t> </a:t>
            </a:r>
            <a:r>
              <a:rPr>
                <a:solidFill>
                  <a:srgbClr val="666666"/>
                </a:solidFill>
                <a:latin typeface="Courier"/>
              </a:rPr>
              <a:t>{</a:t>
            </a:r>
            <a:br/>
            <a:r>
              <a:rPr>
                <a:latin typeface="Courier"/>
              </a:rPr>
              <a:t>        children</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child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remove</a:t>
            </a:r>
            <a:r>
              <a:rPr>
                <a:solidFill>
                  <a:srgbClr val="666666"/>
                </a:solidFill>
                <a:latin typeface="Courier"/>
              </a:rPr>
              <a:t>(</a:t>
            </a:r>
            <a:r>
              <a:rPr>
                <a:latin typeface="Courier"/>
              </a:rPr>
              <a:t>Graphic child</a:t>
            </a:r>
            <a:r>
              <a:rPr>
                <a:solidFill>
                  <a:srgbClr val="666666"/>
                </a:solidFill>
                <a:latin typeface="Courier"/>
              </a:rPr>
              <a:t>)</a:t>
            </a:r>
            <a:r>
              <a:rPr>
                <a:latin typeface="Courier"/>
              </a:rPr>
              <a:t> </a:t>
            </a:r>
            <a:r>
              <a:rPr>
                <a:solidFill>
                  <a:srgbClr val="666666"/>
                </a:solidFill>
                <a:latin typeface="Courier"/>
              </a:rPr>
              <a:t>{</a:t>
            </a:r>
            <a:br/>
            <a:r>
              <a:rPr>
                <a:latin typeface="Courier"/>
              </a:rPr>
              <a:t>        children</a:t>
            </a:r>
            <a:r>
              <a:rPr>
                <a:solidFill>
                  <a:srgbClr val="666666"/>
                </a:solidFill>
                <a:latin typeface="Courier"/>
              </a:rPr>
              <a:t>.</a:t>
            </a:r>
            <a:r>
              <a:rPr>
                <a:solidFill>
                  <a:srgbClr val="06287E"/>
                </a:solidFill>
                <a:latin typeface="Courier"/>
              </a:rPr>
              <a:t>remove</a:t>
            </a:r>
            <a:r>
              <a:rPr>
                <a:solidFill>
                  <a:srgbClr val="666666"/>
                </a:solidFill>
                <a:latin typeface="Courier"/>
              </a:rPr>
              <a:t>(</a:t>
            </a:r>
            <a:r>
              <a:rPr>
                <a:latin typeface="Courier"/>
              </a:rPr>
              <a:t>child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move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Graphic child </a:t>
            </a:r>
            <a:r>
              <a:rPr>
                <a:solidFill>
                  <a:srgbClr val="666666"/>
                </a:solidFill>
                <a:latin typeface="Courier"/>
              </a:rPr>
              <a:t>:</a:t>
            </a:r>
            <a:r>
              <a:rPr>
                <a:latin typeface="Courier"/>
              </a:rPr>
              <a:t> children</a:t>
            </a:r>
            <a:r>
              <a:rPr>
                <a:solidFill>
                  <a:srgbClr val="666666"/>
                </a:solidFill>
                <a:latin typeface="Courier"/>
              </a:rPr>
              <a:t>)</a:t>
            </a:r>
            <a:r>
              <a:rPr>
                <a:latin typeface="Courier"/>
              </a:rPr>
              <a:t> </a:t>
            </a:r>
            <a:r>
              <a:rPr>
                <a:solidFill>
                  <a:srgbClr val="666666"/>
                </a:solidFill>
                <a:latin typeface="Courier"/>
              </a:rPr>
              <a:t>{</a:t>
            </a:r>
            <a:br/>
            <a:r>
              <a:rPr>
                <a:latin typeface="Courier"/>
              </a:rPr>
              <a:t>            child</a:t>
            </a:r>
            <a:r>
              <a:rPr>
                <a:solidFill>
                  <a:srgbClr val="666666"/>
                </a:solidFill>
                <a:latin typeface="Courier"/>
              </a:rPr>
              <a:t>.</a:t>
            </a:r>
            <a:r>
              <a:rPr>
                <a:solidFill>
                  <a:srgbClr val="06287E"/>
                </a:solidFill>
                <a:latin typeface="Courier"/>
              </a:rPr>
              <a:t>move</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CompoundGraphic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Graphic child </a:t>
            </a:r>
            <a:r>
              <a:rPr>
                <a:solidFill>
                  <a:srgbClr val="666666"/>
                </a:solidFill>
                <a:latin typeface="Courier"/>
              </a:rPr>
              <a:t>:</a:t>
            </a:r>
            <a:r>
              <a:rPr>
                <a:latin typeface="Courier"/>
              </a:rPr>
              <a:t> children</a:t>
            </a:r>
            <a:r>
              <a:rPr>
                <a:solidFill>
                  <a:srgbClr val="666666"/>
                </a:solidFill>
                <a:latin typeface="Courier"/>
              </a:rPr>
              <a:t>)</a:t>
            </a:r>
            <a:r>
              <a:rPr>
                <a:latin typeface="Courier"/>
              </a:rPr>
              <a:t> </a:t>
            </a:r>
            <a:r>
              <a:rPr>
                <a:solidFill>
                  <a:srgbClr val="666666"/>
                </a:solidFill>
                <a:latin typeface="Courier"/>
              </a:rPr>
              <a:t>{</a:t>
            </a:r>
            <a:br/>
            <a:r>
              <a:rPr>
                <a:latin typeface="Courier"/>
              </a:rPr>
              <a:t>            child</a:t>
            </a:r>
            <a:r>
              <a:rPr>
                <a:solidFill>
                  <a:srgbClr val="666666"/>
                </a:solidFill>
                <a:latin typeface="Courier"/>
              </a:rPr>
              <a:t>.</a:t>
            </a:r>
            <a:r>
              <a:rPr>
                <a:solidFill>
                  <a:srgbClr val="06287E"/>
                </a:solidFill>
                <a:latin typeface="Courier"/>
              </a:rPr>
              <a:t>draw</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 End Compound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Java Kod Örneği - İstemci</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CompositeDemo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simple components</a:t>
            </a:r>
            <a:br/>
            <a:r>
              <a:rPr>
                <a:latin typeface="Courier"/>
              </a:rPr>
              <a:t>        Dot dot1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Dot</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Dot dot2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Dot</a:t>
            </a:r>
            <a:r>
              <a:rPr>
                <a:solidFill>
                  <a:srgbClr val="666666"/>
                </a:solidFill>
                <a:latin typeface="Courier"/>
              </a:rPr>
              <a:t>(</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4</a:t>
            </a:r>
            <a:r>
              <a:rPr>
                <a:solidFill>
                  <a:srgbClr val="666666"/>
                </a:solidFill>
                <a:latin typeface="Courier"/>
              </a:rPr>
              <a:t>);</a:t>
            </a:r>
            <a:br/>
            <a:r>
              <a:rPr>
                <a:latin typeface="Courier"/>
              </a:rPr>
              <a:t>        Circle circle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Circle</a:t>
            </a: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a:t>
            </a:r>
            <a:r>
              <a:rPr>
                <a:solidFill>
                  <a:srgbClr val="40A070"/>
                </a:solidFill>
                <a:latin typeface="Courier"/>
              </a:rPr>
              <a:t>6</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br/>
            <a:r>
              <a:rPr>
                <a:latin typeface="Courier"/>
              </a:rPr>
              <a:t>        </a:t>
            </a:r>
            <a:r>
              <a:rPr i="1">
                <a:solidFill>
                  <a:srgbClr val="60A0B0"/>
                </a:solidFill>
                <a:latin typeface="Courier"/>
              </a:rPr>
              <a:t>// Create a composite and add components</a:t>
            </a:r>
            <a:br/>
            <a:r>
              <a:rPr>
                <a:latin typeface="Courier"/>
              </a:rPr>
              <a:t>        CompoundGraphic group1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CompoundGraphic</a:t>
            </a:r>
            <a:r>
              <a:rPr>
                <a:solidFill>
                  <a:srgbClr val="666666"/>
                </a:solidFill>
                <a:latin typeface="Courier"/>
              </a:rPr>
              <a:t>();</a:t>
            </a:r>
            <a:br/>
            <a:r>
              <a:rPr>
                <a:latin typeface="Courier"/>
              </a:rPr>
              <a:t>        group1</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dot1</a:t>
            </a:r>
            <a:r>
              <a:rPr>
                <a:solidFill>
                  <a:srgbClr val="666666"/>
                </a:solidFill>
                <a:latin typeface="Courier"/>
              </a:rPr>
              <a:t>);</a:t>
            </a:r>
            <a:br/>
            <a:r>
              <a:rPr>
                <a:latin typeface="Courier"/>
              </a:rPr>
              <a:t>        group1</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circle</a:t>
            </a:r>
            <a:r>
              <a:rPr>
                <a:solidFill>
                  <a:srgbClr val="666666"/>
                </a:solidFill>
                <a:latin typeface="Courier"/>
              </a:rPr>
              <a:t>);</a:t>
            </a:r>
            <a:br/>
            <a:br/>
            <a:r>
              <a:rPr>
                <a:latin typeface="Courier"/>
              </a:rPr>
              <a:t>        </a:t>
            </a:r>
            <a:r>
              <a:rPr i="1">
                <a:solidFill>
                  <a:srgbClr val="60A0B0"/>
                </a:solidFill>
                <a:latin typeface="Courier"/>
              </a:rPr>
              <a:t>// Create another composite containing the first</a:t>
            </a:r>
            <a:br/>
            <a:r>
              <a:rPr>
                <a:latin typeface="Courier"/>
              </a:rPr>
              <a:t>        CompoundGraphic group2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CompoundGraphic</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dot2</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group1</a:t>
            </a:r>
            <a:r>
              <a:rPr>
                <a:solidFill>
                  <a:srgbClr val="666666"/>
                </a:solidFill>
                <a:latin typeface="Courier"/>
              </a:rPr>
              <a:t>);</a:t>
            </a:r>
            <a:r>
              <a:rPr>
                <a:latin typeface="Courier"/>
              </a:rPr>
              <a:t> </a:t>
            </a:r>
            <a:r>
              <a:rPr i="1">
                <a:solidFill>
                  <a:srgbClr val="60A0B0"/>
                </a:solidFill>
                <a:latin typeface="Courier"/>
              </a:rPr>
              <a:t>// Nesting composites</a:t>
            </a:r>
            <a:br/>
            <a:br/>
            <a:r>
              <a:rPr>
                <a:latin typeface="Courier"/>
              </a:rPr>
              <a:t>        </a:t>
            </a:r>
            <a:r>
              <a:rPr i="1">
                <a:solidFill>
                  <a:srgbClr val="60A0B0"/>
                </a:solidFill>
                <a:latin typeface="Courier"/>
              </a:rPr>
              <a:t>// Draw the entire tree</a:t>
            </a:r>
            <a:br/>
            <a:r>
              <a:rPr>
                <a:latin typeface="Courier"/>
              </a:rPr>
              <a:t>        group2</a:t>
            </a:r>
            <a:r>
              <a:rPr>
                <a:solidFill>
                  <a:srgbClr val="666666"/>
                </a:solidFill>
                <a:latin typeface="Courier"/>
              </a:rPr>
              <a:t>.</a:t>
            </a:r>
            <a:r>
              <a:rPr>
                <a:solidFill>
                  <a:srgbClr val="06287E"/>
                </a:solidFill>
                <a:latin typeface="Courier"/>
              </a:rPr>
              <a:t>draw</a:t>
            </a:r>
            <a:r>
              <a:rPr>
                <a:solidFill>
                  <a:srgbClr val="666666"/>
                </a:solidFill>
                <a:latin typeface="Courier"/>
              </a:rPr>
              <a:t>();</a:t>
            </a:r>
            <a:br/>
            <a:br/>
            <a:r>
              <a:rPr>
                <a:latin typeface="Courier"/>
              </a:rPr>
              <a:t>        </a:t>
            </a:r>
            <a:r>
              <a:rPr i="1">
                <a:solidFill>
                  <a:srgbClr val="60A0B0"/>
                </a:solidFill>
                <a:latin typeface="Courier"/>
              </a:rPr>
              <a:t>// Move all elements</a:t>
            </a:r>
            <a:br/>
            <a:r>
              <a:rPr>
                <a:latin typeface="Courier"/>
              </a:rPr>
              <a:t>        group2</a:t>
            </a:r>
            <a:r>
              <a:rPr>
                <a:solidFill>
                  <a:srgbClr val="666666"/>
                </a:solidFill>
                <a:latin typeface="Courier"/>
              </a:rPr>
              <a:t>.</a:t>
            </a:r>
            <a:r>
              <a:rPr>
                <a:solidFill>
                  <a:srgbClr val="06287E"/>
                </a:solidFill>
                <a:latin typeface="Courier"/>
              </a:rPr>
              <a:t>move</a:t>
            </a:r>
            <a:r>
              <a:rPr>
                <a:solidFill>
                  <a:srgbClr val="666666"/>
                </a:solidFill>
                <a:latin typeface="Courier"/>
              </a:rPr>
              <a:t>(</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group2</a:t>
            </a:r>
            <a:r>
              <a:rPr>
                <a:solidFill>
                  <a:srgbClr val="666666"/>
                </a:solidFill>
                <a:latin typeface="Courier"/>
              </a:rPr>
              <a:t>.</a:t>
            </a:r>
            <a:r>
              <a:rPr>
                <a:solidFill>
                  <a:srgbClr val="06287E"/>
                </a:solidFill>
                <a:latin typeface="Courier"/>
              </a:rPr>
              <a:t>draw</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Composite - Sıra Diyagramı</a:t>
            </a:r>
          </a:p>
        </p:txBody>
      </p:sp>
      <p:pic>
        <p:nvPicPr>
          <p:cNvPr descr="assets/composite-sequence.png" id="0" name="Picture 1"/>
          <p:cNvPicPr>
            <a:picLocks noGrp="1" noChangeAspect="1"/>
          </p:cNvPicPr>
          <p:nvPr/>
        </p:nvPicPr>
        <p:blipFill>
          <a:blip r:embed="rId2"/>
          <a:stretch>
            <a:fillRect/>
          </a:stretch>
        </p:blipFill>
        <p:spPr bwMode="auto">
          <a:xfrm>
            <a:off x="3568700" y="292100"/>
            <a:ext cx="5105400" cy="370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Uygulanabilirlik</a:t>
            </a:r>
          </a:p>
        </p:txBody>
      </p:sp>
      <p:sp>
        <p:nvSpPr>
          <p:cNvPr id="3" name="Content Placeholder 2"/>
          <p:cNvSpPr>
            <a:spLocks noGrp="1"/>
          </p:cNvSpPr>
          <p:nvPr>
            <p:ph idx="1"/>
          </p:nvPr>
        </p:nvSpPr>
        <p:spPr/>
        <p:txBody>
          <a:bodyPr/>
          <a:lstStyle/>
          <a:p>
            <a:pPr lvl="0" indent="0" marL="0">
              <a:buNone/>
            </a:pPr>
            <a:r>
              <a:rPr/>
              <a:t>Composite (Bileşik) desenini şu durumlarda kullanın:</a:t>
            </a:r>
          </a:p>
          <a:p>
            <a:pPr lvl="0"/>
            <a:r>
              <a:rPr/>
              <a:t>Bir </a:t>
            </a:r>
            <a:r>
              <a:rPr b="1"/>
              <a:t>ağaç benzeri nesne yapısı</a:t>
            </a:r>
            <a:r>
              <a:rPr/>
              <a:t> uygulamanız gerektiğinde. Composite (Bileşik) deseni, ortak bir arayüzü paylaşan iki temel eleman türü sağlar: basit yapraklar ve karmaşık kapsayıcılar</a:t>
            </a:r>
          </a:p>
          <a:p>
            <a:pPr lvl="0"/>
            <a:r>
              <a:rPr/>
              <a:t>İstemci kodunun hem basit hem de karmaşık elemanları </a:t>
            </a:r>
            <a:r>
              <a:rPr b="1"/>
              <a:t>aynı şekilde</a:t>
            </a:r>
            <a:r>
              <a:rPr/>
              <a:t> ele almasını istediğinizde. Composite (Bileşik) deseni tarafından tanımlanan tüm elemanlar ortak bir arayüzü paylaşır, böylece istemci çalıştığı nesnelerin somut sınıfı hakkında endişelenmek zorunda kalmaz</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Nasıl Uygulanır</a:t>
            </a:r>
          </a:p>
        </p:txBody>
      </p:sp>
      <p:sp>
        <p:nvSpPr>
          <p:cNvPr id="3" name="Content Placeholder 2"/>
          <p:cNvSpPr>
            <a:spLocks noGrp="1"/>
          </p:cNvSpPr>
          <p:nvPr>
            <p:ph idx="1"/>
          </p:nvPr>
        </p:nvSpPr>
        <p:spPr/>
        <p:txBody>
          <a:bodyPr/>
          <a:lstStyle/>
          <a:p>
            <a:pPr lvl="0" indent="-342900" marL="342900">
              <a:buAutoNum type="arabicPeriod"/>
            </a:pPr>
            <a:r>
              <a:rPr/>
              <a:t>Uygulamanızın temel modelinin bir </a:t>
            </a:r>
            <a:r>
              <a:rPr b="1"/>
              <a:t>ağaç yapısı</a:t>
            </a:r>
            <a:r>
              <a:rPr/>
              <a:t> olarak temsil edilebildiğinden emin olun. Basit elemanlara ve kapsayıcılara ayırmaya çalışın. Kapsayıcıların hem basit elemanları hem de diğer kapsayıcıları içerebilmesi gerektiğini unutmayın</a:t>
            </a:r>
          </a:p>
          <a:p>
            <a:pPr lvl="0" indent="-342900" marL="342900">
              <a:buAutoNum type="arabicPeriod"/>
            </a:pPr>
            <a:r>
              <a:rPr/>
              <a:t>Hem basit hem de karmaşık bileşenler için anlamlı yöntemlerin bir listesiyle </a:t>
            </a:r>
            <a:r>
              <a:rPr b="1"/>
              <a:t>bileşen arayüzünü</a:t>
            </a:r>
            <a:r>
              <a:rPr/>
              <a:t> bildirin</a:t>
            </a:r>
          </a:p>
          <a:p>
            <a:pPr lvl="0" indent="-342900" marL="342900">
              <a:buAutoNum type="arabicPeriod"/>
            </a:pPr>
            <a:r>
              <a:rPr/>
              <a:t>Basit elemanları temsil edecek bir </a:t>
            </a:r>
            <a:r>
              <a:rPr b="1"/>
              <a:t>yaprak sınıfı</a:t>
            </a:r>
            <a:r>
              <a:rPr/>
              <a:t> oluşturun. Bir programda birden fazla farklı yaprak sınıfı olabilir</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Nasıl Uygulanır (devam)</a:t>
            </a:r>
          </a:p>
        </p:txBody>
      </p:sp>
      <p:sp>
        <p:nvSpPr>
          <p:cNvPr id="3" name="Content Placeholder 2"/>
          <p:cNvSpPr>
            <a:spLocks noGrp="1"/>
          </p:cNvSpPr>
          <p:nvPr>
            <p:ph idx="1"/>
          </p:nvPr>
        </p:nvSpPr>
        <p:spPr/>
        <p:txBody>
          <a:bodyPr/>
          <a:lstStyle/>
          <a:p>
            <a:pPr lvl="0" indent="-342900" marL="342900">
              <a:buAutoNum startAt="4" type="arabicPeriod"/>
            </a:pPr>
            <a:r>
              <a:rPr/>
              <a:t>Karmaşık elemanları temsil edecek bir </a:t>
            </a:r>
            <a:r>
              <a:rPr b="1"/>
              <a:t>kapsayıcı sınıfı</a:t>
            </a:r>
            <a:r>
              <a:rPr/>
              <a:t> oluşturun. Bu sınıfta, alt elemanlara referansları saklamak için bir dizi alanı sağlayın. Dizi hem yaprakları hem de kapsayıcıları saklayabilmelidir, bu nedenle bileşen arayüzü türüyle bildirildiğinden emin olun</a:t>
            </a:r>
          </a:p>
          <a:p>
            <a:pPr lvl="0" indent="-342900" marL="342900">
              <a:buAutoNum startAt="4" type="arabicPeriod"/>
            </a:pPr>
            <a:r>
              <a:rPr/>
              <a:t>Kapsayıcının yöntemlerini uygularken, bir kapsayıcının </a:t>
            </a:r>
            <a:r>
              <a:rPr b="1"/>
              <a:t>işin çoğunu alt elemanlara devretmesi</a:t>
            </a:r>
            <a:r>
              <a:rPr/>
              <a:t> gerektiğini unutmayın</a:t>
            </a:r>
          </a:p>
          <a:p>
            <a:pPr lvl="0" indent="-342900" marL="342900">
              <a:buAutoNum startAt="4" type="arabicPeriod"/>
            </a:pPr>
            <a:r>
              <a:rPr/>
              <a:t>Son olarak, kapsayıcıda alt eleman </a:t>
            </a:r>
            <a:r>
              <a:rPr b="1"/>
              <a:t>ekleme ve kaldırma</a:t>
            </a:r>
            <a:r>
              <a:rPr/>
              <a:t> yöntemlerini tanımlayın. Bu işlemlerin bileşen arayüzünde bildirilebileceğini, bunun Arayüz Ayrıştırma İlkesini ihlal edeceğini, ancak istemcinin tüm elemanları eşit olarak ele almasına olanak tanıyacağını unutmayın</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Avantajlar ve Dezavantajlar</a:t>
            </a:r>
          </a:p>
        </p:txBody>
      </p:sp>
      <p:sp>
        <p:nvSpPr>
          <p:cNvPr id="3" name="Content Placeholder 2"/>
          <p:cNvSpPr>
            <a:spLocks noGrp="1"/>
          </p:cNvSpPr>
          <p:nvPr>
            <p:ph idx="1"/>
          </p:nvPr>
        </p:nvSpPr>
        <p:spPr/>
        <p:txBody>
          <a:bodyPr/>
          <a:lstStyle/>
          <a:p>
            <a:pPr lvl="0" indent="0" marL="0">
              <a:buNone/>
            </a:pPr>
            <a:r>
              <a:rPr b="1"/>
              <a:t>Avantajlar:</a:t>
            </a:r>
            <a:r>
              <a:rPr/>
              <a:t> - Karmaşık ağaç yapılarıyla daha rahat çalışabilirsiniz: </a:t>
            </a:r>
            <a:r>
              <a:rPr b="1"/>
              <a:t>polimorfizm ve özyinelemeyi</a:t>
            </a:r>
            <a:r>
              <a:rPr/>
              <a:t> avantajınıza kullanın - </a:t>
            </a:r>
            <a:r>
              <a:rPr b="1"/>
              <a:t>Açık/Kapalı İlkesi</a:t>
            </a:r>
            <a:r>
              <a:rPr/>
              <a:t>: Nesne ağacıyla çalışan mevcut kodu bozmadan uygulamaya yeni eleman türleri ekleyebilirsiniz</a:t>
            </a:r>
          </a:p>
          <a:p>
            <a:pPr lvl="0" indent="0" marL="0">
              <a:buNone/>
            </a:pPr>
            <a:r>
              <a:rPr b="1"/>
              <a:t>Dezavantajlar:</a:t>
            </a:r>
            <a:r>
              <a:rPr/>
              <a:t> - İşlevsellikleri çok farklı olan sınıflar için </a:t>
            </a:r>
            <a:r>
              <a:rPr b="1"/>
              <a:t>ortak bir arayüz</a:t>
            </a:r>
            <a:r>
              <a:rPr/>
              <a:t> sağlamak zor olabilir. Bazı senaryolarda bileşen arayüzünü aşırı genelleştirmeniz gerekebilir, bu da onu anlamayı zorlaştırır</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Diğer Desenlerle İlişkiler</a:t>
            </a:r>
          </a:p>
        </p:txBody>
      </p:sp>
      <p:sp>
        <p:nvSpPr>
          <p:cNvPr id="3" name="Content Placeholder 2"/>
          <p:cNvSpPr>
            <a:spLocks noGrp="1"/>
          </p:cNvSpPr>
          <p:nvPr>
            <p:ph idx="1"/>
          </p:nvPr>
        </p:nvSpPr>
        <p:spPr/>
        <p:txBody>
          <a:bodyPr/>
          <a:lstStyle/>
          <a:p>
            <a:pPr lvl="0"/>
            <a:r>
              <a:rPr/>
              <a:t>Karmaşık Composite (Bileşik) ağaçları oluştururken </a:t>
            </a:r>
            <a:r>
              <a:rPr b="1"/>
              <a:t>Builder</a:t>
            </a:r>
            <a:r>
              <a:rPr/>
              <a:t> kullanabilirsiniz çünkü inşa adımlarını özyinelemeli olarak çalışacak şekilde programlayabilirsiniz</a:t>
            </a:r>
          </a:p>
          <a:p>
            <a:pPr lvl="0"/>
            <a:r>
              <a:rPr b="1"/>
              <a:t>Chain of Responsibility</a:t>
            </a:r>
            <a:r>
              <a:rPr/>
              <a:t> genellikle Composite (Bileşik) ile birlikte kullanılır. Bir yaprak bileşen bir istek aldığında, bunu nesne ağacının köküne kadar tüm üst bileşenler zincirinden geçirebilir</a:t>
            </a:r>
          </a:p>
          <a:p>
            <a:pPr lvl="0"/>
            <a:r>
              <a:rPr/>
              <a:t>Composite (Bileşik) ağaçlarını dolaşmak için </a:t>
            </a:r>
            <a:r>
              <a:rPr b="1"/>
              <a:t>Iterators</a:t>
            </a:r>
            <a:r>
              <a:rPr/>
              <a:t> kullanabilirsiniz</a:t>
            </a:r>
          </a:p>
          <a:p>
            <a:pPr lvl="0"/>
            <a:r>
              <a:rPr/>
              <a:t>Tüm Composite (Bileşik) ağacı üzerinde bir işlem yürütmek için </a:t>
            </a:r>
            <a:r>
              <a:rPr b="1"/>
              <a:t>Visitor</a:t>
            </a:r>
            <a:r>
              <a:rPr/>
              <a:t> kullanabilirsiniz</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Composite (Bileşik): Diğer Desenlerle İlişkiler (devam)</a:t>
            </a:r>
          </a:p>
        </p:txBody>
      </p:sp>
      <p:sp>
        <p:nvSpPr>
          <p:cNvPr id="3" name="Content Placeholder 2"/>
          <p:cNvSpPr>
            <a:spLocks noGrp="1"/>
          </p:cNvSpPr>
          <p:nvPr>
            <p:ph idx="1"/>
          </p:nvPr>
        </p:nvSpPr>
        <p:spPr/>
        <p:txBody>
          <a:bodyPr/>
          <a:lstStyle/>
          <a:p>
            <a:pPr lvl="0"/>
            <a:r>
              <a:rPr/>
              <a:t>Composite (Bileşik) ağacının paylaşılan yaprak düğümlerini RAM’den tasarruf etmek için </a:t>
            </a:r>
            <a:r>
              <a:rPr b="1"/>
              <a:t>Flyweight (Sinek Siklet)</a:t>
            </a:r>
            <a:r>
              <a:rPr/>
              <a:t> olarak uygulayabilirsiniz</a:t>
            </a:r>
          </a:p>
          <a:p>
            <a:pPr lvl="0"/>
            <a:r>
              <a:rPr b="1"/>
              <a:t>Composite (Bileşik)</a:t>
            </a:r>
            <a:r>
              <a:rPr/>
              <a:t> ve </a:t>
            </a:r>
            <a:r>
              <a:rPr b="1"/>
              <a:t>Decorator (Dekoratör)</a:t>
            </a:r>
            <a:r>
              <a:rPr/>
              <a:t> benzer yapı diyagramlarına sahiptir çünkü her ikisi de özyinelemeli bileşime dayanır. Ancak bir Decorator (Dekoratör), yalnızca bir alt bileşene sahip bir Composite (Bileşik) gibidir. Decorator (Dekoratör) sarılan nesneye ek sorumluluklar eklerken, Composite (Bileşik) yalnızca alt elemanlarının sonuçlarını “toplar”</a:t>
            </a:r>
          </a:p>
          <a:p>
            <a:pPr lvl="0"/>
            <a:r>
              <a:rPr/>
              <a:t>Composite (Bileşik) ve Decorator (Dekoratör)’ü yoğun olarak kullanan tasarımlar genellikle </a:t>
            </a:r>
            <a:r>
              <a:rPr b="1"/>
              <a:t>Prototype</a:t>
            </a:r>
            <a:r>
              <a:rPr/>
              <a:t> kullanmaktan fayda sağlayabilir. Deseni uygulamak, karmaşık yapıları sıfırdan yeniden oluşturmak yerine klonlamanıza olanak tanır</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D: Özet</a:t>
            </a:r>
          </a:p>
        </p:txBody>
      </p:sp>
      <p:sp>
        <p:nvSpPr>
          <p:cNvPr id="3" name="Content Placeholder 2"/>
          <p:cNvSpPr>
            <a:spLocks noGrp="1"/>
          </p:cNvSpPr>
          <p:nvPr>
            <p:ph idx="1"/>
          </p:nvPr>
        </p:nvSpPr>
        <p:spPr/>
        <p:txBody>
          <a:bodyPr/>
          <a:lstStyle/>
          <a:p>
            <a:pPr lvl="0"/>
            <a:r>
              <a:rPr/>
              <a:t>Composite (Bileşik) deseni, nesneleri </a:t>
            </a:r>
            <a:r>
              <a:rPr b="1"/>
              <a:t>ağaç yapıları</a:t>
            </a:r>
            <a:r>
              <a:rPr/>
              <a:t> halinde birleştirmenize ve bunları aynı şekilde ele almanıza olanak tanır</a:t>
            </a:r>
          </a:p>
          <a:p>
            <a:pPr lvl="0"/>
            <a:r>
              <a:rPr/>
              <a:t>Hem basit (yaprak) hem de karmaşık (bileşik) elemanlar için </a:t>
            </a:r>
            <a:r>
              <a:rPr b="1"/>
              <a:t>ortak bir arayüz</a:t>
            </a:r>
            <a:r>
              <a:rPr/>
              <a:t> kullanır</a:t>
            </a:r>
          </a:p>
          <a:p>
            <a:pPr lvl="0"/>
            <a:r>
              <a:rPr/>
              <a:t>Desen, kapsayıcıların hem yaprakları hem de diğer kapsayıcıları tutabildiği </a:t>
            </a:r>
            <a:r>
              <a:rPr b="1"/>
              <a:t>özyinelemeli bileşimi</a:t>
            </a:r>
            <a:r>
              <a:rPr/>
              <a:t> sağlar</a:t>
            </a:r>
          </a:p>
          <a:p>
            <a:pPr lvl="0"/>
            <a:r>
              <a:rPr b="1"/>
              <a:t>Parça-bütün hiyerarşilerini</a:t>
            </a:r>
            <a:r>
              <a:rPr/>
              <a:t> temsil etmek için idealdir</a:t>
            </a:r>
          </a:p>
          <a:p>
            <a:pPr lvl="0"/>
            <a:r>
              <a:rPr/>
              <a:t>Mevcut kodu değiştirmeden yeni eleman türlerine izin vererek </a:t>
            </a:r>
            <a:r>
              <a:rPr b="1"/>
              <a:t>Açık/Kapalı İlkesini</a:t>
            </a:r>
            <a:r>
              <a:rPr/>
              <a:t> takip eder</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E: Decorator (Dekoratör) Deseni</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E: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Amaç</a:t>
            </a:r>
          </a:p>
        </p:txBody>
      </p:sp>
      <p:sp>
        <p:nvSpPr>
          <p:cNvPr id="3" name="Content Placeholder 2"/>
          <p:cNvSpPr>
            <a:spLocks noGrp="1"/>
          </p:cNvSpPr>
          <p:nvPr>
            <p:ph idx="1"/>
          </p:nvPr>
        </p:nvSpPr>
        <p:spPr/>
        <p:txBody>
          <a:bodyPr/>
          <a:lstStyle/>
          <a:p>
            <a:pPr lvl="0" indent="0" marL="0">
              <a:buNone/>
            </a:pPr>
            <a:r>
              <a:rPr b="1"/>
              <a:t>Decorator (Dekoratör)</a:t>
            </a:r>
            <a:r>
              <a:rPr/>
              <a:t>, nesneleri davranışları içeren özel </a:t>
            </a:r>
            <a:r>
              <a:rPr b="1"/>
              <a:t>sarmalayıcı nesnelerin</a:t>
            </a:r>
            <a:r>
              <a:rPr/>
              <a:t> içine yerleştirerek nesnelere </a:t>
            </a:r>
            <a:r>
              <a:rPr b="1"/>
              <a:t>yeni davranışlar</a:t>
            </a:r>
            <a:r>
              <a:rPr/>
              <a:t> eklemenize olanak tanıyan yapısal bir tasarım desenidir.</a:t>
            </a:r>
          </a:p>
          <a:p>
            <a:pPr lvl="0"/>
            <a:r>
              <a:rPr/>
              <a:t>Ayrıca şöyle de bilinir: </a:t>
            </a:r>
            <a:r>
              <a:rPr b="1"/>
              <a:t>Wrapper (Sarmalayıcı)</a:t>
            </a:r>
          </a:p>
          <a:p>
            <a:pPr lvl="0" indent="0" marL="0">
              <a:buNone/>
            </a:pPr>
            <a:r>
              <a:rPr/>
              <a:t>Kaynak: </a:t>
            </a:r>
            <a:r>
              <a:rPr>
                <a:hlinkClick r:id="rId2"/>
              </a:rPr>
              <a:t>refactoring.guru</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Problem</a:t>
            </a:r>
          </a:p>
        </p:txBody>
      </p:sp>
      <p:sp>
        <p:nvSpPr>
          <p:cNvPr id="3" name="Content Placeholder 2"/>
          <p:cNvSpPr>
            <a:spLocks noGrp="1"/>
          </p:cNvSpPr>
          <p:nvPr>
            <p:ph idx="1"/>
          </p:nvPr>
        </p:nvSpPr>
        <p:spPr/>
        <p:txBody>
          <a:bodyPr/>
          <a:lstStyle/>
          <a:p>
            <a:pPr lvl="0" indent="0" marL="0">
              <a:buNone/>
            </a:pPr>
            <a:r>
              <a:rPr/>
              <a:t>Diğer programların kullanıcılarını önemli olaylar hakkında bilgilendirmesine olanak tanıyan bir </a:t>
            </a:r>
            <a:r>
              <a:rPr b="1"/>
              <a:t>bildirim kütüphanesi</a:t>
            </a:r>
            <a:r>
              <a:rPr/>
              <a:t> üzerinde çalıştığınızı hayal edin.</a:t>
            </a:r>
          </a:p>
          <a:p>
            <a:pPr lvl="0" indent="0" marL="0">
              <a:buNone/>
            </a:pPr>
            <a:r>
              <a:rPr/>
              <a:t>Kütüphanenin ilk sürümü, yalnızca birkaç alanı, bir yapıcıyı ve tek bir </a:t>
            </a:r>
            <a:r>
              <a:rPr>
                <a:latin typeface="Courier"/>
              </a:rPr>
              <a:t>send</a:t>
            </a:r>
            <a:r>
              <a:rPr/>
              <a:t> yöntemi olan </a:t>
            </a:r>
            <a:r>
              <a:rPr>
                <a:latin typeface="Courier"/>
              </a:rPr>
              <a:t>Notifier</a:t>
            </a:r>
            <a:r>
              <a:rPr/>
              <a:t> sınıfına dayanıyordu. Yöntem, bir istemciden mesaj argümanı alabilir ve mesajı bir e-posta listesine gönderebilirdi.</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Problem (devam)</a:t>
            </a:r>
          </a:p>
        </p:txBody>
      </p:sp>
      <p:sp>
        <p:nvSpPr>
          <p:cNvPr id="3" name="Content Placeholder 2"/>
          <p:cNvSpPr>
            <a:spLocks noGrp="1"/>
          </p:cNvSpPr>
          <p:nvPr>
            <p:ph idx="1"/>
          </p:nvPr>
        </p:nvSpPr>
        <p:spPr/>
        <p:txBody>
          <a:bodyPr/>
          <a:lstStyle/>
          <a:p>
            <a:pPr lvl="0" indent="0" marL="0">
              <a:buNone/>
            </a:pPr>
            <a:r>
              <a:rPr/>
              <a:t>Bir noktada, kütüphanenin kullanıcılarının yalnızca e-posta bildirimlerinden fazlasını beklediğini fark edersiniz. Birçoğu kritik sorunlar hakkında </a:t>
            </a:r>
            <a:r>
              <a:rPr b="1"/>
              <a:t>SMS</a:t>
            </a:r>
            <a:r>
              <a:rPr/>
              <a:t> almak ister. Diğerleri </a:t>
            </a:r>
            <a:r>
              <a:rPr b="1"/>
              <a:t>Facebook</a:t>
            </a:r>
            <a:r>
              <a:rPr/>
              <a:t>’ta bilgilendirilmek ister. Ve kurumsal kullanıcılar </a:t>
            </a:r>
            <a:r>
              <a:rPr b="1"/>
              <a:t>Slack</a:t>
            </a:r>
            <a:r>
              <a:rPr/>
              <a:t> bildirimleri almayı çok ister.</a:t>
            </a:r>
          </a:p>
          <a:p>
            <a:pPr lvl="0" indent="0" marL="0">
              <a:buNone/>
            </a:pPr>
            <a:r>
              <a:rPr/>
              <a:t>Bu ne kadar zor olabilir? </a:t>
            </a:r>
            <a:r>
              <a:rPr>
                <a:latin typeface="Courier"/>
              </a:rPr>
              <a:t>Notifier</a:t>
            </a:r>
            <a:r>
              <a:rPr/>
              <a:t> sınıfını genişletir ve ek bildirim yöntemlerini yeni alt sınıflara koyarsınız. Artık istemcinin istediği bildirim sınıfını örneklemesi ve tüm sonraki bildirimler için kullanması beklenir.</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Problem (devam)</a:t>
            </a:r>
          </a:p>
        </p:txBody>
      </p:sp>
      <p:sp>
        <p:nvSpPr>
          <p:cNvPr id="3" name="Content Placeholder 2"/>
          <p:cNvSpPr>
            <a:spLocks noGrp="1"/>
          </p:cNvSpPr>
          <p:nvPr>
            <p:ph idx="1"/>
          </p:nvPr>
        </p:nvSpPr>
        <p:spPr/>
        <p:txBody>
          <a:bodyPr/>
          <a:lstStyle/>
          <a:p>
            <a:pPr lvl="0" indent="0" marL="0">
              <a:buNone/>
            </a:pPr>
            <a:r>
              <a:rPr/>
              <a:t>Ama sonra birisi sorar: “Neden </a:t>
            </a:r>
            <a:r>
              <a:rPr b="1"/>
              <a:t>aynı anda birden fazla bildirim türü</a:t>
            </a:r>
            <a:r>
              <a:rPr/>
              <a:t> kullanamıyorsunuz?” Örneğin, eviniz yanıyorsa, muhtemelen her kanal üzerinden bilgilendirilmek istersiniz.</a:t>
            </a:r>
          </a:p>
          <a:p>
            <a:pPr lvl="0" indent="0" marL="0">
              <a:buNone/>
            </a:pPr>
            <a:r>
              <a:rPr/>
              <a:t>Her kombinasyon için özel alt sınıflar oluşturarak bunu çözmeye çalışırsınız. Ancak bu yaklaşımın kodu aşırı şişirdiği çabucak ortaya çıkar – alt sınıfların </a:t>
            </a:r>
            <a:r>
              <a:rPr b="1"/>
              <a:t>kombinatoryal patlaması</a:t>
            </a:r>
            <a:r>
              <a:rPr/>
              <a:t> kod tabanını bakım yapılamaz hale getirir.</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Çözüm</a:t>
            </a:r>
          </a:p>
        </p:txBody>
      </p:sp>
      <p:sp>
        <p:nvSpPr>
          <p:cNvPr id="3" name="Content Placeholder 2"/>
          <p:cNvSpPr>
            <a:spLocks noGrp="1"/>
          </p:cNvSpPr>
          <p:nvPr>
            <p:ph idx="1"/>
          </p:nvPr>
        </p:nvSpPr>
        <p:spPr/>
        <p:txBody>
          <a:bodyPr/>
          <a:lstStyle/>
          <a:p>
            <a:pPr lvl="0" indent="0" marL="0">
              <a:buNone/>
            </a:pPr>
            <a:r>
              <a:rPr/>
              <a:t>Bir nesnenin davranışını değiştirmeniz gerektiğinde, akla gelen ilk şey bir sınıfı genişletmektir. Ancak kalıtımın birkaç ciddi sakıncası vardır:</a:t>
            </a:r>
          </a:p>
          <a:p>
            <a:pPr lvl="0"/>
            <a:r>
              <a:rPr/>
              <a:t>Kalıtım </a:t>
            </a:r>
            <a:r>
              <a:rPr b="1"/>
              <a:t>statiktir</a:t>
            </a:r>
            <a:r>
              <a:rPr/>
              <a:t> – çalışma zamanında mevcut bir nesnenin davranışını değiştiremezsiniz</a:t>
            </a:r>
          </a:p>
          <a:p>
            <a:pPr lvl="0"/>
            <a:r>
              <a:rPr/>
              <a:t>Alt sınıfların yalnızca </a:t>
            </a:r>
            <a:r>
              <a:rPr b="1"/>
              <a:t>bir üst sınıfı</a:t>
            </a:r>
            <a:r>
              <a:rPr/>
              <a:t> olabilir (çoğu dilde)</a:t>
            </a:r>
          </a:p>
          <a:p>
            <a:pPr lvl="0" indent="0" marL="0">
              <a:buNone/>
            </a:pPr>
            <a:r>
              <a:rPr/>
              <a:t>Alternatiflerden biri, Kalıtım yerine </a:t>
            </a:r>
            <a:r>
              <a:rPr b="1"/>
              <a:t>Bileşim/Birleştirme</a:t>
            </a:r>
            <a:r>
              <a:rPr/>
              <a:t> kullanmaktır.</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Çözüm (devam)</a:t>
            </a:r>
          </a:p>
        </p:txBody>
      </p:sp>
      <p:sp>
        <p:nvSpPr>
          <p:cNvPr id="3" name="Content Placeholder 2"/>
          <p:cNvSpPr>
            <a:spLocks noGrp="1"/>
          </p:cNvSpPr>
          <p:nvPr>
            <p:ph idx="1"/>
          </p:nvPr>
        </p:nvSpPr>
        <p:spPr/>
        <p:txBody>
          <a:bodyPr/>
          <a:lstStyle/>
          <a:p>
            <a:pPr lvl="0" indent="0" marL="0">
              <a:buNone/>
            </a:pPr>
            <a:r>
              <a:rPr/>
              <a:t>Bir </a:t>
            </a:r>
            <a:r>
              <a:rPr b="1"/>
              <a:t>sarmalayıcı</a:t>
            </a:r>
            <a:r>
              <a:rPr/>
              <a:t>, bazı </a:t>
            </a:r>
            <a:r>
              <a:rPr b="1"/>
              <a:t>hedef</a:t>
            </a:r>
            <a:r>
              <a:rPr/>
              <a:t> nesnelerle bağlantılı olabilen bir nesnedir. Sarmalayıcı, hedefle aynı yöntem kümesini içerir ve aldığı tüm istekleri hedefe devreder. Ancak sarmalayıcı, isteği hedefe iletmeden </a:t>
            </a:r>
            <a:r>
              <a:rPr b="1"/>
              <a:t>önce veya sonra</a:t>
            </a:r>
            <a:r>
              <a:rPr/>
              <a:t> bir şeyler yaparak sonucu değiştirebilir.</a:t>
            </a:r>
          </a:p>
          <a:p>
            <a:pPr lvl="0" indent="0" marL="0">
              <a:buNone/>
            </a:pPr>
            <a:r>
              <a:rPr/>
              <a:t>Basit bir sarmalayıcı ne zaman gerçek bir dekoratör olur? Sarmalayıcı, sarılan nesneyle </a:t>
            </a:r>
            <a:r>
              <a:rPr b="1"/>
              <a:t>aynı arayüzü</a:t>
            </a:r>
            <a:r>
              <a:rPr/>
              <a:t> uygular. Bu nedenle istemcinin bakış açısından bu nesneler aynıdır.</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Çözüm (devam)</a:t>
            </a:r>
          </a:p>
        </p:txBody>
      </p:sp>
      <p:sp>
        <p:nvSpPr>
          <p:cNvPr id="3" name="Content Placeholder 2"/>
          <p:cNvSpPr>
            <a:spLocks noGrp="1"/>
          </p:cNvSpPr>
          <p:nvPr>
            <p:ph idx="1"/>
          </p:nvPr>
        </p:nvSpPr>
        <p:spPr/>
        <p:txBody>
          <a:bodyPr/>
          <a:lstStyle/>
          <a:p>
            <a:pPr lvl="0" indent="0" marL="0">
              <a:buNone/>
            </a:pPr>
            <a:r>
              <a:rPr/>
              <a:t>Birden fazla sarmalayıcı tek bir nesnenin etrafına </a:t>
            </a:r>
            <a:r>
              <a:rPr b="1"/>
              <a:t>yığılarak</a:t>
            </a:r>
            <a:r>
              <a:rPr/>
              <a:t> tüm davranışları birleştirebilir:</a:t>
            </a:r>
          </a:p>
          <a:p>
            <a:pPr lvl="0" indent="0">
              <a:buNone/>
            </a:pPr>
            <a:r>
              <a:rPr>
                <a:latin typeface="Courier"/>
              </a:rPr>
              <a:t>Encryption(Compression(FileDataSource))</a:t>
            </a:r>
          </a:p>
          <a:p>
            <a:pPr lvl="0" indent="0" marL="0">
              <a:buNone/>
            </a:pPr>
            <a:r>
              <a:rPr/>
              <a:t>İstemci, aynı arayüzü takip eden herhangi bir dekoratörle nesneyi sarabilir. Tüm sarmalayıcılar, yeni alt sınıflar oluşturmadan davranışlarını birleştirir.</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Gerçek Dünya Benzetmesi</a:t>
            </a:r>
          </a:p>
        </p:txBody>
      </p:sp>
      <p:sp>
        <p:nvSpPr>
          <p:cNvPr id="3" name="Content Placeholder 2"/>
          <p:cNvSpPr>
            <a:spLocks noGrp="1"/>
          </p:cNvSpPr>
          <p:nvPr>
            <p:ph idx="1"/>
          </p:nvPr>
        </p:nvSpPr>
        <p:spPr/>
        <p:txBody>
          <a:bodyPr/>
          <a:lstStyle/>
          <a:p>
            <a:pPr lvl="0" indent="0" marL="0">
              <a:buNone/>
            </a:pPr>
            <a:r>
              <a:rPr b="1"/>
              <a:t>Giysi giymek</a:t>
            </a:r>
            <a:r>
              <a:rPr/>
              <a:t> dekoratör kullanımının bir örneğidir. Üşüdüğünüzde kendinizi bir kazağa sararsınız. Hâlâ üşüyorsanız üzerine bir ceket giyebilirsiniz. Yağmur yağıyorsa bir yağmurluk giyebilirsiniz.</a:t>
            </a:r>
          </a:p>
          <a:p>
            <a:pPr lvl="0" indent="0" marL="0">
              <a:buNone/>
            </a:pPr>
            <a:r>
              <a:rPr/>
              <a:t>Tüm bu giysiler temel davranışınızı </a:t>
            </a:r>
            <a:r>
              <a:rPr b="1"/>
              <a:t>genişletir</a:t>
            </a:r>
            <a:r>
              <a:rPr/>
              <a:t> ancak sizin parçanız değildir ve ihtiyacınız olmadığında herhangi bir giysi parçasını kolayca </a:t>
            </a:r>
            <a:r>
              <a:rPr b="1"/>
              <a:t>çıkarabilirsiniz</a:t>
            </a:r>
            <a:r>
              <a:rPr/>
              <a:t>.</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Yapı</a:t>
            </a:r>
          </a:p>
        </p:txBody>
      </p:sp>
      <p:sp>
        <p:nvSpPr>
          <p:cNvPr id="3" name="Content Placeholder 2"/>
          <p:cNvSpPr>
            <a:spLocks noGrp="1"/>
          </p:cNvSpPr>
          <p:nvPr>
            <p:ph idx="1"/>
          </p:nvPr>
        </p:nvSpPr>
        <p:spPr/>
        <p:txBody>
          <a:bodyPr/>
          <a:lstStyle/>
          <a:p>
            <a:pPr lvl="0" indent="-342900" marL="342900">
              <a:buAutoNum type="arabicPeriod"/>
            </a:pPr>
            <a:r>
              <a:rPr b="1"/>
              <a:t>Bileşen</a:t>
            </a:r>
            <a:r>
              <a:rPr/>
              <a:t> – Hem sarmalayıcılar hem de sarılan nesneler için ortak arayüzü bildirir</a:t>
            </a:r>
          </a:p>
          <a:p>
            <a:pPr lvl="0" indent="-342900" marL="342900">
              <a:buAutoNum type="arabicPeriod"/>
            </a:pPr>
            <a:r>
              <a:rPr b="1"/>
              <a:t>Somut Bileşen</a:t>
            </a:r>
            <a:r>
              <a:rPr/>
              <a:t> – Sarılan nesnelerin sınıfı. Dekoratörler tarafından değiştirilebilen temel davranışı tanımlar</a:t>
            </a:r>
          </a:p>
          <a:p>
            <a:pPr lvl="0" indent="-342900" marL="342900">
              <a:buAutoNum type="arabicPeriod"/>
            </a:pPr>
            <a:r>
              <a:rPr b="1"/>
              <a:t>Temel Dekoratör</a:t>
            </a:r>
            <a:r>
              <a:rPr/>
              <a:t> – Sarılan bir nesneye referans tutan bir alana sahip sınıf. Alanın türü, hem somut bileşenleri hem de dekoratörleri içerebilmesi için bileşen arayüzü olarak bildirilmelidir. Temel dekoratör tüm işlemleri sarılan nesneye devreder</a:t>
            </a:r>
          </a:p>
          <a:p>
            <a:pPr lvl="0" indent="-342900" marL="342900">
              <a:buAutoNum type="arabicPeriod"/>
            </a:pPr>
            <a:r>
              <a:rPr b="1"/>
              <a:t>Somut Dekoratörler</a:t>
            </a:r>
            <a:r>
              <a:rPr/>
              <a:t> – Bileşenlere dinamik olarak eklenebilen ekstra davranışları tanımlar. Temel dekoratörün yöntemlerini geçersiz kılar ve davranışlarını üst yöntem çağrısından önce veya sonra yürütür</a:t>
            </a:r>
          </a:p>
          <a:p>
            <a:pPr lvl="0" indent="-342900" marL="342900">
              <a:buAutoNum type="arabicPeriod"/>
            </a:pPr>
            <a:r>
              <a:rPr b="1"/>
              <a:t>İstemci</a:t>
            </a:r>
            <a:r>
              <a:rPr/>
              <a:t> – Bileşenleri birden çok dekoratör katmanıyla sarabilir, tüm nesnelerle bileşen arayüzü üzerinden çalıştığı sürece</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Decorator - Sınıf Diyagramı</a:t>
            </a:r>
          </a:p>
        </p:txBody>
      </p:sp>
      <p:pic>
        <p:nvPicPr>
          <p:cNvPr descr="assets/decorator-structure.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Bileşen Arayüzü</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component interface defines operations that can be</a:t>
            </a:r>
            <a:br/>
            <a:r>
              <a:rPr i="1">
                <a:solidFill>
                  <a:srgbClr val="60A0B0"/>
                </a:solidFill>
                <a:latin typeface="Courier"/>
              </a:rPr>
              <a:t>// altered by decorators.</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b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br/>
            <a:r>
              <a:rPr>
                <a:solidFill>
                  <a:srgbClr val="666666"/>
                </a:solidFill>
                <a:latin typeface="Courier"/>
              </a:rPr>
              <a:t>}</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Somut Bileşen</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io</a:t>
            </a:r>
            <a:r>
              <a:rPr>
                <a:solidFill>
                  <a:srgbClr val="666666"/>
                </a:solidFill>
                <a:latin typeface="Courier"/>
              </a:rPr>
              <a:t>.*;</a:t>
            </a:r>
            <a:br/>
            <a:br/>
            <a:r>
              <a:rPr i="1">
                <a:solidFill>
                  <a:srgbClr val="60A0B0"/>
                </a:solidFill>
                <a:latin typeface="Courier"/>
              </a:rPr>
              <a:t>// Concrete components provide default implementations</a:t>
            </a:r>
            <a:br/>
            <a:r>
              <a:rPr i="1">
                <a:solidFill>
                  <a:srgbClr val="60A0B0"/>
                </a:solidFill>
                <a:latin typeface="Courier"/>
              </a:rPr>
              <a:t>// of the operations.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a:t>
            </a:r>
            <a:r>
              <a:rPr>
                <a:solidFill>
                  <a:srgbClr val="008000"/>
                </a:solidFill>
                <a:latin typeface="Courier"/>
              </a:rPr>
              <a:t>FileDataSource</a:t>
            </a:r>
            <a:r>
              <a:rPr>
                <a:latin typeface="Courier"/>
              </a:rPr>
              <a:t> </a:t>
            </a:r>
            <a:r>
              <a:rPr b="1">
                <a:solidFill>
                  <a:srgbClr val="007020"/>
                </a:solidFill>
                <a:latin typeface="Courier"/>
              </a:rPr>
              <a:t>implements</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filename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FileDataSource</a:t>
            </a:r>
            <a:r>
              <a:rPr>
                <a:solidFill>
                  <a:srgbClr val="666666"/>
                </a:solidFill>
                <a:latin typeface="Courier"/>
              </a:rPr>
              <a:t>(</a:t>
            </a:r>
            <a:r>
              <a:rPr>
                <a:solidFill>
                  <a:srgbClr val="008000"/>
                </a:solidFill>
                <a:latin typeface="Courier"/>
              </a:rPr>
              <a:t>String</a:t>
            </a:r>
            <a:r>
              <a:rPr>
                <a:latin typeface="Courier"/>
              </a:rPr>
              <a:t> filename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filename</a:t>
            </a:r>
            <a:r>
              <a:rPr>
                <a:latin typeface="Courier"/>
              </a:rPr>
              <a:t> </a:t>
            </a:r>
            <a:r>
              <a:rPr>
                <a:solidFill>
                  <a:srgbClr val="666666"/>
                </a:solidFill>
                <a:latin typeface="Courier"/>
              </a:rPr>
              <a:t>=</a:t>
            </a:r>
            <a:r>
              <a:rPr>
                <a:latin typeface="Courier"/>
              </a:rPr>
              <a:t> filename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try</a:t>
            </a:r>
            <a:r>
              <a:rPr>
                <a:latin typeface="Courier"/>
              </a:rPr>
              <a:t> </a:t>
            </a:r>
            <a:r>
              <a:rPr>
                <a:solidFill>
                  <a:srgbClr val="666666"/>
                </a:solidFill>
                <a:latin typeface="Courier"/>
              </a:rPr>
              <a:t>(</a:t>
            </a:r>
            <a:r>
              <a:rPr>
                <a:solidFill>
                  <a:srgbClr val="008000"/>
                </a:solidFill>
                <a:latin typeface="Courier"/>
              </a:rPr>
              <a:t>FileWriter</a:t>
            </a:r>
            <a:r>
              <a:rPr>
                <a:latin typeface="Courier"/>
              </a:rPr>
              <a:t> writer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FileWriter</a:t>
            </a:r>
            <a:r>
              <a:rPr>
                <a:solidFill>
                  <a:srgbClr val="666666"/>
                </a:solidFill>
                <a:latin typeface="Courier"/>
              </a:rPr>
              <a:t>(</a:t>
            </a:r>
            <a:r>
              <a:rPr>
                <a:latin typeface="Courier"/>
              </a:rPr>
              <a:t>filename</a:t>
            </a:r>
            <a:r>
              <a:rPr>
                <a:solidFill>
                  <a:srgbClr val="666666"/>
                </a:solidFill>
                <a:latin typeface="Courier"/>
              </a:rPr>
              <a:t>))</a:t>
            </a:r>
            <a:r>
              <a:rPr>
                <a:latin typeface="Courier"/>
              </a:rPr>
              <a:t> </a:t>
            </a:r>
            <a:r>
              <a:rPr>
                <a:solidFill>
                  <a:srgbClr val="666666"/>
                </a:solidFill>
                <a:latin typeface="Courier"/>
              </a:rPr>
              <a:t>{</a:t>
            </a:r>
            <a:br/>
            <a:r>
              <a:rPr>
                <a:latin typeface="Courier"/>
              </a:rPr>
              <a:t>            writer</a:t>
            </a:r>
            <a:r>
              <a:rPr>
                <a:solidFill>
                  <a:srgbClr val="666666"/>
                </a:solidFill>
                <a:latin typeface="Courier"/>
              </a:rPr>
              <a:t>.</a:t>
            </a:r>
            <a:r>
              <a:rPr>
                <a:solidFill>
                  <a:srgbClr val="06287E"/>
                </a:solidFill>
                <a:latin typeface="Courier"/>
              </a:rPr>
              <a:t>write</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IOException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e</a:t>
            </a:r>
            <a:r>
              <a:rPr>
                <a:solidFill>
                  <a:srgbClr val="666666"/>
                </a:solidFill>
                <a:latin typeface="Courier"/>
              </a:rPr>
              <a:t>.</a:t>
            </a:r>
            <a:r>
              <a:rPr>
                <a:solidFill>
                  <a:srgbClr val="06287E"/>
                </a:solidFill>
                <a:latin typeface="Courier"/>
              </a:rPr>
              <a:t>printStackTrace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try</a:t>
            </a:r>
            <a:r>
              <a:rPr>
                <a:latin typeface="Courier"/>
              </a:rPr>
              <a:t> </a:t>
            </a:r>
            <a:r>
              <a:rPr>
                <a:solidFill>
                  <a:srgbClr val="666666"/>
                </a:solidFill>
                <a:latin typeface="Courier"/>
              </a:rPr>
              <a:t>(</a:t>
            </a:r>
            <a:r>
              <a:rPr>
                <a:solidFill>
                  <a:srgbClr val="008000"/>
                </a:solidFill>
                <a:latin typeface="Courier"/>
              </a:rPr>
              <a:t>BufferedReader</a:t>
            </a:r>
            <a:r>
              <a:rPr>
                <a:latin typeface="Courier"/>
              </a:rPr>
              <a:t> reader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BufferedReader</a:t>
            </a:r>
            <a:r>
              <a:rPr>
                <a:solidFill>
                  <a:srgbClr val="666666"/>
                </a:solidFill>
                <a:latin typeface="Courier"/>
              </a:rPr>
              <a:t>(</a:t>
            </a:r>
            <a:r>
              <a:rPr b="1">
                <a:solidFill>
                  <a:srgbClr val="007020"/>
                </a:solidFill>
                <a:latin typeface="Courier"/>
              </a:rPr>
              <a:t>new</a:t>
            </a:r>
            <a:r>
              <a:rPr>
                <a:latin typeface="Courier"/>
              </a:rPr>
              <a:t> </a:t>
            </a:r>
            <a:r>
              <a:rPr>
                <a:solidFill>
                  <a:srgbClr val="008000"/>
                </a:solidFill>
                <a:latin typeface="Courier"/>
              </a:rPr>
              <a:t>FileReader</a:t>
            </a:r>
            <a:r>
              <a:rPr>
                <a:solidFill>
                  <a:srgbClr val="666666"/>
                </a:solidFill>
                <a:latin typeface="Courier"/>
              </a:rPr>
              <a:t>(</a:t>
            </a:r>
            <a:r>
              <a:rPr>
                <a:latin typeface="Courier"/>
              </a:rPr>
              <a:t>filename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StringBuilder</a:t>
            </a:r>
            <a:r>
              <a:rPr>
                <a:latin typeface="Courier"/>
              </a:rPr>
              <a:t> sb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StringBuilder</a:t>
            </a:r>
            <a:r>
              <a:rPr>
                <a:solidFill>
                  <a:srgbClr val="666666"/>
                </a:solidFill>
                <a:latin typeface="Courier"/>
              </a:rPr>
              <a:t>();</a:t>
            </a:r>
            <a:br/>
            <a:r>
              <a:rPr>
                <a:latin typeface="Courier"/>
              </a:rPr>
              <a:t>            </a:t>
            </a:r>
            <a:r>
              <a:rPr>
                <a:solidFill>
                  <a:srgbClr val="008000"/>
                </a:solidFill>
                <a:latin typeface="Courier"/>
              </a:rPr>
              <a:t>String</a:t>
            </a:r>
            <a:r>
              <a:rPr>
                <a:latin typeface="Courier"/>
              </a:rPr>
              <a:t> line</a:t>
            </a:r>
            <a:r>
              <a:rPr>
                <a:solidFill>
                  <a:srgbClr val="666666"/>
                </a:solidFill>
                <a:latin typeface="Courier"/>
              </a:rPr>
              <a:t>;</a:t>
            </a:r>
            <a:br/>
            <a:r>
              <a:rPr>
                <a:latin typeface="Courier"/>
              </a:rPr>
              <a:t>            </a:t>
            </a:r>
            <a:r>
              <a:rPr b="1">
                <a:solidFill>
                  <a:srgbClr val="007020"/>
                </a:solidFill>
                <a:latin typeface="Courier"/>
              </a:rPr>
              <a:t>while</a:t>
            </a:r>
            <a:r>
              <a:rPr>
                <a:latin typeface="Courier"/>
              </a:rPr>
              <a:t> </a:t>
            </a:r>
            <a:r>
              <a:rPr>
                <a:solidFill>
                  <a:srgbClr val="666666"/>
                </a:solidFill>
                <a:latin typeface="Courier"/>
              </a:rPr>
              <a:t>((</a:t>
            </a:r>
            <a:r>
              <a:rPr>
                <a:latin typeface="Courier"/>
              </a:rPr>
              <a:t>line </a:t>
            </a:r>
            <a:r>
              <a:rPr>
                <a:solidFill>
                  <a:srgbClr val="666666"/>
                </a:solidFill>
                <a:latin typeface="Courier"/>
              </a:rPr>
              <a:t>=</a:t>
            </a:r>
            <a:r>
              <a:rPr>
                <a:latin typeface="Courier"/>
              </a:rPr>
              <a:t> reader</a:t>
            </a:r>
            <a:r>
              <a:rPr>
                <a:solidFill>
                  <a:srgbClr val="666666"/>
                </a:solidFill>
                <a:latin typeface="Courier"/>
              </a:rPr>
              <a:t>.</a:t>
            </a:r>
            <a:r>
              <a:rPr>
                <a:solidFill>
                  <a:srgbClr val="06287E"/>
                </a:solidFill>
                <a:latin typeface="Courier"/>
              </a:rPr>
              <a:t>readLine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r>
              <a:rPr>
                <a:latin typeface="Courier"/>
              </a:rPr>
              <a:t> </a:t>
            </a:r>
            <a:r>
              <a:rPr>
                <a:solidFill>
                  <a:srgbClr val="666666"/>
                </a:solidFill>
                <a:latin typeface="Courier"/>
              </a:rPr>
              <a:t>{</a:t>
            </a:r>
            <a:br/>
            <a:r>
              <a:rPr>
                <a:latin typeface="Courier"/>
              </a:rPr>
              <a:t>                sb</a:t>
            </a:r>
            <a:r>
              <a:rPr>
                <a:solidFill>
                  <a:srgbClr val="666666"/>
                </a:solidFill>
                <a:latin typeface="Courier"/>
              </a:rPr>
              <a:t>.</a:t>
            </a:r>
            <a:r>
              <a:rPr>
                <a:solidFill>
                  <a:srgbClr val="06287E"/>
                </a:solidFill>
                <a:latin typeface="Courier"/>
              </a:rPr>
              <a:t>append</a:t>
            </a:r>
            <a:r>
              <a:rPr>
                <a:solidFill>
                  <a:srgbClr val="666666"/>
                </a:solidFill>
                <a:latin typeface="Courier"/>
              </a:rPr>
              <a:t>(</a:t>
            </a:r>
            <a:r>
              <a:rPr>
                <a:latin typeface="Courier"/>
              </a:rPr>
              <a:t>line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sb</a:t>
            </a:r>
            <a:r>
              <a:rPr>
                <a:solidFill>
                  <a:srgbClr val="666666"/>
                </a:solidFill>
                <a:latin typeface="Courier"/>
              </a:rPr>
              <a:t>.</a:t>
            </a:r>
            <a:r>
              <a:rPr>
                <a:solidFill>
                  <a:srgbClr val="06287E"/>
                </a:solidFill>
                <a:latin typeface="Courier"/>
              </a:rPr>
              <a:t>toString</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catch</a:t>
            </a:r>
            <a:r>
              <a:rPr>
                <a:latin typeface="Courier"/>
              </a:rPr>
              <a:t> </a:t>
            </a:r>
            <a:r>
              <a:rPr>
                <a:solidFill>
                  <a:srgbClr val="666666"/>
                </a:solidFill>
                <a:latin typeface="Courier"/>
              </a:rPr>
              <a:t>(</a:t>
            </a:r>
            <a:r>
              <a:rPr>
                <a:solidFill>
                  <a:srgbClr val="008000"/>
                </a:solidFill>
                <a:latin typeface="Courier"/>
              </a:rPr>
              <a:t>IOException</a:t>
            </a:r>
            <a:r>
              <a:rPr>
                <a:latin typeface="Courier"/>
              </a:rPr>
              <a:t> 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Temel Dekoratör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base decorator class follows the same interface as</a:t>
            </a:r>
            <a:br/>
            <a:r>
              <a:rPr i="1">
                <a:solidFill>
                  <a:srgbClr val="60A0B0"/>
                </a:solidFill>
                <a:latin typeface="Courier"/>
              </a:rPr>
              <a:t>// the other components. The primary purpose of this class</a:t>
            </a:r>
            <a:br/>
            <a:r>
              <a:rPr i="1">
                <a:solidFill>
                  <a:srgbClr val="60A0B0"/>
                </a:solidFill>
                <a:latin typeface="Courier"/>
              </a:rPr>
              <a:t>// is to define the wrapping interface for all concrete</a:t>
            </a:r>
            <a:br/>
            <a:r>
              <a:rPr i="1">
                <a:solidFill>
                  <a:srgbClr val="60A0B0"/>
                </a:solidFill>
                <a:latin typeface="Courier"/>
              </a:rPr>
              <a:t>// decorators. The default implementation of the wrapping</a:t>
            </a:r>
            <a:br/>
            <a:r>
              <a:rPr i="1">
                <a:solidFill>
                  <a:srgbClr val="60A0B0"/>
                </a:solidFill>
                <a:latin typeface="Courier"/>
              </a:rPr>
              <a:t>// code might include a field for storing a wrapped</a:t>
            </a:r>
            <a:br/>
            <a:r>
              <a:rPr i="1">
                <a:solidFill>
                  <a:srgbClr val="60A0B0"/>
                </a:solidFill>
                <a:latin typeface="Courier"/>
              </a:rPr>
              <a:t>// component and the means to initialize it.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DataSourceDecorator </a:t>
            </a:r>
            <a:r>
              <a:rPr b="1">
                <a:solidFill>
                  <a:srgbClr val="007020"/>
                </a:solidFill>
                <a:latin typeface="Courier"/>
              </a:rPr>
              <a:t>implements</a:t>
            </a:r>
            <a:r>
              <a:rPr>
                <a:latin typeface="Courier"/>
              </a:rPr>
              <a:t> </a:t>
            </a:r>
            <a:r>
              <a:rPr>
                <a:solidFill>
                  <a:srgbClr val="008000"/>
                </a:solidFill>
                <a:latin typeface="Courier"/>
              </a:rPr>
              <a:t>DataSource</a:t>
            </a:r>
            <a:r>
              <a:rPr>
                <a:latin typeface="Courier"/>
              </a:rPr>
              <a:t>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008000"/>
                </a:solidFill>
                <a:latin typeface="Courier"/>
              </a:rPr>
              <a:t>DataSource</a:t>
            </a:r>
            <a:r>
              <a:rPr>
                <a:latin typeface="Courier"/>
              </a:rPr>
              <a:t> wrappee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DataSourceDecorator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wrappee</a:t>
            </a:r>
            <a:r>
              <a:rPr>
                <a:latin typeface="Courier"/>
              </a:rPr>
              <a:t> </a:t>
            </a:r>
            <a:r>
              <a:rPr>
                <a:solidFill>
                  <a:srgbClr val="666666"/>
                </a:solidFill>
                <a:latin typeface="Courier"/>
              </a:rPr>
              <a:t>=</a:t>
            </a:r>
            <a:r>
              <a:rPr>
                <a:latin typeface="Courier"/>
              </a:rPr>
              <a:t> 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wrappee</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wrappee</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Somut Dekoratörler</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Base64</a:t>
            </a:r>
            <a:r>
              <a:rPr>
                <a:solidFill>
                  <a:srgbClr val="666666"/>
                </a:solidFill>
                <a:latin typeface="Courier"/>
              </a:rPr>
              <a:t>;</a:t>
            </a:r>
            <a:br/>
            <a:br/>
            <a:r>
              <a:rPr i="1">
                <a:solidFill>
                  <a:srgbClr val="60A0B0"/>
                </a:solidFill>
                <a:latin typeface="Courier"/>
              </a:rPr>
              <a:t>// Concrete decorators must call methods on the wrapped</a:t>
            </a:r>
            <a:br/>
            <a:r>
              <a:rPr i="1">
                <a:solidFill>
                  <a:srgbClr val="60A0B0"/>
                </a:solidFill>
                <a:latin typeface="Courier"/>
              </a:rPr>
              <a:t>// object, but may add something of their own to the result.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EncryptionDecorator </a:t>
            </a:r>
            <a:r>
              <a:rPr b="1">
                <a:solidFill>
                  <a:srgbClr val="007020"/>
                </a:solidFill>
                <a:latin typeface="Courier"/>
              </a:rPr>
              <a:t>extends</a:t>
            </a:r>
            <a:r>
              <a:rPr>
                <a:latin typeface="Courier"/>
              </a:rPr>
              <a:t> DataSourceDecorator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EncryptionDecorator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Encrypt data before writing</a:t>
            </a:r>
            <a:br/>
            <a:r>
              <a:rPr>
                <a:latin typeface="Courier"/>
              </a:rPr>
              <a:t>        </a:t>
            </a:r>
            <a:r>
              <a:rPr>
                <a:solidFill>
                  <a:srgbClr val="008000"/>
                </a:solidFill>
                <a:latin typeface="Courier"/>
              </a:rPr>
              <a:t>String</a:t>
            </a:r>
            <a:r>
              <a:rPr>
                <a:latin typeface="Courier"/>
              </a:rPr>
              <a:t> encrypted </a:t>
            </a:r>
            <a:r>
              <a:rPr>
                <a:solidFill>
                  <a:srgbClr val="666666"/>
                </a:solidFill>
                <a:latin typeface="Courier"/>
              </a:rPr>
              <a:t>=</a:t>
            </a:r>
            <a:r>
              <a:rPr>
                <a:latin typeface="Courier"/>
              </a:rPr>
              <a:t> Base64</a:t>
            </a:r>
            <a:r>
              <a:rPr>
                <a:solidFill>
                  <a:srgbClr val="666666"/>
                </a:solidFill>
                <a:latin typeface="Courier"/>
              </a:rPr>
              <a:t>.</a:t>
            </a:r>
            <a:r>
              <a:rPr>
                <a:solidFill>
                  <a:srgbClr val="06287E"/>
                </a:solidFill>
                <a:latin typeface="Courier"/>
              </a:rPr>
              <a:t>getEncoder</a:t>
            </a:r>
            <a:r>
              <a:rPr>
                <a:solidFill>
                  <a:srgbClr val="666666"/>
                </a:solidFill>
                <a:latin typeface="Courier"/>
              </a:rPr>
              <a:t>()</a:t>
            </a:r>
            <a:br/>
            <a:r>
              <a:rPr>
                <a:latin typeface="Courier"/>
              </a:rPr>
              <a:t>            </a:t>
            </a:r>
            <a:r>
              <a:rPr>
                <a:solidFill>
                  <a:srgbClr val="666666"/>
                </a:solidFill>
                <a:latin typeface="Courier"/>
              </a:rPr>
              <a:t>.</a:t>
            </a:r>
            <a:r>
              <a:rPr>
                <a:solidFill>
                  <a:srgbClr val="06287E"/>
                </a:solidFill>
                <a:latin typeface="Courier"/>
              </a:rPr>
              <a:t>encodeToString</a:t>
            </a:r>
            <a:r>
              <a:rPr>
                <a:solidFill>
                  <a:srgbClr val="666666"/>
                </a:solidFill>
                <a:latin typeface="Courier"/>
              </a:rPr>
              <a:t>(</a:t>
            </a:r>
            <a:r>
              <a:rPr>
                <a:latin typeface="Courier"/>
              </a:rPr>
              <a:t>data</a:t>
            </a:r>
            <a:r>
              <a:rPr>
                <a:solidFill>
                  <a:srgbClr val="666666"/>
                </a:solidFill>
                <a:latin typeface="Courier"/>
              </a:rPr>
              <a:t>.</a:t>
            </a:r>
            <a:r>
              <a:rPr>
                <a:solidFill>
                  <a:srgbClr val="06287E"/>
                </a:solidFill>
                <a:latin typeface="Courier"/>
              </a:rPr>
              <a:t>getBytes</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encrypted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Decrypt data after reading</a:t>
            </a:r>
            <a:br/>
            <a:r>
              <a:rPr>
                <a:latin typeface="Courier"/>
              </a:rPr>
              <a:t>        </a:t>
            </a:r>
            <a:r>
              <a:rPr>
                <a:solidFill>
                  <a:srgbClr val="008000"/>
                </a:solidFill>
                <a:latin typeface="Courier"/>
              </a:rPr>
              <a:t>String</a:t>
            </a:r>
            <a:r>
              <a:rPr>
                <a:latin typeface="Courier"/>
              </a:rPr>
              <a:t> data </a:t>
            </a:r>
            <a:r>
              <a:rPr>
                <a:solidFill>
                  <a:srgbClr val="666666"/>
                </a:solidFill>
                <a:latin typeface="Courier"/>
              </a:rPr>
              <a:t>=</a:t>
            </a: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String</a:t>
            </a:r>
            <a:r>
              <a:rPr>
                <a:solidFill>
                  <a:srgbClr val="666666"/>
                </a:solidFill>
                <a:latin typeface="Courier"/>
              </a:rPr>
              <a:t>(</a:t>
            </a:r>
            <a:r>
              <a:rPr>
                <a:latin typeface="Courier"/>
              </a:rPr>
              <a:t>Base64</a:t>
            </a:r>
            <a:r>
              <a:rPr>
                <a:solidFill>
                  <a:srgbClr val="666666"/>
                </a:solidFill>
                <a:latin typeface="Courier"/>
              </a:rPr>
              <a:t>.</a:t>
            </a:r>
            <a:r>
              <a:rPr>
                <a:solidFill>
                  <a:srgbClr val="06287E"/>
                </a:solidFill>
                <a:latin typeface="Courier"/>
              </a:rPr>
              <a:t>getDecoder</a:t>
            </a:r>
            <a:r>
              <a:rPr>
                <a:solidFill>
                  <a:srgbClr val="666666"/>
                </a:solidFill>
                <a:latin typeface="Courier"/>
              </a:rPr>
              <a:t>().</a:t>
            </a:r>
            <a:r>
              <a:rPr>
                <a:solidFill>
                  <a:srgbClr val="06287E"/>
                </a:solidFill>
                <a:latin typeface="Courier"/>
              </a:rPr>
              <a:t>decode</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Somut Dekoratörler (devam)</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io</a:t>
            </a:r>
            <a:r>
              <a:rPr>
                <a:solidFill>
                  <a:srgbClr val="666666"/>
                </a:solidFill>
                <a:latin typeface="Courier"/>
              </a:rPr>
              <a:t>.</a:t>
            </a:r>
            <a:r>
              <a:rPr b="1">
                <a:solidFill>
                  <a:srgbClr val="008000"/>
                </a:solidFill>
                <a:latin typeface="Courier"/>
              </a:rPr>
              <a:t>ByteArrayOutputStream</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zip</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CompressionDecorator </a:t>
            </a:r>
            <a:r>
              <a:rPr b="1">
                <a:solidFill>
                  <a:srgbClr val="007020"/>
                </a:solidFill>
                <a:latin typeface="Courier"/>
              </a:rPr>
              <a:t>extends</a:t>
            </a:r>
            <a:r>
              <a:rPr>
                <a:latin typeface="Courier"/>
              </a:rPr>
              <a:t> DataSourceDecorator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CompressionDecorator</a:t>
            </a:r>
            <a:r>
              <a:rPr>
                <a:solidFill>
                  <a:srgbClr val="666666"/>
                </a:solidFill>
                <a:latin typeface="Courier"/>
              </a:rPr>
              <a:t>(</a:t>
            </a:r>
            <a:r>
              <a:rPr>
                <a:solidFill>
                  <a:srgbClr val="008000"/>
                </a:solidFill>
                <a:latin typeface="Courier"/>
              </a:rPr>
              <a:t>DataSource</a:t>
            </a:r>
            <a:r>
              <a:rPr>
                <a:latin typeface="Courier"/>
              </a:rPr>
              <a:t> source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latin typeface="Courier"/>
              </a:rPr>
              <a:t>source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writeData</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Compress data before writing</a:t>
            </a:r>
            <a:br/>
            <a:r>
              <a:rPr>
                <a:latin typeface="Courier"/>
              </a:rPr>
              <a:t>        </a:t>
            </a:r>
            <a:r>
              <a:rPr>
                <a:solidFill>
                  <a:srgbClr val="008000"/>
                </a:solidFill>
                <a:latin typeface="Courier"/>
              </a:rPr>
              <a:t>String</a:t>
            </a:r>
            <a:r>
              <a:rPr>
                <a:latin typeface="Courier"/>
              </a:rPr>
              <a:t> compressed </a:t>
            </a:r>
            <a:r>
              <a:rPr>
                <a:solidFill>
                  <a:srgbClr val="666666"/>
                </a:solidFill>
                <a:latin typeface="Courier"/>
              </a:rPr>
              <a:t>=</a:t>
            </a:r>
            <a:r>
              <a:rPr>
                <a:latin typeface="Courier"/>
              </a:rPr>
              <a:t> </a:t>
            </a:r>
            <a:r>
              <a:rPr>
                <a:solidFill>
                  <a:srgbClr val="06287E"/>
                </a:solidFill>
                <a:latin typeface="Courier"/>
              </a:rPr>
              <a:t>compress</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compressed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readData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Decompress data after reading</a:t>
            </a:r>
            <a:br/>
            <a:r>
              <a:rPr>
                <a:latin typeface="Courier"/>
              </a:rPr>
              <a:t>        </a:t>
            </a:r>
            <a:r>
              <a:rPr>
                <a:solidFill>
                  <a:srgbClr val="008000"/>
                </a:solidFill>
                <a:latin typeface="Courier"/>
              </a:rPr>
              <a:t>String</a:t>
            </a:r>
            <a:r>
              <a:rPr>
                <a:latin typeface="Courier"/>
              </a:rPr>
              <a:t> data </a:t>
            </a:r>
            <a:r>
              <a:rPr>
                <a:solidFill>
                  <a:srgbClr val="666666"/>
                </a:solidFill>
                <a:latin typeface="Courier"/>
              </a:rPr>
              <a:t>=</a:t>
            </a:r>
            <a:r>
              <a:rPr>
                <a:latin typeface="Courier"/>
              </a:rPr>
              <a:t> </a:t>
            </a:r>
            <a:r>
              <a:rPr b="1">
                <a:solidFill>
                  <a:srgbClr val="007020"/>
                </a:solidFill>
                <a:latin typeface="Courier"/>
              </a:rPr>
              <a:t>super</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06287E"/>
                </a:solidFill>
                <a:latin typeface="Courier"/>
              </a:rPr>
              <a:t>decompress</a:t>
            </a:r>
            <a:r>
              <a:rPr>
                <a:solidFill>
                  <a:srgbClr val="666666"/>
                </a:solidFill>
                <a:latin typeface="Courier"/>
              </a:rPr>
              <a:t>(</a:t>
            </a:r>
            <a:r>
              <a:rPr>
                <a:latin typeface="Courier"/>
              </a:rPr>
              <a:t>data</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a:t>
            </a:r>
            <a:r>
              <a:rPr>
                <a:solidFill>
                  <a:srgbClr val="06287E"/>
                </a:solidFill>
                <a:latin typeface="Courier"/>
              </a:rPr>
              <a:t>compress</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Compression logic here</a:t>
            </a:r>
            <a:b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a:t>
            </a:r>
            <a:r>
              <a:rPr>
                <a:solidFill>
                  <a:srgbClr val="06287E"/>
                </a:solidFill>
                <a:latin typeface="Courier"/>
              </a:rPr>
              <a:t>decompress</a:t>
            </a:r>
            <a:r>
              <a:rPr>
                <a:solidFill>
                  <a:srgbClr val="666666"/>
                </a:solidFill>
                <a:latin typeface="Courier"/>
              </a:rPr>
              <a:t>(</a:t>
            </a:r>
            <a:r>
              <a:rPr>
                <a:solidFill>
                  <a:srgbClr val="008000"/>
                </a:solidFill>
                <a:latin typeface="Courier"/>
              </a:rPr>
              <a:t>String</a:t>
            </a:r>
            <a:r>
              <a:rPr>
                <a:latin typeface="Courier"/>
              </a:rPr>
              <a:t> data</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Decompression logic here</a:t>
            </a:r>
            <a:br/>
            <a:r>
              <a:rPr>
                <a:latin typeface="Courier"/>
              </a:rPr>
              <a:t>        </a:t>
            </a:r>
            <a:r>
              <a:rPr b="1">
                <a:solidFill>
                  <a:srgbClr val="007020"/>
                </a:solidFill>
                <a:latin typeface="Courier"/>
              </a:rPr>
              <a:t>return</a:t>
            </a:r>
            <a:r>
              <a:rPr>
                <a:latin typeface="Courier"/>
              </a:rPr>
              <a:t> data</a:t>
            </a:r>
            <a:r>
              <a:rPr>
                <a:solidFill>
                  <a:srgbClr val="666666"/>
                </a:solidFill>
                <a:latin typeface="Courier"/>
              </a:rPr>
              <a: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Java Kod Örneği - İstemci</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DecoratorDemo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a:t>
            </a:r>
            <a:r>
              <a:rPr>
                <a:latin typeface="Courier"/>
              </a:rPr>
              <a:t> salaryRecords </a:t>
            </a:r>
            <a:r>
              <a:rPr>
                <a:solidFill>
                  <a:srgbClr val="666666"/>
                </a:solidFill>
                <a:latin typeface="Courier"/>
              </a:rPr>
              <a:t>=</a:t>
            </a:r>
            <a:br/>
            <a:r>
              <a:rPr>
                <a:latin typeface="Courier"/>
              </a:rPr>
              <a:t>            </a:t>
            </a:r>
            <a:r>
              <a:rPr>
                <a:solidFill>
                  <a:srgbClr val="4070A0"/>
                </a:solidFill>
                <a:latin typeface="Courier"/>
              </a:rPr>
              <a:t>"Name,Salary\nJohn Smith,100000\nSteven Jobs,912000"</a:t>
            </a:r>
            <a:r>
              <a:rPr>
                <a:solidFill>
                  <a:srgbClr val="666666"/>
                </a:solidFill>
                <a:latin typeface="Courier"/>
              </a:rPr>
              <a:t>;</a:t>
            </a:r>
            <a:br/>
            <a:br/>
            <a:r>
              <a:rPr>
                <a:latin typeface="Courier"/>
              </a:rPr>
              <a:t>        </a:t>
            </a:r>
            <a:r>
              <a:rPr i="1">
                <a:solidFill>
                  <a:srgbClr val="60A0B0"/>
                </a:solidFill>
                <a:latin typeface="Courier"/>
              </a:rPr>
              <a:t>// Simple writing without any decorators</a:t>
            </a:r>
            <a:br/>
            <a:r>
              <a:rPr>
                <a:latin typeface="Courier"/>
              </a:rPr>
              <a:t>        </a:t>
            </a:r>
            <a:r>
              <a:rPr>
                <a:solidFill>
                  <a:srgbClr val="008000"/>
                </a:solidFill>
                <a:latin typeface="Courier"/>
              </a:rPr>
              <a:t>DataSource</a:t>
            </a:r>
            <a:r>
              <a:rPr>
                <a:latin typeface="Courier"/>
              </a:rPr>
              <a:t> source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"output.txt"</a:t>
            </a:r>
            <a:r>
              <a:rPr>
                <a:solidFill>
                  <a:srgbClr val="666666"/>
                </a:solidFill>
                <a:latin typeface="Courier"/>
              </a:rPr>
              <a:t>);</a:t>
            </a:r>
            <a:br/>
            <a:r>
              <a:rPr>
                <a:latin typeface="Courier"/>
              </a:rPr>
              <a:t>        source</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Writing with encryption</a:t>
            </a:r>
            <a:br/>
            <a:r>
              <a:rPr>
                <a:latin typeface="Courier"/>
              </a:rPr>
              <a:t>        </a:t>
            </a:r>
            <a:r>
              <a:rPr>
                <a:solidFill>
                  <a:srgbClr val="008000"/>
                </a:solidFill>
                <a:latin typeface="Courier"/>
              </a:rPr>
              <a:t>DataSource</a:t>
            </a:r>
            <a:r>
              <a:rPr>
                <a:latin typeface="Courier"/>
              </a:rPr>
              <a:t> encrypted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EncryptionDecorator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"encrypted.txt"</a:t>
            </a:r>
            <a:r>
              <a:rPr>
                <a:solidFill>
                  <a:srgbClr val="666666"/>
                </a:solidFill>
                <a:latin typeface="Courier"/>
              </a:rPr>
              <a:t>));</a:t>
            </a:r>
            <a:br/>
            <a:r>
              <a:rPr>
                <a:latin typeface="Courier"/>
              </a:rPr>
              <a:t>        encrypted</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Writing with compression AND encryption</a:t>
            </a:r>
            <a:br/>
            <a:r>
              <a:rPr>
                <a:latin typeface="Courier"/>
              </a:rPr>
              <a:t>        </a:t>
            </a:r>
            <a:r>
              <a:rPr i="1">
                <a:solidFill>
                  <a:srgbClr val="60A0B0"/>
                </a:solidFill>
                <a:latin typeface="Courier"/>
              </a:rPr>
              <a:t>// Note how decorators are stacked</a:t>
            </a:r>
            <a:br/>
            <a:r>
              <a:rPr>
                <a:latin typeface="Courier"/>
              </a:rPr>
              <a:t>        </a:t>
            </a:r>
            <a:r>
              <a:rPr>
                <a:solidFill>
                  <a:srgbClr val="008000"/>
                </a:solidFill>
                <a:latin typeface="Courier"/>
              </a:rPr>
              <a:t>DataSource</a:t>
            </a:r>
            <a:r>
              <a:rPr>
                <a:latin typeface="Courier"/>
              </a:rPr>
              <a:t> compressedAndEncrypted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EncryptionDecorator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CompressionDecorator</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08000"/>
                </a:solidFill>
                <a:latin typeface="Courier"/>
              </a:rPr>
              <a:t>FileDataSource</a:t>
            </a:r>
            <a:r>
              <a:rPr>
                <a:solidFill>
                  <a:srgbClr val="666666"/>
                </a:solidFill>
                <a:latin typeface="Courier"/>
              </a:rPr>
              <a:t>(</a:t>
            </a:r>
            <a:r>
              <a:rPr>
                <a:solidFill>
                  <a:srgbClr val="4070A0"/>
                </a:solidFill>
                <a:latin typeface="Courier"/>
              </a:rPr>
              <a:t>"compressed.txt"</a:t>
            </a:r>
            <a:r>
              <a:rPr>
                <a:solidFill>
                  <a:srgbClr val="666666"/>
                </a:solidFill>
                <a:latin typeface="Courier"/>
              </a:rPr>
              <a:t>)));</a:t>
            </a:r>
            <a:br/>
            <a:r>
              <a:rPr>
                <a:latin typeface="Courier"/>
              </a:rPr>
              <a:t>        compressedAndEncrypted</a:t>
            </a:r>
            <a:r>
              <a:rPr>
                <a:solidFill>
                  <a:srgbClr val="666666"/>
                </a:solidFill>
                <a:latin typeface="Courier"/>
              </a:rPr>
              <a:t>.</a:t>
            </a:r>
            <a:r>
              <a:rPr>
                <a:solidFill>
                  <a:srgbClr val="06287E"/>
                </a:solidFill>
                <a:latin typeface="Courier"/>
              </a:rPr>
              <a:t>writeData</a:t>
            </a:r>
            <a:r>
              <a:rPr>
                <a:solidFill>
                  <a:srgbClr val="666666"/>
                </a:solidFill>
                <a:latin typeface="Courier"/>
              </a:rPr>
              <a:t>(</a:t>
            </a:r>
            <a:r>
              <a:rPr>
                <a:latin typeface="Courier"/>
              </a:rPr>
              <a:t>salaryRecords</a:t>
            </a:r>
            <a:r>
              <a:rPr>
                <a:solidFill>
                  <a:srgbClr val="666666"/>
                </a:solidFill>
                <a:latin typeface="Courier"/>
              </a:rPr>
              <a:t>);</a:t>
            </a:r>
            <a:br/>
            <a:br/>
            <a:r>
              <a:rPr>
                <a:latin typeface="Courier"/>
              </a:rPr>
              <a:t>        </a:t>
            </a:r>
            <a:r>
              <a:rPr i="1">
                <a:solidFill>
                  <a:srgbClr val="60A0B0"/>
                </a:solidFill>
                <a:latin typeface="Courier"/>
              </a:rPr>
              <a:t>// Reading decrypts and decompresses automatically</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compressedAndEncrypted</a:t>
            </a:r>
            <a:r>
              <a:rPr>
                <a:solidFill>
                  <a:srgbClr val="666666"/>
                </a:solidFill>
                <a:latin typeface="Courier"/>
              </a:rPr>
              <a:t>.</a:t>
            </a:r>
            <a:r>
              <a:rPr>
                <a:solidFill>
                  <a:srgbClr val="06287E"/>
                </a:solidFill>
                <a:latin typeface="Courier"/>
              </a:rPr>
              <a:t>readData</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Decorator - Sıra Diyagramı</a:t>
            </a:r>
          </a:p>
        </p:txBody>
      </p:sp>
      <p:pic>
        <p:nvPicPr>
          <p:cNvPr descr="assets/decorator-sequence.png" id="0" name="Picture 1"/>
          <p:cNvPicPr>
            <a:picLocks noGrp="1" noChangeAspect="1"/>
          </p:cNvPicPr>
          <p:nvPr/>
        </p:nvPicPr>
        <p:blipFill>
          <a:blip r:embed="rId2"/>
          <a:stretch>
            <a:fillRect/>
          </a:stretch>
        </p:blipFill>
        <p:spPr bwMode="auto">
          <a:xfrm>
            <a:off x="4686300" y="203200"/>
            <a:ext cx="2857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Uygulanabilirlik</a:t>
            </a:r>
          </a:p>
        </p:txBody>
      </p:sp>
      <p:sp>
        <p:nvSpPr>
          <p:cNvPr id="3" name="Content Placeholder 2"/>
          <p:cNvSpPr>
            <a:spLocks noGrp="1"/>
          </p:cNvSpPr>
          <p:nvPr>
            <p:ph idx="1"/>
          </p:nvPr>
        </p:nvSpPr>
        <p:spPr/>
        <p:txBody>
          <a:bodyPr/>
          <a:lstStyle/>
          <a:p>
            <a:pPr lvl="0" indent="0" marL="0">
              <a:buNone/>
            </a:pPr>
            <a:r>
              <a:rPr/>
              <a:t>Decorator (Dekoratör) desenini şu durumlarda kullanın:</a:t>
            </a:r>
          </a:p>
          <a:p>
            <a:pPr lvl="0"/>
            <a:r>
              <a:rPr/>
              <a:t>Bu nesneleri kullanan kodu bozmadan </a:t>
            </a:r>
            <a:r>
              <a:rPr b="1"/>
              <a:t>çalışma zamanında nesnelere ekstra davranışlar</a:t>
            </a:r>
            <a:r>
              <a:rPr/>
              <a:t> atayabilmeniz gerektiğinde</a:t>
            </a:r>
          </a:p>
          <a:p>
            <a:pPr lvl="0"/>
            <a:r>
              <a:rPr b="1"/>
              <a:t>Kalıtım</a:t>
            </a:r>
            <a:r>
              <a:rPr/>
              <a:t> kullanarak bir nesnenin davranışını genişletmek garip veya imkansız olduğunda (örn., </a:t>
            </a:r>
            <a:r>
              <a:rPr>
                <a:latin typeface="Courier"/>
              </a:rPr>
              <a:t>final</a:t>
            </a:r>
            <a:r>
              <a:rPr/>
              <a:t> sınıflar)</a:t>
            </a:r>
          </a:p>
          <a:p>
            <a:pPr lvl="0"/>
            <a:r>
              <a:rPr/>
              <a:t>Bir nesneyi birden fazla dekoratörle sararak </a:t>
            </a:r>
            <a:r>
              <a:rPr b="1"/>
              <a:t>birkaç davranışı birleştirmeniz</a:t>
            </a:r>
            <a:r>
              <a:rPr/>
              <a:t> gerektiğinde</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Uygulanabilirlik (devam)</a:t>
            </a:r>
          </a:p>
        </p:txBody>
      </p:sp>
      <p:sp>
        <p:nvSpPr>
          <p:cNvPr id="3" name="Content Placeholder 2"/>
          <p:cNvSpPr>
            <a:spLocks noGrp="1"/>
          </p:cNvSpPr>
          <p:nvPr>
            <p:ph idx="1"/>
          </p:nvPr>
        </p:nvSpPr>
        <p:spPr/>
        <p:txBody>
          <a:bodyPr/>
          <a:lstStyle/>
          <a:p>
            <a:pPr lvl="0" indent="0" marL="0">
              <a:buNone/>
            </a:pPr>
            <a:r>
              <a:rPr/>
              <a:t>Decorator (Dekoratör), iş mantığınızı </a:t>
            </a:r>
            <a:r>
              <a:rPr b="1"/>
              <a:t>katmanlar</a:t>
            </a:r>
            <a:r>
              <a:rPr/>
              <a:t> halinde yapılandırmanıza, her katman için bir dekoratör oluşturmanıza ve çalışma zamanında bu mantığın çeşitli kombinasyonlarıyla nesneleri birleştirmenize olanak tanır. İstemci kodu, hepsi ortak bir arayüzü takip ettiği için tüm bu nesneleri aynı şekilde ele alabilir.</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Nasıl Uygulanır</a:t>
            </a:r>
          </a:p>
        </p:txBody>
      </p:sp>
      <p:sp>
        <p:nvSpPr>
          <p:cNvPr id="3" name="Content Placeholder 2"/>
          <p:cNvSpPr>
            <a:spLocks noGrp="1"/>
          </p:cNvSpPr>
          <p:nvPr>
            <p:ph idx="1"/>
          </p:nvPr>
        </p:nvSpPr>
        <p:spPr/>
        <p:txBody>
          <a:bodyPr/>
          <a:lstStyle/>
          <a:p>
            <a:pPr lvl="0" indent="-342900" marL="342900">
              <a:buAutoNum type="arabicPeriod"/>
            </a:pPr>
            <a:r>
              <a:rPr/>
              <a:t>İş alanınızın, üzerinde birden fazla isteğe bağlı katman bulunan bir </a:t>
            </a:r>
            <a:r>
              <a:rPr b="1"/>
              <a:t>birincil bileşen</a:t>
            </a:r>
            <a:r>
              <a:rPr/>
              <a:t> olarak temsil edilebildiğinden emin olun</a:t>
            </a:r>
          </a:p>
          <a:p>
            <a:pPr lvl="0" indent="-342900" marL="342900">
              <a:buAutoNum type="arabicPeriod"/>
            </a:pPr>
            <a:r>
              <a:rPr/>
              <a:t>Hem birincil bileşen hem de isteğe bağlı katmanlar için hangi yöntemlerin ortak olduğunu belirleyin. Bir </a:t>
            </a:r>
            <a:r>
              <a:rPr b="1"/>
              <a:t>bileşen arayüzü</a:t>
            </a:r>
            <a:r>
              <a:rPr/>
              <a:t> oluşturun ve bu yöntemleri orada bildirin</a:t>
            </a:r>
          </a:p>
          <a:p>
            <a:pPr lvl="0" indent="-342900" marL="342900">
              <a:buAutoNum type="arabicPeriod"/>
            </a:pPr>
            <a:r>
              <a:rPr/>
              <a:t>Bir </a:t>
            </a:r>
            <a:r>
              <a:rPr b="1"/>
              <a:t>somut bileşen</a:t>
            </a:r>
            <a:r>
              <a:rPr/>
              <a:t> sınıfı oluşturun ve temel davranışı içinde tanımlayın</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Nasıl Uygulanır (devam)</a:t>
            </a:r>
          </a:p>
        </p:txBody>
      </p:sp>
      <p:sp>
        <p:nvSpPr>
          <p:cNvPr id="3" name="Content Placeholder 2"/>
          <p:cNvSpPr>
            <a:spLocks noGrp="1"/>
          </p:cNvSpPr>
          <p:nvPr>
            <p:ph idx="1"/>
          </p:nvPr>
        </p:nvSpPr>
        <p:spPr/>
        <p:txBody>
          <a:bodyPr/>
          <a:lstStyle/>
          <a:p>
            <a:pPr lvl="0" indent="-342900" marL="342900">
              <a:buAutoNum startAt="4" type="arabicPeriod"/>
            </a:pPr>
            <a:r>
              <a:rPr/>
              <a:t>Bir </a:t>
            </a:r>
            <a:r>
              <a:rPr b="1"/>
              <a:t>temel dekoratör</a:t>
            </a:r>
            <a:r>
              <a:rPr/>
              <a:t> sınıfı oluşturun. Sarılan bir nesneye referans saklamak için bir alanı olmalıdır. Alan, hem somut bileşenlere hem de dekoratörlere bağlantı kurulmasına izin vermek için bileşen arayüzü türüyle bildirilmelidir. Temel dekoratör tüm işi sarılan nesneye devretmelidir</a:t>
            </a:r>
          </a:p>
          <a:p>
            <a:pPr lvl="0" indent="-342900" marL="342900">
              <a:buAutoNum startAt="4" type="arabicPeriod"/>
            </a:pPr>
            <a:r>
              <a:rPr/>
              <a:t>Tüm sınıfların </a:t>
            </a:r>
            <a:r>
              <a:rPr b="1"/>
              <a:t>bileşen arayüzünü</a:t>
            </a:r>
            <a:r>
              <a:rPr/>
              <a:t> uyguladığından emin olun</a:t>
            </a:r>
          </a:p>
          <a:p>
            <a:pPr lvl="0" indent="-342900" marL="342900">
              <a:buAutoNum startAt="4" type="arabicPeriod"/>
            </a:pPr>
            <a:r>
              <a:rPr/>
              <a:t>Temel dekoratörden genişleterek </a:t>
            </a:r>
            <a:r>
              <a:rPr b="1"/>
              <a:t>somut dekoratörler</a:t>
            </a:r>
            <a:r>
              <a:rPr/>
              <a:t> oluşturun. Somut bir dekoratör, davranışını üst yöntem çağrısından (her zaman sarılan nesneye devreder) önce veya sonra yürütmelidir</a:t>
            </a:r>
          </a:p>
          <a:p>
            <a:pPr lvl="0" indent="-342900" marL="342900">
              <a:buAutoNum startAt="4" type="arabicPeriod"/>
            </a:pPr>
            <a:r>
              <a:rPr b="1"/>
              <a:t>İstemci kodu</a:t>
            </a:r>
            <a:r>
              <a:rPr/>
              <a:t>, dekoratörleri oluşturmaktan ve bunları istemcinin ihtiyaç duyduğu şekilde birleştirmekten sorumlu olmalıdır</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Avantajlar ve Dezavantajlar</a:t>
            </a:r>
          </a:p>
        </p:txBody>
      </p:sp>
      <p:sp>
        <p:nvSpPr>
          <p:cNvPr id="3" name="Content Placeholder 2"/>
          <p:cNvSpPr>
            <a:spLocks noGrp="1"/>
          </p:cNvSpPr>
          <p:nvPr>
            <p:ph idx="1"/>
          </p:nvPr>
        </p:nvSpPr>
        <p:spPr/>
        <p:txBody>
          <a:bodyPr/>
          <a:lstStyle/>
          <a:p>
            <a:pPr lvl="0" indent="0" marL="0">
              <a:buNone/>
            </a:pPr>
            <a:r>
              <a:rPr b="1"/>
              <a:t>Avantajlar:</a:t>
            </a:r>
            <a:r>
              <a:rPr/>
              <a:t> - Bir nesnenin davranışını </a:t>
            </a:r>
            <a:r>
              <a:rPr b="1"/>
              <a:t>yeni bir alt sınıf oluşturmadan</a:t>
            </a:r>
            <a:r>
              <a:rPr/>
              <a:t> genişletebilirsiniz - </a:t>
            </a:r>
            <a:r>
              <a:rPr b="1"/>
              <a:t>Çalışma zamanında</a:t>
            </a:r>
            <a:r>
              <a:rPr/>
              <a:t> bir nesneden sorumluluklar ekleyebilir veya kaldırabilirsiniz - Bir nesneyi birden fazla dekoratörle sararak birkaç davranışı </a:t>
            </a:r>
            <a:r>
              <a:rPr b="1"/>
              <a:t>birleştirebilirsiniz</a:t>
            </a:r>
            <a:r>
              <a:rPr/>
              <a:t> - </a:t>
            </a:r>
            <a:r>
              <a:rPr b="1"/>
              <a:t>Tek Sorumluluk İlkesi</a:t>
            </a:r>
            <a:r>
              <a:rPr/>
              <a:t>: Birçok olası davranış varyantını uygulayan monolitik bir sınıfı birkaç daha küçük sınıfa bölebilirsiniz</a:t>
            </a:r>
          </a:p>
          <a:p>
            <a:pPr lvl="0" indent="0" marL="0">
              <a:buNone/>
            </a:pPr>
            <a:r>
              <a:rPr b="1"/>
              <a:t>Dezavantajlar:</a:t>
            </a:r>
            <a:r>
              <a:rPr/>
              <a:t> - Sarmalayıcılar yığınından </a:t>
            </a:r>
            <a:r>
              <a:rPr b="1"/>
              <a:t>belirli bir sarmalayıcıyı kaldırmak</a:t>
            </a:r>
            <a:r>
              <a:rPr/>
              <a:t> zordur - Davranışı dekoratörler yığınındaki </a:t>
            </a:r>
            <a:r>
              <a:rPr b="1"/>
              <a:t>sıraya bağlı olmayan</a:t>
            </a:r>
            <a:r>
              <a:rPr/>
              <a:t> bir dekoratör uygulamak zordur - Katmanların ilk </a:t>
            </a:r>
            <a:r>
              <a:rPr b="1"/>
              <a:t>yapılandırma kodu</a:t>
            </a:r>
            <a:r>
              <a:rPr/>
              <a:t> oldukça çirkin görünebilir</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Diğer Desenlerle İlişkiler</a:t>
            </a:r>
          </a:p>
        </p:txBody>
      </p:sp>
      <p:sp>
        <p:nvSpPr>
          <p:cNvPr id="3" name="Content Placeholder 2"/>
          <p:cNvSpPr>
            <a:spLocks noGrp="1"/>
          </p:cNvSpPr>
          <p:nvPr>
            <p:ph idx="1"/>
          </p:nvPr>
        </p:nvSpPr>
        <p:spPr/>
        <p:txBody>
          <a:bodyPr/>
          <a:lstStyle/>
          <a:p>
            <a:pPr lvl="0"/>
            <a:r>
              <a:rPr b="1"/>
              <a:t>Adapter (Adaptör)</a:t>
            </a:r>
            <a:r>
              <a:rPr/>
              <a:t>, mevcut bir nesneye erişmek için tamamen farklı bir arayüz sağlar. Decorator (Dekoratör) ile arayüz ya aynı kalır ya da genişletilir. Ayrıca Decorator (Dekoratör), Adapter (Adaptör) kullandığınızda mümkün olmayan özyinelemeli bileşimi destekler</a:t>
            </a:r>
          </a:p>
          <a:p>
            <a:pPr lvl="0"/>
            <a:r>
              <a:rPr b="1"/>
              <a:t>Adapter (Adaptör)</a:t>
            </a:r>
            <a:r>
              <a:rPr/>
              <a:t> mevcut bir nesnenin arayüzünü değiştirirken, </a:t>
            </a:r>
            <a:r>
              <a:rPr b="1"/>
              <a:t>Decorator (Dekoratör)</a:t>
            </a:r>
            <a:r>
              <a:rPr/>
              <a:t> arayüzünü değiştirmeden bir nesneyi geliştirir</a:t>
            </a:r>
          </a:p>
          <a:p>
            <a:pPr lvl="0"/>
            <a:r>
              <a:rPr b="1"/>
              <a:t>Proxy (Vekil)</a:t>
            </a:r>
            <a:r>
              <a:rPr/>
              <a:t> genellikle servis nesnesinin tam yaşam döngüsünü kendi başına yönetirken, </a:t>
            </a:r>
            <a:r>
              <a:rPr b="1"/>
              <a:t>Decorator (Dekoratör)</a:t>
            </a:r>
            <a:r>
              <a:rPr/>
              <a:t>’lerin bileşimi her zaman istemci tarafından kontrol edilir</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Decorator (Dekoratör): Diğer Desenlerle İlişkiler (devam)</a:t>
            </a:r>
          </a:p>
        </p:txBody>
      </p:sp>
      <p:sp>
        <p:nvSpPr>
          <p:cNvPr id="3" name="Content Placeholder 2"/>
          <p:cNvSpPr>
            <a:spLocks noGrp="1"/>
          </p:cNvSpPr>
          <p:nvPr>
            <p:ph idx="1"/>
          </p:nvPr>
        </p:nvSpPr>
        <p:spPr/>
        <p:txBody>
          <a:bodyPr/>
          <a:lstStyle/>
          <a:p>
            <a:pPr lvl="0"/>
            <a:r>
              <a:rPr b="1"/>
              <a:t>Chain of Responsibility</a:t>
            </a:r>
            <a:r>
              <a:rPr/>
              <a:t> ve </a:t>
            </a:r>
            <a:r>
              <a:rPr b="1"/>
              <a:t>Decorator (Dekoratör)</a:t>
            </a:r>
            <a:r>
              <a:rPr/>
              <a:t> çok benzer sınıf yapılarına sahiptir. Her iki desen de bir dizi nesne üzerinden yürütmeyi iletmek için özyinelemeli bileşime dayanır. Ancak birçok önemli fark vardır. CoR işleyicileri birbirinden bağımsız olarak rastgele işlemler yürütebilir. Ayrıca herhangi bir noktada isteği iletmeyi durdurabilirler. Dekoratörler, temel arayüzle tutarlı tutarak nesnenin davranışını genişletir</a:t>
            </a:r>
          </a:p>
          <a:p>
            <a:pPr lvl="0"/>
            <a:r>
              <a:rPr b="1"/>
              <a:t>Composite (Bileşik)</a:t>
            </a:r>
            <a:r>
              <a:rPr/>
              <a:t> ve </a:t>
            </a:r>
            <a:r>
              <a:rPr b="1"/>
              <a:t>Decorator (Dekoratör)</a:t>
            </a:r>
            <a:r>
              <a:rPr/>
              <a:t> benzer yapı diyagramlarına sahiptir çünkü her ikisi de özyinelemeli bileşime dayanır. Bir Decorator (Dekoratör), yalnızca bir alt bileşene sahip bir Composite (Bileşik) gibidir. Decorator (Dekoratör) sarılan nesneye ek sorumluluklar eklerken, Composite (Bileşik) yalnızca alt elemanlarının sonuçlarını “toplar”</a:t>
            </a:r>
          </a:p>
          <a:p>
            <a:pPr lvl="0"/>
            <a:r>
              <a:rPr b="1"/>
              <a:t>Strategy</a:t>
            </a:r>
            <a:r>
              <a:rPr/>
              <a:t> bir nesnenin içini değiştirmenize olanak tanırken, </a:t>
            </a:r>
            <a:r>
              <a:rPr b="1"/>
              <a:t>Decorator (Dekoratör)</a:t>
            </a:r>
            <a:r>
              <a:rPr/>
              <a:t> dışını değiştirmenize olanak tanır</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E: Özet</a:t>
            </a:r>
          </a:p>
        </p:txBody>
      </p:sp>
      <p:sp>
        <p:nvSpPr>
          <p:cNvPr id="3" name="Content Placeholder 2"/>
          <p:cNvSpPr>
            <a:spLocks noGrp="1"/>
          </p:cNvSpPr>
          <p:nvPr>
            <p:ph idx="1"/>
          </p:nvPr>
        </p:nvSpPr>
        <p:spPr/>
        <p:txBody>
          <a:bodyPr/>
          <a:lstStyle/>
          <a:p>
            <a:pPr lvl="0"/>
            <a:r>
              <a:rPr/>
              <a:t>Decorator (Dekoratör) deseni, sarmalama yoluyla nesnelere </a:t>
            </a:r>
            <a:r>
              <a:rPr b="1"/>
              <a:t>dinamik olarak</a:t>
            </a:r>
            <a:r>
              <a:rPr/>
              <a:t> davranış eklenmesine olanak tanır</a:t>
            </a:r>
          </a:p>
          <a:p>
            <a:pPr lvl="0"/>
            <a:r>
              <a:rPr/>
              <a:t>Kalıtımın neden olduğu alt sınıfların </a:t>
            </a:r>
            <a:r>
              <a:rPr b="1"/>
              <a:t>kombinatoryal patlamasını</a:t>
            </a:r>
            <a:r>
              <a:rPr/>
              <a:t> önler</a:t>
            </a:r>
          </a:p>
          <a:p>
            <a:pPr lvl="0"/>
            <a:r>
              <a:rPr/>
              <a:t>Birden fazla dekoratör davranışları birleştirmek için </a:t>
            </a:r>
            <a:r>
              <a:rPr b="1"/>
              <a:t>yığılabilir</a:t>
            </a:r>
          </a:p>
          <a:p>
            <a:pPr lvl="0"/>
            <a:r>
              <a:rPr b="1"/>
              <a:t>Tek Sorumluluk</a:t>
            </a:r>
            <a:r>
              <a:rPr/>
              <a:t> ve </a:t>
            </a:r>
            <a:r>
              <a:rPr b="1"/>
              <a:t>Açık/Kapalı</a:t>
            </a:r>
            <a:r>
              <a:rPr/>
              <a:t> ilkelerini takip eder</a:t>
            </a:r>
          </a:p>
          <a:p>
            <a:pPr lvl="0"/>
            <a:r>
              <a:rPr/>
              <a:t>Davranışların </a:t>
            </a:r>
            <a:r>
              <a:rPr b="1"/>
              <a:t>çalışma zamanında</a:t>
            </a:r>
            <a:r>
              <a:rPr/>
              <a:t> eklenmesi gerektiğinde kalıtım yerine bileşimi tercih edin</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F: Facade (Cephe) Deseni</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F: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Amaç</a:t>
            </a:r>
          </a:p>
        </p:txBody>
      </p:sp>
      <p:sp>
        <p:nvSpPr>
          <p:cNvPr id="3" name="Content Placeholder 2"/>
          <p:cNvSpPr>
            <a:spLocks noGrp="1"/>
          </p:cNvSpPr>
          <p:nvPr>
            <p:ph idx="1"/>
          </p:nvPr>
        </p:nvSpPr>
        <p:spPr/>
        <p:txBody>
          <a:bodyPr/>
          <a:lstStyle/>
          <a:p>
            <a:pPr lvl="0" indent="0" marL="0">
              <a:buNone/>
            </a:pPr>
            <a:r>
              <a:rPr b="1"/>
              <a:t>Facade (Cephe)</a:t>
            </a:r>
            <a:r>
              <a:rPr/>
              <a:t>, bir kütüphaneye, bir çerçeveye veya başka herhangi bir karmaşık sınıf kümesine </a:t>
            </a:r>
            <a:r>
              <a:rPr b="1"/>
              <a:t>basitleştirilmiş bir arayüz</a:t>
            </a:r>
            <a:r>
              <a:rPr/>
              <a:t> sağlayan yapısal bir tasarım desenidir.</a:t>
            </a:r>
          </a:p>
          <a:p>
            <a:pPr lvl="0" indent="0" marL="0">
              <a:buNone/>
            </a:pPr>
            <a:r>
              <a:rPr/>
              <a:t>Kaynak: </a:t>
            </a:r>
            <a:r>
              <a:rPr>
                <a:hlinkClick r:id="rId2"/>
              </a:rPr>
              <a:t>refactoring.guru</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Problem</a:t>
            </a:r>
          </a:p>
        </p:txBody>
      </p:sp>
      <p:sp>
        <p:nvSpPr>
          <p:cNvPr id="3" name="Content Placeholder 2"/>
          <p:cNvSpPr>
            <a:spLocks noGrp="1"/>
          </p:cNvSpPr>
          <p:nvPr>
            <p:ph idx="1"/>
          </p:nvPr>
        </p:nvSpPr>
        <p:spPr/>
        <p:txBody>
          <a:bodyPr/>
          <a:lstStyle/>
          <a:p>
            <a:pPr lvl="0" indent="0" marL="0">
              <a:buNone/>
            </a:pPr>
            <a:r>
              <a:rPr/>
              <a:t>Kodunuzun gelişmiş bir kütüphane veya çerçeveye ait geniş bir nesne kümesiyle çalışmasını sağlamanız gerektiğini hayal edin. Normalde, tüm bu nesneleri </a:t>
            </a:r>
            <a:r>
              <a:rPr b="1"/>
              <a:t>başlatmanız</a:t>
            </a:r>
            <a:r>
              <a:rPr/>
              <a:t>, </a:t>
            </a:r>
            <a:r>
              <a:rPr b="1"/>
              <a:t>bağımlılıkları</a:t>
            </a:r>
            <a:r>
              <a:rPr/>
              <a:t> takip etmeniz, yöntemleri </a:t>
            </a:r>
            <a:r>
              <a:rPr b="1"/>
              <a:t>doğru sırada</a:t>
            </a:r>
            <a:r>
              <a:rPr/>
              <a:t> çalıştırmanız gerekir, vb.</a:t>
            </a:r>
          </a:p>
          <a:p>
            <a:pPr lvl="0" indent="0" marL="0">
              <a:buNone/>
            </a:pPr>
            <a:r>
              <a:rPr/>
              <a:t>Sonuç olarak, sınıflarınızın iş mantığı üçüncü taraf sınıfların uygulama detaylarına </a:t>
            </a:r>
            <a:r>
              <a:rPr b="1"/>
              <a:t>sıkıca bağlı</a:t>
            </a:r>
            <a:r>
              <a:rPr/>
              <a:t> hale gelir, bu da anlamayı ve bakımı zorlaştırır.</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Çözüm</a:t>
            </a:r>
          </a:p>
        </p:txBody>
      </p:sp>
      <p:sp>
        <p:nvSpPr>
          <p:cNvPr id="3" name="Content Placeholder 2"/>
          <p:cNvSpPr>
            <a:spLocks noGrp="1"/>
          </p:cNvSpPr>
          <p:nvPr>
            <p:ph idx="1"/>
          </p:nvPr>
        </p:nvSpPr>
        <p:spPr/>
        <p:txBody>
          <a:bodyPr/>
          <a:lstStyle/>
          <a:p>
            <a:pPr lvl="0" indent="0" marL="0">
              <a:buNone/>
            </a:pPr>
            <a:r>
              <a:rPr/>
              <a:t>Bir cephe, çok sayıda hareketli parça içeren karmaşık bir alt sisteme </a:t>
            </a:r>
            <a:r>
              <a:rPr b="1"/>
              <a:t>basit bir arayüz</a:t>
            </a:r>
            <a:r>
              <a:rPr/>
              <a:t> sağlayan bir sınıftır. Bir cephe, alt sistemle doğrudan çalışmaya kıyasla sınırlı işlevsellik sağlayabilir. Ancak yalnızca </a:t>
            </a:r>
            <a:r>
              <a:rPr b="1"/>
              <a:t>istemcilerin gerçekten önem verdiği</a:t>
            </a:r>
            <a:r>
              <a:rPr/>
              <a:t> özellikleri içerir.</a:t>
            </a:r>
          </a:p>
          <a:p>
            <a:pPr lvl="0" indent="0" marL="0">
              <a:buNone/>
            </a:pPr>
            <a:r>
              <a:rPr/>
              <a:t>Düzinelerce özelliğe sahip gelişmiş bir kütüphaneyle uygulamanızı entegre etmeniz gerektiğinde, ancak işlevselliğinin yalnızca küçük bir kısmına ihtiyacınız olduğunda bir cepheye sahip olmak kullanışlıdır.</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Çözüm (devam)</a:t>
            </a:r>
          </a:p>
        </p:txBody>
      </p:sp>
      <p:sp>
        <p:nvSpPr>
          <p:cNvPr id="3" name="Content Placeholder 2"/>
          <p:cNvSpPr>
            <a:spLocks noGrp="1"/>
          </p:cNvSpPr>
          <p:nvPr>
            <p:ph idx="1"/>
          </p:nvPr>
        </p:nvSpPr>
        <p:spPr/>
        <p:txBody>
          <a:bodyPr/>
          <a:lstStyle/>
          <a:p>
            <a:pPr lvl="0" indent="0" marL="0">
              <a:buNone/>
            </a:pPr>
            <a:r>
              <a:rPr/>
              <a:t>Örneğin, sosyal medyaya kedilerle ilgili kısa komik videolar yükleyen bir uygulama potansiyel olarak profesyonel bir video dönüştürme kütüphanesi kullanabilir. Ancak gerçekten ihtiyaç duyduğu tek şey, tek bir </a:t>
            </a:r>
            <a:r>
              <a:rPr>
                <a:latin typeface="Courier"/>
              </a:rPr>
              <a:t>encode(filename, format)</a:t>
            </a:r>
            <a:r>
              <a:rPr/>
              <a:t> yöntemine sahip bir sınıftır.</a:t>
            </a:r>
          </a:p>
          <a:p>
            <a:pPr lvl="0" indent="0" marL="0">
              <a:buNone/>
            </a:pPr>
            <a:r>
              <a:rPr/>
              <a:t>Böyle bir sınıf oluşturup video dönüştürme kütüphanesine bağladıktan sonra, ilk </a:t>
            </a:r>
            <a:r>
              <a:rPr b="1"/>
              <a:t>cephenize</a:t>
            </a:r>
            <a:r>
              <a:rPr/>
              <a:t> sahip olursunuz.</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Gerçek Dünya Benzetmesi</a:t>
            </a:r>
          </a:p>
        </p:txBody>
      </p:sp>
      <p:sp>
        <p:nvSpPr>
          <p:cNvPr id="3" name="Content Placeholder 2"/>
          <p:cNvSpPr>
            <a:spLocks noGrp="1"/>
          </p:cNvSpPr>
          <p:nvPr>
            <p:ph idx="1"/>
          </p:nvPr>
        </p:nvSpPr>
        <p:spPr/>
        <p:txBody>
          <a:bodyPr/>
          <a:lstStyle/>
          <a:p>
            <a:pPr lvl="0" indent="0" marL="0">
              <a:buNone/>
            </a:pPr>
            <a:r>
              <a:rPr/>
              <a:t>Telefonla sipariş vermek için bir mağazayı aradığınızda, bir </a:t>
            </a:r>
            <a:r>
              <a:rPr b="1"/>
              <a:t>operatör</a:t>
            </a:r>
            <a:r>
              <a:rPr/>
              <a:t> mağazanın tüm hizmet ve bölümlerine cephenizdir. Operatör, sipariş sistemi, ödeme geçitleri ve çeşitli teslimat hizmetlerine basit bir sesli arayüz sağlar.</a:t>
            </a:r>
          </a:p>
          <a:p>
            <a:pPr lvl="0" indent="0" marL="0">
              <a:buNone/>
            </a:pPr>
            <a:r>
              <a:rPr/>
              <a:t>Mağazanın dahili sistemlerinde kendiniz gezinmeniz gerekmez – operatör basit bir arayüz üzerinden her şeyi halleder.</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Yapı</a:t>
            </a:r>
          </a:p>
        </p:txBody>
      </p:sp>
      <p:sp>
        <p:nvSpPr>
          <p:cNvPr id="3" name="Content Placeholder 2"/>
          <p:cNvSpPr>
            <a:spLocks noGrp="1"/>
          </p:cNvSpPr>
          <p:nvPr>
            <p:ph idx="1"/>
          </p:nvPr>
        </p:nvSpPr>
        <p:spPr/>
        <p:txBody>
          <a:bodyPr/>
          <a:lstStyle/>
          <a:p>
            <a:pPr lvl="0" indent="-342900" marL="342900">
              <a:buAutoNum type="arabicPeriod"/>
            </a:pPr>
            <a:r>
              <a:rPr b="1"/>
              <a:t>Cephe</a:t>
            </a:r>
            <a:r>
              <a:rPr/>
              <a:t> – Alt sistemin işlevselliğinin belirli bir bölümüne uygun erişim sağlar. İstemcinin isteğini nereye yönlendireceğini ve tüm hareketli parçaları nasıl çalıştıracağını bilir</a:t>
            </a:r>
          </a:p>
          <a:p>
            <a:pPr lvl="0" indent="-342900" marL="342900">
              <a:buAutoNum type="arabicPeriod"/>
            </a:pPr>
            <a:r>
              <a:rPr b="1"/>
              <a:t>Ek Cephe</a:t>
            </a:r>
            <a:r>
              <a:rPr/>
              <a:t> – Tek bir cepheyi ilgisiz özelliklerle kirletmeyi önlemek için oluşturulabilir, aksi takdirde onu başka bir karmaşık yapı haline getirir. Ek cepheler hem istemciler hem de diğer cepheler tarafından kullanılabilir</a:t>
            </a:r>
          </a:p>
          <a:p>
            <a:pPr lvl="0" indent="-342900" marL="342900">
              <a:buAutoNum type="arabicPeriod"/>
            </a:pPr>
            <a:r>
              <a:rPr b="1"/>
              <a:t>Karmaşık Alt Sistem</a:t>
            </a:r>
            <a:r>
              <a:rPr/>
              <a:t> – Düzinelerce çeşitli nesneden oluşur. Hepsinin anlamlı bir şey yapmasını sağlamak için alt sistemin uygulama detaylarına derinlemesine dalmanız gerekir. Alt sistem sınıfları cephenin varlığından haberdar değildir</a:t>
            </a:r>
          </a:p>
          <a:p>
            <a:pPr lvl="0" indent="-342900" marL="342900">
              <a:buAutoNum type="arabicPeriod"/>
            </a:pPr>
            <a:r>
              <a:rPr b="1"/>
              <a:t>İstemci</a:t>
            </a:r>
            <a:r>
              <a:rPr/>
              <a:t> – Alt sistem nesnelerini doğrudan çağırmak yerine cepheyi kullanır</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Facade - Sınıf Diyagramı</a:t>
            </a:r>
          </a:p>
        </p:txBody>
      </p:sp>
      <p:pic>
        <p:nvPicPr>
          <p:cNvPr descr="assets/facade-structure.png" id="0" name="Picture 1"/>
          <p:cNvPicPr>
            <a:picLocks noGrp="1" noChangeAspect="1"/>
          </p:cNvPicPr>
          <p:nvPr/>
        </p:nvPicPr>
        <p:blipFill>
          <a:blip r:embed="rId2"/>
          <a:stretch>
            <a:fillRect/>
          </a:stretch>
        </p:blipFill>
        <p:spPr bwMode="auto">
          <a:xfrm>
            <a:off x="3568700" y="1130300"/>
            <a:ext cx="5105400" cy="201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Java Kod Örneği - Alt Sistem Sınıfları</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These are some of the classes of a complex third-party</a:t>
            </a:r>
            <a:br/>
            <a:r>
              <a:rPr i="1">
                <a:solidFill>
                  <a:srgbClr val="60A0B0"/>
                </a:solidFill>
                <a:latin typeface="Courier"/>
              </a:rPr>
              <a:t>// video conversion framework.</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VideoFile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codecType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VideoFile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name</a:t>
            </a:r>
            <a:r>
              <a:rPr>
                <a:latin typeface="Courier"/>
              </a:rPr>
              <a:t> </a:t>
            </a:r>
            <a:r>
              <a:rPr>
                <a:solidFill>
                  <a:srgbClr val="666666"/>
                </a:solidFill>
                <a:latin typeface="Courier"/>
              </a:rPr>
              <a:t>=</a:t>
            </a:r>
            <a:r>
              <a:rPr>
                <a:latin typeface="Courier"/>
              </a:rPr>
              <a:t> name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codecType</a:t>
            </a:r>
            <a:r>
              <a:rPr>
                <a:latin typeface="Courier"/>
              </a:rPr>
              <a:t> </a:t>
            </a:r>
            <a:r>
              <a:rPr>
                <a:solidFill>
                  <a:srgbClr val="666666"/>
                </a:solidFill>
                <a:latin typeface="Courier"/>
              </a:rPr>
              <a:t>=</a:t>
            </a:r>
            <a:r>
              <a:rPr>
                <a:latin typeface="Courier"/>
              </a:rPr>
              <a:t> name</a:t>
            </a:r>
            <a:r>
              <a:rPr>
                <a:solidFill>
                  <a:srgbClr val="666666"/>
                </a:solidFill>
                <a:latin typeface="Courier"/>
              </a:rPr>
              <a:t>.</a:t>
            </a:r>
            <a:r>
              <a:rPr>
                <a:solidFill>
                  <a:srgbClr val="06287E"/>
                </a:solidFill>
                <a:latin typeface="Courier"/>
              </a:rPr>
              <a:t>substring</a:t>
            </a:r>
            <a:r>
              <a:rPr>
                <a:solidFill>
                  <a:srgbClr val="666666"/>
                </a:solidFill>
                <a:latin typeface="Courier"/>
              </a:rPr>
              <a:t>(</a:t>
            </a:r>
            <a:br/>
            <a:r>
              <a:rPr>
                <a:latin typeface="Courier"/>
              </a:rPr>
              <a:t>            name</a:t>
            </a:r>
            <a:r>
              <a:rPr>
                <a:solidFill>
                  <a:srgbClr val="666666"/>
                </a:solidFill>
                <a:latin typeface="Courier"/>
              </a:rPr>
              <a:t>.</a:t>
            </a:r>
            <a:r>
              <a:rPr>
                <a:solidFill>
                  <a:srgbClr val="06287E"/>
                </a:solidFill>
                <a:latin typeface="Courier"/>
              </a:rPr>
              <a:t>indexOf</a:t>
            </a:r>
            <a:r>
              <a:rPr>
                <a:solidFill>
                  <a:srgbClr val="666666"/>
                </a:solidFill>
                <a:latin typeface="Courier"/>
              </a:rPr>
              <a:t>(</a:t>
            </a:r>
            <a:r>
              <a:rPr>
                <a:solidFill>
                  <a:srgbClr val="4070A0"/>
                </a:solidFill>
                <a:latin typeface="Courier"/>
              </a:rPr>
              <a:t>"."</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getCodecType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codecType</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a:t>
            </a:r>
            <a:r>
              <a:rPr>
                <a:solidFill>
                  <a:srgbClr val="008000"/>
                </a:solidFill>
                <a:latin typeface="Courier"/>
              </a:rPr>
              <a:t>Codec</a:t>
            </a:r>
            <a:r>
              <a:rPr>
                <a:latin typeface="Courier"/>
              </a:rPr>
              <a:t> </a:t>
            </a:r>
            <a:r>
              <a:rPr>
                <a:solidFill>
                  <a:srgbClr val="666666"/>
                </a:solidFill>
                <a:latin typeface="Courier"/>
              </a:rPr>
              <a:t>{</a:t>
            </a:r>
            <a:r>
              <a:rPr>
                <a:latin typeface="Courier"/>
              </a:rPr>
              <a:t> </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MPEG4CompressionCodec </a:t>
            </a:r>
            <a:r>
              <a:rPr b="1">
                <a:solidFill>
                  <a:srgbClr val="007020"/>
                </a:solidFill>
                <a:latin typeface="Courier"/>
              </a:rPr>
              <a:t>implements</a:t>
            </a:r>
            <a:r>
              <a:rPr>
                <a:latin typeface="Courier"/>
              </a:rPr>
              <a:t> </a:t>
            </a:r>
            <a:r>
              <a:rPr>
                <a:solidFill>
                  <a:srgbClr val="008000"/>
                </a:solidFill>
                <a:latin typeface="Courier"/>
              </a:rPr>
              <a:t>Codec</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a:t>
            </a:r>
            <a:r>
              <a:rPr>
                <a:solidFill>
                  <a:srgbClr val="4070A0"/>
                </a:solidFill>
                <a:latin typeface="Courier"/>
              </a:rPr>
              <a:t>"mp4"</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OggCompressionCodec </a:t>
            </a:r>
            <a:r>
              <a:rPr b="1">
                <a:solidFill>
                  <a:srgbClr val="007020"/>
                </a:solidFill>
                <a:latin typeface="Courier"/>
              </a:rPr>
              <a:t>implements</a:t>
            </a:r>
            <a:r>
              <a:rPr>
                <a:latin typeface="Courier"/>
              </a:rPr>
              <a:t> </a:t>
            </a:r>
            <a:r>
              <a:rPr>
                <a:solidFill>
                  <a:srgbClr val="008000"/>
                </a:solidFill>
                <a:latin typeface="Courier"/>
              </a:rPr>
              <a:t>Codec</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a:t>
            </a:r>
            <a:r>
              <a:rPr>
                <a:solidFill>
                  <a:srgbClr val="4070A0"/>
                </a:solidFill>
                <a:latin typeface="Courier"/>
              </a:rPr>
              <a:t>"ogg"</a:t>
            </a:r>
            <a:r>
              <a:rPr>
                <a:solidFill>
                  <a:srgbClr val="666666"/>
                </a:solidFill>
                <a:latin typeface="Courier"/>
              </a:rPr>
              <a:t>;</a:t>
            </a:r>
            <a:br/>
            <a:r>
              <a:rPr>
                <a:solidFill>
                  <a:srgbClr val="666666"/>
                </a:solidFill>
                <a:latin typeface="Courier"/>
              </a:rPr>
              <a: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Java Kod Örneği - Alt Sistem Sınıfları (devam)</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a:t>
            </a:r>
            <a:r>
              <a:rPr>
                <a:solidFill>
                  <a:srgbClr val="008000"/>
                </a:solidFill>
                <a:latin typeface="Courier"/>
              </a:rPr>
              <a:t>CodecFactory</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008000"/>
                </a:solidFill>
                <a:latin typeface="Courier"/>
              </a:rPr>
              <a:t>Codec</a:t>
            </a:r>
            <a:r>
              <a:rPr>
                <a:latin typeface="Courier"/>
              </a:rPr>
              <a:t> </a:t>
            </a:r>
            <a:r>
              <a:rPr>
                <a:solidFill>
                  <a:srgbClr val="06287E"/>
                </a:solidFill>
                <a:latin typeface="Courier"/>
              </a:rPr>
              <a:t>extract</a:t>
            </a:r>
            <a:r>
              <a:rPr>
                <a:solidFill>
                  <a:srgbClr val="666666"/>
                </a:solidFill>
                <a:latin typeface="Courier"/>
              </a:rPr>
              <a:t>(</a:t>
            </a:r>
            <a:r>
              <a:rPr>
                <a:latin typeface="Courier"/>
              </a:rPr>
              <a:t>VideoFile file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String</a:t>
            </a:r>
            <a:r>
              <a:rPr>
                <a:latin typeface="Courier"/>
              </a:rPr>
              <a:t> type </a:t>
            </a:r>
            <a:r>
              <a:rPr>
                <a:solidFill>
                  <a:srgbClr val="666666"/>
                </a:solidFill>
                <a:latin typeface="Courier"/>
              </a:rPr>
              <a:t>=</a:t>
            </a:r>
            <a:r>
              <a:rPr>
                <a:latin typeface="Courier"/>
              </a:rPr>
              <a:t> file</a:t>
            </a:r>
            <a:r>
              <a:rPr>
                <a:solidFill>
                  <a:srgbClr val="666666"/>
                </a:solidFill>
                <a:latin typeface="Courier"/>
              </a:rPr>
              <a:t>.</a:t>
            </a:r>
            <a:r>
              <a:rPr>
                <a:solidFill>
                  <a:srgbClr val="06287E"/>
                </a:solidFill>
                <a:latin typeface="Courier"/>
              </a:rPr>
              <a:t>getCodecType</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type</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"mp4"</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"CodecFactory: extracting "</a:t>
            </a:r>
            <a:r>
              <a:rPr>
                <a:latin typeface="Courier"/>
              </a:rPr>
              <a:t> </a:t>
            </a:r>
            <a:r>
              <a:rPr>
                <a:solidFill>
                  <a:srgbClr val="666666"/>
                </a:solidFill>
                <a:latin typeface="Courier"/>
              </a:rPr>
              <a:t>+</a:t>
            </a:r>
            <a:br/>
            <a:r>
              <a:rPr>
                <a:latin typeface="Courier"/>
              </a:rPr>
              <a:t>                </a:t>
            </a:r>
            <a:r>
              <a:rPr>
                <a:solidFill>
                  <a:srgbClr val="4070A0"/>
                </a:solidFill>
                <a:latin typeface="Courier"/>
              </a:rPr>
              <a:t>"MPEG4 audio..."</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MPEG4CompressionCodec</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"CodecFactory: extracting "</a:t>
            </a:r>
            <a:r>
              <a:rPr>
                <a:latin typeface="Courier"/>
              </a:rPr>
              <a:t> </a:t>
            </a:r>
            <a:r>
              <a:rPr>
                <a:solidFill>
                  <a:srgbClr val="666666"/>
                </a:solidFill>
                <a:latin typeface="Courier"/>
              </a:rPr>
              <a:t>+</a:t>
            </a:r>
            <a:br/>
            <a:r>
              <a:rPr>
                <a:latin typeface="Courier"/>
              </a:rPr>
              <a:t>                </a:t>
            </a:r>
            <a:r>
              <a:rPr>
                <a:solidFill>
                  <a:srgbClr val="4070A0"/>
                </a:solidFill>
                <a:latin typeface="Courier"/>
              </a:rPr>
              <a:t>"Ogg audio..."</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OggCompressionCodec</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BitrateReader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VideoFile </a:t>
            </a:r>
            <a:r>
              <a:rPr>
                <a:solidFill>
                  <a:srgbClr val="06287E"/>
                </a:solidFill>
                <a:latin typeface="Courier"/>
              </a:rPr>
              <a:t>read</a:t>
            </a:r>
            <a:r>
              <a:rPr>
                <a:solidFill>
                  <a:srgbClr val="666666"/>
                </a:solidFill>
                <a:latin typeface="Courier"/>
              </a:rPr>
              <a:t>(</a:t>
            </a:r>
            <a:r>
              <a:rPr>
                <a:latin typeface="Courier"/>
              </a:rPr>
              <a:t>VideoFile file</a:t>
            </a:r>
            <a:r>
              <a:rPr>
                <a:solidFill>
                  <a:srgbClr val="666666"/>
                </a:solidFill>
                <a:latin typeface="Courier"/>
              </a:rPr>
              <a:t>,</a:t>
            </a:r>
            <a:r>
              <a:rPr>
                <a:latin typeface="Courier"/>
              </a:rPr>
              <a:t> </a:t>
            </a:r>
            <a:r>
              <a:rPr>
                <a:solidFill>
                  <a:srgbClr val="008000"/>
                </a:solidFill>
                <a:latin typeface="Courier"/>
              </a:rPr>
              <a:t>Codec</a:t>
            </a:r>
            <a:r>
              <a:rPr>
                <a:latin typeface="Courier"/>
              </a:rPr>
              <a:t> codec</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"BitrateReader: reading file..."</a:t>
            </a:r>
            <a:r>
              <a:rPr>
                <a:solidFill>
                  <a:srgbClr val="666666"/>
                </a:solidFill>
                <a:latin typeface="Courier"/>
              </a:rPr>
              <a:t>);</a:t>
            </a:r>
            <a:br/>
            <a:r>
              <a:rPr>
                <a:latin typeface="Courier"/>
              </a:rPr>
              <a:t>        </a:t>
            </a:r>
            <a:r>
              <a:rPr b="1">
                <a:solidFill>
                  <a:srgbClr val="007020"/>
                </a:solidFill>
                <a:latin typeface="Courier"/>
              </a:rPr>
              <a:t>return</a:t>
            </a:r>
            <a:r>
              <a:rPr>
                <a:latin typeface="Courier"/>
              </a:rPr>
              <a:t> file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VideoFile </a:t>
            </a:r>
            <a:r>
              <a:rPr>
                <a:solidFill>
                  <a:srgbClr val="06287E"/>
                </a:solidFill>
                <a:latin typeface="Courier"/>
              </a:rPr>
              <a:t>convert</a:t>
            </a:r>
            <a:r>
              <a:rPr>
                <a:solidFill>
                  <a:srgbClr val="666666"/>
                </a:solidFill>
                <a:latin typeface="Courier"/>
              </a:rPr>
              <a:t>(</a:t>
            </a:r>
            <a:r>
              <a:rPr>
                <a:latin typeface="Courier"/>
              </a:rPr>
              <a:t>VideoFile buffer</a:t>
            </a:r>
            <a:r>
              <a:rPr>
                <a:solidFill>
                  <a:srgbClr val="666666"/>
                </a:solidFill>
                <a:latin typeface="Courier"/>
              </a:rPr>
              <a:t>,</a:t>
            </a:r>
            <a:br/>
            <a:r>
              <a:rPr>
                <a:latin typeface="Courier"/>
              </a:rPr>
              <a:t>                                     </a:t>
            </a:r>
            <a:r>
              <a:rPr>
                <a:solidFill>
                  <a:srgbClr val="008000"/>
                </a:solidFill>
                <a:latin typeface="Courier"/>
              </a:rPr>
              <a:t>Codec</a:t>
            </a:r>
            <a:r>
              <a:rPr>
                <a:latin typeface="Courier"/>
              </a:rPr>
              <a:t> codec</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"BitrateReader: writing file..."</a:t>
            </a:r>
            <a:r>
              <a:rPr>
                <a:solidFill>
                  <a:srgbClr val="666666"/>
                </a:solidFill>
                <a:latin typeface="Courier"/>
              </a:rPr>
              <a:t>);</a:t>
            </a:r>
            <a:br/>
            <a:r>
              <a:rPr>
                <a:latin typeface="Courier"/>
              </a:rPr>
              <a:t>        </a:t>
            </a:r>
            <a:r>
              <a:rPr b="1">
                <a:solidFill>
                  <a:srgbClr val="007020"/>
                </a:solidFill>
                <a:latin typeface="Courier"/>
              </a:rPr>
              <a:t>return</a:t>
            </a:r>
            <a:r>
              <a:rPr>
                <a:latin typeface="Courier"/>
              </a:rPr>
              <a:t> buffer</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AudioMixer </a:t>
            </a:r>
            <a:r>
              <a:rPr>
                <a:solidFill>
                  <a:srgbClr val="666666"/>
                </a:solidFill>
                <a:latin typeface="Courier"/>
              </a:rPr>
              <a:t>{</a:t>
            </a:r>
            <a:br/>
            <a:r>
              <a:rPr>
                <a:latin typeface="Courier"/>
              </a:rPr>
              <a:t>    </a:t>
            </a:r>
            <a:r>
              <a:rPr b="1">
                <a:solidFill>
                  <a:srgbClr val="007020"/>
                </a:solidFill>
                <a:latin typeface="Courier"/>
              </a:rPr>
              <a:t>public</a:t>
            </a:r>
            <a:r>
              <a:rPr>
                <a:latin typeface="Courier"/>
              </a:rPr>
              <a:t> VideoFile </a:t>
            </a:r>
            <a:r>
              <a:rPr>
                <a:solidFill>
                  <a:srgbClr val="06287E"/>
                </a:solidFill>
                <a:latin typeface="Courier"/>
              </a:rPr>
              <a:t>fix</a:t>
            </a:r>
            <a:r>
              <a:rPr>
                <a:solidFill>
                  <a:srgbClr val="666666"/>
                </a:solidFill>
                <a:latin typeface="Courier"/>
              </a:rPr>
              <a:t>(</a:t>
            </a:r>
            <a:r>
              <a:rPr>
                <a:latin typeface="Courier"/>
              </a:rPr>
              <a:t>VideoFile result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"AudioMixer: fixing audio..."</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Java Kod Örneği - Cephe Sınıfı</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Facade class provides a simple interface to the</a:t>
            </a:r>
            <a:br/>
            <a:r>
              <a:rPr i="1">
                <a:solidFill>
                  <a:srgbClr val="60A0B0"/>
                </a:solidFill>
                <a:latin typeface="Courier"/>
              </a:rPr>
              <a:t>// complex logic of one or several subsystems. The Facade</a:t>
            </a:r>
            <a:br/>
            <a:r>
              <a:rPr i="1">
                <a:solidFill>
                  <a:srgbClr val="60A0B0"/>
                </a:solidFill>
                <a:latin typeface="Courier"/>
              </a:rPr>
              <a:t>// delegates the client requests to the appropriate objects</a:t>
            </a:r>
            <a:br/>
            <a:r>
              <a:rPr i="1">
                <a:solidFill>
                  <a:srgbClr val="60A0B0"/>
                </a:solidFill>
                <a:latin typeface="Courier"/>
              </a:rPr>
              <a:t>// within the subsystem and is also responsible for managing</a:t>
            </a:r>
            <a:br/>
            <a:r>
              <a:rPr i="1">
                <a:solidFill>
                  <a:srgbClr val="60A0B0"/>
                </a:solidFill>
                <a:latin typeface="Courier"/>
              </a:rPr>
              <a:t>// their lifecycle.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VideoConversionFacade </a:t>
            </a:r>
            <a:r>
              <a:rPr>
                <a:solidFill>
                  <a:srgbClr val="666666"/>
                </a:solidFill>
                <a:latin typeface="Courier"/>
              </a:rPr>
              <a:t>{</a:t>
            </a:r>
            <a:br/>
            <a:br/>
            <a:r>
              <a:rPr>
                <a:latin typeface="Courier"/>
              </a:rPr>
              <a:t>    </a:t>
            </a:r>
            <a:r>
              <a:rPr b="1">
                <a:solidFill>
                  <a:srgbClr val="007020"/>
                </a:solidFill>
                <a:latin typeface="Courier"/>
              </a:rPr>
              <a:t>public</a:t>
            </a:r>
            <a:r>
              <a:rPr>
                <a:latin typeface="Courier"/>
              </a:rPr>
              <a:t> VideoFile </a:t>
            </a:r>
            <a:r>
              <a:rPr>
                <a:solidFill>
                  <a:srgbClr val="06287E"/>
                </a:solidFill>
                <a:latin typeface="Courier"/>
              </a:rPr>
              <a:t>convert</a:t>
            </a:r>
            <a:r>
              <a:rPr>
                <a:solidFill>
                  <a:srgbClr val="666666"/>
                </a:solidFill>
                <a:latin typeface="Courier"/>
              </a:rPr>
              <a:t>(</a:t>
            </a:r>
            <a:r>
              <a:rPr>
                <a:solidFill>
                  <a:srgbClr val="008000"/>
                </a:solidFill>
                <a:latin typeface="Courier"/>
              </a:rPr>
              <a:t>String</a:t>
            </a:r>
            <a:r>
              <a:rPr>
                <a:latin typeface="Courier"/>
              </a:rPr>
              <a:t> filename</a:t>
            </a:r>
            <a:r>
              <a:rPr>
                <a:solidFill>
                  <a:srgbClr val="666666"/>
                </a:solidFill>
                <a:latin typeface="Courier"/>
              </a:rPr>
              <a:t>,</a:t>
            </a:r>
            <a:r>
              <a:rPr>
                <a:latin typeface="Courier"/>
              </a:rPr>
              <a:t> </a:t>
            </a:r>
            <a:r>
              <a:rPr>
                <a:solidFill>
                  <a:srgbClr val="008000"/>
                </a:solidFill>
                <a:latin typeface="Courier"/>
              </a:rPr>
              <a:t>String</a:t>
            </a:r>
            <a:r>
              <a:rPr>
                <a:latin typeface="Courier"/>
              </a:rPr>
              <a:t> format</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"VideoConversionFacade: "</a:t>
            </a:r>
            <a:r>
              <a:rPr>
                <a:latin typeface="Courier"/>
              </a:rPr>
              <a:t> </a:t>
            </a:r>
            <a:r>
              <a:rPr>
                <a:solidFill>
                  <a:srgbClr val="666666"/>
                </a:solidFill>
                <a:latin typeface="Courier"/>
              </a:rPr>
              <a:t>+</a:t>
            </a:r>
            <a:br/>
            <a:r>
              <a:rPr>
                <a:latin typeface="Courier"/>
              </a:rPr>
              <a:t>            </a:t>
            </a:r>
            <a:r>
              <a:rPr>
                <a:solidFill>
                  <a:srgbClr val="4070A0"/>
                </a:solidFill>
                <a:latin typeface="Courier"/>
              </a:rPr>
              <a:t>"conversion started."</a:t>
            </a:r>
            <a:r>
              <a:rPr>
                <a:solidFill>
                  <a:srgbClr val="666666"/>
                </a:solidFill>
                <a:latin typeface="Courier"/>
              </a:rPr>
              <a:t>);</a:t>
            </a:r>
            <a:br/>
            <a:r>
              <a:rPr>
                <a:latin typeface="Courier"/>
              </a:rPr>
              <a:t>        VideoFile file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VideoFile</a:t>
            </a:r>
            <a:r>
              <a:rPr>
                <a:solidFill>
                  <a:srgbClr val="666666"/>
                </a:solidFill>
                <a:latin typeface="Courier"/>
              </a:rPr>
              <a:t>(</a:t>
            </a:r>
            <a:r>
              <a:rPr>
                <a:latin typeface="Courier"/>
              </a:rPr>
              <a:t>filename</a:t>
            </a:r>
            <a:r>
              <a:rPr>
                <a:solidFill>
                  <a:srgbClr val="666666"/>
                </a:solidFill>
                <a:latin typeface="Courier"/>
              </a:rPr>
              <a:t>);</a:t>
            </a:r>
            <a:br/>
            <a:r>
              <a:rPr>
                <a:latin typeface="Courier"/>
              </a:rPr>
              <a:t>        </a:t>
            </a:r>
            <a:r>
              <a:rPr>
                <a:solidFill>
                  <a:srgbClr val="008000"/>
                </a:solidFill>
                <a:latin typeface="Courier"/>
              </a:rPr>
              <a:t>Codec</a:t>
            </a:r>
            <a:r>
              <a:rPr>
                <a:latin typeface="Courier"/>
              </a:rPr>
              <a:t> sourceCodec </a:t>
            </a:r>
            <a:r>
              <a:rPr>
                <a:solidFill>
                  <a:srgbClr val="666666"/>
                </a:solidFill>
                <a:latin typeface="Courier"/>
              </a:rPr>
              <a:t>=</a:t>
            </a:r>
            <a:r>
              <a:rPr>
                <a:latin typeface="Courier"/>
              </a:rPr>
              <a:t> </a:t>
            </a:r>
            <a:r>
              <a:rPr>
                <a:solidFill>
                  <a:srgbClr val="008000"/>
                </a:solidFill>
                <a:latin typeface="Courier"/>
              </a:rPr>
              <a:t>CodecFactory</a:t>
            </a:r>
            <a:r>
              <a:rPr>
                <a:solidFill>
                  <a:srgbClr val="666666"/>
                </a:solidFill>
                <a:latin typeface="Courier"/>
              </a:rPr>
              <a:t>.</a:t>
            </a:r>
            <a:r>
              <a:rPr>
                <a:solidFill>
                  <a:srgbClr val="06287E"/>
                </a:solidFill>
                <a:latin typeface="Courier"/>
              </a:rPr>
              <a:t>extract</a:t>
            </a:r>
            <a:r>
              <a:rPr>
                <a:solidFill>
                  <a:srgbClr val="666666"/>
                </a:solidFill>
                <a:latin typeface="Courier"/>
              </a:rPr>
              <a:t>(</a:t>
            </a:r>
            <a:r>
              <a:rPr>
                <a:latin typeface="Courier"/>
              </a:rPr>
              <a:t>file</a:t>
            </a:r>
            <a:r>
              <a:rPr>
                <a:solidFill>
                  <a:srgbClr val="666666"/>
                </a:solidFill>
                <a:latin typeface="Courier"/>
              </a:rPr>
              <a:t>);</a:t>
            </a:r>
            <a:br/>
            <a:br/>
            <a:r>
              <a:rPr>
                <a:latin typeface="Courier"/>
              </a:rPr>
              <a:t>        </a:t>
            </a:r>
            <a:r>
              <a:rPr>
                <a:solidFill>
                  <a:srgbClr val="008000"/>
                </a:solidFill>
                <a:latin typeface="Courier"/>
              </a:rPr>
              <a:t>Codec</a:t>
            </a:r>
            <a:r>
              <a:rPr>
                <a:latin typeface="Courier"/>
              </a:rPr>
              <a:t> destinationCodec</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format</a:t>
            </a:r>
            <a:r>
              <a:rPr>
                <a:solidFill>
                  <a:srgbClr val="666666"/>
                </a:solidFill>
                <a:latin typeface="Courier"/>
              </a:rPr>
              <a:t>.</a:t>
            </a:r>
            <a:r>
              <a:rPr>
                <a:solidFill>
                  <a:srgbClr val="06287E"/>
                </a:solidFill>
                <a:latin typeface="Courier"/>
              </a:rPr>
              <a:t>equals</a:t>
            </a:r>
            <a:r>
              <a:rPr>
                <a:solidFill>
                  <a:srgbClr val="666666"/>
                </a:solidFill>
                <a:latin typeface="Courier"/>
              </a:rPr>
              <a:t>(</a:t>
            </a:r>
            <a:r>
              <a:rPr>
                <a:solidFill>
                  <a:srgbClr val="4070A0"/>
                </a:solidFill>
                <a:latin typeface="Courier"/>
              </a:rPr>
              <a:t>"mp4"</a:t>
            </a:r>
            <a:r>
              <a:rPr>
                <a:solidFill>
                  <a:srgbClr val="666666"/>
                </a:solidFill>
                <a:latin typeface="Courier"/>
              </a:rPr>
              <a:t>))</a:t>
            </a:r>
            <a:r>
              <a:rPr>
                <a:latin typeface="Courier"/>
              </a:rPr>
              <a:t> </a:t>
            </a:r>
            <a:r>
              <a:rPr>
                <a:solidFill>
                  <a:srgbClr val="666666"/>
                </a:solidFill>
                <a:latin typeface="Courier"/>
              </a:rPr>
              <a:t>{</a:t>
            </a:r>
            <a:br/>
            <a:r>
              <a:rPr>
                <a:latin typeface="Courier"/>
              </a:rPr>
              <a:t>            destinationCodec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MPEG4CompressionCodec</a:t>
            </a:r>
            <a:r>
              <a:rPr>
                <a:solidFill>
                  <a:srgbClr val="666666"/>
                </a:solidFill>
                <a:latin typeface="Courier"/>
              </a:rPr>
              <a:t>();</a:t>
            </a:r>
            <a:br/>
            <a:r>
              <a:rPr>
                <a:latin typeface="Courier"/>
              </a:rPr>
              <a:t>        </a:t>
            </a:r>
            <a:r>
              <a:rPr>
                <a:solidFill>
                  <a:srgbClr val="666666"/>
                </a:solidFill>
                <a:latin typeface="Courier"/>
              </a:rPr>
              <a:t>}</a:t>
            </a:r>
            <a:r>
              <a:rPr>
                <a:latin typeface="Courier"/>
              </a:rPr>
              <a:t> </a:t>
            </a:r>
            <a:r>
              <a:rPr b="1">
                <a:solidFill>
                  <a:srgbClr val="007020"/>
                </a:solidFill>
                <a:latin typeface="Courier"/>
              </a:rPr>
              <a:t>else</a:t>
            </a:r>
            <a:r>
              <a:rPr>
                <a:latin typeface="Courier"/>
              </a:rPr>
              <a:t> </a:t>
            </a:r>
            <a:r>
              <a:rPr>
                <a:solidFill>
                  <a:srgbClr val="666666"/>
                </a:solidFill>
                <a:latin typeface="Courier"/>
              </a:rPr>
              <a:t>{</a:t>
            </a:r>
            <a:br/>
            <a:r>
              <a:rPr>
                <a:latin typeface="Courier"/>
              </a:rPr>
              <a:t>            destinationCodec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OggCompressionCodec</a:t>
            </a:r>
            <a:r>
              <a:rPr>
                <a:solidFill>
                  <a:srgbClr val="666666"/>
                </a:solidFill>
                <a:latin typeface="Courier"/>
              </a:rPr>
              <a:t>();</a:t>
            </a:r>
            <a:br/>
            <a:r>
              <a:rPr>
                <a:latin typeface="Courier"/>
              </a:rPr>
              <a:t>        </a:t>
            </a:r>
            <a:r>
              <a:rPr>
                <a:solidFill>
                  <a:srgbClr val="666666"/>
                </a:solidFill>
                <a:latin typeface="Courier"/>
              </a:rPr>
              <a:t>}</a:t>
            </a:r>
            <a:br/>
            <a:br/>
            <a:r>
              <a:rPr>
                <a:latin typeface="Courier"/>
              </a:rPr>
              <a:t>        VideoFile buffer </a:t>
            </a:r>
            <a:r>
              <a:rPr>
                <a:solidFill>
                  <a:srgbClr val="666666"/>
                </a:solidFill>
                <a:latin typeface="Courier"/>
              </a:rPr>
              <a:t>=</a:t>
            </a:r>
            <a:r>
              <a:rPr>
                <a:latin typeface="Courier"/>
              </a:rPr>
              <a:t> BitrateReader</a:t>
            </a:r>
            <a:r>
              <a:rPr>
                <a:solidFill>
                  <a:srgbClr val="666666"/>
                </a:solidFill>
                <a:latin typeface="Courier"/>
              </a:rPr>
              <a:t>.</a:t>
            </a:r>
            <a:r>
              <a:rPr>
                <a:solidFill>
                  <a:srgbClr val="06287E"/>
                </a:solidFill>
                <a:latin typeface="Courier"/>
              </a:rPr>
              <a:t>read</a:t>
            </a:r>
            <a:r>
              <a:rPr>
                <a:solidFill>
                  <a:srgbClr val="666666"/>
                </a:solidFill>
                <a:latin typeface="Courier"/>
              </a:rPr>
              <a:t>(</a:t>
            </a:r>
            <a:r>
              <a:rPr>
                <a:latin typeface="Courier"/>
              </a:rPr>
              <a:t>file</a:t>
            </a:r>
            <a:r>
              <a:rPr>
                <a:solidFill>
                  <a:srgbClr val="666666"/>
                </a:solidFill>
                <a:latin typeface="Courier"/>
              </a:rPr>
              <a:t>,</a:t>
            </a:r>
            <a:br/>
            <a:r>
              <a:rPr>
                <a:latin typeface="Courier"/>
              </a:rPr>
              <a:t>            sourceCodec</a:t>
            </a:r>
            <a:r>
              <a:rPr>
                <a:solidFill>
                  <a:srgbClr val="666666"/>
                </a:solidFill>
                <a:latin typeface="Courier"/>
              </a:rPr>
              <a:t>);</a:t>
            </a:r>
            <a:br/>
            <a:r>
              <a:rPr>
                <a:latin typeface="Courier"/>
              </a:rPr>
              <a:t>        VideoFile result </a:t>
            </a:r>
            <a:r>
              <a:rPr>
                <a:solidFill>
                  <a:srgbClr val="666666"/>
                </a:solidFill>
                <a:latin typeface="Courier"/>
              </a:rPr>
              <a:t>=</a:t>
            </a:r>
            <a:r>
              <a:rPr>
                <a:latin typeface="Courier"/>
              </a:rPr>
              <a:t> BitrateReader</a:t>
            </a:r>
            <a:r>
              <a:rPr>
                <a:solidFill>
                  <a:srgbClr val="666666"/>
                </a:solidFill>
                <a:latin typeface="Courier"/>
              </a:rPr>
              <a:t>.</a:t>
            </a:r>
            <a:r>
              <a:rPr>
                <a:solidFill>
                  <a:srgbClr val="06287E"/>
                </a:solidFill>
                <a:latin typeface="Courier"/>
              </a:rPr>
              <a:t>convert</a:t>
            </a:r>
            <a:r>
              <a:rPr>
                <a:solidFill>
                  <a:srgbClr val="666666"/>
                </a:solidFill>
                <a:latin typeface="Courier"/>
              </a:rPr>
              <a:t>(</a:t>
            </a:r>
            <a:r>
              <a:rPr>
                <a:latin typeface="Courier"/>
              </a:rPr>
              <a:t>buffer</a:t>
            </a:r>
            <a:r>
              <a:rPr>
                <a:solidFill>
                  <a:srgbClr val="666666"/>
                </a:solidFill>
                <a:latin typeface="Courier"/>
              </a:rPr>
              <a:t>,</a:t>
            </a:r>
            <a:br/>
            <a:r>
              <a:rPr>
                <a:latin typeface="Courier"/>
              </a:rPr>
              <a:t>            destinationCodec</a:t>
            </a:r>
            <a:r>
              <a:rPr>
                <a:solidFill>
                  <a:srgbClr val="666666"/>
                </a:solidFill>
                <a:latin typeface="Courier"/>
              </a:rPr>
              <a:t>);</a:t>
            </a:r>
            <a:br/>
            <a:r>
              <a:rPr>
                <a:latin typeface="Courier"/>
              </a:rPr>
              <a:t>        result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AudioMixer</a:t>
            </a:r>
            <a:r>
              <a:rPr>
                <a:solidFill>
                  <a:srgbClr val="666666"/>
                </a:solidFill>
                <a:latin typeface="Courier"/>
              </a:rPr>
              <a:t>().</a:t>
            </a:r>
            <a:r>
              <a:rPr>
                <a:solidFill>
                  <a:srgbClr val="06287E"/>
                </a:solidFill>
                <a:latin typeface="Courier"/>
              </a:rPr>
              <a:t>fix</a:t>
            </a:r>
            <a:r>
              <a:rPr>
                <a:solidFill>
                  <a:srgbClr val="666666"/>
                </a:solidFill>
                <a:latin typeface="Courier"/>
              </a:rPr>
              <a:t>(</a:t>
            </a:r>
            <a:r>
              <a:rPr>
                <a:latin typeface="Courier"/>
              </a:rPr>
              <a:t>result</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"VideoConversionFacade: "</a:t>
            </a:r>
            <a:r>
              <a:rPr>
                <a:latin typeface="Courier"/>
              </a:rPr>
              <a:t> </a:t>
            </a:r>
            <a:r>
              <a:rPr>
                <a:solidFill>
                  <a:srgbClr val="666666"/>
                </a:solidFill>
                <a:latin typeface="Courier"/>
              </a:rPr>
              <a:t>+</a:t>
            </a:r>
            <a:br/>
            <a:r>
              <a:rPr>
                <a:latin typeface="Courier"/>
              </a:rPr>
              <a:t>            </a:t>
            </a:r>
            <a:r>
              <a:rPr>
                <a:solidFill>
                  <a:srgbClr val="4070A0"/>
                </a:solidFill>
                <a:latin typeface="Courier"/>
              </a:rPr>
              <a:t>"conversion completed."</a:t>
            </a:r>
            <a:r>
              <a:rPr>
                <a:solidFill>
                  <a:srgbClr val="666666"/>
                </a:solidFill>
                <a:latin typeface="Courier"/>
              </a:rPr>
              <a:t>);</a:t>
            </a:r>
            <a:br/>
            <a:r>
              <a:rPr>
                <a:latin typeface="Courier"/>
              </a:rPr>
              <a:t>        </a:t>
            </a:r>
            <a:r>
              <a:rPr b="1">
                <a:solidFill>
                  <a:srgbClr val="007020"/>
                </a:solidFill>
                <a:latin typeface="Courier"/>
              </a:rPr>
              <a:t>return</a:t>
            </a:r>
            <a:r>
              <a:rPr>
                <a:latin typeface="Courier"/>
              </a:rPr>
              <a:t> result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Java Kod Örneği - İstemci</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The client code does not depend on any subsystem classes.</a:t>
            </a:r>
            <a:br/>
            <a:r>
              <a:rPr i="1">
                <a:solidFill>
                  <a:srgbClr val="60A0B0"/>
                </a:solidFill>
                <a:latin typeface="Courier"/>
              </a:rPr>
              <a:t>// Any changes to the subsystem's code will not affect the</a:t>
            </a:r>
            <a:br/>
            <a:r>
              <a:rPr i="1">
                <a:solidFill>
                  <a:srgbClr val="60A0B0"/>
                </a:solidFill>
                <a:latin typeface="Courier"/>
              </a:rPr>
              <a:t>// client code. You would only need to update the Facade.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FacadeDemo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VideoConversionFacade converter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VideoConversionFacade</a:t>
            </a:r>
            <a:r>
              <a:rPr>
                <a:solidFill>
                  <a:srgbClr val="666666"/>
                </a:solidFill>
                <a:latin typeface="Courier"/>
              </a:rPr>
              <a:t>();</a:t>
            </a:r>
            <a:br/>
            <a:br/>
            <a:r>
              <a:rPr>
                <a:latin typeface="Courier"/>
              </a:rPr>
              <a:t>        VideoFile mp4Video </a:t>
            </a:r>
            <a:r>
              <a:rPr>
                <a:solidFill>
                  <a:srgbClr val="666666"/>
                </a:solidFill>
                <a:latin typeface="Courier"/>
              </a:rPr>
              <a:t>=</a:t>
            </a:r>
            <a:r>
              <a:rPr>
                <a:latin typeface="Courier"/>
              </a:rPr>
              <a:t> converter</a:t>
            </a:r>
            <a:r>
              <a:rPr>
                <a:solidFill>
                  <a:srgbClr val="666666"/>
                </a:solidFill>
                <a:latin typeface="Courier"/>
              </a:rPr>
              <a:t>.</a:t>
            </a:r>
            <a:r>
              <a:rPr>
                <a:solidFill>
                  <a:srgbClr val="06287E"/>
                </a:solidFill>
                <a:latin typeface="Courier"/>
              </a:rPr>
              <a:t>convert</a:t>
            </a:r>
            <a:r>
              <a:rPr>
                <a:solidFill>
                  <a:srgbClr val="666666"/>
                </a:solidFill>
                <a:latin typeface="Courier"/>
              </a:rPr>
              <a:t>(</a:t>
            </a:r>
            <a:br/>
            <a:r>
              <a:rPr>
                <a:latin typeface="Courier"/>
              </a:rPr>
              <a:t>            </a:t>
            </a:r>
            <a:r>
              <a:rPr>
                <a:solidFill>
                  <a:srgbClr val="4070A0"/>
                </a:solidFill>
                <a:latin typeface="Courier"/>
              </a:rPr>
              <a:t>"funny-cats-video.ogg"</a:t>
            </a:r>
            <a:r>
              <a:rPr>
                <a:solidFill>
                  <a:srgbClr val="666666"/>
                </a:solidFill>
                <a:latin typeface="Courier"/>
              </a:rPr>
              <a:t>,</a:t>
            </a:r>
            <a:r>
              <a:rPr>
                <a:latin typeface="Courier"/>
              </a:rPr>
              <a:t> </a:t>
            </a:r>
            <a:r>
              <a:rPr>
                <a:solidFill>
                  <a:srgbClr val="4070A0"/>
                </a:solidFill>
                <a:latin typeface="Courier"/>
              </a:rPr>
              <a:t>"mp4"</a:t>
            </a:r>
            <a:r>
              <a:rPr>
                <a:solidFill>
                  <a:srgbClr val="666666"/>
                </a:solidFill>
                <a:latin typeface="Courier"/>
              </a:rPr>
              <a:t>);</a:t>
            </a:r>
            <a:b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"Converted: "</a:t>
            </a:r>
            <a:r>
              <a:rPr>
                <a:latin typeface="Courier"/>
              </a:rPr>
              <a:t> </a:t>
            </a:r>
            <a:r>
              <a:rPr>
                <a:solidFill>
                  <a:srgbClr val="666666"/>
                </a:solidFill>
                <a:latin typeface="Courier"/>
              </a:rPr>
              <a:t>+</a:t>
            </a:r>
            <a:br/>
            <a:r>
              <a:rPr>
                <a:latin typeface="Courier"/>
              </a:rPr>
              <a:t>            mp4Video</a:t>
            </a:r>
            <a:r>
              <a:rPr>
                <a:solidFill>
                  <a:srgbClr val="666666"/>
                </a:solidFill>
                <a:latin typeface="Courier"/>
              </a:rPr>
              <a:t>.</a:t>
            </a:r>
            <a:r>
              <a:rPr>
                <a:solidFill>
                  <a:srgbClr val="06287E"/>
                </a:solidFill>
                <a:latin typeface="Courier"/>
              </a:rPr>
              <a:t>getName</a:t>
            </a:r>
            <a:r>
              <a:rPr>
                <a:solidFill>
                  <a:srgbClr val="666666"/>
                </a:solidFill>
                <a:latin typeface="Courier"/>
              </a:rPr>
              <a:t>());</a:t>
            </a:r>
            <a:br/>
            <a:br/>
            <a:r>
              <a:rPr>
                <a:latin typeface="Courier"/>
              </a:rPr>
              <a:t>        </a:t>
            </a:r>
            <a:r>
              <a:rPr i="1">
                <a:solidFill>
                  <a:srgbClr val="60A0B0"/>
                </a:solidFill>
                <a:latin typeface="Courier"/>
              </a:rPr>
              <a:t>// The client only interacts with the simple facade</a:t>
            </a:r>
            <a:br/>
            <a:r>
              <a:rPr>
                <a:latin typeface="Courier"/>
              </a:rPr>
              <a:t>        </a:t>
            </a:r>
            <a:r>
              <a:rPr i="1">
                <a:solidFill>
                  <a:srgbClr val="60A0B0"/>
                </a:solidFill>
                <a:latin typeface="Courier"/>
              </a:rPr>
              <a:t>// interface, without knowing about dozens of</a:t>
            </a:r>
            <a:br/>
            <a:r>
              <a:rPr>
                <a:latin typeface="Courier"/>
              </a:rPr>
              <a:t>        </a:t>
            </a:r>
            <a:r>
              <a:rPr i="1">
                <a:solidFill>
                  <a:srgbClr val="60A0B0"/>
                </a:solidFill>
                <a:latin typeface="Courier"/>
              </a:rPr>
              <a:t>// subsystem classes.</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Facade - Sıra Diyagramı</a:t>
            </a:r>
          </a:p>
        </p:txBody>
      </p:sp>
      <p:pic>
        <p:nvPicPr>
          <p:cNvPr descr="assets/facade-sequence.png" id="0" name="Picture 1"/>
          <p:cNvPicPr>
            <a:picLocks noGrp="1" noChangeAspect="1"/>
          </p:cNvPicPr>
          <p:nvPr/>
        </p:nvPicPr>
        <p:blipFill>
          <a:blip r:embed="rId2"/>
          <a:stretch>
            <a:fillRect/>
          </a:stretch>
        </p:blipFill>
        <p:spPr bwMode="auto">
          <a:xfrm>
            <a:off x="3581400" y="203200"/>
            <a:ext cx="5067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Uygulanabilirlik</a:t>
            </a:r>
          </a:p>
        </p:txBody>
      </p:sp>
      <p:sp>
        <p:nvSpPr>
          <p:cNvPr id="3" name="Content Placeholder 2"/>
          <p:cNvSpPr>
            <a:spLocks noGrp="1"/>
          </p:cNvSpPr>
          <p:nvPr>
            <p:ph idx="1"/>
          </p:nvPr>
        </p:nvSpPr>
        <p:spPr/>
        <p:txBody>
          <a:bodyPr/>
          <a:lstStyle/>
          <a:p>
            <a:pPr lvl="0" indent="0" marL="0">
              <a:buNone/>
            </a:pPr>
            <a:r>
              <a:rPr/>
              <a:t>Facade (Cephe) desenini şu durumlarda kullanın:</a:t>
            </a:r>
          </a:p>
          <a:p>
            <a:pPr lvl="0"/>
            <a:r>
              <a:rPr/>
              <a:t>Karmaşık bir alt sisteme </a:t>
            </a:r>
            <a:r>
              <a:rPr b="1"/>
              <a:t>sınırlı ama basit bir arayüze</a:t>
            </a:r>
            <a:r>
              <a:rPr/>
              <a:t> sahip olmanız gerektiğinde. Genellikle alt sistemler zamanla daha karmaşık hale gelir. Tasarım desenlerini uygulamak bile genellikle daha fazla sınıf oluşturmaya yol açar. Bir alt sistem çeşitli bağlamlarda daha esnek ve yeniden kullanılabilir hale gelebilir, ancak istemciden talep ettiği yapılandırma ve kalıp kod miktarı giderek büyür. Facade (Cephe), alt sistemin en çok kullanılan özelliklerine bir kısayol sağlamaya çalışır</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Uygulanabilirlik (devam)</a:t>
            </a:r>
          </a:p>
        </p:txBody>
      </p:sp>
      <p:sp>
        <p:nvSpPr>
          <p:cNvPr id="3" name="Content Placeholder 2"/>
          <p:cNvSpPr>
            <a:spLocks noGrp="1"/>
          </p:cNvSpPr>
          <p:nvPr>
            <p:ph idx="1"/>
          </p:nvPr>
        </p:nvSpPr>
        <p:spPr/>
        <p:txBody>
          <a:bodyPr/>
          <a:lstStyle/>
          <a:p>
            <a:pPr lvl="0"/>
            <a:r>
              <a:rPr b="1"/>
              <a:t>Bir alt sistemi katmanlar halinde yapılandırmak</a:t>
            </a:r>
            <a:r>
              <a:rPr/>
              <a:t> istediğinizde. Bir alt sistemin her seviyesine giriş noktaları tanımlamak için cepheler oluşturun. Birden fazla alt sistem arasındaki bağlılığı, yalnızca cepheler aracılığıyla iletişim kurmalarını gerektirerek azaltabilirsiniz. Bu yaklaşım Mediator desenine benzer</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Nasıl Uygulanır</a:t>
            </a:r>
          </a:p>
        </p:txBody>
      </p:sp>
      <p:sp>
        <p:nvSpPr>
          <p:cNvPr id="3" name="Content Placeholder 2"/>
          <p:cNvSpPr>
            <a:spLocks noGrp="1"/>
          </p:cNvSpPr>
          <p:nvPr>
            <p:ph idx="1"/>
          </p:nvPr>
        </p:nvSpPr>
        <p:spPr/>
        <p:txBody>
          <a:bodyPr/>
          <a:lstStyle/>
          <a:p>
            <a:pPr lvl="0" indent="-342900" marL="342900">
              <a:buAutoNum type="arabicPeriod"/>
            </a:pPr>
            <a:r>
              <a:rPr/>
              <a:t>Mevcut bir alt sistemin zaten sağladığından </a:t>
            </a:r>
            <a:r>
              <a:rPr b="1"/>
              <a:t>daha basit bir arayüz</a:t>
            </a:r>
            <a:r>
              <a:rPr/>
              <a:t> sağlamanın mümkün olup olmadığını kontrol edin. Bu arayüz, istemci kodunu alt sistemin birçok sınıfından bağımsız kılıyorsa doğru yoldasınız</a:t>
            </a:r>
          </a:p>
          <a:p>
            <a:pPr lvl="0" indent="-342900" marL="342900">
              <a:buAutoNum type="arabicPeriod"/>
            </a:pPr>
            <a:r>
              <a:rPr/>
              <a:t>Bu arayüzü yeni bir </a:t>
            </a:r>
            <a:r>
              <a:rPr b="1"/>
              <a:t>cephe sınıfında</a:t>
            </a:r>
            <a:r>
              <a:rPr/>
              <a:t> bildirin ve uygulayın. Cephe, istemci kodundan gelen çağrıları alt sistemin uygun nesnelerine yönlendirmelidir. Cephe, istemci kodu bunu zaten yapmıyorsa, alt sistemi başlatmaktan ve daha sonraki yaşam döngüsünü yönetmekten sorumlu olmalıdır</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Nasıl Uygulanır (devam)</a:t>
            </a:r>
          </a:p>
        </p:txBody>
      </p:sp>
      <p:sp>
        <p:nvSpPr>
          <p:cNvPr id="3" name="Content Placeholder 2"/>
          <p:cNvSpPr>
            <a:spLocks noGrp="1"/>
          </p:cNvSpPr>
          <p:nvPr>
            <p:ph idx="1"/>
          </p:nvPr>
        </p:nvSpPr>
        <p:spPr/>
        <p:txBody>
          <a:bodyPr/>
          <a:lstStyle/>
          <a:p>
            <a:pPr lvl="0" indent="-342900" marL="342900">
              <a:buAutoNum startAt="3" type="arabicPeriod"/>
            </a:pPr>
            <a:r>
              <a:rPr/>
              <a:t>Desenden tam fayda sağlamak için, tüm istemci kodunun alt sistemle </a:t>
            </a:r>
            <a:r>
              <a:rPr b="1"/>
              <a:t>yalnızca cephe üzerinden</a:t>
            </a:r>
            <a:r>
              <a:rPr/>
              <a:t> iletişim kurmasını sağlayın. Artık istemci kodu, alt sistem kodundaki herhangi bir değişiklikten korunur. Örneğin, bir alt sistem yeni bir sürüme yükseltildiğinde, yalnızca cephedeki kodu değiştirmeniz gerekir</a:t>
            </a:r>
          </a:p>
          <a:p>
            <a:pPr lvl="0" indent="-342900" marL="342900">
              <a:buAutoNum startAt="3" type="arabicPeriod"/>
            </a:pPr>
            <a:r>
              <a:rPr/>
              <a:t>Cephe </a:t>
            </a:r>
            <a:r>
              <a:rPr b="1"/>
              <a:t>çok büyük</a:t>
            </a:r>
            <a:r>
              <a:rPr/>
              <a:t> olursa, davranışının bir kısmını yeni, iyileştirilmiş bir cephe sınıfına çıkarmayı düşünün</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Avantajlar ve Dezavantajlar</a:t>
            </a:r>
          </a:p>
        </p:txBody>
      </p:sp>
      <p:sp>
        <p:nvSpPr>
          <p:cNvPr id="3" name="Content Placeholder 2"/>
          <p:cNvSpPr>
            <a:spLocks noGrp="1"/>
          </p:cNvSpPr>
          <p:nvPr>
            <p:ph idx="1"/>
          </p:nvPr>
        </p:nvSpPr>
        <p:spPr/>
        <p:txBody>
          <a:bodyPr/>
          <a:lstStyle/>
          <a:p>
            <a:pPr lvl="0" indent="0" marL="0">
              <a:buNone/>
            </a:pPr>
            <a:r>
              <a:rPr b="1"/>
              <a:t>Avantajlar:</a:t>
            </a:r>
            <a:r>
              <a:rPr/>
              <a:t> - Kodunuzu bir alt sistemin karmaşıklığından </a:t>
            </a:r>
            <a:r>
              <a:rPr b="1"/>
              <a:t>izole</a:t>
            </a:r>
            <a:r>
              <a:rPr/>
              <a:t> edebilirsiniz - Karmaşık bir sisteme </a:t>
            </a:r>
            <a:r>
              <a:rPr b="1"/>
              <a:t>basit</a:t>
            </a:r>
            <a:r>
              <a:rPr/>
              <a:t> bir arayüz sağlarsınız - İstemci ile alt sistem arasında </a:t>
            </a:r>
            <a:r>
              <a:rPr b="1"/>
              <a:t>gevşek bağlılığı</a:t>
            </a:r>
            <a:r>
              <a:rPr/>
              <a:t> teşvik edersiniz</a:t>
            </a:r>
          </a:p>
          <a:p>
            <a:pPr lvl="0" indent="0" marL="0">
              <a:buNone/>
            </a:pPr>
            <a:r>
              <a:rPr b="1"/>
              <a:t>Dezavantajlar:</a:t>
            </a:r>
            <a:r>
              <a:rPr/>
              <a:t> - Bir cephe, uygulamanın tüm sınıflarına bağlı bir </a:t>
            </a:r>
            <a:r>
              <a:rPr b="1"/>
              <a:t>tanrı nesnesi</a:t>
            </a:r>
            <a:r>
              <a:rPr/>
              <a:t> haline gelebilir</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Diğer Desenlerle İlişkiler</a:t>
            </a:r>
          </a:p>
        </p:txBody>
      </p:sp>
      <p:sp>
        <p:nvSpPr>
          <p:cNvPr id="3" name="Content Placeholder 2"/>
          <p:cNvSpPr>
            <a:spLocks noGrp="1"/>
          </p:cNvSpPr>
          <p:nvPr>
            <p:ph idx="1"/>
          </p:nvPr>
        </p:nvSpPr>
        <p:spPr/>
        <p:txBody>
          <a:bodyPr/>
          <a:lstStyle/>
          <a:p>
            <a:pPr lvl="0"/>
            <a:r>
              <a:rPr b="1"/>
              <a:t>Facade (Cephe)</a:t>
            </a:r>
            <a:r>
              <a:rPr/>
              <a:t> mevcut nesneler için yeni bir arayüz tanımlarken, </a:t>
            </a:r>
            <a:r>
              <a:rPr b="1"/>
              <a:t>Adapter (Adaptör)</a:t>
            </a:r>
            <a:r>
              <a:rPr/>
              <a:t> mevcut arayüzü kullanılabilir hale getirmeye çalışır. Adapter (Adaptör) genellikle yalnızca bir nesneyi sararken, Facade (Cephe) bütün bir nesne alt sistemiyle çalışır</a:t>
            </a:r>
          </a:p>
          <a:p>
            <a:pPr lvl="0"/>
            <a:r>
              <a:rPr b="1"/>
              <a:t>Abstract Factory</a:t>
            </a:r>
            <a:r>
              <a:rPr/>
              <a:t>, alt sistem nesnelerinin istemci kodundan nasıl oluşturulduğunu gizlemek istediğinizde </a:t>
            </a:r>
            <a:r>
              <a:rPr b="1"/>
              <a:t>Facade (Cephe)</a:t>
            </a:r>
            <a:r>
              <a:rPr/>
              <a:t>’ye alternatif olarak hizmet edebilir</a:t>
            </a:r>
          </a:p>
          <a:p>
            <a:pPr lvl="0"/>
            <a:r>
              <a:rPr b="1"/>
              <a:t>Flyweight (Sinek Siklet)</a:t>
            </a:r>
            <a:r>
              <a:rPr/>
              <a:t> çok sayıda küçük nesne yapmanın nasıl olduğunu gösterirken, </a:t>
            </a:r>
            <a:r>
              <a:rPr b="1"/>
              <a:t>Facade (Cephe)</a:t>
            </a:r>
            <a:r>
              <a:rPr/>
              <a:t> tüm bir alt sistemi temsil eden tek bir nesne yapmanın nasıl olduğunu gösterir</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Facade (Cephe): Diğer Desenlerle İlişkiler (devam)</a:t>
            </a:r>
          </a:p>
        </p:txBody>
      </p:sp>
      <p:sp>
        <p:nvSpPr>
          <p:cNvPr id="3" name="Content Placeholder 2"/>
          <p:cNvSpPr>
            <a:spLocks noGrp="1"/>
          </p:cNvSpPr>
          <p:nvPr>
            <p:ph idx="1"/>
          </p:nvPr>
        </p:nvSpPr>
        <p:spPr/>
        <p:txBody>
          <a:bodyPr/>
          <a:lstStyle/>
          <a:p>
            <a:pPr lvl="0"/>
            <a:r>
              <a:rPr b="1"/>
              <a:t>Facade (Cephe)</a:t>
            </a:r>
            <a:r>
              <a:rPr/>
              <a:t> ve </a:t>
            </a:r>
            <a:r>
              <a:rPr b="1"/>
              <a:t>Mediator</a:t>
            </a:r>
            <a:r>
              <a:rPr/>
              <a:t> benzer görevlere sahiptir: birçok sıkıca bağlı sınıf arasındaki işbirliğini organize etmeye çalışırlar. Facade (Cephe), bir nesne alt sisteme basitleştirilmiş bir arayüz tanımlar, ancak herhangi bir yeni işlevsellik tanıtmaz. Alt sistemin kendisi cepheden habersizdir. Mediator, sistemin bileşenleri arasındaki iletişimi merkezileştirir. Bileşenler yalnızca mediator nesnesini bilir</a:t>
            </a:r>
          </a:p>
          <a:p>
            <a:pPr lvl="0"/>
            <a:r>
              <a:rPr/>
              <a:t>Bir </a:t>
            </a:r>
            <a:r>
              <a:rPr b="1"/>
              <a:t>Facade (Cephe)</a:t>
            </a:r>
            <a:r>
              <a:rPr/>
              <a:t> sınıfı genellikle bir </a:t>
            </a:r>
            <a:r>
              <a:rPr b="1"/>
              <a:t>Singleton</a:t>
            </a:r>
            <a:r>
              <a:rPr/>
              <a:t>’a dönüştürülebilir çünkü çoğu durumda tek bir cephe nesnesi yeterlidir</a:t>
            </a:r>
          </a:p>
          <a:p>
            <a:pPr lvl="0"/>
            <a:r>
              <a:rPr b="1"/>
              <a:t>Facade (Cephe)</a:t>
            </a:r>
            <a:r>
              <a:rPr/>
              <a:t>, </a:t>
            </a:r>
            <a:r>
              <a:rPr b="1"/>
              <a:t>Proxy (Vekil)</a:t>
            </a:r>
            <a:r>
              <a:rPr/>
              <a:t>’e benzer; her ikisi de karmaşık bir varlığı tamponlar ve kendi başına başlatır. Facade (Cephe)’den farklı olarak, Proxy (Vekil) servis nesnesiyle aynı arayüze sahiptir, bu da onları değiştirilebilir kılar</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F: Özet</a:t>
            </a:r>
          </a:p>
        </p:txBody>
      </p:sp>
      <p:sp>
        <p:nvSpPr>
          <p:cNvPr id="3" name="Content Placeholder 2"/>
          <p:cNvSpPr>
            <a:spLocks noGrp="1"/>
          </p:cNvSpPr>
          <p:nvPr>
            <p:ph idx="1"/>
          </p:nvPr>
        </p:nvSpPr>
        <p:spPr/>
        <p:txBody>
          <a:bodyPr/>
          <a:lstStyle/>
          <a:p>
            <a:pPr lvl="0"/>
            <a:r>
              <a:rPr/>
              <a:t>Facade (Cephe) deseni, karmaşık bir alt sisteme </a:t>
            </a:r>
            <a:r>
              <a:rPr b="1"/>
              <a:t>basitleştirilmiş bir arayüz</a:t>
            </a:r>
            <a:r>
              <a:rPr/>
              <a:t> sağlar</a:t>
            </a:r>
          </a:p>
          <a:p>
            <a:pPr lvl="0"/>
            <a:r>
              <a:rPr b="1"/>
              <a:t>Yeni işlevsellik eklemez</a:t>
            </a:r>
            <a:r>
              <a:rPr/>
              <a:t> ancak mevcut işlevselliği erişmeyi kolaylaştırır</a:t>
            </a:r>
          </a:p>
          <a:p>
            <a:pPr lvl="0"/>
            <a:r>
              <a:rPr/>
              <a:t>İstemci kodu ile alt sistem sınıfları arasında </a:t>
            </a:r>
            <a:r>
              <a:rPr b="1"/>
              <a:t>gevşek bağlılığı</a:t>
            </a:r>
            <a:r>
              <a:rPr/>
              <a:t> teşvik eder</a:t>
            </a:r>
          </a:p>
          <a:p>
            <a:pPr lvl="0"/>
            <a:r>
              <a:rPr b="1"/>
              <a:t>Karmaşık kütüphaneler</a:t>
            </a:r>
            <a:r>
              <a:rPr/>
              <a:t> veya </a:t>
            </a:r>
            <a:r>
              <a:rPr b="1"/>
              <a:t>eski sistemlerle</a:t>
            </a:r>
            <a:r>
              <a:rPr/>
              <a:t> entegrasyon sırasında faydalıdır</a:t>
            </a:r>
          </a:p>
          <a:p>
            <a:pPr lvl="0"/>
            <a:r>
              <a:rPr/>
              <a:t>Cephenin bir </a:t>
            </a:r>
            <a:r>
              <a:rPr b="1"/>
              <a:t>tanrı nesnesi</a:t>
            </a:r>
            <a:r>
              <a:rPr/>
              <a:t> haline gelmemesine dikkat edin</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G: Flyweight (Sinek Siklet) Deseni</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G: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İçsel ve Dışsal Durum</a:t>
            </a:r>
          </a:p>
          <a:p>
            <a:pPr lvl="0"/>
            <a:r>
              <a:rPr/>
              <a:t>Gerçek Dünya Benzetmesi</a:t>
            </a:r>
          </a:p>
          <a:p>
            <a:pPr lvl="0"/>
            <a:r>
              <a:rPr/>
              <a:t>Yapı (UML)</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Amaç</a:t>
            </a:r>
          </a:p>
        </p:txBody>
      </p:sp>
      <p:sp>
        <p:nvSpPr>
          <p:cNvPr id="3" name="Content Placeholder 2"/>
          <p:cNvSpPr>
            <a:spLocks noGrp="1"/>
          </p:cNvSpPr>
          <p:nvPr>
            <p:ph idx="1"/>
          </p:nvPr>
        </p:nvSpPr>
        <p:spPr/>
        <p:txBody>
          <a:bodyPr/>
          <a:lstStyle/>
          <a:p>
            <a:pPr lvl="0" indent="0" marL="0">
              <a:buNone/>
            </a:pPr>
            <a:r>
              <a:rPr b="1"/>
              <a:t>Flyweight (Sinek Siklet)</a:t>
            </a:r>
            <a:r>
              <a:rPr/>
              <a:t>, her nesnede tüm verileri tutmak yerine, birden fazla nesne arasında durumun ortak kısımlarını paylaşarak mevcut </a:t>
            </a:r>
            <a:r>
              <a:rPr b="1"/>
              <a:t>RAM</a:t>
            </a:r>
            <a:r>
              <a:rPr/>
              <a:t> miktarına daha fazla nesne sığdırmanıza olanak tanıyan yapısal bir tasarım desenidir.</a:t>
            </a:r>
          </a:p>
          <a:p>
            <a:pPr lvl="0"/>
            <a:r>
              <a:rPr/>
              <a:t>Ayrıca şöyle de bilinir: </a:t>
            </a:r>
            <a:r>
              <a:rPr b="1"/>
              <a:t>Cache (Önbellek)</a:t>
            </a:r>
          </a:p>
          <a:p>
            <a:pPr lvl="0" indent="0" marL="0">
              <a:buNone/>
            </a:pPr>
            <a:r>
              <a:rPr/>
              <a:t>Kaynak: </a:t>
            </a:r>
            <a:r>
              <a:rPr>
                <a:hlinkClick r:id="rId2"/>
              </a:rPr>
              <a:t>refactoring.guru</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Problem</a:t>
            </a:r>
          </a:p>
        </p:txBody>
      </p:sp>
      <p:sp>
        <p:nvSpPr>
          <p:cNvPr id="3" name="Content Placeholder 2"/>
          <p:cNvSpPr>
            <a:spLocks noGrp="1"/>
          </p:cNvSpPr>
          <p:nvPr>
            <p:ph idx="1"/>
          </p:nvPr>
        </p:nvSpPr>
        <p:spPr/>
        <p:txBody>
          <a:bodyPr/>
          <a:lstStyle/>
          <a:p>
            <a:pPr lvl="0" indent="0" marL="0">
              <a:buNone/>
            </a:pPr>
            <a:r>
              <a:rPr/>
              <a:t>Uzun çalışma saatlerinden sonra biraz eğlenmek için basit bir video oyunu oluşturmaya karar verirsiniz: oyuncular bir haritada dolaşır ve birbirlerine ateş eder. Özelliklerinden biri olarak gerçekçi bir </a:t>
            </a:r>
            <a:r>
              <a:rPr b="1"/>
              <a:t>parçacık sistemi</a:t>
            </a:r>
            <a:r>
              <a:rPr/>
              <a:t> uygularsınız. Çok miktarda mermi, füze ve patlamalardan çıkan şarapnel parçaları haritanın her yerinde uçarak heyecan verici bir deneyim sunmalıdır.</a:t>
            </a:r>
          </a:p>
          <a:p>
            <a:pPr lvl="0" indent="0" marL="0">
              <a:buNone/>
            </a:pPr>
            <a:r>
              <a:rPr/>
              <a:t>Son commit’i gönderdikten, oyunu derledikten ve test için bir arkadaşınıza gönderdikten sonra, oyun makinenizde sorunsuz çalışmasına rağmen arkadaşınız birkaç dakika oynadıktan sonra oyun sürekli </a:t>
            </a:r>
            <a:r>
              <a:rPr b="1"/>
              <a:t>çöker</a:t>
            </a:r>
            <a:r>
              <a:rPr/>
              <a:t>.</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Problem (devam)</a:t>
            </a:r>
          </a:p>
        </p:txBody>
      </p:sp>
      <p:sp>
        <p:nvSpPr>
          <p:cNvPr id="3" name="Content Placeholder 2"/>
          <p:cNvSpPr>
            <a:spLocks noGrp="1"/>
          </p:cNvSpPr>
          <p:nvPr>
            <p:ph idx="1"/>
          </p:nvPr>
        </p:nvSpPr>
        <p:spPr/>
        <p:txBody>
          <a:bodyPr/>
          <a:lstStyle/>
          <a:p>
            <a:pPr lvl="0" indent="0" marL="0">
              <a:buNone/>
            </a:pPr>
            <a:r>
              <a:rPr/>
              <a:t>Hata ayıklama günlüklerinde saatlerce araştırma yaptıktan sonra, oyunun </a:t>
            </a:r>
            <a:r>
              <a:rPr b="1"/>
              <a:t>yetersiz RAM</a:t>
            </a:r>
            <a:r>
              <a:rPr/>
              <a:t> nedeniyle çöktüğünü keşfedersiniz. Arkadaşınızın bilgisayarının sizinkinden çok daha az güçlü olduğu ve sorunun onun makinesinde bu kadar çabuk ortaya çıkmasının nedeni budur.</a:t>
            </a:r>
          </a:p>
          <a:p>
            <a:pPr lvl="0" indent="0" marL="0">
              <a:buNone/>
            </a:pPr>
            <a:r>
              <a:rPr/>
              <a:t>Asıl sorun parçacık sistemiyle ilgiliydi. Mermi, füze veya şarapnel parçası gibi her parçacık, bol miktarda veri içeren ayrı bir nesneyle temsil ediliyordu. Bir noktada, oyuncunun ekranındaki kıyam doruğa ulaştığında, yeni oluşturulan parçacıklar artık kalan RAM’e sığmıyordu ve program çöktü.</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Problem (devam)</a:t>
            </a:r>
          </a:p>
        </p:txBody>
      </p:sp>
      <p:sp>
        <p:nvSpPr>
          <p:cNvPr id="3" name="Content Placeholder 2"/>
          <p:cNvSpPr>
            <a:spLocks noGrp="1"/>
          </p:cNvSpPr>
          <p:nvPr>
            <p:ph idx="1"/>
          </p:nvPr>
        </p:nvSpPr>
        <p:spPr/>
        <p:txBody>
          <a:bodyPr/>
          <a:lstStyle/>
          <a:p>
            <a:pPr lvl="0" indent="0" marL="0">
              <a:buNone/>
            </a:pPr>
            <a:r>
              <a:rPr/>
              <a:t>Her parçacık nesnesi şunları içerir: - </a:t>
            </a:r>
            <a:r>
              <a:rPr b="1"/>
              <a:t>Renk</a:t>
            </a:r>
            <a:r>
              <a:rPr/>
              <a:t> (tüm mermiler için aynı) - </a:t>
            </a:r>
            <a:r>
              <a:rPr b="1"/>
              <a:t>Sprite/doku</a:t>
            </a:r>
            <a:r>
              <a:rPr/>
              <a:t> (tüm mermiler için aynı) - </a:t>
            </a:r>
            <a:r>
              <a:rPr b="1"/>
              <a:t>Koordinatlar</a:t>
            </a:r>
            <a:r>
              <a:rPr/>
              <a:t> (her parçacık için benzersiz) - </a:t>
            </a:r>
            <a:r>
              <a:rPr b="1"/>
              <a:t>Yön vektörü</a:t>
            </a:r>
            <a:r>
              <a:rPr/>
              <a:t> (her parçacık için benzersiz) - </a:t>
            </a:r>
            <a:r>
              <a:rPr b="1"/>
              <a:t>Hız</a:t>
            </a:r>
            <a:r>
              <a:rPr/>
              <a:t> (her parçacık için benzersiz)</a:t>
            </a:r>
          </a:p>
          <a:p>
            <a:pPr lvl="0" indent="0" marL="0">
              <a:buNone/>
            </a:pPr>
            <a:r>
              <a:rPr/>
              <a:t>Renk ve sprite verileri binlerce parçacık arasında </a:t>
            </a:r>
            <a:r>
              <a:rPr b="1"/>
              <a:t>tekrarlanır</a:t>
            </a:r>
            <a:r>
              <a:rPr/>
              <a:t>, bu da büyük miktarda bellek israfına neden olur.</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Çözüm - İçsel ve Dışsal Durum</a:t>
            </a:r>
          </a:p>
        </p:txBody>
      </p:sp>
      <p:sp>
        <p:nvSpPr>
          <p:cNvPr id="3" name="Content Placeholder 2"/>
          <p:cNvSpPr>
            <a:spLocks noGrp="1"/>
          </p:cNvSpPr>
          <p:nvPr>
            <p:ph idx="1"/>
          </p:nvPr>
        </p:nvSpPr>
        <p:spPr/>
        <p:txBody>
          <a:bodyPr/>
          <a:lstStyle/>
          <a:p>
            <a:pPr lvl="0" indent="0" marL="0">
              <a:buNone/>
            </a:pPr>
            <a:r>
              <a:rPr/>
              <a:t>Flyweight (Sinek Siklet) deseni, </a:t>
            </a:r>
            <a:r>
              <a:rPr b="1"/>
              <a:t>dışsal durumu</a:t>
            </a:r>
            <a:r>
              <a:rPr/>
              <a:t> nesnenin içinde saklamayı bırakmanızı önerir. Bunun yerine, bu durumu ona bağımlı olan belirli yöntemlere iletmelisiniz. Yalnızca </a:t>
            </a:r>
            <a:r>
              <a:rPr b="1"/>
              <a:t>içsel durum</a:t>
            </a:r>
            <a:r>
              <a:rPr/>
              <a:t> nesnenin içinde kalır ve farklı bağlamlarda yeniden kullanmanıza olanak tanır.</a:t>
            </a:r>
          </a:p>
          <a:p>
            <a:pPr lvl="0" indent="0" marL="0">
              <a:buNone/>
            </a:pPr>
            <a:r>
              <a:rPr b="1"/>
              <a:t>İçsel Durum</a:t>
            </a:r>
            <a:r>
              <a:rPr/>
              <a:t> – Bir nesnenin sabit verileri. Diğer nesneler bunu yalnızca okuyabilir, değiştiremez. Bu veri flyweight nesnesi içinde yaşar ve oluşturulduktan sonra </a:t>
            </a:r>
            <a:r>
              <a:rPr b="1"/>
              <a:t>değiştirilemez</a:t>
            </a:r>
            <a:r>
              <a:rPr/>
              <a:t> kalır. - Örnekler: renk, sprite, doku</a:t>
            </a:r>
          </a:p>
          <a:p>
            <a:pPr lvl="0" indent="0" marL="0">
              <a:buNone/>
            </a:pPr>
            <a:r>
              <a:rPr b="1"/>
              <a:t>Dışsal Durum</a:t>
            </a:r>
            <a:r>
              <a:rPr/>
              <a:t> – Her nesne örneğine özgü, değişen bağlamsal veri. - Örnekler: koordinatlar, yön, hız</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Çözüm (devam)</a:t>
            </a:r>
          </a:p>
        </p:txBody>
      </p:sp>
      <p:sp>
        <p:nvSpPr>
          <p:cNvPr id="3" name="Content Placeholder 2"/>
          <p:cNvSpPr>
            <a:spLocks noGrp="1"/>
          </p:cNvSpPr>
          <p:nvPr>
            <p:ph idx="1"/>
          </p:nvPr>
        </p:nvSpPr>
        <p:spPr/>
        <p:txBody>
          <a:bodyPr/>
          <a:lstStyle/>
          <a:p>
            <a:pPr lvl="0" indent="0" marL="0">
              <a:buNone/>
            </a:pPr>
            <a:r>
              <a:rPr/>
              <a:t>Sonuç olarak, bu nesnelerden </a:t>
            </a:r>
            <a:r>
              <a:rPr b="1"/>
              <a:t>daha azına</a:t>
            </a:r>
            <a:r>
              <a:rPr/>
              <a:t> ihtiyacınız olacaktır çünkü yalnızca içsel durumda farklılık gösterirler ve bu durumun dışsal durumdan çok daha az varyasyonu vardır.</a:t>
            </a:r>
          </a:p>
          <a:p>
            <a:pPr lvl="0" indent="0" marL="0">
              <a:buNone/>
            </a:pPr>
            <a:r>
              <a:rPr/>
              <a:t>Parçacık örneğinde, binlerce tekrarlanan veri içeren parçacık nesnesi yerine, benzersiz konum ve hareket verilerini içeren birçok bağlam nesnesi tarafından referans verilen yalnızca </a:t>
            </a:r>
            <a:r>
              <a:rPr b="1"/>
              <a:t>üç flyweight nesnesi</a:t>
            </a:r>
            <a:r>
              <a:rPr/>
              <a:t> (mermi, füze, şarapnel) olurdu.</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Değişmezlik ve Fabrika</a:t>
            </a:r>
          </a:p>
        </p:txBody>
      </p:sp>
      <p:sp>
        <p:nvSpPr>
          <p:cNvPr id="3" name="Content Placeholder 2"/>
          <p:cNvSpPr>
            <a:spLocks noGrp="1"/>
          </p:cNvSpPr>
          <p:nvPr>
            <p:ph idx="1"/>
          </p:nvPr>
        </p:nvSpPr>
        <p:spPr/>
        <p:txBody>
          <a:bodyPr/>
          <a:lstStyle/>
          <a:p>
            <a:pPr lvl="0" indent="0" marL="0">
              <a:buNone/>
            </a:pPr>
            <a:r>
              <a:rPr b="1"/>
              <a:t>Değişmezlik Gereksinimi:</a:t>
            </a:r>
            <a:r>
              <a:rPr/>
              <a:t> - Aynı flyweight nesnesi farklı bağlamlarda kullanılabildiğinden, durumunun </a:t>
            </a:r>
            <a:r>
              <a:rPr b="1"/>
              <a:t>değiştirilememesini</a:t>
            </a:r>
            <a:r>
              <a:rPr/>
              <a:t> sağlamalısınız - Bir flyweight durumunu yalnızca bir kez, </a:t>
            </a:r>
            <a:r>
              <a:rPr b="1"/>
              <a:t>yapıcı parametreleri</a:t>
            </a:r>
            <a:r>
              <a:rPr/>
              <a:t> aracılığıyla başlatmalıdır - Diğer nesnelere herhangi bir setter veya public alan açmamalıdır</a:t>
            </a:r>
          </a:p>
          <a:p>
            <a:pPr lvl="0" indent="0" marL="0">
              <a:buNone/>
            </a:pPr>
            <a:r>
              <a:rPr b="1"/>
              <a:t>Fabrika Deseni Entegrasyonu:</a:t>
            </a:r>
            <a:r>
              <a:rPr/>
              <a:t> - Çeşitli flyweight’lere erişimi basitleştirmek için, mevcut flyweight nesnelerinin bir havuzunu yöneten bir </a:t>
            </a:r>
            <a:r>
              <a:rPr b="1"/>
              <a:t>fabrika yöntemi</a:t>
            </a:r>
            <a:r>
              <a:rPr/>
              <a:t> oluşturun - Fabrika, istenen flyweight’in içsel durumunu kabul eder, bu durumla eşleşen mevcut bir flyweight arar ve bulunursa döndürür. Bulunamazsa yeni bir flyweight oluşturur ve havuza ekler</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Yapı</a:t>
            </a:r>
          </a:p>
        </p:txBody>
      </p:sp>
      <p:sp>
        <p:nvSpPr>
          <p:cNvPr id="3" name="Content Placeholder 2"/>
          <p:cNvSpPr>
            <a:spLocks noGrp="1"/>
          </p:cNvSpPr>
          <p:nvPr>
            <p:ph idx="1"/>
          </p:nvPr>
        </p:nvSpPr>
        <p:spPr/>
        <p:txBody>
          <a:bodyPr/>
          <a:lstStyle/>
          <a:p>
            <a:pPr lvl="0" indent="-342900" marL="342900">
              <a:buAutoNum type="arabicPeriod"/>
            </a:pPr>
            <a:r>
              <a:rPr b="1"/>
              <a:t>Flyweight</a:t>
            </a:r>
            <a:r>
              <a:rPr/>
              <a:t> – Birden fazla nesne arasında paylaşılabilen orijinal nesnenin durumunun bir bölümünü (içsel durum) içerir. Aynı flyweight nesnesi birçok farklı bağlamda kullanılabilir. Flyweight’in içinde saklanan durum içsel olarak adlandırılır. Flyweight’in yöntemlerine iletilen durum dışsal olarak adlandırılır</a:t>
            </a:r>
          </a:p>
          <a:p>
            <a:pPr lvl="0" indent="-342900" marL="342900">
              <a:buAutoNum type="arabicPeriod"/>
            </a:pPr>
            <a:r>
              <a:rPr b="1"/>
              <a:t>Bağlam</a:t>
            </a:r>
            <a:r>
              <a:rPr/>
              <a:t> – Tüm orijinal nesneler arasında benzersiz olan dışsal durumu içerir. Bir bağlam flyweight nesnelerinden biriyle eşleştirildiğinde, orijinal nesnenin tam durumunu temsil eder</a:t>
            </a:r>
          </a:p>
          <a:p>
            <a:pPr lvl="0" indent="-342900" marL="342900">
              <a:buAutoNum type="arabicPeriod"/>
            </a:pPr>
            <a:r>
              <a:rPr b="1"/>
              <a:t>Flyweight Fabrikası</a:t>
            </a:r>
            <a:r>
              <a:rPr/>
              <a:t> – Mevcut flyweight’lerin bir havuzunu yönetir. Fabrika ile istemciler flyweight’leri doğrudan oluşturmaz. Bunun yerine fabrikayı çağırır ve istenen flyweight’in içsel durumunun bitlerini iletir. Fabrika önceden oluşturulmuş flyweight’leri inceler ve mevcut olanı döndürür veya yeni bir tane oluşturur</a:t>
            </a:r>
          </a:p>
          <a:p>
            <a:pPr lvl="0" indent="-342900" marL="342900">
              <a:buAutoNum type="arabicPeriod"/>
            </a:pPr>
            <a:r>
              <a:rPr b="1"/>
              <a:t>İstemci</a:t>
            </a:r>
            <a:r>
              <a:rPr/>
              <a:t> – Flyweight’lerin dışsal durumunu (bağlam) hesaplar veya saklar. İstemcinin bakış açısından, bir flyweight, yöntemlerinin parametrelerine bazı bağlamsal veriler ileterek çalışma zamanında yapılandırılabilen bir şablon nesnedir</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Flyweight - Sınıf Diyagramı</a:t>
            </a:r>
          </a:p>
        </p:txBody>
      </p:sp>
      <p:pic>
        <p:nvPicPr>
          <p:cNvPr descr="assets/flyweight-structure.png" id="0" name="Picture 1"/>
          <p:cNvPicPr>
            <a:picLocks noGrp="1" noChangeAspect="1"/>
          </p:cNvPicPr>
          <p:nvPr/>
        </p:nvPicPr>
        <p:blipFill>
          <a:blip r:embed="rId2"/>
          <a:stretch>
            <a:fillRect/>
          </a:stretch>
        </p:blipFill>
        <p:spPr bwMode="auto">
          <a:xfrm>
            <a:off x="3568700" y="279400"/>
            <a:ext cx="5105400" cy="3708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Java Kod Örneği - Flyweight Sınıfı</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br/>
            <a:r>
              <a:rPr i="1">
                <a:solidFill>
                  <a:srgbClr val="60A0B0"/>
                </a:solidFill>
                <a:latin typeface="Courier"/>
              </a:rPr>
              <a:t>// The flyweight class contains a portion of the state of a</a:t>
            </a:r>
            <a:br/>
            <a:r>
              <a:rPr i="1">
                <a:solidFill>
                  <a:srgbClr val="60A0B0"/>
                </a:solidFill>
                <a:latin typeface="Courier"/>
              </a:rPr>
              <a:t>// tree. These fields store values that are unique for each</a:t>
            </a:r>
            <a:br/>
            <a:r>
              <a:rPr i="1">
                <a:solidFill>
                  <a:srgbClr val="60A0B0"/>
                </a:solidFill>
                <a:latin typeface="Courier"/>
              </a:rPr>
              <a:t>// particular tree type. You will not find here the tree</a:t>
            </a:r>
            <a:br/>
            <a:r>
              <a:rPr i="1">
                <a:solidFill>
                  <a:srgbClr val="60A0B0"/>
                </a:solidFill>
                <a:latin typeface="Courier"/>
              </a:rPr>
              <a:t>// coordinates. But the texture and colors shared between</a:t>
            </a:r>
            <a:br/>
            <a:r>
              <a:rPr i="1">
                <a:solidFill>
                  <a:srgbClr val="60A0B0"/>
                </a:solidFill>
                <a:latin typeface="Courier"/>
              </a:rPr>
              <a:t>// many trees are here. Since this data is usually BIG, you</a:t>
            </a:r>
            <a:br/>
            <a:r>
              <a:rPr i="1">
                <a:solidFill>
                  <a:srgbClr val="60A0B0"/>
                </a:solidFill>
                <a:latin typeface="Courier"/>
              </a:rPr>
              <a:t>// would waste a lot of memory by keeping it in each tree</a:t>
            </a:r>
            <a:br/>
            <a:r>
              <a:rPr i="1">
                <a:solidFill>
                  <a:srgbClr val="60A0B0"/>
                </a:solidFill>
                <a:latin typeface="Courier"/>
              </a:rPr>
              <a:t>// object. Instead, we extract texture, color, and other</a:t>
            </a:r>
            <a:br/>
            <a:r>
              <a:rPr i="1">
                <a:solidFill>
                  <a:srgbClr val="60A0B0"/>
                </a:solidFill>
                <a:latin typeface="Courier"/>
              </a:rPr>
              <a:t>// repeating data into a separate object (TreeType).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TreeType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Color</a:t>
            </a:r>
            <a:r>
              <a:rPr>
                <a:latin typeface="Courier"/>
              </a:rPr>
              <a:t> color</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TreeType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a:solidFill>
                  <a:srgbClr val="008000"/>
                </a:solidFill>
                <a:latin typeface="Courier"/>
              </a:rPr>
              <a:t>Color</a:t>
            </a:r>
            <a:r>
              <a:rPr>
                <a:latin typeface="Courier"/>
              </a:rPr>
              <a:t> color</a:t>
            </a:r>
            <a:r>
              <a:rPr>
                <a:solidFill>
                  <a:srgbClr val="666666"/>
                </a:solidFill>
                <a:latin typeface="Courier"/>
              </a:rPr>
              <a:t>,</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name</a:t>
            </a:r>
            <a:r>
              <a:rPr>
                <a:latin typeface="Courier"/>
              </a:rPr>
              <a:t> </a:t>
            </a:r>
            <a:r>
              <a:rPr>
                <a:solidFill>
                  <a:srgbClr val="666666"/>
                </a:solidFill>
                <a:latin typeface="Courier"/>
              </a:rPr>
              <a:t>=</a:t>
            </a:r>
            <a:r>
              <a:rPr>
                <a:latin typeface="Courier"/>
              </a:rPr>
              <a:t> name</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color</a:t>
            </a:r>
            <a:r>
              <a:rPr>
                <a:latin typeface="Courier"/>
              </a:rPr>
              <a:t> </a:t>
            </a:r>
            <a:r>
              <a:rPr>
                <a:solidFill>
                  <a:srgbClr val="666666"/>
                </a:solidFill>
                <a:latin typeface="Courier"/>
              </a:rPr>
              <a:t>=</a:t>
            </a:r>
            <a:r>
              <a:rPr>
                <a:latin typeface="Courier"/>
              </a:rPr>
              <a:t> color</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texture</a:t>
            </a:r>
            <a:r>
              <a:rPr>
                <a:latin typeface="Courier"/>
              </a:rPr>
              <a:t> </a:t>
            </a:r>
            <a:r>
              <a:rPr>
                <a:solidFill>
                  <a:srgbClr val="666666"/>
                </a:solidFill>
                <a:latin typeface="Courier"/>
              </a:rPr>
              <a:t>=</a:t>
            </a:r>
            <a:r>
              <a:rPr>
                <a:latin typeface="Courier"/>
              </a:rPr>
              <a:t> texture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name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Color</a:t>
            </a:r>
            <a:r>
              <a:rPr>
                <a:latin typeface="Courier"/>
              </a:rPr>
              <a:t> </a:t>
            </a:r>
            <a:r>
              <a:rPr>
                <a:solidFill>
                  <a:srgbClr val="06287E"/>
                </a:solidFill>
                <a:latin typeface="Courier"/>
              </a:rPr>
              <a:t>getColor</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color</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getTexture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texture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Draw the tree on canvas at position (x, y)</a:t>
            </a:r>
            <a:br/>
            <a:r>
              <a:rPr>
                <a:latin typeface="Courier"/>
              </a:rPr>
              <a:t>        g</a:t>
            </a:r>
            <a:r>
              <a:rPr>
                <a:solidFill>
                  <a:srgbClr val="666666"/>
                </a:solidFill>
                <a:latin typeface="Courier"/>
              </a:rPr>
              <a:t>.</a:t>
            </a:r>
            <a:r>
              <a:rPr>
                <a:solidFill>
                  <a:srgbClr val="06287E"/>
                </a:solidFill>
                <a:latin typeface="Courier"/>
              </a:rPr>
              <a:t>setColor</a:t>
            </a:r>
            <a:r>
              <a:rPr>
                <a:solidFill>
                  <a:srgbClr val="666666"/>
                </a:solidFill>
                <a:latin typeface="Courier"/>
              </a:rPr>
              <a:t>(</a:t>
            </a:r>
            <a:r>
              <a:rPr>
                <a:solidFill>
                  <a:srgbClr val="008000"/>
                </a:solidFill>
                <a:latin typeface="Courier"/>
              </a:rPr>
              <a:t>Color</a:t>
            </a:r>
            <a:r>
              <a:rPr>
                <a:solidFill>
                  <a:srgbClr val="666666"/>
                </a:solidFill>
                <a:latin typeface="Courier"/>
              </a:rPr>
              <a:t>.</a:t>
            </a:r>
            <a:r>
              <a:rPr>
                <a:solidFill>
                  <a:srgbClr val="06287E"/>
                </a:solidFill>
                <a:latin typeface="Courier"/>
              </a:rPr>
              <a:t>BLACK</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fillRect</a:t>
            </a:r>
            <a:r>
              <a:rPr>
                <a:solidFill>
                  <a:srgbClr val="666666"/>
                </a:solidFill>
                <a:latin typeface="Courier"/>
              </a:rPr>
              <a:t>(</a:t>
            </a:r>
            <a:r>
              <a:rPr>
                <a:latin typeface="Courier"/>
              </a:rPr>
              <a:t>x </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y</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setColor</a:t>
            </a:r>
            <a:r>
              <a:rPr>
                <a:solidFill>
                  <a:srgbClr val="666666"/>
                </a:solidFill>
                <a:latin typeface="Courier"/>
              </a:rPr>
              <a:t>(</a:t>
            </a:r>
            <a:r>
              <a:rPr>
                <a:latin typeface="Courier"/>
              </a:rPr>
              <a:t>color</a:t>
            </a:r>
            <a:r>
              <a:rPr>
                <a:solidFill>
                  <a:srgbClr val="666666"/>
                </a:solidFill>
                <a:latin typeface="Courier"/>
              </a:rPr>
              <a:t>);</a:t>
            </a:r>
            <a:br/>
            <a:r>
              <a:rPr>
                <a:latin typeface="Courier"/>
              </a:rPr>
              <a:t>        g</a:t>
            </a:r>
            <a:r>
              <a:rPr>
                <a:solidFill>
                  <a:srgbClr val="666666"/>
                </a:solidFill>
                <a:latin typeface="Courier"/>
              </a:rPr>
              <a:t>.</a:t>
            </a:r>
            <a:r>
              <a:rPr>
                <a:solidFill>
                  <a:srgbClr val="06287E"/>
                </a:solidFill>
                <a:latin typeface="Courier"/>
              </a:rPr>
              <a:t>fillOval</a:t>
            </a:r>
            <a:r>
              <a:rPr>
                <a:solidFill>
                  <a:srgbClr val="666666"/>
                </a:solidFill>
                <a:latin typeface="Courier"/>
              </a:rPr>
              <a:t>(</a:t>
            </a:r>
            <a:r>
              <a:rPr>
                <a:latin typeface="Courier"/>
              </a:rPr>
              <a:t>x </a:t>
            </a:r>
            <a:r>
              <a:rPr>
                <a:solidFill>
                  <a:srgbClr val="666666"/>
                </a:solidFill>
                <a:latin typeface="Courier"/>
              </a:rPr>
              <a:t>-</a:t>
            </a:r>
            <a:r>
              <a:rPr>
                <a:latin typeface="Courier"/>
              </a:rPr>
              <a:t> </a:t>
            </a:r>
            <a:r>
              <a:rPr>
                <a:solidFill>
                  <a:srgbClr val="40A070"/>
                </a:solidFill>
                <a:latin typeface="Courier"/>
              </a:rPr>
              <a:t>5</a:t>
            </a:r>
            <a:r>
              <a:rPr>
                <a:solidFill>
                  <a:srgbClr val="666666"/>
                </a:solidFill>
                <a:latin typeface="Courier"/>
              </a:rPr>
              <a:t>,</a:t>
            </a:r>
            <a:r>
              <a:rPr>
                <a:latin typeface="Courier"/>
              </a:rPr>
              <a:t> y </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Java Kod Örneği - Flyweight Fabrikası</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flyweight factory decides whether to reuse existing</a:t>
            </a:r>
            <a:br/>
            <a:r>
              <a:rPr i="1">
                <a:solidFill>
                  <a:srgbClr val="60A0B0"/>
                </a:solidFill>
                <a:latin typeface="Courier"/>
              </a:rPr>
              <a:t>// flyweight or to create a new object.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TreeFactory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static</a:t>
            </a:r>
            <a:r>
              <a:rPr>
                <a:latin typeface="Courier"/>
              </a:rPr>
              <a:t> </a:t>
            </a:r>
            <a:r>
              <a:rPr>
                <a:solidFill>
                  <a:srgbClr val="008000"/>
                </a:solidFill>
                <a:latin typeface="Courier"/>
              </a:rPr>
              <a:t>List</a:t>
            </a:r>
            <a:r>
              <a:rPr>
                <a:solidFill>
                  <a:srgbClr val="666666"/>
                </a:solidFill>
                <a:latin typeface="Courier"/>
              </a:rPr>
              <a:t>&lt;</a:t>
            </a:r>
            <a:r>
              <a:rPr>
                <a:latin typeface="Courier"/>
              </a:rPr>
              <a:t>TreeType</a:t>
            </a:r>
            <a:r>
              <a:rPr>
                <a:solidFill>
                  <a:srgbClr val="666666"/>
                </a:solidFill>
                <a:latin typeface="Courier"/>
              </a:rPr>
              <a:t>&gt;</a:t>
            </a:r>
            <a:r>
              <a:rPr>
                <a:latin typeface="Courier"/>
              </a:rPr>
              <a:t> treeTypes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TreeType </a:t>
            </a:r>
            <a:r>
              <a:rPr>
                <a:solidFill>
                  <a:srgbClr val="06287E"/>
                </a:solidFill>
                <a:latin typeface="Courier"/>
              </a:rPr>
              <a:t>getTreeType</a:t>
            </a:r>
            <a:r>
              <a:rPr>
                <a:solidFill>
                  <a:srgbClr val="666666"/>
                </a:solidFill>
                <a:latin typeface="Courier"/>
              </a:rPr>
              <a:t>(</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a:solidFill>
                  <a:srgbClr val="008000"/>
                </a:solidFill>
                <a:latin typeface="Courier"/>
              </a:rPr>
              <a:t>Color</a:t>
            </a:r>
            <a:r>
              <a:rPr>
                <a:latin typeface="Courier"/>
              </a:rPr>
              <a:t> color</a:t>
            </a:r>
            <a:r>
              <a:rPr>
                <a:solidFill>
                  <a:srgbClr val="666666"/>
                </a:solidFill>
                <a:latin typeface="Courier"/>
              </a:rPr>
              <a:t>,</a:t>
            </a:r>
            <a:b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TreeType type </a:t>
            </a:r>
            <a:r>
              <a:rPr>
                <a:solidFill>
                  <a:srgbClr val="666666"/>
                </a:solidFill>
                <a:latin typeface="Courier"/>
              </a:rPr>
              <a:t>:</a:t>
            </a:r>
            <a:r>
              <a:rPr>
                <a:latin typeface="Courier"/>
              </a:rPr>
              <a:t> treeTypes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type</a:t>
            </a:r>
            <a:r>
              <a:rPr>
                <a:solidFill>
                  <a:srgbClr val="666666"/>
                </a:solidFill>
                <a:latin typeface="Courier"/>
              </a:rPr>
              <a:t>.</a:t>
            </a:r>
            <a:r>
              <a:rPr>
                <a:solidFill>
                  <a:srgbClr val="06287E"/>
                </a:solidFill>
                <a:latin typeface="Courier"/>
              </a:rPr>
              <a:t>getName</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name</a:t>
            </a:r>
            <a:r>
              <a:rPr>
                <a:solidFill>
                  <a:srgbClr val="666666"/>
                </a:solidFill>
                <a:latin typeface="Courier"/>
              </a:rPr>
              <a:t>)</a:t>
            </a:r>
            <a:r>
              <a:rPr>
                <a:latin typeface="Courier"/>
              </a:rPr>
              <a:t> </a:t>
            </a:r>
            <a:r>
              <a:rPr>
                <a:solidFill>
                  <a:srgbClr val="666666"/>
                </a:solidFill>
                <a:latin typeface="Courier"/>
              </a:rPr>
              <a:t>&amp;&amp;</a:t>
            </a:r>
            <a:br/>
            <a:r>
              <a:rPr>
                <a:latin typeface="Courier"/>
              </a:rPr>
              <a:t>                type</a:t>
            </a:r>
            <a:r>
              <a:rPr>
                <a:solidFill>
                  <a:srgbClr val="666666"/>
                </a:solidFill>
                <a:latin typeface="Courier"/>
              </a:rPr>
              <a:t>.</a:t>
            </a:r>
            <a:r>
              <a:rPr>
                <a:solidFill>
                  <a:srgbClr val="06287E"/>
                </a:solidFill>
                <a:latin typeface="Courier"/>
              </a:rPr>
              <a:t>getColor</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color</a:t>
            </a:r>
            <a:r>
              <a:rPr>
                <a:solidFill>
                  <a:srgbClr val="666666"/>
                </a:solidFill>
                <a:latin typeface="Courier"/>
              </a:rPr>
              <a:t>)</a:t>
            </a:r>
            <a:r>
              <a:rPr>
                <a:latin typeface="Courier"/>
              </a:rPr>
              <a:t> </a:t>
            </a:r>
            <a:r>
              <a:rPr>
                <a:solidFill>
                  <a:srgbClr val="666666"/>
                </a:solidFill>
                <a:latin typeface="Courier"/>
              </a:rPr>
              <a:t>&amp;&amp;</a:t>
            </a:r>
            <a:br/>
            <a:r>
              <a:rPr>
                <a:latin typeface="Courier"/>
              </a:rPr>
              <a:t>                type</a:t>
            </a:r>
            <a:r>
              <a:rPr>
                <a:solidFill>
                  <a:srgbClr val="666666"/>
                </a:solidFill>
                <a:latin typeface="Courier"/>
              </a:rPr>
              <a:t>.</a:t>
            </a:r>
            <a:r>
              <a:rPr>
                <a:solidFill>
                  <a:srgbClr val="06287E"/>
                </a:solidFill>
                <a:latin typeface="Courier"/>
              </a:rPr>
              <a:t>getTexture</a:t>
            </a:r>
            <a:r>
              <a:rPr>
                <a:solidFill>
                  <a:srgbClr val="666666"/>
                </a:solidFill>
                <a:latin typeface="Courier"/>
              </a:rPr>
              <a:t>().</a:t>
            </a:r>
            <a:r>
              <a:rPr>
                <a:solidFill>
                  <a:srgbClr val="06287E"/>
                </a:solidFill>
                <a:latin typeface="Courier"/>
              </a:rPr>
              <a:t>equals</a:t>
            </a:r>
            <a:r>
              <a:rPr>
                <a:solidFill>
                  <a:srgbClr val="666666"/>
                </a:solidFill>
                <a:latin typeface="Courier"/>
              </a:rPr>
              <a:t>(</a:t>
            </a:r>
            <a:r>
              <a:rPr>
                <a:latin typeface="Courier"/>
              </a:rPr>
              <a:t>texture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r>
              <a:rPr>
                <a:latin typeface="Courier"/>
              </a:rPr>
              <a:t>        TreeType type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TreeType</a:t>
            </a:r>
            <a:r>
              <a:rPr>
                <a:solidFill>
                  <a:srgbClr val="666666"/>
                </a:solidFill>
                <a:latin typeface="Courier"/>
              </a:rPr>
              <a:t>(</a:t>
            </a:r>
            <a:r>
              <a:rPr>
                <a:latin typeface="Courier"/>
              </a:rPr>
              <a:t>name</a:t>
            </a:r>
            <a:r>
              <a:rPr>
                <a:solidFill>
                  <a:srgbClr val="666666"/>
                </a:solidFill>
                <a:latin typeface="Courier"/>
              </a:rPr>
              <a:t>,</a:t>
            </a:r>
            <a:r>
              <a:rPr>
                <a:latin typeface="Courier"/>
              </a:rPr>
              <a:t> color</a:t>
            </a:r>
            <a:r>
              <a:rPr>
                <a:solidFill>
                  <a:srgbClr val="666666"/>
                </a:solidFill>
                <a:latin typeface="Courier"/>
              </a:rPr>
              <a:t>,</a:t>
            </a:r>
            <a:r>
              <a:rPr>
                <a:latin typeface="Courier"/>
              </a:rPr>
              <a:t> texture</a:t>
            </a:r>
            <a:r>
              <a:rPr>
                <a:solidFill>
                  <a:srgbClr val="666666"/>
                </a:solidFill>
                <a:latin typeface="Courier"/>
              </a:rPr>
              <a:t>);</a:t>
            </a:r>
            <a:br/>
            <a:r>
              <a:rPr>
                <a:latin typeface="Courier"/>
              </a:rPr>
              <a:t>        treeTypes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type</a:t>
            </a:r>
            <a:r>
              <a:rPr>
                <a:solidFill>
                  <a:srgbClr val="666666"/>
                </a:solidFill>
                <a:latin typeface="Courier"/>
              </a:rPr>
              <a:t>);</a:t>
            </a:r>
            <a:br/>
            <a:r>
              <a:rPr>
                <a:latin typeface="Courier"/>
              </a:rPr>
              <a:t>        </a:t>
            </a:r>
            <a:r>
              <a:rPr b="1">
                <a:solidFill>
                  <a:srgbClr val="007020"/>
                </a:solidFill>
                <a:latin typeface="Courier"/>
              </a:rPr>
              <a:t>return</a:t>
            </a:r>
            <a:r>
              <a:rPr>
                <a:latin typeface="Courier"/>
              </a:rPr>
              <a:t> type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Java Kod Örneği - Bağlam Sınıfı</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br/>
            <a:r>
              <a:rPr i="1">
                <a:solidFill>
                  <a:srgbClr val="60A0B0"/>
                </a:solidFill>
                <a:latin typeface="Courier"/>
              </a:rPr>
              <a:t>// The context object contains the extrinsic part of the</a:t>
            </a:r>
            <a:br/>
            <a:r>
              <a:rPr i="1">
                <a:solidFill>
                  <a:srgbClr val="60A0B0"/>
                </a:solidFill>
                <a:latin typeface="Courier"/>
              </a:rPr>
              <a:t>// tree state. An application can create billions of these</a:t>
            </a:r>
            <a:br/>
            <a:r>
              <a:rPr i="1">
                <a:solidFill>
                  <a:srgbClr val="60A0B0"/>
                </a:solidFill>
                <a:latin typeface="Courier"/>
              </a:rPr>
              <a:t>// since they are pretty small: just two integer coordinates</a:t>
            </a:r>
            <a:br/>
            <a:r>
              <a:rPr i="1">
                <a:solidFill>
                  <a:srgbClr val="60A0B0"/>
                </a:solidFill>
                <a:latin typeface="Courier"/>
              </a:rPr>
              <a:t>// and one reference field.</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Tree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x</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y</a:t>
            </a:r>
            <a:r>
              <a:rPr>
                <a:solidFill>
                  <a:srgbClr val="666666"/>
                </a:solidFill>
                <a:latin typeface="Courier"/>
              </a:rPr>
              <a:t>;</a:t>
            </a:r>
            <a:br/>
            <a:r>
              <a:rPr>
                <a:latin typeface="Courier"/>
              </a:rPr>
              <a:t>    </a:t>
            </a:r>
            <a:r>
              <a:rPr b="1">
                <a:solidFill>
                  <a:srgbClr val="007020"/>
                </a:solidFill>
                <a:latin typeface="Courier"/>
              </a:rPr>
              <a:t>private</a:t>
            </a:r>
            <a:r>
              <a:rPr>
                <a:latin typeface="Courier"/>
              </a:rPr>
              <a:t> TreeType type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Tree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TreeType type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x</a:t>
            </a:r>
            <a:r>
              <a:rPr>
                <a:latin typeface="Courier"/>
              </a:rPr>
              <a:t> </a:t>
            </a:r>
            <a:r>
              <a:rPr>
                <a:solidFill>
                  <a:srgbClr val="666666"/>
                </a:solidFill>
                <a:latin typeface="Courier"/>
              </a:rPr>
              <a:t>=</a:t>
            </a:r>
            <a:r>
              <a:rPr>
                <a:latin typeface="Courier"/>
              </a:rPr>
              <a:t> x</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y</a:t>
            </a:r>
            <a:r>
              <a:rPr>
                <a:latin typeface="Courier"/>
              </a:rPr>
              <a:t> </a:t>
            </a:r>
            <a:r>
              <a:rPr>
                <a:solidFill>
                  <a:srgbClr val="666666"/>
                </a:solidFill>
                <a:latin typeface="Courier"/>
              </a:rPr>
              <a:t>=</a:t>
            </a:r>
            <a:r>
              <a:rPr>
                <a:latin typeface="Courier"/>
              </a:rPr>
              <a:t> y</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type</a:t>
            </a:r>
            <a:r>
              <a:rPr>
                <a:latin typeface="Courier"/>
              </a:rPr>
              <a:t> </a:t>
            </a:r>
            <a:r>
              <a:rPr>
                <a:solidFill>
                  <a:srgbClr val="666666"/>
                </a:solidFill>
                <a:latin typeface="Courier"/>
              </a:rPr>
              <a:t>=</a:t>
            </a:r>
            <a:r>
              <a:rPr>
                <a:latin typeface="Courier"/>
              </a:rPr>
              <a:t> type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draw</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666666"/>
                </a:solidFill>
                <a:latin typeface="Courier"/>
              </a:rPr>
              <a:t>{</a:t>
            </a:r>
            <a:br/>
            <a:r>
              <a:rPr>
                <a:latin typeface="Courier"/>
              </a:rPr>
              <a:t>        type</a:t>
            </a:r>
            <a:r>
              <a:rPr>
                <a:solidFill>
                  <a:srgbClr val="666666"/>
                </a:solidFill>
                <a:latin typeface="Courier"/>
              </a:rPr>
              <a:t>.</a:t>
            </a:r>
            <a:r>
              <a:rPr>
                <a:solidFill>
                  <a:srgbClr val="06287E"/>
                </a:solidFill>
                <a:latin typeface="Courier"/>
              </a:rPr>
              <a:t>draw</a:t>
            </a:r>
            <a:r>
              <a:rPr>
                <a:solidFill>
                  <a:srgbClr val="666666"/>
                </a:solidFill>
                <a:latin typeface="Courier"/>
              </a:rPr>
              <a:t>(</a:t>
            </a:r>
            <a:r>
              <a:rPr>
                <a:latin typeface="Courier"/>
              </a:rPr>
              <a:t>g</a:t>
            </a:r>
            <a:r>
              <a:rPr>
                <a:solidFill>
                  <a:srgbClr val="666666"/>
                </a:solidFill>
                <a:latin typeface="Courier"/>
              </a:rPr>
              <a:t>,</a:t>
            </a:r>
            <a:r>
              <a:rPr>
                <a:latin typeface="Courier"/>
              </a:rPr>
              <a:t> x</a:t>
            </a:r>
            <a:r>
              <a:rPr>
                <a:solidFill>
                  <a:srgbClr val="666666"/>
                </a:solidFill>
                <a:latin typeface="Courier"/>
              </a:rPr>
              <a:t>,</a:t>
            </a:r>
            <a:r>
              <a:rPr>
                <a:latin typeface="Courier"/>
              </a:rPr>
              <a:t> y</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Java Kod Örneği - İstemci (Orman)</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awt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javax</a:t>
            </a:r>
            <a:r>
              <a:rPr>
                <a:solidFill>
                  <a:srgbClr val="666666"/>
                </a:solidFill>
                <a:latin typeface="Courier"/>
              </a:rPr>
              <a:t>.</a:t>
            </a:r>
            <a:r>
              <a:rPr b="1">
                <a:solidFill>
                  <a:srgbClr val="008000"/>
                </a:solidFill>
                <a:latin typeface="Courier"/>
              </a:rPr>
              <a:t>swing</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Forest </a:t>
            </a:r>
            <a:r>
              <a:rPr b="1">
                <a:solidFill>
                  <a:srgbClr val="007020"/>
                </a:solidFill>
                <a:latin typeface="Courier"/>
              </a:rPr>
              <a:t>extends</a:t>
            </a:r>
            <a:r>
              <a:rPr>
                <a:latin typeface="Courier"/>
              </a:rPr>
              <a:t> </a:t>
            </a:r>
            <a:r>
              <a:rPr>
                <a:solidFill>
                  <a:srgbClr val="008000"/>
                </a:solidFill>
                <a:latin typeface="Courier"/>
              </a:rPr>
              <a:t>JFrame</a:t>
            </a: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Tree</a:t>
            </a:r>
            <a:r>
              <a:rPr>
                <a:solidFill>
                  <a:srgbClr val="666666"/>
                </a:solidFill>
                <a:latin typeface="Courier"/>
              </a:rPr>
              <a:t>&gt;</a:t>
            </a:r>
            <a:r>
              <a:rPr>
                <a:latin typeface="Courier"/>
              </a:rPr>
              <a:t> trees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plantTree</a:t>
            </a:r>
            <a:r>
              <a:rPr>
                <a:solidFill>
                  <a:srgbClr val="666666"/>
                </a:solidFill>
                <a:latin typeface="Courier"/>
              </a:rPr>
              <a:t>(</a:t>
            </a:r>
            <a:r>
              <a:rPr>
                <a:solidFill>
                  <a:srgbClr val="902000"/>
                </a:solidFill>
                <a:latin typeface="Courier"/>
              </a:rPr>
              <a:t>int</a:t>
            </a:r>
            <a:r>
              <a:rPr>
                <a:latin typeface="Courier"/>
              </a:rPr>
              <a:t> x</a:t>
            </a:r>
            <a:r>
              <a:rPr>
                <a:solidFill>
                  <a:srgbClr val="666666"/>
                </a:solidFill>
                <a:latin typeface="Courier"/>
              </a:rPr>
              <a:t>,</a:t>
            </a:r>
            <a:r>
              <a:rPr>
                <a:latin typeface="Courier"/>
              </a:rPr>
              <a:t> </a:t>
            </a:r>
            <a:r>
              <a:rPr>
                <a:solidFill>
                  <a:srgbClr val="902000"/>
                </a:solidFill>
                <a:latin typeface="Courier"/>
              </a:rPr>
              <a:t>int</a:t>
            </a:r>
            <a:r>
              <a:rPr>
                <a:latin typeface="Courier"/>
              </a:rPr>
              <a:t> y</a:t>
            </a:r>
            <a:r>
              <a:rPr>
                <a:solidFill>
                  <a:srgbClr val="666666"/>
                </a:solidFill>
                <a:latin typeface="Courier"/>
              </a:rPr>
              <a:t>,</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a:solidFill>
                  <a:srgbClr val="008000"/>
                </a:solidFill>
                <a:latin typeface="Courier"/>
              </a:rPr>
              <a:t>Color</a:t>
            </a:r>
            <a:r>
              <a:rPr>
                <a:latin typeface="Courier"/>
              </a:rPr>
              <a:t> color</a:t>
            </a:r>
            <a:r>
              <a:rPr>
                <a:solidFill>
                  <a:srgbClr val="666666"/>
                </a:solidFill>
                <a:latin typeface="Courier"/>
              </a:rPr>
              <a:t>,</a:t>
            </a:r>
            <a:r>
              <a:rPr>
                <a:latin typeface="Courier"/>
              </a:rPr>
              <a:t> </a:t>
            </a:r>
            <a:r>
              <a:rPr>
                <a:solidFill>
                  <a:srgbClr val="008000"/>
                </a:solidFill>
                <a:latin typeface="Courier"/>
              </a:rPr>
              <a:t>String</a:t>
            </a:r>
            <a:r>
              <a:rPr>
                <a:latin typeface="Courier"/>
              </a:rPr>
              <a:t> texture</a:t>
            </a:r>
            <a:r>
              <a:rPr>
                <a:solidFill>
                  <a:srgbClr val="666666"/>
                </a:solidFill>
                <a:latin typeface="Courier"/>
              </a:rPr>
              <a:t>)</a:t>
            </a:r>
            <a:r>
              <a:rPr>
                <a:latin typeface="Courier"/>
              </a:rPr>
              <a:t> </a:t>
            </a:r>
            <a:r>
              <a:rPr>
                <a:solidFill>
                  <a:srgbClr val="666666"/>
                </a:solidFill>
                <a:latin typeface="Courier"/>
              </a:rPr>
              <a:t>{</a:t>
            </a:r>
            <a:br/>
            <a:r>
              <a:rPr>
                <a:latin typeface="Courier"/>
              </a:rPr>
              <a:t>        TreeType type </a:t>
            </a:r>
            <a:r>
              <a:rPr>
                <a:solidFill>
                  <a:srgbClr val="666666"/>
                </a:solidFill>
                <a:latin typeface="Courier"/>
              </a:rPr>
              <a:t>=</a:t>
            </a:r>
            <a:r>
              <a:rPr>
                <a:latin typeface="Courier"/>
              </a:rPr>
              <a:t> TreeFactory</a:t>
            </a:r>
            <a:r>
              <a:rPr>
                <a:solidFill>
                  <a:srgbClr val="666666"/>
                </a:solidFill>
                <a:latin typeface="Courier"/>
              </a:rPr>
              <a:t>.</a:t>
            </a:r>
            <a:r>
              <a:rPr>
                <a:solidFill>
                  <a:srgbClr val="06287E"/>
                </a:solidFill>
                <a:latin typeface="Courier"/>
              </a:rPr>
              <a:t>getTreeType</a:t>
            </a:r>
            <a:r>
              <a:rPr>
                <a:solidFill>
                  <a:srgbClr val="666666"/>
                </a:solidFill>
                <a:latin typeface="Courier"/>
              </a:rPr>
              <a:t>(</a:t>
            </a:r>
            <a:br/>
            <a:r>
              <a:rPr>
                <a:latin typeface="Courier"/>
              </a:rPr>
              <a:t>            name</a:t>
            </a:r>
            <a:r>
              <a:rPr>
                <a:solidFill>
                  <a:srgbClr val="666666"/>
                </a:solidFill>
                <a:latin typeface="Courier"/>
              </a:rPr>
              <a:t>,</a:t>
            </a:r>
            <a:r>
              <a:rPr>
                <a:latin typeface="Courier"/>
              </a:rPr>
              <a:t> color</a:t>
            </a:r>
            <a:r>
              <a:rPr>
                <a:solidFill>
                  <a:srgbClr val="666666"/>
                </a:solidFill>
                <a:latin typeface="Courier"/>
              </a:rPr>
              <a:t>,</a:t>
            </a:r>
            <a:r>
              <a:rPr>
                <a:latin typeface="Courier"/>
              </a:rPr>
              <a:t> texture</a:t>
            </a:r>
            <a:r>
              <a:rPr>
                <a:solidFill>
                  <a:srgbClr val="666666"/>
                </a:solidFill>
                <a:latin typeface="Courier"/>
              </a:rPr>
              <a:t>);</a:t>
            </a:r>
            <a:br/>
            <a:r>
              <a:rPr>
                <a:latin typeface="Courier"/>
              </a:rPr>
              <a:t>        Tree tree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Tree</a:t>
            </a:r>
            <a:r>
              <a:rPr>
                <a:solidFill>
                  <a:srgbClr val="666666"/>
                </a:solidFill>
                <a:latin typeface="Courier"/>
              </a:rPr>
              <a:t>(</a:t>
            </a:r>
            <a:r>
              <a:rPr>
                <a:latin typeface="Courier"/>
              </a:rPr>
              <a:t>x</a:t>
            </a:r>
            <a:r>
              <a:rPr>
                <a:solidFill>
                  <a:srgbClr val="666666"/>
                </a:solidFill>
                <a:latin typeface="Courier"/>
              </a:rPr>
              <a:t>,</a:t>
            </a:r>
            <a:r>
              <a:rPr>
                <a:latin typeface="Courier"/>
              </a:rPr>
              <a:t> y</a:t>
            </a:r>
            <a:r>
              <a:rPr>
                <a:solidFill>
                  <a:srgbClr val="666666"/>
                </a:solidFill>
                <a:latin typeface="Courier"/>
              </a:rPr>
              <a:t>,</a:t>
            </a:r>
            <a:r>
              <a:rPr>
                <a:latin typeface="Courier"/>
              </a:rPr>
              <a:t> type</a:t>
            </a:r>
            <a:r>
              <a:rPr>
                <a:solidFill>
                  <a:srgbClr val="666666"/>
                </a:solidFill>
                <a:latin typeface="Courier"/>
              </a:rPr>
              <a:t>);</a:t>
            </a:r>
            <a:br/>
            <a:r>
              <a:rPr>
                <a:latin typeface="Courier"/>
              </a:rPr>
              <a:t>        trees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tree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paint</a:t>
            </a:r>
            <a:r>
              <a:rPr>
                <a:solidFill>
                  <a:srgbClr val="666666"/>
                </a:solidFill>
                <a:latin typeface="Courier"/>
              </a:rPr>
              <a:t>(</a:t>
            </a:r>
            <a:r>
              <a:rPr>
                <a:solidFill>
                  <a:srgbClr val="008000"/>
                </a:solidFill>
                <a:latin typeface="Courier"/>
              </a:rPr>
              <a:t>Graphics</a:t>
            </a:r>
            <a:r>
              <a:rPr>
                <a:latin typeface="Courier"/>
              </a:rPr>
              <a:t> 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latin typeface="Courier"/>
              </a:rPr>
              <a:t>Tree tree </a:t>
            </a:r>
            <a:r>
              <a:rPr>
                <a:solidFill>
                  <a:srgbClr val="666666"/>
                </a:solidFill>
                <a:latin typeface="Courier"/>
              </a:rPr>
              <a:t>:</a:t>
            </a:r>
            <a:r>
              <a:rPr>
                <a:latin typeface="Courier"/>
              </a:rPr>
              <a:t> trees</a:t>
            </a:r>
            <a:r>
              <a:rPr>
                <a:solidFill>
                  <a:srgbClr val="666666"/>
                </a:solidFill>
                <a:latin typeface="Courier"/>
              </a:rPr>
              <a:t>)</a:t>
            </a:r>
            <a:r>
              <a:rPr>
                <a:latin typeface="Courier"/>
              </a:rPr>
              <a:t> </a:t>
            </a:r>
            <a:r>
              <a:rPr>
                <a:solidFill>
                  <a:srgbClr val="666666"/>
                </a:solidFill>
                <a:latin typeface="Courier"/>
              </a:rPr>
              <a:t>{</a:t>
            </a:r>
            <a:br/>
            <a:r>
              <a:rPr>
                <a:latin typeface="Courier"/>
              </a:rPr>
              <a:t>            tree</a:t>
            </a:r>
            <a:r>
              <a:rPr>
                <a:solidFill>
                  <a:srgbClr val="666666"/>
                </a:solidFill>
                <a:latin typeface="Courier"/>
              </a:rPr>
              <a:t>.</a:t>
            </a:r>
            <a:r>
              <a:rPr>
                <a:solidFill>
                  <a:srgbClr val="06287E"/>
                </a:solidFill>
                <a:latin typeface="Courier"/>
              </a:rPr>
              <a:t>draw</a:t>
            </a:r>
            <a:r>
              <a:rPr>
                <a:solidFill>
                  <a:srgbClr val="666666"/>
                </a:solidFill>
                <a:latin typeface="Courier"/>
              </a:rPr>
              <a:t>(</a:t>
            </a:r>
            <a:r>
              <a:rPr>
                <a:latin typeface="Courier"/>
              </a:rPr>
              <a:t>g</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Forest forest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Forest</a:t>
            </a:r>
            <a:r>
              <a:rPr>
                <a:solidFill>
                  <a:srgbClr val="666666"/>
                </a:solidFill>
                <a:latin typeface="Courier"/>
              </a:rPr>
              <a:t>();</a:t>
            </a:r>
            <a:br/>
            <a:r>
              <a:rPr>
                <a:latin typeface="Courier"/>
              </a:rPr>
              <a:t>        </a:t>
            </a:r>
            <a:r>
              <a:rPr i="1">
                <a:solidFill>
                  <a:srgbClr val="60A0B0"/>
                </a:solidFill>
                <a:latin typeface="Courier"/>
              </a:rPr>
              <a:t>// Plant 1,000,000 trees but only a few TreeType</a:t>
            </a:r>
            <a:br/>
            <a:r>
              <a:rPr>
                <a:latin typeface="Courier"/>
              </a:rPr>
              <a:t>        </a:t>
            </a:r>
            <a:r>
              <a:rPr i="1">
                <a:solidFill>
                  <a:srgbClr val="60A0B0"/>
                </a:solidFill>
                <a:latin typeface="Courier"/>
              </a:rPr>
              <a:t>// flyweight objects are created</a:t>
            </a:r>
            <a:br/>
            <a:r>
              <a:rPr>
                <a:latin typeface="Courier"/>
              </a:rPr>
              <a:t>        </a:t>
            </a:r>
            <a:r>
              <a:rPr b="1">
                <a:solidFill>
                  <a:srgbClr val="007020"/>
                </a:solidFill>
                <a:latin typeface="Courier"/>
              </a:rPr>
              <a:t>for</a:t>
            </a:r>
            <a:r>
              <a:rPr>
                <a:latin typeface="Courier"/>
              </a:rPr>
              <a:t> </a:t>
            </a:r>
            <a:r>
              <a:rPr>
                <a:solidFill>
                  <a:srgbClr val="666666"/>
                </a:solidFill>
                <a:latin typeface="Courier"/>
              </a:rPr>
              <a:t>(</a:t>
            </a:r>
            <a:r>
              <a:rPr>
                <a:solidFill>
                  <a:srgbClr val="902000"/>
                </a:solidFill>
                <a:latin typeface="Courier"/>
              </a:rPr>
              <a:t>int</a:t>
            </a:r>
            <a:r>
              <a:rPr>
                <a:latin typeface="Courier"/>
              </a:rPr>
              <a:t> i </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i </a:t>
            </a:r>
            <a:r>
              <a:rPr>
                <a:solidFill>
                  <a:srgbClr val="666666"/>
                </a:solidFill>
                <a:latin typeface="Courier"/>
              </a:rPr>
              <a:t>&lt;</a:t>
            </a:r>
            <a:r>
              <a:rPr>
                <a:latin typeface="Courier"/>
              </a:rPr>
              <a:t> </a:t>
            </a:r>
            <a:r>
              <a:rPr>
                <a:solidFill>
                  <a:srgbClr val="40A070"/>
                </a:solidFill>
                <a:latin typeface="Courier"/>
              </a:rPr>
              <a:t>1000000</a:t>
            </a:r>
            <a:r>
              <a:rPr>
                <a:solidFill>
                  <a:srgbClr val="666666"/>
                </a:solidFill>
                <a:latin typeface="Courier"/>
              </a:rPr>
              <a:t>;</a:t>
            </a:r>
            <a:r>
              <a:rPr>
                <a:latin typeface="Courier"/>
              </a:rPr>
              <a:t> i</a:t>
            </a:r>
            <a:r>
              <a:rPr>
                <a:solidFill>
                  <a:srgbClr val="666666"/>
                </a:solidFill>
                <a:latin typeface="Courier"/>
              </a:rPr>
              <a:t>++)</a:t>
            </a:r>
            <a:r>
              <a:rPr>
                <a:latin typeface="Courier"/>
              </a:rPr>
              <a:t> </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plantTree</a:t>
            </a:r>
            <a:r>
              <a:rPr>
                <a:solidFill>
                  <a:srgbClr val="666666"/>
                </a:solidFill>
                <a:latin typeface="Courier"/>
              </a:rPr>
              <a:t>(</a:t>
            </a:r>
            <a:br/>
            <a:r>
              <a:rPr>
                <a:latin typeface="Courier"/>
              </a:rPr>
              <a:t>                </a:t>
            </a:r>
            <a:r>
              <a:rPr>
                <a:solidFill>
                  <a:srgbClr val="666666"/>
                </a:solidFill>
                <a:latin typeface="Courier"/>
              </a:rPr>
              <a:t>(</a:t>
            </a:r>
            <a:r>
              <a:rPr>
                <a:solidFill>
                  <a:srgbClr val="902000"/>
                </a:solidFill>
                <a:latin typeface="Courier"/>
              </a:rPr>
              <a:t>int</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random</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800</a:t>
            </a:r>
            <a:r>
              <a:rPr>
                <a:solidFill>
                  <a:srgbClr val="666666"/>
                </a:solidFill>
                <a:latin typeface="Courier"/>
              </a:rPr>
              <a:t>),</a:t>
            </a:r>
            <a:br/>
            <a:r>
              <a:rPr>
                <a:latin typeface="Courier"/>
              </a:rPr>
              <a:t>                </a:t>
            </a:r>
            <a:r>
              <a:rPr>
                <a:solidFill>
                  <a:srgbClr val="666666"/>
                </a:solidFill>
                <a:latin typeface="Courier"/>
              </a:rPr>
              <a:t>(</a:t>
            </a:r>
            <a:r>
              <a:rPr>
                <a:solidFill>
                  <a:srgbClr val="902000"/>
                </a:solidFill>
                <a:latin typeface="Courier"/>
              </a:rPr>
              <a:t>int</a:t>
            </a:r>
            <a:r>
              <a:rPr>
                <a:solidFill>
                  <a:srgbClr val="666666"/>
                </a:solidFill>
                <a:latin typeface="Courier"/>
              </a:rPr>
              <a:t>)</a:t>
            </a:r>
            <a:r>
              <a:rPr>
                <a:latin typeface="Courier"/>
              </a:rPr>
              <a:t> </a:t>
            </a:r>
            <a:r>
              <a:rPr>
                <a:solidFill>
                  <a:srgbClr val="666666"/>
                </a:solidFill>
                <a:latin typeface="Courier"/>
              </a:rPr>
              <a:t>(</a:t>
            </a:r>
            <a:r>
              <a:rPr>
                <a:solidFill>
                  <a:srgbClr val="008000"/>
                </a:solidFill>
                <a:latin typeface="Courier"/>
              </a:rPr>
              <a:t>Math</a:t>
            </a:r>
            <a:r>
              <a:rPr>
                <a:solidFill>
                  <a:srgbClr val="666666"/>
                </a:solidFill>
                <a:latin typeface="Courier"/>
              </a:rPr>
              <a:t>.</a:t>
            </a:r>
            <a:r>
              <a:rPr>
                <a:solidFill>
                  <a:srgbClr val="06287E"/>
                </a:solidFill>
                <a:latin typeface="Courier"/>
              </a:rPr>
              <a:t>random</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A070"/>
                </a:solidFill>
                <a:latin typeface="Courier"/>
              </a:rPr>
              <a:t>600</a:t>
            </a:r>
            <a:r>
              <a:rPr>
                <a:solidFill>
                  <a:srgbClr val="666666"/>
                </a:solidFill>
                <a:latin typeface="Courier"/>
              </a:rPr>
              <a:t>),</a:t>
            </a:r>
            <a:br/>
            <a:r>
              <a:rPr>
                <a:latin typeface="Courier"/>
              </a:rPr>
              <a:t>                </a:t>
            </a:r>
            <a:r>
              <a:rPr>
                <a:solidFill>
                  <a:srgbClr val="4070A0"/>
                </a:solidFill>
                <a:latin typeface="Courier"/>
              </a:rPr>
              <a:t>"Summer Oak"</a:t>
            </a:r>
            <a:r>
              <a:rPr>
                <a:solidFill>
                  <a:srgbClr val="666666"/>
                </a:solidFill>
                <a:latin typeface="Courier"/>
              </a:rPr>
              <a:t>,</a:t>
            </a:r>
            <a:br/>
            <a:r>
              <a:rPr>
                <a:latin typeface="Courier"/>
              </a:rPr>
              <a:t>                </a:t>
            </a:r>
            <a:r>
              <a:rPr>
                <a:solidFill>
                  <a:srgbClr val="008000"/>
                </a:solidFill>
                <a:latin typeface="Courier"/>
              </a:rPr>
              <a:t>Color</a:t>
            </a:r>
            <a:r>
              <a:rPr>
                <a:solidFill>
                  <a:srgbClr val="666666"/>
                </a:solidFill>
                <a:latin typeface="Courier"/>
              </a:rPr>
              <a:t>.</a:t>
            </a:r>
            <a:r>
              <a:rPr>
                <a:solidFill>
                  <a:srgbClr val="06287E"/>
                </a:solidFill>
                <a:latin typeface="Courier"/>
              </a:rPr>
              <a:t>GREEN</a:t>
            </a:r>
            <a:r>
              <a:rPr>
                <a:solidFill>
                  <a:srgbClr val="666666"/>
                </a:solidFill>
                <a:latin typeface="Courier"/>
              </a:rPr>
              <a:t>,</a:t>
            </a:r>
            <a:br/>
            <a:r>
              <a:rPr>
                <a:latin typeface="Courier"/>
              </a:rPr>
              <a:t>                </a:t>
            </a:r>
            <a:r>
              <a:rPr>
                <a:solidFill>
                  <a:srgbClr val="4070A0"/>
                </a:solidFill>
                <a:latin typeface="Courier"/>
              </a:rPr>
              <a:t>"oak_texture"</a:t>
            </a:r>
            <a:r>
              <a:rPr>
                <a:solidFill>
                  <a:srgbClr val="666666"/>
                </a:solidFill>
                <a:latin typeface="Courier"/>
              </a:rPr>
              <a:t>);</a:t>
            </a:r>
            <a:br/>
            <a:r>
              <a:rPr>
                <a:latin typeface="Courier"/>
              </a:rPr>
              <a:t>        </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setSize</a:t>
            </a:r>
            <a:r>
              <a:rPr>
                <a:solidFill>
                  <a:srgbClr val="666666"/>
                </a:solidFill>
                <a:latin typeface="Courier"/>
              </a:rPr>
              <a:t>(</a:t>
            </a:r>
            <a:r>
              <a:rPr>
                <a:solidFill>
                  <a:srgbClr val="40A070"/>
                </a:solidFill>
                <a:latin typeface="Courier"/>
              </a:rPr>
              <a:t>800</a:t>
            </a:r>
            <a:r>
              <a:rPr>
                <a:solidFill>
                  <a:srgbClr val="666666"/>
                </a:solidFill>
                <a:latin typeface="Courier"/>
              </a:rPr>
              <a:t>,</a:t>
            </a:r>
            <a:r>
              <a:rPr>
                <a:latin typeface="Courier"/>
              </a:rPr>
              <a:t> </a:t>
            </a:r>
            <a:r>
              <a:rPr>
                <a:solidFill>
                  <a:srgbClr val="40A070"/>
                </a:solidFill>
                <a:latin typeface="Courier"/>
              </a:rPr>
              <a:t>600</a:t>
            </a:r>
            <a:r>
              <a:rPr>
                <a:solidFill>
                  <a:srgbClr val="666666"/>
                </a:solidFill>
                <a:latin typeface="Courier"/>
              </a:rPr>
              <a:t>);</a:t>
            </a:r>
            <a:br/>
            <a:r>
              <a:rPr>
                <a:latin typeface="Courier"/>
              </a:rPr>
              <a:t>        forest</a:t>
            </a:r>
            <a:r>
              <a:rPr>
                <a:solidFill>
                  <a:srgbClr val="666666"/>
                </a:solidFill>
                <a:latin typeface="Courier"/>
              </a:rPr>
              <a:t>.</a:t>
            </a:r>
            <a:r>
              <a:rPr>
                <a:solidFill>
                  <a:srgbClr val="06287E"/>
                </a:solidFill>
                <a:latin typeface="Courier"/>
              </a:rPr>
              <a:t>setVisible</a:t>
            </a:r>
            <a:r>
              <a:rPr>
                <a:solidFill>
                  <a:srgbClr val="666666"/>
                </a:solidFill>
                <a:latin typeface="Courier"/>
              </a:rPr>
              <a:t>(</a:t>
            </a:r>
            <a:r>
              <a:rPr b="1">
                <a:solidFill>
                  <a:srgbClr val="007020"/>
                </a:solidFill>
                <a:latin typeface="Courier"/>
              </a:rPr>
              <a:t>true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Flyweight - Sıra Diyagramı</a:t>
            </a:r>
          </a:p>
        </p:txBody>
      </p:sp>
      <p:pic>
        <p:nvPicPr>
          <p:cNvPr descr="assets/flyweight-sequence.png" id="0" name="Picture 1"/>
          <p:cNvPicPr>
            <a:picLocks noGrp="1" noChangeAspect="1"/>
          </p:cNvPicPr>
          <p:nvPr/>
        </p:nvPicPr>
        <p:blipFill>
          <a:blip r:embed="rId2"/>
          <a:stretch>
            <a:fillRect/>
          </a:stretch>
        </p:blipFill>
        <p:spPr bwMode="auto">
          <a:xfrm>
            <a:off x="4648200" y="203200"/>
            <a:ext cx="2946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Uygulanabilirlik</a:t>
            </a:r>
          </a:p>
        </p:txBody>
      </p:sp>
      <p:sp>
        <p:nvSpPr>
          <p:cNvPr id="3" name="Content Placeholder 2"/>
          <p:cNvSpPr>
            <a:spLocks noGrp="1"/>
          </p:cNvSpPr>
          <p:nvPr>
            <p:ph idx="1"/>
          </p:nvPr>
        </p:nvSpPr>
        <p:spPr/>
        <p:txBody>
          <a:bodyPr/>
          <a:lstStyle/>
          <a:p>
            <a:pPr lvl="0" indent="0" marL="0">
              <a:buNone/>
            </a:pPr>
            <a:r>
              <a:rPr/>
              <a:t>Flyweight (Sinek Siklet) desenini </a:t>
            </a:r>
            <a:r>
              <a:rPr b="1"/>
              <a:t>yalnızca</a:t>
            </a:r>
            <a:r>
              <a:rPr/>
              <a:t> programınızın mevcut RAM’e zar zor sığan çok sayıda nesneyi desteklemesi gerektiğinde kullanın.</a:t>
            </a:r>
          </a:p>
          <a:p>
            <a:pPr lvl="0" indent="0" marL="0">
              <a:buNone/>
            </a:pPr>
            <a:r>
              <a:rPr/>
              <a:t>Deseni uygulamanın faydası, nasıl ve nerede kullanıldığına büyük ölçüde bağlıdır. En faydalı olduğu durumlar:</a:t>
            </a:r>
          </a:p>
          <a:p>
            <a:pPr lvl="0"/>
            <a:r>
              <a:rPr/>
              <a:t>Bir uygulamanın </a:t>
            </a:r>
            <a:r>
              <a:rPr b="1"/>
              <a:t>çok sayıda</a:t>
            </a:r>
            <a:r>
              <a:rPr/>
              <a:t> benzer nesne oluşturması gerektiğinde</a:t>
            </a:r>
          </a:p>
          <a:p>
            <a:pPr lvl="0"/>
            <a:r>
              <a:rPr/>
              <a:t>Bu, hedef cihazda mevcut tüm RAM’i tükettiğinde</a:t>
            </a:r>
          </a:p>
          <a:p>
            <a:pPr lvl="0"/>
            <a:r>
              <a:rPr/>
              <a:t>Nesneler, birden fazla nesne arasında çıkarılıp paylaşılabilen </a:t>
            </a:r>
            <a:r>
              <a:rPr b="1"/>
              <a:t>tekrarlanan durum</a:t>
            </a:r>
            <a:r>
              <a:rPr/>
              <a:t> içerdiğinde</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Uygulanabilirlik (devam)</a:t>
            </a:r>
          </a:p>
        </p:txBody>
      </p:sp>
      <p:sp>
        <p:nvSpPr>
          <p:cNvPr id="3" name="Content Placeholder 2"/>
          <p:cNvSpPr>
            <a:spLocks noGrp="1"/>
          </p:cNvSpPr>
          <p:nvPr>
            <p:ph idx="1"/>
          </p:nvPr>
        </p:nvSpPr>
        <p:spPr/>
        <p:txBody>
          <a:bodyPr/>
          <a:lstStyle/>
          <a:p>
            <a:pPr lvl="0" indent="0" marL="0">
              <a:buNone/>
            </a:pPr>
            <a:r>
              <a:rPr b="1"/>
              <a:t>Önemli:</a:t>
            </a:r>
            <a:r>
              <a:rPr/>
              <a:t> Flyweight (Sinek Siklet) deseni yalnızca bir </a:t>
            </a:r>
            <a:r>
              <a:rPr b="1"/>
              <a:t>optimizasyondur</a:t>
            </a:r>
            <a:r>
              <a:rPr/>
              <a:t>. Uygulamadan önce, programınızın bellekte aynı anda çok sayıda benzer nesneye sahip olmayla ilgili RAM tüketim sorununa gerçekten sahip olduğundan emin olun. Bu sorunun başka anlamlı bir şekilde çözülemeyeceğinden emin olun.</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Nasıl Uygulanır</a:t>
            </a:r>
          </a:p>
        </p:txBody>
      </p:sp>
      <p:sp>
        <p:nvSpPr>
          <p:cNvPr id="3" name="Content Placeholder 2"/>
          <p:cNvSpPr>
            <a:spLocks noGrp="1"/>
          </p:cNvSpPr>
          <p:nvPr>
            <p:ph idx="1"/>
          </p:nvPr>
        </p:nvSpPr>
        <p:spPr/>
        <p:txBody>
          <a:bodyPr/>
          <a:lstStyle/>
          <a:p>
            <a:pPr lvl="0" indent="-342900" marL="342900">
              <a:buAutoNum type="arabicPeriod"/>
            </a:pPr>
            <a:r>
              <a:rPr/>
              <a:t>Flyweight olacak bir sınıfın alanlarını iki kısma ayırın:</a:t>
            </a:r>
          </a:p>
          <a:p>
            <a:pPr lvl="1"/>
            <a:r>
              <a:rPr b="1"/>
              <a:t>İçsel durum</a:t>
            </a:r>
            <a:r>
              <a:rPr/>
              <a:t>: birçok nesne arasında tekrarlanan değişmeyen verileri içeren alanlar</a:t>
            </a:r>
          </a:p>
          <a:p>
            <a:pPr lvl="1"/>
            <a:r>
              <a:rPr b="1"/>
              <a:t>Dışsal durum</a:t>
            </a:r>
            <a:r>
              <a:rPr/>
              <a:t>: her nesneye özgü bağlamsal verileri içeren alanlar</a:t>
            </a:r>
          </a:p>
          <a:p>
            <a:pPr lvl="0" indent="-342900" marL="342900">
              <a:buAutoNum type="arabicPeriod"/>
            </a:pPr>
            <a:r>
              <a:rPr b="1"/>
              <a:t>İçsel durumu</a:t>
            </a:r>
            <a:r>
              <a:rPr/>
              <a:t> temsil eden alanları sınıfta bırakın, ancak değiştirilemez olduklarından emin olun. Başlangıç değerlerini yalnızca </a:t>
            </a:r>
            <a:r>
              <a:rPr b="1"/>
              <a:t>yapıcı</a:t>
            </a:r>
            <a:r>
              <a:rPr/>
              <a:t> içinde almalıdırlar</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Nasıl Uygulanır (devam)</a:t>
            </a:r>
          </a:p>
        </p:txBody>
      </p:sp>
      <p:sp>
        <p:nvSpPr>
          <p:cNvPr id="3" name="Content Placeholder 2"/>
          <p:cNvSpPr>
            <a:spLocks noGrp="1"/>
          </p:cNvSpPr>
          <p:nvPr>
            <p:ph idx="1"/>
          </p:nvPr>
        </p:nvSpPr>
        <p:spPr/>
        <p:txBody>
          <a:bodyPr/>
          <a:lstStyle/>
          <a:p>
            <a:pPr lvl="0" indent="-342900" marL="342900">
              <a:buAutoNum startAt="3" type="arabicPeriod"/>
            </a:pPr>
            <a:r>
              <a:rPr b="1"/>
              <a:t>Dışsal durumun</a:t>
            </a:r>
            <a:r>
              <a:rPr/>
              <a:t> alanlarını kullanan yöntemleri gözden geçirin. Yöntemde kullanılan her alan için yeni bir </a:t>
            </a:r>
            <a:r>
              <a:rPr b="1"/>
              <a:t>parametre</a:t>
            </a:r>
            <a:r>
              <a:rPr/>
              <a:t> tanıtın ve alanın yerine onu kullanın</a:t>
            </a:r>
          </a:p>
          <a:p>
            <a:pPr lvl="0" indent="-342900" marL="342900">
              <a:buAutoNum startAt="3" type="arabicPeriod"/>
            </a:pPr>
            <a:r>
              <a:rPr/>
              <a:t>İsteğe bağlı olarak, flyweight’lerin havuzunu yönetmek için bir </a:t>
            </a:r>
            <a:r>
              <a:rPr b="1"/>
              <a:t>fabrika sınıfı</a:t>
            </a:r>
            <a:r>
              <a:rPr/>
              <a:t> oluşturun. Yeni bir tane oluşturmadan önce mevcut bir flyweight’i kontrol etmelidir. Fabrika yerleştirildikten sonra, istemciler flyweight’leri yalnızca fabrika üzerinden talep etmeli ve içsel durumu fabrikaya iletmelidir</a:t>
            </a:r>
          </a:p>
          <a:p>
            <a:pPr lvl="0" indent="-342900" marL="342900">
              <a:buAutoNum startAt="3" type="arabicPeriod"/>
            </a:pPr>
            <a:r>
              <a:rPr/>
              <a:t>İstemci, flyweight nesnelerinin yöntemlerini çağırabilmek için </a:t>
            </a:r>
            <a:r>
              <a:rPr b="1"/>
              <a:t>dışsal durumun</a:t>
            </a:r>
            <a:r>
              <a:rPr/>
              <a:t> (bağlam) değerlerini saklamalı veya hesaplamalıdır. Kolaylık sağlamak için, dışsal durum flyweight referans alanıyla birlikte ayrı bir </a:t>
            </a:r>
            <a:r>
              <a:rPr b="1"/>
              <a:t>bağlam sınıfına</a:t>
            </a:r>
            <a:r>
              <a:rPr/>
              <a:t> taşınabilir</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Avantajlar ve Dezavantajlar</a:t>
            </a:r>
          </a:p>
        </p:txBody>
      </p:sp>
      <p:sp>
        <p:nvSpPr>
          <p:cNvPr id="3" name="Content Placeholder 2"/>
          <p:cNvSpPr>
            <a:spLocks noGrp="1"/>
          </p:cNvSpPr>
          <p:nvPr>
            <p:ph idx="1"/>
          </p:nvPr>
        </p:nvSpPr>
        <p:spPr/>
        <p:txBody>
          <a:bodyPr/>
          <a:lstStyle/>
          <a:p>
            <a:pPr lvl="0" indent="0" marL="0">
              <a:buNone/>
            </a:pPr>
            <a:r>
              <a:rPr b="1"/>
              <a:t>Avantajlar:</a:t>
            </a:r>
            <a:r>
              <a:rPr/>
              <a:t> - Programınızda çok sayıda benzer nesne varsa, çok fazla </a:t>
            </a:r>
            <a:r>
              <a:rPr b="1"/>
              <a:t>RAM</a:t>
            </a:r>
            <a:r>
              <a:rPr/>
              <a:t> tasarrufu sağlayabilirsiniz - Durum paylaşımı yoluyla bellek ayak izi azaltılır</a:t>
            </a:r>
          </a:p>
          <a:p>
            <a:pPr lvl="0" indent="0" marL="0">
              <a:buNone/>
            </a:pPr>
            <a:r>
              <a:rPr b="1"/>
              <a:t>Dezavantajlar:</a:t>
            </a:r>
            <a:r>
              <a:rPr/>
              <a:t> - Bağlam verilerinin bazılarının her biri flyweight yöntemi çağrıldığında yeniden hesaplanması gerektiğinde </a:t>
            </a:r>
            <a:r>
              <a:rPr b="1"/>
              <a:t>RAM’i CPU döngüleriyle takas</a:t>
            </a:r>
            <a:r>
              <a:rPr/>
              <a:t> ediyor olabilirsiniz - Kod çok </a:t>
            </a:r>
            <a:r>
              <a:rPr b="1"/>
              <a:t>daha karmaşık</a:t>
            </a:r>
            <a:r>
              <a:rPr/>
              <a:t> hale gelir. Yeni ekip üyeleri her zaman bir varlığın durumunun neden bu şekilde ayrıldığını merak edecektir - Paylaşılan değiştirilebilir referanslar düzgün eşitlenmezse </a:t>
            </a:r>
            <a:r>
              <a:rPr b="1"/>
              <a:t>iş parçacığı güvenliği</a:t>
            </a:r>
            <a:r>
              <a:rPr/>
              <a:t> sorunları ortaya çıkabilir</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Flyweight (Sinek Siklet): Diğer Desenlerle İlişkiler</a:t>
            </a:r>
          </a:p>
        </p:txBody>
      </p:sp>
      <p:sp>
        <p:nvSpPr>
          <p:cNvPr id="3" name="Content Placeholder 2"/>
          <p:cNvSpPr>
            <a:spLocks noGrp="1"/>
          </p:cNvSpPr>
          <p:nvPr>
            <p:ph idx="1"/>
          </p:nvPr>
        </p:nvSpPr>
        <p:spPr/>
        <p:txBody>
          <a:bodyPr/>
          <a:lstStyle/>
          <a:p>
            <a:pPr lvl="0"/>
            <a:r>
              <a:rPr b="1"/>
              <a:t>Composite (Bileşik)</a:t>
            </a:r>
            <a:r>
              <a:rPr/>
              <a:t> ağacının paylaşılan yaprak düğümlerini RAM’den tasarruf etmek için </a:t>
            </a:r>
            <a:r>
              <a:rPr b="1"/>
              <a:t>Flyweight (Sinek Siklet)</a:t>
            </a:r>
            <a:r>
              <a:rPr/>
              <a:t> olarak uygulayabilirsiniz</a:t>
            </a:r>
          </a:p>
          <a:p>
            <a:pPr lvl="0"/>
            <a:r>
              <a:rPr b="1"/>
              <a:t>Flyweight (Sinek Siklet)</a:t>
            </a:r>
            <a:r>
              <a:rPr/>
              <a:t> çok sayıda küçük nesne yapmanın nasıl olduğunu gösterirken, </a:t>
            </a:r>
            <a:r>
              <a:rPr b="1"/>
              <a:t>Facade (Cephe)</a:t>
            </a:r>
            <a:r>
              <a:rPr/>
              <a:t> tüm bir alt sistemi temsil eden tek bir nesne yapmanın nasıl olduğunu gösterir</a:t>
            </a:r>
          </a:p>
          <a:p>
            <a:pPr lvl="0"/>
            <a:r>
              <a:rPr b="1"/>
              <a:t>Flyweight (Sinek Siklet)</a:t>
            </a:r>
            <a:r>
              <a:rPr/>
              <a:t>, nesnelerin tüm paylaşılan durumlarını tek bir flyweight nesnesine indirmeyi bir şekilde başarırsanız </a:t>
            </a:r>
            <a:r>
              <a:rPr b="1"/>
              <a:t>Singleton</a:t>
            </a:r>
            <a:r>
              <a:rPr/>
              <a:t>’a benzerdi. Ancak iki temel fark vardır:</a:t>
            </a:r>
          </a:p>
          <a:p>
            <a:pPr lvl="1"/>
            <a:r>
              <a:rPr/>
              <a:t>Yalnızca bir Singleton örneği olmalıdır, oysa bir Flyweight sınıfı farklı içsel durumlara sahip </a:t>
            </a:r>
            <a:r>
              <a:rPr b="1"/>
              <a:t>birden fazla örneğe</a:t>
            </a:r>
            <a:r>
              <a:rPr/>
              <a:t> sahip olabilir</a:t>
            </a:r>
          </a:p>
          <a:p>
            <a:pPr lvl="1"/>
            <a:r>
              <a:rPr/>
              <a:t>Singleton nesnesi </a:t>
            </a:r>
            <a:r>
              <a:rPr b="1"/>
              <a:t>değiştirilebilir</a:t>
            </a:r>
            <a:r>
              <a:rPr/>
              <a:t> olabilir. Flyweight nesneleri </a:t>
            </a:r>
            <a:r>
              <a:rPr b="1"/>
              <a:t>değiştirilemezdir</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G: Özet</a:t>
            </a:r>
          </a:p>
        </p:txBody>
      </p:sp>
      <p:sp>
        <p:nvSpPr>
          <p:cNvPr id="3" name="Content Placeholder 2"/>
          <p:cNvSpPr>
            <a:spLocks noGrp="1"/>
          </p:cNvSpPr>
          <p:nvPr>
            <p:ph idx="1"/>
          </p:nvPr>
        </p:nvSpPr>
        <p:spPr/>
        <p:txBody>
          <a:bodyPr/>
          <a:lstStyle/>
          <a:p>
            <a:pPr lvl="0"/>
            <a:r>
              <a:rPr/>
              <a:t>Flyweight (Sinek Siklet) deseni, bellek tasarrufu için birçok nesne arasında </a:t>
            </a:r>
            <a:r>
              <a:rPr b="1"/>
              <a:t>ortak durumu paylaşır</a:t>
            </a:r>
          </a:p>
          <a:p>
            <a:pPr lvl="0"/>
            <a:r>
              <a:rPr b="1"/>
              <a:t>İçsel</a:t>
            </a:r>
            <a:r>
              <a:rPr/>
              <a:t> (paylaşılan, değiştirilemez) ve </a:t>
            </a:r>
            <a:r>
              <a:rPr b="1"/>
              <a:t>dışsal</a:t>
            </a:r>
            <a:r>
              <a:rPr/>
              <a:t> (benzersiz, bağlamsal) durum arasında ayrım yapın</a:t>
            </a:r>
          </a:p>
          <a:p>
            <a:pPr lvl="0"/>
            <a:r>
              <a:rPr/>
              <a:t>Flyweight nesnelerinin havuzunu yönetmek için bir </a:t>
            </a:r>
            <a:r>
              <a:rPr b="1"/>
              <a:t>fabrika</a:t>
            </a:r>
            <a:r>
              <a:rPr/>
              <a:t> kullanın</a:t>
            </a:r>
          </a:p>
          <a:p>
            <a:pPr lvl="0"/>
            <a:r>
              <a:rPr/>
              <a:t>Bunu yalnızca birçok benzer nesneyle gerçekten bir </a:t>
            </a:r>
            <a:r>
              <a:rPr b="1"/>
              <a:t>bellek sorununuz</a:t>
            </a:r>
            <a:r>
              <a:rPr/>
              <a:t> olduğunda uygulayın</a:t>
            </a:r>
          </a:p>
          <a:p>
            <a:pPr lvl="0"/>
            <a:r>
              <a:rPr/>
              <a:t>Bu bir </a:t>
            </a:r>
            <a:r>
              <a:rPr b="1"/>
              <a:t>optimizasyon desenidir</a:t>
            </a:r>
            <a:r>
              <a:rPr/>
              <a:t> – erken kullanmayın</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b="1"/>
              <a:t>Modül H: Proxy (Vekil) Deseni</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H: Ana Hatlar</a:t>
            </a:r>
          </a:p>
        </p:txBody>
      </p:sp>
      <p:sp>
        <p:nvSpPr>
          <p:cNvPr id="3" name="Content Placeholder 2"/>
          <p:cNvSpPr>
            <a:spLocks noGrp="1"/>
          </p:cNvSpPr>
          <p:nvPr>
            <p:ph idx="1"/>
          </p:nvPr>
        </p:nvSpPr>
        <p:spPr/>
        <p:txBody>
          <a:bodyPr/>
          <a:lstStyle/>
          <a:p>
            <a:pPr lvl="0"/>
            <a:r>
              <a:rPr/>
              <a:t>Amaç</a:t>
            </a:r>
          </a:p>
          <a:p>
            <a:pPr lvl="0"/>
            <a:r>
              <a:rPr/>
              <a:t>Problem</a:t>
            </a:r>
          </a:p>
          <a:p>
            <a:pPr lvl="0"/>
            <a:r>
              <a:rPr/>
              <a:t>Çözüm</a:t>
            </a:r>
          </a:p>
          <a:p>
            <a:pPr lvl="0"/>
            <a:r>
              <a:rPr/>
              <a:t>Gerçek Dünya Benzetmesi</a:t>
            </a:r>
          </a:p>
          <a:p>
            <a:pPr lvl="0"/>
            <a:r>
              <a:rPr/>
              <a:t>Yapı (UML)</a:t>
            </a:r>
          </a:p>
          <a:p>
            <a:pPr lvl="0"/>
            <a:r>
              <a:rPr/>
              <a:t>Proxy Türleri</a:t>
            </a:r>
          </a:p>
          <a:p>
            <a:pPr lvl="0"/>
            <a:r>
              <a:rPr/>
              <a:t>Java Kod Örneği</a:t>
            </a:r>
          </a:p>
          <a:p>
            <a:pPr lvl="0"/>
            <a:r>
              <a:rPr/>
              <a:t>Uygulanabilirlik</a:t>
            </a:r>
          </a:p>
          <a:p>
            <a:pPr lvl="0"/>
            <a:r>
              <a:rPr/>
              <a:t>Nasıl Uygulanır</a:t>
            </a:r>
          </a:p>
          <a:p>
            <a:pPr lvl="0"/>
            <a:r>
              <a:rPr/>
              <a:t>Avantajlar ve Dezavantajlar</a:t>
            </a:r>
          </a:p>
          <a:p>
            <a:pPr lvl="0"/>
            <a:r>
              <a:rPr/>
              <a:t>Diğer Desenlerle İlişkiler</a:t>
            </a:r>
          </a:p>
          <a:p>
            <a:pPr lvl="0"/>
            <a:r>
              <a:rPr/>
              <a:t>Modül Özeti</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Amaç</a:t>
            </a:r>
          </a:p>
        </p:txBody>
      </p:sp>
      <p:sp>
        <p:nvSpPr>
          <p:cNvPr id="3" name="Content Placeholder 2"/>
          <p:cNvSpPr>
            <a:spLocks noGrp="1"/>
          </p:cNvSpPr>
          <p:nvPr>
            <p:ph idx="1"/>
          </p:nvPr>
        </p:nvSpPr>
        <p:spPr/>
        <p:txBody>
          <a:bodyPr/>
          <a:lstStyle/>
          <a:p>
            <a:pPr lvl="0" indent="0" marL="0">
              <a:buNone/>
            </a:pPr>
            <a:r>
              <a:rPr b="1"/>
              <a:t>Proxy (Vekil)</a:t>
            </a:r>
            <a:r>
              <a:rPr/>
              <a:t>, başka bir nesne için bir </a:t>
            </a:r>
            <a:r>
              <a:rPr b="1"/>
              <a:t>yedek veya yer tutucu</a:t>
            </a:r>
            <a:r>
              <a:rPr/>
              <a:t> sağlamanıza olanak tanıyan yapısal bir tasarım desenidir. Bir proxy, orijinal nesneye erişimi kontrol eder ve isteğin orijinal nesneye ulaşmadan önce veya sonra bir şeyler yapmanıza olanak tanır.</a:t>
            </a:r>
          </a:p>
          <a:p>
            <a:pPr lvl="0" indent="0" marL="0">
              <a:buNone/>
            </a:pPr>
            <a:r>
              <a:rPr/>
              <a:t>Kaynak: </a:t>
            </a:r>
            <a:r>
              <a:rPr>
                <a:hlinkClick r:id="rId2"/>
              </a:rPr>
              <a:t>refactoring.guru</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Problem</a:t>
            </a:r>
          </a:p>
        </p:txBody>
      </p:sp>
      <p:sp>
        <p:nvSpPr>
          <p:cNvPr id="3" name="Content Placeholder 2"/>
          <p:cNvSpPr>
            <a:spLocks noGrp="1"/>
          </p:cNvSpPr>
          <p:nvPr>
            <p:ph idx="1"/>
          </p:nvPr>
        </p:nvSpPr>
        <p:spPr/>
        <p:txBody>
          <a:bodyPr/>
          <a:lstStyle/>
          <a:p>
            <a:pPr lvl="0" indent="0" marL="0">
              <a:buNone/>
            </a:pPr>
            <a:r>
              <a:rPr/>
              <a:t>Bir nesneye erişimi neden kontrol etmek isteyesiniz? İşte bir örnek: büyük miktarda sistem kaynağı tüketen devasa bir nesneniz var. Buna zaman zaman ihtiyacınız var, ancak her zaman değil.</a:t>
            </a:r>
          </a:p>
          <a:p>
            <a:pPr lvl="0" indent="0" marL="0">
              <a:buNone/>
            </a:pPr>
            <a:r>
              <a:rPr b="1"/>
              <a:t>Tembel başlatma</a:t>
            </a:r>
            <a:r>
              <a:rPr/>
              <a:t> uygulayabilirsiniz: bu nesneyi yalnızca gerçekten ihtiyaç duyulduğunda oluşturun. Nesnenin tüm istemcilerinin ertelenmiş başlatma kodunu çalıştırması gerekir. Ne yazık ki, bu muhtemelen çok fazla </a:t>
            </a:r>
            <a:r>
              <a:rPr b="1"/>
              <a:t>kod tekrarına</a:t>
            </a:r>
            <a:r>
              <a:rPr/>
              <a:t> neden olur.</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Problem (devam)</a:t>
            </a:r>
          </a:p>
        </p:txBody>
      </p:sp>
      <p:sp>
        <p:nvSpPr>
          <p:cNvPr id="3" name="Content Placeholder 2"/>
          <p:cNvSpPr>
            <a:spLocks noGrp="1"/>
          </p:cNvSpPr>
          <p:nvPr>
            <p:ph idx="1"/>
          </p:nvPr>
        </p:nvSpPr>
        <p:spPr/>
        <p:txBody>
          <a:bodyPr/>
          <a:lstStyle/>
          <a:p>
            <a:pPr lvl="0" indent="0" marL="0">
              <a:buNone/>
            </a:pPr>
            <a:r>
              <a:rPr/>
              <a:t>İdeal bir dünyada, bu kodu doğrudan nesnemizin sınıfına koymak isterdik, ancak bu her zaman mümkün değildir. Örneğin, sınıf kapalı bir </a:t>
            </a:r>
            <a:r>
              <a:rPr b="1"/>
              <a:t>üçüncü taraf kütüphanesinin</a:t>
            </a:r>
            <a:r>
              <a:rPr/>
              <a:t> parçası olabilir.</a:t>
            </a:r>
          </a:p>
          <a:p>
            <a:pPr lvl="0" indent="0" marL="0">
              <a:buNone/>
            </a:pPr>
            <a:r>
              <a:rPr/>
              <a:t>Nesnenin sınıfını değiştirmeden veya başlatma mantığını tüm istemcilere tekrarlamadan nesneye erişimi kontrol etmenin bir yoluna ihtiyacımız var.</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Çözüm</a:t>
            </a:r>
          </a:p>
        </p:txBody>
      </p:sp>
      <p:sp>
        <p:nvSpPr>
          <p:cNvPr id="3" name="Content Placeholder 2"/>
          <p:cNvSpPr>
            <a:spLocks noGrp="1"/>
          </p:cNvSpPr>
          <p:nvPr>
            <p:ph idx="1"/>
          </p:nvPr>
        </p:nvSpPr>
        <p:spPr/>
        <p:txBody>
          <a:bodyPr/>
          <a:lstStyle/>
          <a:p>
            <a:pPr lvl="0" indent="0" marL="0">
              <a:buNone/>
            </a:pPr>
            <a:r>
              <a:rPr/>
              <a:t>Proxy (Vekil) deseni, orijinal servis nesnesiyle </a:t>
            </a:r>
            <a:r>
              <a:rPr b="1"/>
              <a:t>aynı arayüze</a:t>
            </a:r>
            <a:r>
              <a:rPr/>
              <a:t> sahip yeni bir proxy sınıfı oluşturmanızı önerir. Ardından uygulamanızı, proxy nesnesini orijinal nesnenin tüm istemcilerine iletecek şekilde güncellersiniz.</a:t>
            </a:r>
          </a:p>
          <a:p>
            <a:pPr lvl="0" indent="0" marL="0">
              <a:buNone/>
            </a:pPr>
            <a:r>
              <a:rPr/>
              <a:t>İstemciden bir istek alındığında, proxy gerçek bir servis nesnesi oluşturur ve tüm işi ona </a:t>
            </a:r>
            <a:r>
              <a:rPr b="1"/>
              <a:t>devreder</a:t>
            </a:r>
            <a:r>
              <a:rPr/>
              <a:t>.</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Çözüm (devam)</a:t>
            </a:r>
          </a:p>
        </p:txBody>
      </p:sp>
      <p:sp>
        <p:nvSpPr>
          <p:cNvPr id="3" name="Content Placeholder 2"/>
          <p:cNvSpPr>
            <a:spLocks noGrp="1"/>
          </p:cNvSpPr>
          <p:nvPr>
            <p:ph idx="1"/>
          </p:nvPr>
        </p:nvSpPr>
        <p:spPr/>
        <p:txBody>
          <a:bodyPr/>
          <a:lstStyle/>
          <a:p>
            <a:pPr lvl="0" indent="0" marL="0">
              <a:buNone/>
            </a:pPr>
            <a:r>
              <a:rPr/>
              <a:t>Peki fayda nedir? Sınıfın birincil mantığından önce veya sonra bir şey çalıştırmanız gerekiyorsa, proxy bunu </a:t>
            </a:r>
            <a:r>
              <a:rPr b="1"/>
              <a:t>o sınıfı değiştirmeden</a:t>
            </a:r>
            <a:r>
              <a:rPr/>
              <a:t> yapmanıza olanak tanır. Proxy, orijinal sınıfla aynı arayüzü uyguladığından, gerçek bir servis nesnesi bekleyen herhangi bir istemciye iletilebilir.</a:t>
            </a:r>
          </a:p>
          <a:p>
            <a:pPr lvl="0" indent="0" marL="0">
              <a:buNone/>
            </a:pPr>
            <a:r>
              <a:rPr/>
              <a:t>Proxy şunları halledebilir: - Gerçek nesnenin </a:t>
            </a:r>
            <a:r>
              <a:rPr b="1"/>
              <a:t>tembel başlatılması</a:t>
            </a:r>
            <a:r>
              <a:rPr/>
              <a:t> - Sonuçların </a:t>
            </a:r>
            <a:r>
              <a:rPr b="1"/>
              <a:t>önbelleğe alınması</a:t>
            </a:r>
            <a:r>
              <a:rPr/>
              <a:t> - </a:t>
            </a:r>
            <a:r>
              <a:rPr b="1"/>
              <a:t>Erişim kontrolü</a:t>
            </a:r>
            <a:r>
              <a:rPr/>
              <a:t> ve yetkilendirme - İsteklerin </a:t>
            </a:r>
            <a:r>
              <a:rPr b="1"/>
              <a:t>günlüğe kaydedilmesi</a:t>
            </a:r>
            <a:r>
              <a:rPr/>
              <a:t> - </a:t>
            </a:r>
            <a:r>
              <a:rPr b="1"/>
              <a:t>Kaynak yönetimi</a:t>
            </a:r>
            <a:r>
              <a:rPr/>
              <a:t> ve temizlik</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Gerçek Dünya Benzetmesi</a:t>
            </a:r>
          </a:p>
        </p:txBody>
      </p:sp>
      <p:sp>
        <p:nvSpPr>
          <p:cNvPr id="3" name="Content Placeholder 2"/>
          <p:cNvSpPr>
            <a:spLocks noGrp="1"/>
          </p:cNvSpPr>
          <p:nvPr>
            <p:ph idx="1"/>
          </p:nvPr>
        </p:nvSpPr>
        <p:spPr/>
        <p:txBody>
          <a:bodyPr/>
          <a:lstStyle/>
          <a:p>
            <a:pPr lvl="0" indent="0" marL="0">
              <a:buNone/>
            </a:pPr>
            <a:r>
              <a:rPr/>
              <a:t>Bir </a:t>
            </a:r>
            <a:r>
              <a:rPr b="1"/>
              <a:t>kredi kartı</a:t>
            </a:r>
            <a:r>
              <a:rPr/>
              <a:t>, bir banka hesabı için bir proxy’dir ve banka hesabı da bir deste nakit için bir proxy’dir. Her ikisi de aynı arayüzü uygular: ödeme yapmak için kullanılabilirler.</a:t>
            </a:r>
          </a:p>
          <a:p>
            <a:pPr lvl="0" indent="0" marL="0">
              <a:buNone/>
            </a:pPr>
            <a:r>
              <a:rPr/>
              <a:t>Bir tüketici, etrafta yığınla nakit taşımasına gerek olmadığı için kendini harika hisseder. Bir mağaza sahibi de mutludur çünkü bir işlemden elde edilen gelir, depozitosunu kaybetme veya bankaya giderken soyulma riski olmadan mağazanın banka hesabına elektronik olarak eklenir.</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Yapı</a:t>
            </a:r>
          </a:p>
        </p:txBody>
      </p:sp>
      <p:sp>
        <p:nvSpPr>
          <p:cNvPr id="3" name="Content Placeholder 2"/>
          <p:cNvSpPr>
            <a:spLocks noGrp="1"/>
          </p:cNvSpPr>
          <p:nvPr>
            <p:ph idx="1"/>
          </p:nvPr>
        </p:nvSpPr>
        <p:spPr/>
        <p:txBody>
          <a:bodyPr/>
          <a:lstStyle/>
          <a:p>
            <a:pPr lvl="0" indent="-342900" marL="342900">
              <a:buAutoNum type="arabicPeriod"/>
            </a:pPr>
            <a:r>
              <a:rPr b="1"/>
              <a:t>Servis Arayüzü</a:t>
            </a:r>
            <a:r>
              <a:rPr/>
              <a:t> – Servisin arayüzünü bildirir. Proxy’nin kendini bir servis nesnesi olarak gizleyebilmesi için bu arayüzü takip etmesi gerekir</a:t>
            </a:r>
          </a:p>
          <a:p>
            <a:pPr lvl="0" indent="-342900" marL="342900">
              <a:buAutoNum type="arabicPeriod"/>
            </a:pPr>
            <a:r>
              <a:rPr b="1"/>
              <a:t>Servis</a:t>
            </a:r>
            <a:r>
              <a:rPr/>
              <a:t> – Bazı yararlı iş mantığı sağlayan bir sınıf</a:t>
            </a:r>
          </a:p>
          <a:p>
            <a:pPr lvl="0" indent="-342900" marL="342900">
              <a:buAutoNum type="arabicPeriod"/>
            </a:pPr>
            <a:r>
              <a:rPr b="1"/>
              <a:t>Proxy</a:t>
            </a:r>
            <a:r>
              <a:rPr/>
              <a:t> – Proxy sınıfı, bir servis nesnesine işaret eden bir referans alanına sahiptir. Proxy, işlemini tamamladıktan sonra (örn., tembel başlatma, günlüğe kaydetme, erişim kontrolü, önbelleğe alma, vb.), isteği servis nesnesine iletir. Genellikle proxy’ler servis nesnelerinin tam yaşam döngüsünü yönetir</a:t>
            </a:r>
          </a:p>
          <a:p>
            <a:pPr lvl="0" indent="-342900" marL="342900">
              <a:buAutoNum type="arabicPeriod"/>
            </a:pPr>
            <a:r>
              <a:rPr b="1"/>
              <a:t>İstemci</a:t>
            </a:r>
            <a:r>
              <a:rPr/>
              <a:t> – Hem servisler hem de proxy’lerle aynı arayüz üzerinden çalışmalıdır. Bu şekilde bir proxy’yi bir servis nesnesi bekleyen herhangi bir koda iletebilirsiniz</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Proxy - Sınıf Diyagramı</a:t>
            </a:r>
          </a:p>
        </p:txBody>
      </p:sp>
      <p:pic>
        <p:nvPicPr>
          <p:cNvPr descr="assets/proxy-structure.png" id="0" name="Picture 1"/>
          <p:cNvPicPr>
            <a:picLocks noGrp="1" noChangeAspect="1"/>
          </p:cNvPicPr>
          <p:nvPr/>
        </p:nvPicPr>
        <p:blipFill>
          <a:blip r:embed="rId2"/>
          <a:stretch>
            <a:fillRect/>
          </a:stretch>
        </p:blipFill>
        <p:spPr bwMode="auto">
          <a:xfrm>
            <a:off x="3568700" y="406400"/>
            <a:ext cx="5105400" cy="3454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Proxy Türleri</a:t>
            </a:r>
          </a:p>
        </p:txBody>
      </p:sp>
      <p:sp>
        <p:nvSpPr>
          <p:cNvPr id="3" name="Content Placeholder 2"/>
          <p:cNvSpPr>
            <a:spLocks noGrp="1"/>
          </p:cNvSpPr>
          <p:nvPr>
            <p:ph idx="1"/>
          </p:nvPr>
        </p:nvSpPr>
        <p:spPr/>
        <p:txBody>
          <a:bodyPr/>
          <a:lstStyle/>
          <a:p>
            <a:pPr lvl="0"/>
            <a:r>
              <a:rPr b="1"/>
              <a:t>Sanal Proxy (Tembel Başlatma)</a:t>
            </a:r>
            <a:r>
              <a:rPr/>
              <a:t> – Ağır bir servis nesnesinin oluşturulmasını gerçekten ihtiyaç duyulana kadar geciktirir</a:t>
            </a:r>
          </a:p>
          <a:p>
            <a:pPr lvl="0"/>
            <a:r>
              <a:rPr b="1"/>
              <a:t>Koruma Proxy’si (Erişim Kontrolü)</a:t>
            </a:r>
            <a:r>
              <a:rPr/>
              <a:t> – İstekleri yalnızca istemcinin kimlik bilgileri belirli kriterleri karşıladığında servis nesnesine iletir</a:t>
            </a:r>
          </a:p>
          <a:p>
            <a:pPr lvl="0"/>
            <a:r>
              <a:rPr b="1"/>
              <a:t>Uzak Proxy</a:t>
            </a:r>
            <a:r>
              <a:rPr/>
              <a:t> – Proxy, istemci isteğini ağ üzerinden iletir ve ağla çalışmanın tüm detaylarını halleder</a:t>
            </a:r>
          </a:p>
          <a:p>
            <a:pPr lvl="0"/>
            <a:r>
              <a:rPr b="1"/>
              <a:t>Günlükleme Proxy’si</a:t>
            </a:r>
            <a:r>
              <a:rPr/>
              <a:t> – Proxy, her isteği servise iletmeden önce günlüğe kaydedebilir</a:t>
            </a:r>
          </a:p>
          <a:p>
            <a:pPr lvl="0"/>
            <a:r>
              <a:rPr b="1"/>
              <a:t>Önbellekleme Proxy’si</a:t>
            </a:r>
            <a:r>
              <a:rPr/>
              <a:t> – Proxy, istemci isteklerinin sonuçlarını önbelleğe alır ve bu önbelleğin yaşam döngüsünü yönetir, özellikle sonuçlar oldukça büyükse</a:t>
            </a:r>
          </a:p>
          <a:p>
            <a:pPr lvl="0"/>
            <a:r>
              <a:rPr b="1"/>
              <a:t>Akıllı Referans</a:t>
            </a:r>
            <a:r>
              <a:rPr/>
              <a:t> – Proxy, istemcinin servis nesnesine referans alıp almadığını izleyebilir ve hiçbir istemci kullanmadığında servisi sonlandırabilir</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Servis Arayüzü</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interface of a remote service.</a:t>
            </a:r>
            <a:br/>
            <a:r>
              <a:rPr b="1">
                <a:solidFill>
                  <a:srgbClr val="007020"/>
                </a:solidFill>
                <a:latin typeface="Courier"/>
              </a:rPr>
              <a:t>public</a:t>
            </a:r>
            <a:r>
              <a:rPr>
                <a:latin typeface="Courier"/>
              </a:rPr>
              <a:t> </a:t>
            </a:r>
            <a:r>
              <a:rPr b="1">
                <a:solidFill>
                  <a:srgbClr val="007020"/>
                </a:solidFill>
                <a:latin typeface="Courier"/>
              </a:rPr>
              <a:t>interface</a:t>
            </a:r>
            <a:r>
              <a:rPr>
                <a:latin typeface="Courier"/>
              </a:rPr>
              <a:t> ThirdPartyYouTubeLib </a:t>
            </a:r>
            <a:r>
              <a:rPr>
                <a:solidFill>
                  <a:srgbClr val="666666"/>
                </a:solidFill>
                <a:latin typeface="Courier"/>
              </a:rPr>
              <a:t>{</a:t>
            </a:r>
            <a:b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b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b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br/>
            <a:r>
              <a:rPr>
                <a:solidFill>
                  <a:srgbClr val="666666"/>
                </a:solidFill>
                <a:latin typeface="Courier"/>
              </a:rPr>
              <a:t>}</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Video Sınıfı</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Video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id</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title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008000"/>
                </a:solidFill>
                <a:latin typeface="Courier"/>
              </a:rPr>
              <a:t>String</a:t>
            </a:r>
            <a:r>
              <a:rPr>
                <a:latin typeface="Courier"/>
              </a:rPr>
              <a:t> title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id</a:t>
            </a:r>
            <a:r>
              <a:rPr>
                <a:latin typeface="Courier"/>
              </a:rPr>
              <a:t> </a:t>
            </a:r>
            <a:r>
              <a:rPr>
                <a:solidFill>
                  <a:srgbClr val="666666"/>
                </a:solidFill>
                <a:latin typeface="Courier"/>
              </a:rPr>
              <a:t>=</a:t>
            </a:r>
            <a:r>
              <a:rPr>
                <a:latin typeface="Courier"/>
              </a:rPr>
              <a:t> id</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title</a:t>
            </a:r>
            <a:r>
              <a:rPr>
                <a:latin typeface="Courier"/>
              </a:rPr>
              <a:t> </a:t>
            </a:r>
            <a:r>
              <a:rPr>
                <a:solidFill>
                  <a:srgbClr val="666666"/>
                </a:solidFill>
                <a:latin typeface="Courier"/>
              </a:rPr>
              <a:t>=</a:t>
            </a:r>
            <a:r>
              <a:rPr>
                <a:latin typeface="Courier"/>
              </a:rPr>
              <a:t> title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getId</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getTitle</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title</a:t>
            </a:r>
            <a:r>
              <a:rPr>
                <a:solidFill>
                  <a:srgbClr val="666666"/>
                </a:solidFill>
                <a:latin typeface="Courier"/>
              </a:rPr>
              <a:t>;</a:t>
            </a: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toString</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a:solidFill>
                  <a:srgbClr val="4070A0"/>
                </a:solidFill>
                <a:latin typeface="Courier"/>
              </a:rPr>
              <a:t>"Video{id='"</a:t>
            </a:r>
            <a:r>
              <a:rPr>
                <a:latin typeface="Courier"/>
              </a:rPr>
              <a:t> </a:t>
            </a:r>
            <a:r>
              <a:rPr>
                <a:solidFill>
                  <a:srgbClr val="666666"/>
                </a:solidFill>
                <a:latin typeface="Courier"/>
              </a:rPr>
              <a:t>+</a:t>
            </a:r>
            <a:r>
              <a:rPr>
                <a:latin typeface="Courier"/>
              </a:rPr>
              <a:t> id </a:t>
            </a:r>
            <a:r>
              <a:rPr>
                <a:solidFill>
                  <a:srgbClr val="666666"/>
                </a:solidFill>
                <a:latin typeface="Courier"/>
              </a:rPr>
              <a:t>+</a:t>
            </a:r>
            <a:r>
              <a:rPr>
                <a:latin typeface="Courier"/>
              </a:rPr>
              <a:t> </a:t>
            </a:r>
            <a:r>
              <a:rPr>
                <a:solidFill>
                  <a:srgbClr val="4070A0"/>
                </a:solidFill>
                <a:latin typeface="Courier"/>
              </a:rPr>
              <a:t>"', title='"</a:t>
            </a:r>
            <a:r>
              <a:rPr>
                <a:latin typeface="Courier"/>
              </a:rPr>
              <a:t> </a:t>
            </a:r>
            <a:r>
              <a:rPr>
                <a:solidFill>
                  <a:srgbClr val="666666"/>
                </a:solidFill>
                <a:latin typeface="Courier"/>
              </a:rPr>
              <a:t>+</a:t>
            </a:r>
            <a:br/>
            <a:r>
              <a:rPr>
                <a:latin typeface="Courier"/>
              </a:rPr>
              <a:t>            title </a:t>
            </a:r>
            <a:r>
              <a:rPr>
                <a:solidFill>
                  <a:srgbClr val="666666"/>
                </a:solidFill>
                <a:latin typeface="Courier"/>
              </a:rPr>
              <a:t>+</a:t>
            </a:r>
            <a:r>
              <a:rPr>
                <a:latin typeface="Courier"/>
              </a:rPr>
              <a:t> </a:t>
            </a:r>
            <a:r>
              <a:rPr>
                <a:solidFill>
                  <a:srgbClr val="4070A0"/>
                </a:solidFill>
                <a:latin typeface="Courier"/>
              </a:rPr>
              <a: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Servis</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br/>
            <a:br/>
            <a:r>
              <a:rPr i="1">
                <a:solidFill>
                  <a:srgbClr val="60A0B0"/>
                </a:solidFill>
                <a:latin typeface="Courier"/>
              </a:rPr>
              <a:t>// The concrete implementation of a service connector.</a:t>
            </a:r>
            <a:br/>
            <a:r>
              <a:rPr i="1">
                <a:solidFill>
                  <a:srgbClr val="60A0B0"/>
                </a:solidFill>
                <a:latin typeface="Courier"/>
              </a:rPr>
              <a:t>// Methods of this class can request information from</a:t>
            </a:r>
            <a:br/>
            <a:r>
              <a:rPr i="1">
                <a:solidFill>
                  <a:srgbClr val="60A0B0"/>
                </a:solidFill>
                <a:latin typeface="Courier"/>
              </a:rPr>
              <a:t>// YouTube. The speed of the request depends on a user's</a:t>
            </a:r>
            <a:br/>
            <a:r>
              <a:rPr i="1">
                <a:solidFill>
                  <a:srgbClr val="60A0B0"/>
                </a:solidFill>
                <a:latin typeface="Courier"/>
              </a:rPr>
              <a:t>// internet connection as well as YouTube's. The</a:t>
            </a:r>
            <a:br/>
            <a:r>
              <a:rPr i="1">
                <a:solidFill>
                  <a:srgbClr val="60A0B0"/>
                </a:solidFill>
                <a:latin typeface="Courier"/>
              </a:rPr>
              <a:t>// application will slow down if a lot of requests are</a:t>
            </a:r>
            <a:br/>
            <a:r>
              <a:rPr i="1">
                <a:solidFill>
                  <a:srgbClr val="60A0B0"/>
                </a:solidFill>
                <a:latin typeface="Courier"/>
              </a:rPr>
              <a:t>// fired at the same time, even if they all request the</a:t>
            </a:r>
            <a:br/>
            <a:r>
              <a:rPr i="1">
                <a:solidFill>
                  <a:srgbClr val="60A0B0"/>
                </a:solidFill>
                <a:latin typeface="Courier"/>
              </a:rPr>
              <a:t>// same information.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ThirdPartyYouTubeClass</a:t>
            </a:r>
            <a:br/>
            <a:r>
              <a:rPr>
                <a:latin typeface="Courier"/>
              </a:rPr>
              <a:t>        </a:t>
            </a:r>
            <a:r>
              <a:rPr b="1">
                <a:solidFill>
                  <a:srgbClr val="007020"/>
                </a:solidFill>
                <a:latin typeface="Courier"/>
              </a:rPr>
              <a:t>implements</a:t>
            </a:r>
            <a:r>
              <a:rPr>
                <a:latin typeface="Courier"/>
              </a:rPr>
              <a:t> ThirdPartyYouTubeLib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Send an API request to YouTube.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video list from "</a:t>
            </a:r>
            <a:r>
              <a:rPr>
                <a:latin typeface="Courier"/>
              </a:rPr>
              <a:t> </a:t>
            </a:r>
            <a:r>
              <a:rPr>
                <a:solidFill>
                  <a:srgbClr val="666666"/>
                </a:solidFill>
                <a:latin typeface="Courier"/>
              </a:rPr>
              <a:t>+</a:t>
            </a:r>
            <a:br/>
            <a:r>
              <a:rPr>
                <a:latin typeface="Courier"/>
              </a:rPr>
              <a:t>            </a:t>
            </a:r>
            <a:r>
              <a:rPr>
                <a:solidFill>
                  <a:srgbClr val="4070A0"/>
                </a:solidFill>
                <a:latin typeface="Courier"/>
              </a:rPr>
              <a:t>"YouTube API..."</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r>
              <a:rPr>
                <a:latin typeface="Courier"/>
              </a:rPr>
              <a:t> </a:t>
            </a:r>
            <a:r>
              <a:rPr i="1">
                <a:solidFill>
                  <a:srgbClr val="60A0B0"/>
                </a:solidFill>
                <a:latin typeface="Courier"/>
              </a:rPr>
              <a:t>// Simplified</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Get metadata about some video.</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info for video: "</a:t>
            </a:r>
            <a:r>
              <a:rPr>
                <a:latin typeface="Courier"/>
              </a:rPr>
              <a:t> </a:t>
            </a:r>
            <a:r>
              <a:rPr>
                <a:solidFill>
                  <a:srgbClr val="666666"/>
                </a:solidFill>
                <a:latin typeface="Courier"/>
              </a:rPr>
              <a:t>+</a:t>
            </a:r>
            <a:br/>
            <a:r>
              <a:rPr>
                <a:latin typeface="Courier"/>
              </a:rPr>
              <a:t>            id</a:t>
            </a:r>
            <a:r>
              <a:rPr>
                <a:solidFill>
                  <a:srgbClr val="666666"/>
                </a:solidFill>
                <a:latin typeface="Courier"/>
              </a:rPr>
              <a:t>);</a:t>
            </a:r>
            <a:b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Video</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4070A0"/>
                </a:solidFill>
                <a:latin typeface="Courier"/>
              </a:rPr>
              <a:t>"Sample Video"</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Download a video file from YouTube.</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"Downloading video file: "</a:t>
            </a:r>
            <a:r>
              <a:rPr>
                <a:latin typeface="Courier"/>
              </a:rPr>
              <a:t> </a:t>
            </a:r>
            <a:r>
              <a:rPr>
                <a:solidFill>
                  <a:srgbClr val="666666"/>
                </a:solidFill>
                <a:latin typeface="Courier"/>
              </a:rPr>
              <a:t>+</a:t>
            </a:r>
            <a:r>
              <a:rPr>
                <a:latin typeface="Courier"/>
              </a:rPr>
              <a:t> 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Proxy (Önbellekleme)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br/>
            <a:br/>
            <a:r>
              <a:rPr i="1">
                <a:solidFill>
                  <a:srgbClr val="60A0B0"/>
                </a:solidFill>
                <a:latin typeface="Courier"/>
              </a:rPr>
              <a:t>// To save some bandwidth, we can cache request results</a:t>
            </a:r>
            <a:br/>
            <a:r>
              <a:rPr i="1">
                <a:solidFill>
                  <a:srgbClr val="60A0B0"/>
                </a:solidFill>
                <a:latin typeface="Courier"/>
              </a:rPr>
              <a:t>// and keep them for some time. But it may be impossible</a:t>
            </a:r>
            <a:br/>
            <a:r>
              <a:rPr i="1">
                <a:solidFill>
                  <a:srgbClr val="60A0B0"/>
                </a:solidFill>
                <a:latin typeface="Courier"/>
              </a:rPr>
              <a:t>// to put such code directly into the service class. For</a:t>
            </a:r>
            <a:br/>
            <a:r>
              <a:rPr i="1">
                <a:solidFill>
                  <a:srgbClr val="60A0B0"/>
                </a:solidFill>
                <a:latin typeface="Courier"/>
              </a:rPr>
              <a:t>// example, it could have been provided as part of a</a:t>
            </a:r>
            <a:br/>
            <a:r>
              <a:rPr i="1">
                <a:solidFill>
                  <a:srgbClr val="60A0B0"/>
                </a:solidFill>
                <a:latin typeface="Courier"/>
              </a:rPr>
              <a:t>// third party library and/or defined as final.</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CachedYouTubeClass</a:t>
            </a:r>
            <a:br/>
            <a:r>
              <a:rPr>
                <a:latin typeface="Courier"/>
              </a:rPr>
              <a:t>        </a:t>
            </a:r>
            <a:r>
              <a:rPr b="1">
                <a:solidFill>
                  <a:srgbClr val="007020"/>
                </a:solidFill>
                <a:latin typeface="Courier"/>
              </a:rPr>
              <a:t>implements</a:t>
            </a:r>
            <a:r>
              <a:rPr>
                <a:latin typeface="Courier"/>
              </a:rPr>
              <a:t> ThirdPartyYouTubeLib </a:t>
            </a:r>
            <a:r>
              <a:rPr>
                <a:solidFill>
                  <a:srgbClr val="666666"/>
                </a:solidFill>
                <a:latin typeface="Courier"/>
              </a:rPr>
              <a:t>{</a:t>
            </a:r>
            <a:br/>
            <a:br/>
            <a:r>
              <a:rPr>
                <a:latin typeface="Courier"/>
              </a:rPr>
              <a:t>    </a:t>
            </a:r>
            <a:r>
              <a:rPr b="1">
                <a:solidFill>
                  <a:srgbClr val="007020"/>
                </a:solidFill>
                <a:latin typeface="Courier"/>
              </a:rPr>
              <a:t>private</a:t>
            </a:r>
            <a:r>
              <a:rPr>
                <a:latin typeface="Courier"/>
              </a:rPr>
              <a:t> ThirdPartyYouTubeLib service</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listCache </a:t>
            </a:r>
            <a:r>
              <a:rPr>
                <a:solidFill>
                  <a:srgbClr val="666666"/>
                </a:solidFill>
                <a:latin typeface="Courier"/>
              </a:rPr>
              <a:t>=</a:t>
            </a:r>
            <a:r>
              <a:rPr>
                <a:latin typeface="Courier"/>
              </a:rPr>
              <a:t> </a:t>
            </a:r>
            <a:r>
              <a:rPr b="1">
                <a:solidFill>
                  <a:srgbClr val="007020"/>
                </a:solidFill>
                <a:latin typeface="Courier"/>
              </a:rPr>
              <a:t>null</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Video</a:t>
            </a:r>
            <a:r>
              <a:rPr>
                <a:solidFill>
                  <a:srgbClr val="666666"/>
                </a:solidFill>
                <a:latin typeface="Courier"/>
              </a:rPr>
              <a:t>&gt;</a:t>
            </a:r>
            <a:r>
              <a:rPr>
                <a:latin typeface="Courier"/>
              </a:rPr>
              <a:t> videoCache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needReset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CachedYouTubeClass</a:t>
            </a:r>
            <a:r>
              <a:rPr>
                <a:solidFill>
                  <a:srgbClr val="666666"/>
                </a:solidFill>
                <a:latin typeface="Courier"/>
              </a:rPr>
              <a:t>(</a:t>
            </a:r>
            <a:r>
              <a:rPr>
                <a:latin typeface="Courier"/>
              </a:rPr>
              <a:t>ThirdPartyYouTubeLib service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service</a:t>
            </a:r>
            <a:r>
              <a:rPr>
                <a:latin typeface="Courier"/>
              </a:rPr>
              <a:t> </a:t>
            </a:r>
            <a:r>
              <a:rPr>
                <a:solidFill>
                  <a:srgbClr val="666666"/>
                </a:solidFill>
                <a:latin typeface="Courier"/>
              </a:rPr>
              <a:t>=</a:t>
            </a:r>
            <a:r>
              <a:rPr>
                <a:latin typeface="Courier"/>
              </a:rPr>
              <a:t> service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a:t>
            </a:r>
            <a:r>
              <a:rPr>
                <a:solidFill>
                  <a:srgbClr val="06287E"/>
                </a:solidFill>
                <a:latin typeface="Courier"/>
              </a:rPr>
              <a:t>listVideos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listCache </a:t>
            </a:r>
            <a:r>
              <a:rPr>
                <a:solidFill>
                  <a:srgbClr val="666666"/>
                </a:solidFill>
                <a:latin typeface="Courier"/>
              </a:rPr>
              <a:t>==</a:t>
            </a:r>
            <a:r>
              <a:rPr>
                <a:latin typeface="Courier"/>
              </a:rPr>
              <a:t> </a:t>
            </a:r>
            <a:r>
              <a:rPr b="1">
                <a:solidFill>
                  <a:srgbClr val="007020"/>
                </a:solidFill>
                <a:latin typeface="Courier"/>
              </a:rPr>
              <a:t>null</a:t>
            </a:r>
            <a:r>
              <a:rPr>
                <a:latin typeface="Courier"/>
              </a:rPr>
              <a:t> </a:t>
            </a:r>
            <a:r>
              <a:rPr>
                <a:solidFill>
                  <a:srgbClr val="666666"/>
                </a:solidFill>
                <a:latin typeface="Courier"/>
              </a:rPr>
              <a:t>||</a:t>
            </a:r>
            <a:r>
              <a:rPr>
                <a:latin typeface="Courier"/>
              </a:rPr>
              <a:t> needReset</a:t>
            </a:r>
            <a:r>
              <a:rPr>
                <a:solidFill>
                  <a:srgbClr val="666666"/>
                </a:solidFill>
                <a:latin typeface="Courier"/>
              </a:rPr>
              <a:t>)</a:t>
            </a:r>
            <a:r>
              <a:rPr>
                <a:latin typeface="Courier"/>
              </a:rPr>
              <a:t> </a:t>
            </a:r>
            <a:r>
              <a:rPr>
                <a:solidFill>
                  <a:srgbClr val="666666"/>
                </a:solidFill>
                <a:latin typeface="Courier"/>
              </a:rPr>
              <a:t>{</a:t>
            </a:r>
            <a:br/>
            <a:r>
              <a:rPr>
                <a:latin typeface="Courier"/>
              </a:rPr>
              <a:t>            listCache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listVideos</a:t>
            </a:r>
            <a:r>
              <a:rPr>
                <a:solidFill>
                  <a:srgbClr val="666666"/>
                </a:solidFill>
                <a:latin typeface="Courier"/>
              </a:rPr>
              <a:t>();</a:t>
            </a:r>
            <a:br/>
            <a:r>
              <a:rPr>
                <a:latin typeface="Courier"/>
              </a:rPr>
              <a:t>            needReset </a:t>
            </a:r>
            <a:r>
              <a:rPr>
                <a:solidFill>
                  <a:srgbClr val="666666"/>
                </a:solidFill>
                <a:latin typeface="Courier"/>
              </a:rPr>
              <a:t>=</a:t>
            </a:r>
            <a:r>
              <a:rPr>
                <a:latin typeface="Courier"/>
              </a:rPr>
              <a:t> </a:t>
            </a:r>
            <a:r>
              <a:rPr b="1">
                <a:solidFill>
                  <a:srgbClr val="007020"/>
                </a:solidFill>
                <a:latin typeface="Courier"/>
              </a:rPr>
              <a:t>false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listCache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Video </a:t>
            </a:r>
            <a:r>
              <a:rPr>
                <a:solidFill>
                  <a:srgbClr val="06287E"/>
                </a:solidFill>
                <a:latin typeface="Courier"/>
              </a:rPr>
              <a:t>getVideoInfo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if</a:t>
            </a:r>
            <a:r>
              <a:rPr>
                <a:latin typeface="Courier"/>
              </a:rPr>
              <a:t> </a:t>
            </a:r>
            <a:r>
              <a:rPr>
                <a:solidFill>
                  <a:srgbClr val="666666"/>
                </a:solidFill>
                <a:latin typeface="Courier"/>
              </a:rPr>
              <a:t>(!</a:t>
            </a:r>
            <a:r>
              <a:rPr>
                <a:latin typeface="Courier"/>
              </a:rPr>
              <a:t>videoCache</a:t>
            </a:r>
            <a:r>
              <a:rPr>
                <a:solidFill>
                  <a:srgbClr val="666666"/>
                </a:solidFill>
                <a:latin typeface="Courier"/>
              </a:rPr>
              <a:t>.</a:t>
            </a:r>
            <a:r>
              <a:rPr>
                <a:solidFill>
                  <a:srgbClr val="06287E"/>
                </a:solidFill>
                <a:latin typeface="Courier"/>
              </a:rPr>
              <a:t>containsKey</a:t>
            </a:r>
            <a:r>
              <a:rPr>
                <a:solidFill>
                  <a:srgbClr val="666666"/>
                </a:solidFill>
                <a:latin typeface="Courier"/>
              </a:rPr>
              <a:t>(</a:t>
            </a:r>
            <a:r>
              <a:rPr>
                <a:latin typeface="Courier"/>
              </a:rPr>
              <a:t>id</a:t>
            </a:r>
            <a:r>
              <a:rPr>
                <a:solidFill>
                  <a:srgbClr val="666666"/>
                </a:solidFill>
                <a:latin typeface="Courier"/>
              </a:rPr>
              <a:t>)</a:t>
            </a:r>
            <a:r>
              <a:rPr>
                <a:latin typeface="Courier"/>
              </a:rPr>
              <a:t> </a:t>
            </a:r>
            <a:r>
              <a:rPr>
                <a:solidFill>
                  <a:srgbClr val="666666"/>
                </a:solidFill>
                <a:latin typeface="Courier"/>
              </a:rPr>
              <a:t>||</a:t>
            </a:r>
            <a:r>
              <a:rPr>
                <a:latin typeface="Courier"/>
              </a:rPr>
              <a:t> needReset</a:t>
            </a:r>
            <a:r>
              <a:rPr>
                <a:solidFill>
                  <a:srgbClr val="666666"/>
                </a:solidFill>
                <a:latin typeface="Courier"/>
              </a:rPr>
              <a:t>)</a:t>
            </a:r>
            <a:r>
              <a:rPr>
                <a:latin typeface="Courier"/>
              </a:rPr>
              <a:t> </a:t>
            </a:r>
            <a:r>
              <a:rPr>
                <a:solidFill>
                  <a:srgbClr val="666666"/>
                </a:solidFill>
                <a:latin typeface="Courier"/>
              </a:rPr>
              <a:t>{</a:t>
            </a:r>
            <a:br/>
            <a:r>
              <a:rPr>
                <a:latin typeface="Courier"/>
              </a:rPr>
              <a:t>            videoCache</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id</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getVideoInfo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videoCache</a:t>
            </a:r>
            <a:r>
              <a:rPr>
                <a:solidFill>
                  <a:srgbClr val="666666"/>
                </a:solidFill>
                <a:latin typeface="Courier"/>
              </a:rPr>
              <a:t>.</a:t>
            </a:r>
            <a:r>
              <a:rPr>
                <a:solidFill>
                  <a:srgbClr val="06287E"/>
                </a:solidFill>
                <a:latin typeface="Courier"/>
              </a:rPr>
              <a:t>get</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downloadVideo</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service</a:t>
            </a:r>
            <a:r>
              <a:rPr>
                <a:solidFill>
                  <a:srgbClr val="666666"/>
                </a:solidFill>
                <a:latin typeface="Courier"/>
              </a:rPr>
              <a:t>.</a:t>
            </a:r>
            <a:r>
              <a:rPr>
                <a:solidFill>
                  <a:srgbClr val="06287E"/>
                </a:solidFill>
                <a:latin typeface="Courier"/>
              </a:rPr>
              <a:t>downloadVideo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reset</a:t>
            </a:r>
            <a:r>
              <a:rPr>
                <a:solidFill>
                  <a:srgbClr val="666666"/>
                </a:solidFill>
                <a:latin typeface="Courier"/>
              </a:rPr>
              <a:t>()</a:t>
            </a:r>
            <a:r>
              <a:rPr>
                <a:latin typeface="Courier"/>
              </a:rPr>
              <a:t> </a:t>
            </a:r>
            <a:r>
              <a:rPr>
                <a:solidFill>
                  <a:srgbClr val="666666"/>
                </a:solidFill>
                <a:latin typeface="Courier"/>
              </a:rPr>
              <a:t>{</a:t>
            </a:r>
            <a:br/>
            <a:r>
              <a:rPr>
                <a:latin typeface="Courier"/>
              </a:rPr>
              <a:t>        needReset </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Yönetici Sınıfı</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br/>
            <a:r>
              <a:rPr i="1">
                <a:solidFill>
                  <a:srgbClr val="60A0B0"/>
                </a:solidFill>
                <a:latin typeface="Courier"/>
              </a:rPr>
              <a:t>// The GUI class, which used to work directly with a</a:t>
            </a:r>
            <a:br/>
            <a:r>
              <a:rPr i="1">
                <a:solidFill>
                  <a:srgbClr val="60A0B0"/>
                </a:solidFill>
                <a:latin typeface="Courier"/>
              </a:rPr>
              <a:t>// service object, stays unchanged as long as it works</a:t>
            </a:r>
            <a:br/>
            <a:r>
              <a:rPr i="1">
                <a:solidFill>
                  <a:srgbClr val="60A0B0"/>
                </a:solidFill>
                <a:latin typeface="Courier"/>
              </a:rPr>
              <a:t>// with the service object through an interface. We can</a:t>
            </a:r>
            <a:br/>
            <a:r>
              <a:rPr i="1">
                <a:solidFill>
                  <a:srgbClr val="60A0B0"/>
                </a:solidFill>
                <a:latin typeface="Courier"/>
              </a:rPr>
              <a:t>// safely pass a proxy object instead of a real service</a:t>
            </a:r>
            <a:br/>
            <a:r>
              <a:rPr i="1">
                <a:solidFill>
                  <a:srgbClr val="60A0B0"/>
                </a:solidFill>
                <a:latin typeface="Courier"/>
              </a:rPr>
              <a:t>// object since they both implement the same interface.</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YouTubeManager </a:t>
            </a:r>
            <a:r>
              <a:rPr>
                <a:solidFill>
                  <a:srgbClr val="666666"/>
                </a:solidFill>
                <a:latin typeface="Courier"/>
              </a:rPr>
              <a:t>{</a:t>
            </a:r>
            <a:br/>
            <a:r>
              <a:rPr>
                <a:latin typeface="Courier"/>
              </a:rPr>
              <a:t>    </a:t>
            </a:r>
            <a:r>
              <a:rPr b="1">
                <a:solidFill>
                  <a:srgbClr val="007020"/>
                </a:solidFill>
                <a:latin typeface="Courier"/>
              </a:rPr>
              <a:t>private</a:t>
            </a:r>
            <a:r>
              <a:rPr>
                <a:latin typeface="Courier"/>
              </a:rPr>
              <a:t> ThirdPartyYouTubeLib service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06287E"/>
                </a:solidFill>
                <a:latin typeface="Courier"/>
              </a:rPr>
              <a:t>YouTubeManager</a:t>
            </a:r>
            <a:r>
              <a:rPr>
                <a:solidFill>
                  <a:srgbClr val="666666"/>
                </a:solidFill>
                <a:latin typeface="Courier"/>
              </a:rPr>
              <a:t>(</a:t>
            </a:r>
            <a:r>
              <a:rPr>
                <a:latin typeface="Courier"/>
              </a:rPr>
              <a:t>ThirdPartyYouTubeLib service</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service</a:t>
            </a:r>
            <a:r>
              <a:rPr>
                <a:latin typeface="Courier"/>
              </a:rPr>
              <a:t> </a:t>
            </a:r>
            <a:r>
              <a:rPr>
                <a:solidFill>
                  <a:srgbClr val="666666"/>
                </a:solidFill>
                <a:latin typeface="Courier"/>
              </a:rPr>
              <a:t>=</a:t>
            </a:r>
            <a:r>
              <a:rPr>
                <a:latin typeface="Courier"/>
              </a:rPr>
              <a:t> service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renderVideoPage</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Video info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getVideoInfo</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"Rendering video page: "</a:t>
            </a:r>
            <a:r>
              <a:rPr>
                <a:latin typeface="Courier"/>
              </a:rPr>
              <a:t> </a:t>
            </a:r>
            <a:r>
              <a:rPr>
                <a:solidFill>
                  <a:srgbClr val="666666"/>
                </a:solidFill>
                <a:latin typeface="Courier"/>
              </a:rPr>
              <a:t>+</a:t>
            </a:r>
            <a:br/>
            <a:r>
              <a:rPr>
                <a:latin typeface="Courier"/>
              </a:rPr>
              <a:t>            info</a:t>
            </a:r>
            <a:r>
              <a:rPr>
                <a:solidFill>
                  <a:srgbClr val="666666"/>
                </a:solidFill>
                <a:latin typeface="Courier"/>
              </a:rPr>
              <a:t>.</a:t>
            </a:r>
            <a:r>
              <a:rPr>
                <a:solidFill>
                  <a:srgbClr val="06287E"/>
                </a:solidFill>
                <a:latin typeface="Courier"/>
              </a:rPr>
              <a:t>getTitle</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renderListPanel</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List</a:t>
            </a:r>
            <a:r>
              <a:rPr>
                <a:solidFill>
                  <a:srgbClr val="666666"/>
                </a:solidFill>
                <a:latin typeface="Courier"/>
              </a:rPr>
              <a:t>&lt;</a:t>
            </a:r>
            <a:r>
              <a:rPr>
                <a:latin typeface="Courier"/>
              </a:rPr>
              <a:t>Video</a:t>
            </a:r>
            <a:r>
              <a:rPr>
                <a:solidFill>
                  <a:srgbClr val="666666"/>
                </a:solidFill>
                <a:latin typeface="Courier"/>
              </a:rPr>
              <a:t>&gt;</a:t>
            </a:r>
            <a:r>
              <a:rPr>
                <a:latin typeface="Courier"/>
              </a:rPr>
              <a:t> list </a:t>
            </a:r>
            <a:r>
              <a:rPr>
                <a:solidFill>
                  <a:srgbClr val="666666"/>
                </a:solidFill>
                <a:latin typeface="Courier"/>
              </a:rPr>
              <a:t>=</a:t>
            </a:r>
            <a:r>
              <a:rPr>
                <a:latin typeface="Courier"/>
              </a:rPr>
              <a:t> service</a:t>
            </a:r>
            <a:r>
              <a:rPr>
                <a:solidFill>
                  <a:srgbClr val="666666"/>
                </a:solidFill>
                <a:latin typeface="Courier"/>
              </a:rPr>
              <a:t>.</a:t>
            </a:r>
            <a:r>
              <a:rPr>
                <a:solidFill>
                  <a:srgbClr val="06287E"/>
                </a:solidFill>
                <a:latin typeface="Courier"/>
              </a:rPr>
              <a:t>listVideos</a:t>
            </a:r>
            <a:r>
              <a:rPr>
                <a:solidFill>
                  <a:srgbClr val="666666"/>
                </a:solidFill>
                <a:latin typeface="Courier"/>
              </a:rPr>
              <a:t>();</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solidFill>
                  <a:srgbClr val="4070A0"/>
                </a:solidFill>
                <a:latin typeface="Courier"/>
              </a:rPr>
              <a:t>"Rendering video list: "</a:t>
            </a:r>
            <a:r>
              <a:rPr>
                <a:latin typeface="Courier"/>
              </a:rPr>
              <a:t> </a:t>
            </a:r>
            <a:r>
              <a:rPr>
                <a:solidFill>
                  <a:srgbClr val="666666"/>
                </a:solidFill>
                <a:latin typeface="Courier"/>
              </a:rPr>
              <a:t>+</a:t>
            </a:r>
            <a:br/>
            <a:r>
              <a:rPr>
                <a:latin typeface="Courier"/>
              </a:rPr>
              <a:t>            list</a:t>
            </a:r>
            <a:r>
              <a:rPr>
                <a:solidFill>
                  <a:srgbClr val="666666"/>
                </a:solidFill>
                <a:latin typeface="Courier"/>
              </a:rPr>
              <a:t>.</a:t>
            </a:r>
            <a:r>
              <a:rPr>
                <a:solidFill>
                  <a:srgbClr val="06287E"/>
                </a:solidFill>
                <a:latin typeface="Courier"/>
              </a:rPr>
              <a:t>size</a:t>
            </a:r>
            <a:r>
              <a:rPr>
                <a:solidFill>
                  <a:srgbClr val="666666"/>
                </a:solidFill>
                <a:latin typeface="Courier"/>
              </a:rPr>
              <a:t>()</a:t>
            </a:r>
            <a:r>
              <a:rPr>
                <a:latin typeface="Courier"/>
              </a:rPr>
              <a:t> </a:t>
            </a:r>
            <a:r>
              <a:rPr>
                <a:solidFill>
                  <a:srgbClr val="666666"/>
                </a:solidFill>
                <a:latin typeface="Courier"/>
              </a:rPr>
              <a:t>+</a:t>
            </a:r>
            <a:r>
              <a:rPr>
                <a:latin typeface="Courier"/>
              </a:rPr>
              <a:t> </a:t>
            </a:r>
            <a:r>
              <a:rPr>
                <a:solidFill>
                  <a:srgbClr val="4070A0"/>
                </a:solidFill>
                <a:latin typeface="Courier"/>
              </a:rPr>
              <a:t>" videos"</a:t>
            </a:r>
            <a:r>
              <a:rPr>
                <a:solidFill>
                  <a:srgbClr val="666666"/>
                </a:solidFill>
                <a:latin typeface="Courier"/>
              </a:rPr>
              <a:t>);</a:t>
            </a:r>
            <a:br/>
            <a:r>
              <a:rPr>
                <a:latin typeface="Courier"/>
              </a:rPr>
              <a:t>    </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reactOnUserInput</a:t>
            </a:r>
            <a:r>
              <a:rPr>
                <a:solidFill>
                  <a:srgbClr val="666666"/>
                </a:solidFill>
                <a:latin typeface="Courier"/>
              </a:rPr>
              <a:t>(</a:t>
            </a:r>
            <a:r>
              <a:rPr>
                <a:solidFill>
                  <a:srgbClr val="008000"/>
                </a:solidFill>
                <a:latin typeface="Courier"/>
              </a:rPr>
              <a:t>String</a:t>
            </a:r>
            <a:r>
              <a:rPr>
                <a:latin typeface="Courier"/>
              </a:rPr>
              <a:t> id</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6287E"/>
                </a:solidFill>
                <a:latin typeface="Courier"/>
              </a:rPr>
              <a:t>renderListPanel</a:t>
            </a:r>
            <a:r>
              <a:rPr>
                <a:solidFill>
                  <a:srgbClr val="666666"/>
                </a:solidFill>
                <a:latin typeface="Courier"/>
              </a:rPr>
              <a:t>();</a:t>
            </a:r>
            <a:br/>
            <a:r>
              <a:rPr>
                <a:latin typeface="Courier"/>
              </a:rPr>
              <a:t>        </a:t>
            </a:r>
            <a:r>
              <a:rPr>
                <a:solidFill>
                  <a:srgbClr val="06287E"/>
                </a:solidFill>
                <a:latin typeface="Courier"/>
              </a:rPr>
              <a:t>renderVideoPage</a:t>
            </a:r>
            <a:r>
              <a:rPr>
                <a:solidFill>
                  <a:srgbClr val="666666"/>
                </a:solidFill>
                <a:latin typeface="Courier"/>
              </a:rPr>
              <a:t>(</a:t>
            </a:r>
            <a:r>
              <a:rPr>
                <a:latin typeface="Courier"/>
              </a:rPr>
              <a:t>id</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Java Kod Örneği - İstemci</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ProxyDemo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static</a:t>
            </a:r>
            <a:r>
              <a:rPr>
                <a:latin typeface="Courier"/>
              </a:rPr>
              <a:t> </a:t>
            </a:r>
            <a:r>
              <a:rPr>
                <a:solidFill>
                  <a:srgbClr val="902000"/>
                </a:solidFill>
                <a:latin typeface="Courier"/>
              </a:rPr>
              <a:t>void</a:t>
            </a:r>
            <a:r>
              <a:rPr>
                <a:latin typeface="Courier"/>
              </a:rPr>
              <a:t> </a:t>
            </a:r>
            <a:r>
              <a:rPr>
                <a:solidFill>
                  <a:srgbClr val="06287E"/>
                </a:solidFill>
                <a:latin typeface="Courier"/>
              </a:rPr>
              <a:t>main</a:t>
            </a:r>
            <a:r>
              <a:rPr>
                <a:solidFill>
                  <a:srgbClr val="666666"/>
                </a:solidFill>
                <a:latin typeface="Courier"/>
              </a:rPr>
              <a:t>(</a:t>
            </a:r>
            <a:r>
              <a:rPr>
                <a:solidFill>
                  <a:srgbClr val="008000"/>
                </a:solidFill>
                <a:latin typeface="Courier"/>
              </a:rPr>
              <a:t>String</a:t>
            </a:r>
            <a:r>
              <a:rPr>
                <a:solidFill>
                  <a:srgbClr val="666666"/>
                </a:solidFill>
                <a:latin typeface="Courier"/>
              </a:rPr>
              <a:t>[]</a:t>
            </a:r>
            <a:r>
              <a:rPr>
                <a:latin typeface="Courier"/>
              </a:rPr>
              <a:t> args</a:t>
            </a:r>
            <a:r>
              <a:rPr>
                <a:solidFill>
                  <a:srgbClr val="666666"/>
                </a:solidFill>
                <a:latin typeface="Courier"/>
              </a:rPr>
              <a:t>)</a:t>
            </a:r>
            <a:r>
              <a:rPr>
                <a:latin typeface="Courier"/>
              </a:rPr>
              <a:t> </a:t>
            </a:r>
            <a:r>
              <a:rPr>
                <a:solidFill>
                  <a:srgbClr val="666666"/>
                </a:solidFill>
                <a:latin typeface="Courier"/>
              </a:rPr>
              <a:t>{</a:t>
            </a:r>
            <a:br/>
            <a:r>
              <a:rPr>
                <a:latin typeface="Courier"/>
              </a:rPr>
              <a:t>        </a:t>
            </a:r>
            <a:r>
              <a:rPr i="1">
                <a:solidFill>
                  <a:srgbClr val="60A0B0"/>
                </a:solidFill>
                <a:latin typeface="Courier"/>
              </a:rPr>
              <a:t>// Create the real service</a:t>
            </a:r>
            <a:br/>
            <a:r>
              <a:rPr>
                <a:latin typeface="Courier"/>
              </a:rPr>
              <a:t>        ThirdPartyYouTubeLib youtubeService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ThirdPartyYouTubeClass</a:t>
            </a:r>
            <a:r>
              <a:rPr>
                <a:solidFill>
                  <a:srgbClr val="666666"/>
                </a:solidFill>
                <a:latin typeface="Courier"/>
              </a:rPr>
              <a:t>();</a:t>
            </a:r>
            <a:br/>
            <a:br/>
            <a:r>
              <a:rPr>
                <a:latin typeface="Courier"/>
              </a:rPr>
              <a:t>        </a:t>
            </a:r>
            <a:r>
              <a:rPr i="1">
                <a:solidFill>
                  <a:srgbClr val="60A0B0"/>
                </a:solidFill>
                <a:latin typeface="Courier"/>
              </a:rPr>
              <a:t>// Create the caching proxy</a:t>
            </a:r>
            <a:br/>
            <a:r>
              <a:rPr>
                <a:latin typeface="Courier"/>
              </a:rPr>
              <a:t>        ThirdPartyYouTubeLib youtubeProxy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CachedYouTubeClass</a:t>
            </a:r>
            <a:r>
              <a:rPr>
                <a:solidFill>
                  <a:srgbClr val="666666"/>
                </a:solidFill>
                <a:latin typeface="Courier"/>
              </a:rPr>
              <a:t>(</a:t>
            </a:r>
            <a:r>
              <a:rPr>
                <a:latin typeface="Courier"/>
              </a:rPr>
              <a:t>youtubeService</a:t>
            </a:r>
            <a:r>
              <a:rPr>
                <a:solidFill>
                  <a:srgbClr val="666666"/>
                </a:solidFill>
                <a:latin typeface="Courier"/>
              </a:rPr>
              <a:t>);</a:t>
            </a:r>
            <a:br/>
            <a:br/>
            <a:r>
              <a:rPr>
                <a:latin typeface="Courier"/>
              </a:rPr>
              <a:t>        </a:t>
            </a:r>
            <a:r>
              <a:rPr i="1">
                <a:solidFill>
                  <a:srgbClr val="60A0B0"/>
                </a:solidFill>
                <a:latin typeface="Courier"/>
              </a:rPr>
              <a:t>// The manager works through the interface,</a:t>
            </a:r>
            <a:br/>
            <a:r>
              <a:rPr>
                <a:latin typeface="Courier"/>
              </a:rPr>
              <a:t>        </a:t>
            </a:r>
            <a:r>
              <a:rPr i="1">
                <a:solidFill>
                  <a:srgbClr val="60A0B0"/>
                </a:solidFill>
                <a:latin typeface="Courier"/>
              </a:rPr>
              <a:t>// so it does not know if it is using the real</a:t>
            </a:r>
            <a:br/>
            <a:r>
              <a:rPr>
                <a:latin typeface="Courier"/>
              </a:rPr>
              <a:t>        </a:t>
            </a:r>
            <a:r>
              <a:rPr i="1">
                <a:solidFill>
                  <a:srgbClr val="60A0B0"/>
                </a:solidFill>
                <a:latin typeface="Courier"/>
              </a:rPr>
              <a:t>// service or the proxy</a:t>
            </a:r>
            <a:br/>
            <a:r>
              <a:rPr>
                <a:latin typeface="Courier"/>
              </a:rPr>
              <a:t>        YouTubeManager manager </a:t>
            </a:r>
            <a:r>
              <a:rPr>
                <a:solidFill>
                  <a:srgbClr val="666666"/>
                </a:solidFill>
                <a:latin typeface="Courier"/>
              </a:rPr>
              <a:t>=</a:t>
            </a:r>
            <a:br/>
            <a:r>
              <a:rPr>
                <a:latin typeface="Courier"/>
              </a:rPr>
              <a:t>            </a:t>
            </a:r>
            <a:r>
              <a:rPr b="1">
                <a:solidFill>
                  <a:srgbClr val="007020"/>
                </a:solidFill>
                <a:latin typeface="Courier"/>
              </a:rPr>
              <a:t>new</a:t>
            </a:r>
            <a:r>
              <a:rPr>
                <a:latin typeface="Courier"/>
              </a:rPr>
              <a:t> </a:t>
            </a:r>
            <a:r>
              <a:rPr>
                <a:solidFill>
                  <a:srgbClr val="06287E"/>
                </a:solidFill>
                <a:latin typeface="Courier"/>
              </a:rPr>
              <a:t>YouTubeManager</a:t>
            </a:r>
            <a:r>
              <a:rPr>
                <a:solidFill>
                  <a:srgbClr val="666666"/>
                </a:solidFill>
                <a:latin typeface="Courier"/>
              </a:rPr>
              <a:t>(</a:t>
            </a:r>
            <a:r>
              <a:rPr>
                <a:latin typeface="Courier"/>
              </a:rPr>
              <a:t>youtubeProxy</a:t>
            </a:r>
            <a:r>
              <a:rPr>
                <a:solidFill>
                  <a:srgbClr val="666666"/>
                </a:solidFill>
                <a:latin typeface="Courier"/>
              </a:rPr>
              <a:t>);</a:t>
            </a:r>
            <a:br/>
            <a:br/>
            <a:r>
              <a:rPr>
                <a:latin typeface="Courier"/>
              </a:rPr>
              <a:t>        </a:t>
            </a:r>
            <a:r>
              <a:rPr i="1">
                <a:solidFill>
                  <a:srgbClr val="60A0B0"/>
                </a:solidFill>
                <a:latin typeface="Courier"/>
              </a:rPr>
              <a:t>// First call - fetches from the real service</a:t>
            </a:r>
            <a:br/>
            <a:r>
              <a:rPr>
                <a:latin typeface="Courier"/>
              </a:rPr>
              <a:t>        manager</a:t>
            </a:r>
            <a:r>
              <a:rPr>
                <a:solidFill>
                  <a:srgbClr val="666666"/>
                </a:solidFill>
                <a:latin typeface="Courier"/>
              </a:rPr>
              <a:t>.</a:t>
            </a:r>
            <a:r>
              <a:rPr>
                <a:solidFill>
                  <a:srgbClr val="06287E"/>
                </a:solidFill>
                <a:latin typeface="Courier"/>
              </a:rPr>
              <a:t>reactOnUserInput</a:t>
            </a:r>
            <a:r>
              <a:rPr>
                <a:solidFill>
                  <a:srgbClr val="666666"/>
                </a:solidFill>
                <a:latin typeface="Courier"/>
              </a:rPr>
              <a:t>(</a:t>
            </a:r>
            <a:r>
              <a:rPr>
                <a:solidFill>
                  <a:srgbClr val="4070A0"/>
                </a:solidFill>
                <a:latin typeface="Courier"/>
              </a:rPr>
              <a:t>"video123"</a:t>
            </a:r>
            <a:r>
              <a:rPr>
                <a:solidFill>
                  <a:srgbClr val="666666"/>
                </a:solidFill>
                <a:latin typeface="Courier"/>
              </a:rPr>
              <a:t>);</a:t>
            </a:r>
            <a:br/>
            <a:br/>
            <a:r>
              <a:rPr>
                <a:latin typeface="Courier"/>
              </a:rPr>
              <a:t>        </a:t>
            </a:r>
            <a:r>
              <a:rPr i="1">
                <a:solidFill>
                  <a:srgbClr val="60A0B0"/>
                </a:solidFill>
                <a:latin typeface="Courier"/>
              </a:rPr>
              <a:t>// Second call - uses cached data</a:t>
            </a:r>
            <a:br/>
            <a:r>
              <a:rPr>
                <a:latin typeface="Courier"/>
              </a:rPr>
              <a:t>        manager</a:t>
            </a:r>
            <a:r>
              <a:rPr>
                <a:solidFill>
                  <a:srgbClr val="666666"/>
                </a:solidFill>
                <a:latin typeface="Courier"/>
              </a:rPr>
              <a:t>.</a:t>
            </a:r>
            <a:r>
              <a:rPr>
                <a:solidFill>
                  <a:srgbClr val="06287E"/>
                </a:solidFill>
                <a:latin typeface="Courier"/>
              </a:rPr>
              <a:t>reactOnUserInput</a:t>
            </a:r>
            <a:r>
              <a:rPr>
                <a:solidFill>
                  <a:srgbClr val="666666"/>
                </a:solidFill>
                <a:latin typeface="Courier"/>
              </a:rPr>
              <a:t>(</a:t>
            </a:r>
            <a:r>
              <a:rPr>
                <a:solidFill>
                  <a:srgbClr val="4070A0"/>
                </a:solidFill>
                <a:latin typeface="Courier"/>
              </a:rPr>
              <a:t>"video123"</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Proxy - Sıra Diyagramı</a:t>
            </a:r>
          </a:p>
        </p:txBody>
      </p:sp>
      <p:pic>
        <p:nvPicPr>
          <p:cNvPr descr="assets/proxy-sequence.png" id="0" name="Picture 1"/>
          <p:cNvPicPr>
            <a:picLocks noGrp="1" noChangeAspect="1"/>
          </p:cNvPicPr>
          <p:nvPr/>
        </p:nvPicPr>
        <p:blipFill>
          <a:blip r:embed="rId2"/>
          <a:stretch>
            <a:fillRect/>
          </a:stretch>
        </p:blipFill>
        <p:spPr bwMode="auto">
          <a:xfrm>
            <a:off x="5003800" y="203200"/>
            <a:ext cx="2247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a:t>
            </a:r>
          </a:p>
        </p:txBody>
      </p:sp>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Uygulanabilirlik</a:t>
            </a:r>
          </a:p>
        </p:txBody>
      </p:sp>
      <p:sp>
        <p:nvSpPr>
          <p:cNvPr id="3" name="Content Placeholder 2"/>
          <p:cNvSpPr>
            <a:spLocks noGrp="1"/>
          </p:cNvSpPr>
          <p:nvPr>
            <p:ph idx="1"/>
          </p:nvPr>
        </p:nvSpPr>
        <p:spPr/>
        <p:txBody>
          <a:bodyPr/>
          <a:lstStyle/>
          <a:p>
            <a:pPr lvl="0" indent="0" marL="0">
              <a:buNone/>
            </a:pPr>
            <a:r>
              <a:rPr/>
              <a:t>Proxy (Vekil) desenini kullanmanın düzinelerce yolu vardır. İşte en yaygın olanları:</a:t>
            </a:r>
          </a:p>
          <a:p>
            <a:pPr lvl="0"/>
            <a:r>
              <a:rPr b="1"/>
              <a:t>Tembel başlatma (sanal proxy)</a:t>
            </a:r>
            <a:r>
              <a:rPr/>
              <a:t>: Her zaman açık olan ve sistem kaynaklarını boşa harcayan ağır bir servis nesneniz olduğunda, yalnızca zaman zaman ihtiyaç duyduğunuzda. Uygulama başlatıldığında nesneyi oluşturmak yerine, nesnenin başlatılmasını gerçekten ihtiyaç duyulduğu zamana erteleyebilirsiniz</a:t>
            </a:r>
          </a:p>
        </p:txBody>
      </p:sp>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Uygulanabilirlik (devam)</a:t>
            </a:r>
          </a:p>
        </p:txBody>
      </p:sp>
      <p:sp>
        <p:nvSpPr>
          <p:cNvPr id="3" name="Content Placeholder 2"/>
          <p:cNvSpPr>
            <a:spLocks noGrp="1"/>
          </p:cNvSpPr>
          <p:nvPr>
            <p:ph idx="1"/>
          </p:nvPr>
        </p:nvSpPr>
        <p:spPr/>
        <p:txBody>
          <a:bodyPr/>
          <a:lstStyle/>
          <a:p>
            <a:pPr lvl="0"/>
            <a:r>
              <a:rPr b="1"/>
              <a:t>Erişim kontrolü (koruma proxy’si)</a:t>
            </a:r>
            <a:r>
              <a:rPr/>
              <a:t>: Servis nesnesini yalnızca belirli istemcilerin kullanabilmesini istediğinizde; örneğin, nesneleriniz bir işletim sisteminin kritik parçaları olduğunda ve istemciler çeşitli başlatılan uygulamalar (kötü amaçlı olanlar dahil) olduğunda</a:t>
            </a:r>
          </a:p>
          <a:p>
            <a:pPr lvl="0"/>
            <a:r>
              <a:rPr b="1"/>
              <a:t>Uzak servisin yerel yürütülmesi (uzak proxy)</a:t>
            </a:r>
            <a:r>
              <a:rPr/>
              <a:t>: Servis nesnesi uzak bir sunucuda bulunduğunda. Bu durumda proxy, istemci isteğini ağ üzerinden ileterek ağ ile çalışmanın tüm karmaşık detaylarını halleder</a:t>
            </a:r>
          </a:p>
        </p:txBody>
      </p:sp>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Uygulanabilirlik (devam)</a:t>
            </a:r>
          </a:p>
        </p:txBody>
      </p:sp>
      <p:sp>
        <p:nvSpPr>
          <p:cNvPr id="3" name="Content Placeholder 2"/>
          <p:cNvSpPr>
            <a:spLocks noGrp="1"/>
          </p:cNvSpPr>
          <p:nvPr>
            <p:ph idx="1"/>
          </p:nvPr>
        </p:nvSpPr>
        <p:spPr/>
        <p:txBody>
          <a:bodyPr/>
          <a:lstStyle/>
          <a:p>
            <a:pPr lvl="0"/>
            <a:r>
              <a:rPr b="1"/>
              <a:t>İstekleri günlüğe kaydetme (günlükleme proxy’si)</a:t>
            </a:r>
            <a:r>
              <a:rPr/>
              <a:t>: Servis nesnesine yapılan isteklerin geçmişini tutmak istediğinizde. Proxy, her isteği servise iletmeden önce günlüğe kaydedebilir</a:t>
            </a:r>
          </a:p>
          <a:p>
            <a:pPr lvl="0"/>
            <a:r>
              <a:rPr b="1"/>
              <a:t>İstek sonuçlarını önbelleğe alma (önbellekleme proxy’si)</a:t>
            </a:r>
            <a:r>
              <a:rPr/>
              <a:t>: İstemci isteklerinin sonuçlarını önbelleğe almanız ve bu önbelleğin yaşam döngüsünü yönetmeniz gerektiğinde, özellikle sonuçlar oldukça büyükse. Proxy, her zaman aynı sonuçları veren tekrarlayan istekler için önbelleğe alma uygulayabilir</a:t>
            </a:r>
          </a:p>
          <a:p>
            <a:pPr lvl="0"/>
            <a:r>
              <a:rPr b="1"/>
              <a:t>Akıllı referans</a:t>
            </a:r>
            <a:r>
              <a:rPr/>
              <a:t>: Onu kullanan hiçbir istemci kalmadığında ağır bir nesneyi sonlandırabilmeniz gerektiğinde. Proxy, servis nesnesine veya sonuçlarına referans alan istemcileri takip edebilir. Zaman zaman proxy, istemcileri kontrol edebilir ve hâlâ aktif olup olmadıklarını kontrol edebilir. İstemci listesi boşalırsa, proxy servis nesnesini sonlandırabilir ve altta yatan sistem kaynaklarını serbest bırakabilir</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Nasıl Uygulanır</a:t>
            </a:r>
          </a:p>
        </p:txBody>
      </p:sp>
      <p:sp>
        <p:nvSpPr>
          <p:cNvPr id="3" name="Content Placeholder 2"/>
          <p:cNvSpPr>
            <a:spLocks noGrp="1"/>
          </p:cNvSpPr>
          <p:nvPr>
            <p:ph idx="1"/>
          </p:nvPr>
        </p:nvSpPr>
        <p:spPr/>
        <p:txBody>
          <a:bodyPr/>
          <a:lstStyle/>
          <a:p>
            <a:pPr lvl="0" indent="-342900" marL="342900">
              <a:buAutoNum type="arabicPeriod"/>
            </a:pPr>
            <a:r>
              <a:rPr/>
              <a:t>Önceden var olan bir </a:t>
            </a:r>
            <a:r>
              <a:rPr b="1"/>
              <a:t>servis arayüzü</a:t>
            </a:r>
            <a:r>
              <a:rPr/>
              <a:t> yoksa, proxy ve servis nesnelerini değiştirilebilir kılmak için bir tane oluşturun. Arayüzü servis sınıfından çıkarmak her zaman mümkün değildir çünkü servisin tüm istemcilerini bu arayüzü kullanacak şekilde değiştirmeniz gerekir. Bir alternatif, proxy’yi servis sınıfının bir </a:t>
            </a:r>
            <a:r>
              <a:rPr b="1"/>
              <a:t>alt sınıfı</a:t>
            </a:r>
            <a:r>
              <a:rPr/>
              <a:t> yapmaktır</a:t>
            </a:r>
          </a:p>
          <a:p>
            <a:pPr lvl="0" indent="-342900" marL="342900">
              <a:buAutoNum type="arabicPeriod"/>
            </a:pPr>
            <a:r>
              <a:rPr b="1"/>
              <a:t>Proxy sınıfını</a:t>
            </a:r>
            <a:r>
              <a:rPr/>
              <a:t> oluşturun. Servise referans saklamak için bir alanı olmalıdır. Genellikle proxy’ler servislerinin tüm yaşam döngüsünü oluşturur ve yönetir. Nadir durumlarda, bir servis istemci tarafından yapıcı aracılığıyla proxy’ye iletilir</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Nasıl Uygulanır (devam)</a:t>
            </a:r>
          </a:p>
        </p:txBody>
      </p:sp>
      <p:sp>
        <p:nvSpPr>
          <p:cNvPr id="3" name="Content Placeholder 2"/>
          <p:cNvSpPr>
            <a:spLocks noGrp="1"/>
          </p:cNvSpPr>
          <p:nvPr>
            <p:ph idx="1"/>
          </p:nvPr>
        </p:nvSpPr>
        <p:spPr/>
        <p:txBody>
          <a:bodyPr/>
          <a:lstStyle/>
          <a:p>
            <a:pPr lvl="0" indent="-342900" marL="342900">
              <a:buAutoNum startAt="3" type="arabicPeriod"/>
            </a:pPr>
            <a:r>
              <a:rPr b="1"/>
              <a:t>Proxy yöntemlerini</a:t>
            </a:r>
            <a:r>
              <a:rPr/>
              <a:t> amaçlarına göre uygulayın. Çoğu durumda, bazı işler yaptıktan sonra proxy işi servis nesnesine devretmelidir</a:t>
            </a:r>
          </a:p>
          <a:p>
            <a:pPr lvl="0" indent="-342900" marL="342900">
              <a:buAutoNum startAt="3" type="arabicPeriod"/>
            </a:pPr>
            <a:r>
              <a:rPr/>
              <a:t>İstemcinin bir proxy mi yoksa gerçek bir servis mi aldığına karar veren bir </a:t>
            </a:r>
            <a:r>
              <a:rPr b="1"/>
              <a:t>oluşturma yöntemi</a:t>
            </a:r>
            <a:r>
              <a:rPr/>
              <a:t> tanıtmayı düşünün. Bu, proxy sınıfındaki basit bir statik yöntem veya tam teşekküllü bir fabrika yöntemi olabilir</a:t>
            </a:r>
          </a:p>
          <a:p>
            <a:pPr lvl="0" indent="-342900" marL="342900">
              <a:buAutoNum startAt="3" type="arabicPeriod"/>
            </a:pPr>
            <a:r>
              <a:rPr/>
              <a:t>Servis nesnesi için </a:t>
            </a:r>
            <a:r>
              <a:rPr b="1"/>
              <a:t>tembel başlatma</a:t>
            </a:r>
            <a:r>
              <a:rPr/>
              <a:t> uygulamayı düşünün</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Avantajlar ve Dezavantajlar</a:t>
            </a:r>
          </a:p>
        </p:txBody>
      </p:sp>
      <p:sp>
        <p:nvSpPr>
          <p:cNvPr id="3" name="Content Placeholder 2"/>
          <p:cNvSpPr>
            <a:spLocks noGrp="1"/>
          </p:cNvSpPr>
          <p:nvPr>
            <p:ph idx="1"/>
          </p:nvPr>
        </p:nvSpPr>
        <p:spPr/>
        <p:txBody>
          <a:bodyPr/>
          <a:lstStyle/>
          <a:p>
            <a:pPr lvl="0" indent="0" marL="0">
              <a:buNone/>
            </a:pPr>
            <a:r>
              <a:rPr b="1"/>
              <a:t>Avantajlar:</a:t>
            </a:r>
            <a:r>
              <a:rPr/>
              <a:t> - Servis nesnesini </a:t>
            </a:r>
            <a:r>
              <a:rPr b="1"/>
              <a:t>istemciler bilmeden</a:t>
            </a:r>
            <a:r>
              <a:rPr/>
              <a:t> kontrol edebilirsiniz - İstemciler umursamadığında servis nesnesinin </a:t>
            </a:r>
            <a:r>
              <a:rPr b="1"/>
              <a:t>yaşam döngüsünü</a:t>
            </a:r>
            <a:r>
              <a:rPr/>
              <a:t> yönetebilirsiniz - Proxy, servis nesnesi </a:t>
            </a:r>
            <a:r>
              <a:rPr b="1"/>
              <a:t>hazır olmasa</a:t>
            </a:r>
            <a:r>
              <a:rPr/>
              <a:t> veya kullanılamasa bile çalışır - </a:t>
            </a:r>
            <a:r>
              <a:rPr b="1"/>
              <a:t>Açık/Kapalı İlkesi</a:t>
            </a:r>
            <a:r>
              <a:rPr/>
              <a:t>: Servisi veya istemcileri değiştirmeden yeni proxy’ler tanıtabilirsiniz</a:t>
            </a:r>
          </a:p>
          <a:p>
            <a:pPr lvl="0" indent="0" marL="0">
              <a:buNone/>
            </a:pPr>
            <a:r>
              <a:rPr b="1"/>
              <a:t>Dezavantajlar:</a:t>
            </a:r>
            <a:r>
              <a:rPr/>
              <a:t> - Çok sayıda yeni sınıf tanıtmanız gerektiğinden kod </a:t>
            </a:r>
            <a:r>
              <a:rPr b="1"/>
              <a:t>daha karmaşık</a:t>
            </a:r>
            <a:r>
              <a:rPr/>
              <a:t> hale gelebilir - Servisten gelen yanıt </a:t>
            </a:r>
            <a:r>
              <a:rPr b="1"/>
              <a:t>gecikebilir</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Proxy (Vekil): Diğer Desenlerle İlişkiler</a:t>
            </a:r>
          </a:p>
        </p:txBody>
      </p:sp>
      <p:sp>
        <p:nvSpPr>
          <p:cNvPr id="3" name="Content Placeholder 2"/>
          <p:cNvSpPr>
            <a:spLocks noGrp="1"/>
          </p:cNvSpPr>
          <p:nvPr>
            <p:ph idx="1"/>
          </p:nvPr>
        </p:nvSpPr>
        <p:spPr/>
        <p:txBody>
          <a:bodyPr/>
          <a:lstStyle/>
          <a:p>
            <a:pPr lvl="0"/>
            <a:r>
              <a:rPr b="1"/>
              <a:t>Adapter (Adaptör)</a:t>
            </a:r>
            <a:r>
              <a:rPr/>
              <a:t> sarılan nesneye farklı bir arayüz sağlarken, </a:t>
            </a:r>
            <a:r>
              <a:rPr b="1"/>
              <a:t>Proxy (Vekil)</a:t>
            </a:r>
            <a:r>
              <a:rPr/>
              <a:t> aynı arayüzü sağlar ve </a:t>
            </a:r>
            <a:r>
              <a:rPr b="1"/>
              <a:t>Decorator (Dekoratör)</a:t>
            </a:r>
            <a:r>
              <a:rPr/>
              <a:t> geliştirilmiş bir arayüz sağlar</a:t>
            </a:r>
          </a:p>
          <a:p>
            <a:pPr lvl="0"/>
            <a:r>
              <a:rPr b="1"/>
              <a:t>Facade (Cephe)</a:t>
            </a:r>
            <a:r>
              <a:rPr/>
              <a:t>, </a:t>
            </a:r>
            <a:r>
              <a:rPr b="1"/>
              <a:t>Proxy (Vekil)</a:t>
            </a:r>
            <a:r>
              <a:rPr/>
              <a:t>’e benzer; her ikisi de karmaşık bir varlığı tamponlar ve kendi başına başlatır. Facade (Cephe)’den farklı olarak, Proxy (Vekil) servis nesnesiyle aynı arayüze sahiptir, bu da onları değiştirilebilir kılar</a:t>
            </a:r>
          </a:p>
          <a:p>
            <a:pPr lvl="0"/>
            <a:r>
              <a:rPr b="1"/>
              <a:t>Decorator (Dekoratör)</a:t>
            </a:r>
            <a:r>
              <a:rPr/>
              <a:t> ve </a:t>
            </a:r>
            <a:r>
              <a:rPr b="1"/>
              <a:t>Proxy (Vekil)</a:t>
            </a:r>
            <a:r>
              <a:rPr/>
              <a:t> benzer yapılara sahiptir, ancak çok farklı amaçları vardır. Her iki desen de bileşim ilkesi üzerine kuruludur; bir nesnenin işin bir kısmını başka bir nesneye devretmesi beklenir. Fark şudur: bir Proxy (Vekil) genellikle servis nesnesinin yaşam döngüsünü kendi başına yönetirken, Decorator (Dekoratör)’lerin bileşimi her zaman istemci tarafından kontrol edilir</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Modül H: Özet</a:t>
            </a:r>
          </a:p>
        </p:txBody>
      </p:sp>
      <p:sp>
        <p:nvSpPr>
          <p:cNvPr id="3" name="Content Placeholder 2"/>
          <p:cNvSpPr>
            <a:spLocks noGrp="1"/>
          </p:cNvSpPr>
          <p:nvPr>
            <p:ph idx="1"/>
          </p:nvPr>
        </p:nvSpPr>
        <p:spPr/>
        <p:txBody>
          <a:bodyPr/>
          <a:lstStyle/>
          <a:p>
            <a:pPr lvl="0"/>
            <a:r>
              <a:rPr/>
              <a:t>Proxy (Vekil) deseni, başka bir nesne için bir </a:t>
            </a:r>
            <a:r>
              <a:rPr b="1"/>
              <a:t>yedek veya yer tutucu</a:t>
            </a:r>
            <a:r>
              <a:rPr/>
              <a:t> sağlar</a:t>
            </a:r>
          </a:p>
          <a:p>
            <a:pPr lvl="0"/>
            <a:r>
              <a:rPr/>
              <a:t>Orijinal servisi </a:t>
            </a:r>
            <a:r>
              <a:rPr b="1"/>
              <a:t>değiştirmeden</a:t>
            </a:r>
            <a:r>
              <a:rPr/>
              <a:t> erişimi kontrol eder ve davranış ekler</a:t>
            </a:r>
          </a:p>
          <a:p>
            <a:pPr lvl="0"/>
            <a:r>
              <a:rPr/>
              <a:t>Birçok türü vardır: </a:t>
            </a:r>
            <a:r>
              <a:rPr b="1"/>
              <a:t>sanal, koruma, uzak, günlükleme, önbellekleme, akıllı referans</a:t>
            </a:r>
          </a:p>
          <a:p>
            <a:pPr lvl="0"/>
            <a:r>
              <a:rPr/>
              <a:t>Mevcut kodu değiştirmeden yeni proxy’lere izin vererek </a:t>
            </a:r>
            <a:r>
              <a:rPr b="1"/>
              <a:t>Açık/Kapalı İlkesini</a:t>
            </a:r>
            <a:r>
              <a:rPr/>
              <a:t> takip eder</a:t>
            </a:r>
          </a:p>
          <a:p>
            <a:pPr lvl="0"/>
            <a:r>
              <a:rPr/>
              <a:t>Yapı olarak Decorator (Dekoratör)’e benzer ancak </a:t>
            </a:r>
            <a:r>
              <a:rPr b="1"/>
              <a:t>amaç ve yaşam döngüsü yönetiminde</a:t>
            </a:r>
            <a:r>
              <a:rPr/>
              <a:t> farklıdır</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Özet: Yapısal Tasarım Desenleri Karşılaştırması</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311400"/>
                <a:gridCol w="2565400"/>
                <a:gridCol w="3340100"/>
              </a:tblGrid>
              <a:tr h="0">
                <a:tc>
                  <a:txBody>
                    <a:bodyPr/>
                    <a:lstStyle/>
                    <a:p>
                      <a:pPr lvl="0" indent="0" marL="0">
                        <a:buNone/>
                      </a:pPr>
                      <a:r>
                        <a:rPr/>
                        <a:t>Desen</a:t>
                      </a:r>
                    </a:p>
                  </a:txBody>
                  <a:tcPr/>
                </a:tc>
                <a:tc>
                  <a:txBody>
                    <a:bodyPr/>
                    <a:lstStyle/>
                    <a:p>
                      <a:pPr lvl="0" indent="0" marL="0">
                        <a:buNone/>
                      </a:pPr>
                      <a:r>
                        <a:rPr/>
                        <a:t>Temel Fikir</a:t>
                      </a:r>
                    </a:p>
                  </a:txBody>
                  <a:tcPr/>
                </a:tc>
                <a:tc>
                  <a:txBody>
                    <a:bodyPr/>
                    <a:lstStyle/>
                    <a:p>
                      <a:pPr lvl="0" indent="0" marL="0">
                        <a:buNone/>
                      </a:pPr>
                      <a:r>
                        <a:rPr/>
                        <a:t>Tipik Kullanım</a:t>
                      </a:r>
                    </a:p>
                  </a:txBody>
                  <a:tcPr/>
                </a:tc>
              </a:tr>
              <a:tr h="0">
                <a:tc>
                  <a:txBody>
                    <a:bodyPr/>
                    <a:lstStyle/>
                    <a:p>
                      <a:pPr lvl="0" indent="0" marL="0">
                        <a:buNone/>
                      </a:pPr>
                      <a:r>
                        <a:rPr b="1"/>
                        <a:t>Adapter (Adaptör)</a:t>
                      </a:r>
                    </a:p>
                  </a:txBody>
                </a:tc>
                <a:tc>
                  <a:txBody>
                    <a:bodyPr/>
                    <a:lstStyle/>
                    <a:p>
                      <a:pPr lvl="0" indent="0" marL="0">
                        <a:buNone/>
                      </a:pPr>
                      <a:r>
                        <a:rPr/>
                        <a:t>Arayüz dönüştürme</a:t>
                      </a:r>
                    </a:p>
                  </a:txBody>
                </a:tc>
                <a:tc>
                  <a:txBody>
                    <a:bodyPr/>
                    <a:lstStyle/>
                    <a:p>
                      <a:pPr lvl="0" indent="0" marL="0">
                        <a:buNone/>
                      </a:pPr>
                      <a:r>
                        <a:rPr/>
                        <a:t>Eski/üçüncü taraf entegrasyonu</a:t>
                      </a:r>
                    </a:p>
                  </a:txBody>
                </a:tc>
              </a:tr>
              <a:tr h="0">
                <a:tc>
                  <a:txBody>
                    <a:bodyPr/>
                    <a:lstStyle/>
                    <a:p>
                      <a:pPr lvl="0" indent="0" marL="0">
                        <a:buNone/>
                      </a:pPr>
                      <a:r>
                        <a:rPr b="1"/>
                        <a:t>Bridge (Köprü)</a:t>
                      </a:r>
                    </a:p>
                  </a:txBody>
                </a:tc>
                <a:tc>
                  <a:txBody>
                    <a:bodyPr/>
                    <a:lstStyle/>
                    <a:p>
                      <a:pPr lvl="0" indent="0" marL="0">
                        <a:buNone/>
                      </a:pPr>
                      <a:r>
                        <a:rPr/>
                        <a:t>Soyutlama/uygulama ayırma</a:t>
                      </a:r>
                    </a:p>
                  </a:txBody>
                </a:tc>
                <a:tc>
                  <a:txBody>
                    <a:bodyPr/>
                    <a:lstStyle/>
                    <a:p>
                      <a:pPr lvl="0" indent="0" marL="0">
                        <a:buNone/>
                      </a:pPr>
                      <a:r>
                        <a:rPr/>
                        <a:t>Çok boyutlu hiyerarşiler</a:t>
                      </a:r>
                    </a:p>
                  </a:txBody>
                </a:tc>
              </a:tr>
              <a:tr h="0">
                <a:tc>
                  <a:txBody>
                    <a:bodyPr/>
                    <a:lstStyle/>
                    <a:p>
                      <a:pPr lvl="0" indent="0" marL="0">
                        <a:buNone/>
                      </a:pPr>
                      <a:r>
                        <a:rPr b="1"/>
                        <a:t>Composite (Bileşik)</a:t>
                      </a:r>
                    </a:p>
                  </a:txBody>
                </a:tc>
                <a:tc>
                  <a:txBody>
                    <a:bodyPr/>
                    <a:lstStyle/>
                    <a:p>
                      <a:pPr lvl="0" indent="0" marL="0">
                        <a:buNone/>
                      </a:pPr>
                      <a:r>
                        <a:rPr/>
                        <a:t>Ağaç yapısı</a:t>
                      </a:r>
                    </a:p>
                  </a:txBody>
                </a:tc>
                <a:tc>
                  <a:txBody>
                    <a:bodyPr/>
                    <a:lstStyle/>
                    <a:p>
                      <a:pPr lvl="0" indent="0" marL="0">
                        <a:buNone/>
                      </a:pPr>
                      <a:r>
                        <a:rPr/>
                        <a:t>Parça-bütün hiyerarşileri</a:t>
                      </a:r>
                    </a:p>
                  </a:txBody>
                </a:tc>
              </a:tr>
              <a:tr h="0">
                <a:tc>
                  <a:txBody>
                    <a:bodyPr/>
                    <a:lstStyle/>
                    <a:p>
                      <a:pPr lvl="0" indent="0" marL="0">
                        <a:buNone/>
                      </a:pPr>
                      <a:r>
                        <a:rPr b="1"/>
                        <a:t>Decorator (Dekoratör)</a:t>
                      </a:r>
                    </a:p>
                  </a:txBody>
                </a:tc>
                <a:tc>
                  <a:txBody>
                    <a:bodyPr/>
                    <a:lstStyle/>
                    <a:p>
                      <a:pPr lvl="0" indent="0" marL="0">
                        <a:buNone/>
                      </a:pPr>
                      <a:r>
                        <a:rPr/>
                        <a:t>Davranış dinamik ekleme</a:t>
                      </a:r>
                    </a:p>
                  </a:txBody>
                </a:tc>
                <a:tc>
                  <a:txBody>
                    <a:bodyPr/>
                    <a:lstStyle/>
                    <a:p>
                      <a:pPr lvl="0" indent="0" marL="0">
                        <a:buNone/>
                      </a:pPr>
                      <a:r>
                        <a:rPr/>
                        <a:t>Katmanlı davranışlar</a:t>
                      </a:r>
                    </a:p>
                  </a:txBody>
                </a:tc>
              </a:tr>
              <a:tr h="0">
                <a:tc>
                  <a:txBody>
                    <a:bodyPr/>
                    <a:lstStyle/>
                    <a:p>
                      <a:pPr lvl="0" indent="0" marL="0">
                        <a:buNone/>
                      </a:pPr>
                      <a:r>
                        <a:rPr b="1"/>
                        <a:t>Facade (Cephe)</a:t>
                      </a:r>
                    </a:p>
                  </a:txBody>
                </a:tc>
                <a:tc>
                  <a:txBody>
                    <a:bodyPr/>
                    <a:lstStyle/>
                    <a:p>
                      <a:pPr lvl="0" indent="0" marL="0">
                        <a:buNone/>
                      </a:pPr>
                      <a:r>
                        <a:rPr/>
                        <a:t>Arayüz basitleştirme</a:t>
                      </a:r>
                    </a:p>
                  </a:txBody>
                </a:tc>
                <a:tc>
                  <a:txBody>
                    <a:bodyPr/>
                    <a:lstStyle/>
                    <a:p>
                      <a:pPr lvl="0" indent="0" marL="0">
                        <a:buNone/>
                      </a:pPr>
                      <a:r>
                        <a:rPr/>
                        <a:t>Karmaşık alt sistem erişimi</a:t>
                      </a:r>
                    </a:p>
                  </a:txBody>
                </a:tc>
              </a:tr>
              <a:tr h="0">
                <a:tc>
                  <a:txBody>
                    <a:bodyPr/>
                    <a:lstStyle/>
                    <a:p>
                      <a:pPr lvl="0" indent="0" marL="0">
                        <a:buNone/>
                      </a:pPr>
                      <a:r>
                        <a:rPr b="1"/>
                        <a:t>Flyweight (Sinek Siklet)</a:t>
                      </a:r>
                    </a:p>
                  </a:txBody>
                </a:tc>
                <a:tc>
                  <a:txBody>
                    <a:bodyPr/>
                    <a:lstStyle/>
                    <a:p>
                      <a:pPr lvl="0" indent="0" marL="0">
                        <a:buNone/>
                      </a:pPr>
                      <a:r>
                        <a:rPr/>
                        <a:t>Durum paylaşımı</a:t>
                      </a:r>
                    </a:p>
                  </a:txBody>
                </a:tc>
                <a:tc>
                  <a:txBody>
                    <a:bodyPr/>
                    <a:lstStyle/>
                    <a:p>
                      <a:pPr lvl="0" indent="0" marL="0">
                        <a:buNone/>
                      </a:pPr>
                      <a:r>
                        <a:rPr/>
                        <a:t>Bellek optimizasyonu</a:t>
                      </a:r>
                    </a:p>
                  </a:txBody>
                </a:tc>
              </a:tr>
              <a:tr h="0">
                <a:tc>
                  <a:txBody>
                    <a:bodyPr/>
                    <a:lstStyle/>
                    <a:p>
                      <a:pPr lvl="0" indent="0" marL="0">
                        <a:buNone/>
                      </a:pPr>
                      <a:r>
                        <a:rPr b="1"/>
                        <a:t>Proxy (Vekil)</a:t>
                      </a:r>
                    </a:p>
                  </a:txBody>
                </a:tc>
                <a:tc>
                  <a:txBody>
                    <a:bodyPr/>
                    <a:lstStyle/>
                    <a:p>
                      <a:pPr lvl="0" indent="0" marL="0">
                        <a:buNone/>
                      </a:pPr>
                      <a:r>
                        <a:rPr/>
                        <a:t>Erişim kontrolü</a:t>
                      </a:r>
                    </a:p>
                  </a:txBody>
                </a:tc>
                <a:tc>
                  <a:txBody>
                    <a:bodyPr/>
                    <a:lstStyle/>
                    <a:p>
                      <a:pPr lvl="0" indent="0" marL="0">
                        <a:buNone/>
                      </a:pPr>
                      <a:r>
                        <a:rPr/>
                        <a:t>Tembel başlatma, önbelleğe alma, güvenlik</a:t>
                      </a:r>
                    </a:p>
                  </a:txBody>
                </a:tc>
              </a:tr>
            </a:tbl>
          </a:graphicData>
        </a:graphic>
      </p:graphicFrame>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Yapısal Desenler: Temel İlişkiler</a:t>
            </a:r>
          </a:p>
        </p:txBody>
      </p:sp>
      <p:sp>
        <p:nvSpPr>
          <p:cNvPr id="3" name="Content Placeholder 2"/>
          <p:cNvSpPr>
            <a:spLocks noGrp="1"/>
          </p:cNvSpPr>
          <p:nvPr>
            <p:ph idx="1"/>
          </p:nvPr>
        </p:nvSpPr>
        <p:spPr/>
        <p:txBody>
          <a:bodyPr/>
          <a:lstStyle/>
          <a:p>
            <a:pPr lvl="0"/>
            <a:r>
              <a:rPr b="1"/>
              <a:t>Adapter (Adaptör)</a:t>
            </a:r>
            <a:r>
              <a:rPr/>
              <a:t> ve </a:t>
            </a:r>
            <a:r>
              <a:rPr b="1"/>
              <a:t>Bridge (Köprü)</a:t>
            </a:r>
            <a:r>
              <a:rPr/>
              <a:t>: Adapter (Adaptör) sonradan uyarlar, Bridge (Köprü) baştan tasarlar</a:t>
            </a:r>
          </a:p>
          <a:p>
            <a:pPr lvl="0"/>
            <a:r>
              <a:rPr b="1"/>
              <a:t>Composite (Bileşik)</a:t>
            </a:r>
            <a:r>
              <a:rPr/>
              <a:t> ve </a:t>
            </a:r>
            <a:r>
              <a:rPr b="1"/>
              <a:t>Decorator (Dekoratör)</a:t>
            </a:r>
            <a:r>
              <a:rPr/>
              <a:t>: Her ikisi de özyinelemeli bileşim kullanır, ancak farklı amaçlar için</a:t>
            </a:r>
          </a:p>
          <a:p>
            <a:pPr lvl="0"/>
            <a:r>
              <a:rPr b="1"/>
              <a:t>Decorator (Dekoratör)</a:t>
            </a:r>
            <a:r>
              <a:rPr/>
              <a:t> ve </a:t>
            </a:r>
            <a:r>
              <a:rPr b="1"/>
              <a:t>Proxy (Vekil)</a:t>
            </a:r>
            <a:r>
              <a:rPr/>
              <a:t>: Benzer yapılar, farklı yaşam döngüsü yönetimi</a:t>
            </a:r>
          </a:p>
          <a:p>
            <a:pPr lvl="0"/>
            <a:r>
              <a:rPr b="1"/>
              <a:t>Facade (Cephe)</a:t>
            </a:r>
            <a:r>
              <a:rPr/>
              <a:t> ve </a:t>
            </a:r>
            <a:r>
              <a:rPr b="1"/>
              <a:t>Adapter (Adaptör)</a:t>
            </a:r>
            <a:r>
              <a:rPr/>
              <a:t>: Facade (Cephe) bir alt sistemi basitleştirir, Adapter (Adaptör) tek bir nesneyi sarar</a:t>
            </a:r>
          </a:p>
          <a:p>
            <a:pPr lvl="0"/>
            <a:r>
              <a:rPr b="1"/>
              <a:t>Flyweight (Sinek Siklet)</a:t>
            </a:r>
            <a:r>
              <a:rPr/>
              <a:t> ve </a:t>
            </a:r>
            <a:r>
              <a:rPr b="1"/>
              <a:t>Singleton</a:t>
            </a:r>
            <a:r>
              <a:rPr/>
              <a:t>: Flyweight (Sinek Siklet) birden fazla paylaşılan örneğe sahiptir, Singleton bir değiştirilebilir örneğe sahiptir</a:t>
            </a:r>
          </a:p>
          <a:p>
            <a:pPr lvl="0"/>
            <a:r>
              <a:rPr b="1"/>
              <a:t>Facade (Cephe)</a:t>
            </a:r>
            <a:r>
              <a:rPr/>
              <a:t> ve </a:t>
            </a:r>
            <a:r>
              <a:rPr b="1"/>
              <a:t>Mediator</a:t>
            </a:r>
            <a:r>
              <a:rPr/>
              <a:t>: Her ikisi de işbirliğini organize eder, ancak Facade (Cephe) işlevsellik eklemez</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Kaynaklar</a:t>
            </a:r>
          </a:p>
        </p:txBody>
      </p:sp>
      <p:sp>
        <p:nvSpPr>
          <p:cNvPr id="3" name="Content Placeholder 2"/>
          <p:cNvSpPr>
            <a:spLocks noGrp="1"/>
          </p:cNvSpPr>
          <p:nvPr>
            <p:ph idx="1"/>
          </p:nvPr>
        </p:nvSpPr>
        <p:spPr/>
        <p:txBody>
          <a:bodyPr/>
          <a:lstStyle/>
          <a:p>
            <a:pPr lvl="0"/>
            <a:r>
              <a:rPr/>
              <a:t>Gamma, E., Helm, R., Johnson, R., &amp; Vlissides, J. (1994). </a:t>
            </a:r>
            <a:r>
              <a:rPr i="1"/>
              <a:t>Design Patterns: Elements of Reusable Object-Oriented Software</a:t>
            </a:r>
            <a:r>
              <a:rPr/>
              <a:t>. Addison-Wesley.</a:t>
            </a:r>
          </a:p>
          <a:p>
            <a:pPr lvl="0"/>
            <a:r>
              <a:rPr/>
              <a:t>Freeman, E., &amp; Robson, E. (2020). </a:t>
            </a:r>
            <a:r>
              <a:rPr i="1"/>
              <a:t>Head First Design Patterns: Building Extensible and Maintainable Object-Oriented Software</a:t>
            </a:r>
            <a:r>
              <a:rPr/>
              <a:t> (2nd ed.). O’Reilly Media.</a:t>
            </a:r>
          </a:p>
          <a:p>
            <a:pPr lvl="0"/>
            <a:r>
              <a:rPr/>
              <a:t>Refactoring.Guru. </a:t>
            </a:r>
            <a:r>
              <a:rPr i="1"/>
              <a:t>Structural Design Patterns</a:t>
            </a:r>
            <a:r>
              <a:rPr/>
              <a:t>. </a:t>
            </a:r>
            <a:r>
              <a:rPr>
                <a:hlinkClick r:id="rId2"/>
              </a:rPr>
              <a:t>https://refactoring.guru/design-patterns/structural-patterns</a:t>
            </a:r>
          </a:p>
          <a:p>
            <a:pPr lvl="0"/>
            <a:r>
              <a:rPr/>
              <a:t>Refactoring.Guru. </a:t>
            </a:r>
            <a:r>
              <a:rPr i="1"/>
              <a:t>Adapter</a:t>
            </a:r>
            <a:r>
              <a:rPr/>
              <a:t>. </a:t>
            </a:r>
            <a:r>
              <a:rPr>
                <a:hlinkClick r:id="rId3"/>
              </a:rPr>
              <a:t>https://refactoring.guru/design-patterns/adapter</a:t>
            </a:r>
          </a:p>
          <a:p>
            <a:pPr lvl="0"/>
            <a:r>
              <a:rPr/>
              <a:t>Refactoring.Guru. </a:t>
            </a:r>
            <a:r>
              <a:rPr i="1"/>
              <a:t>Bridge</a:t>
            </a:r>
            <a:r>
              <a:rPr/>
              <a:t>. </a:t>
            </a:r>
            <a:r>
              <a:rPr>
                <a:hlinkClick r:id="rId4"/>
              </a:rPr>
              <a:t>https://refactoring.guru/design-patterns/bridge</a:t>
            </a:r>
          </a:p>
          <a:p>
            <a:pPr lvl="0"/>
            <a:r>
              <a:rPr/>
              <a:t>Refactoring.Guru. </a:t>
            </a:r>
            <a:r>
              <a:rPr i="1"/>
              <a:t>Composite</a:t>
            </a:r>
            <a:r>
              <a:rPr/>
              <a:t>. </a:t>
            </a:r>
            <a:r>
              <a:rPr>
                <a:hlinkClick r:id="rId5"/>
              </a:rPr>
              <a:t>https://refactoring.guru/design-patterns/composite</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Kaynaklar (devam)</a:t>
            </a:r>
          </a:p>
        </p:txBody>
      </p:sp>
      <p:sp>
        <p:nvSpPr>
          <p:cNvPr id="3" name="Content Placeholder 2"/>
          <p:cNvSpPr>
            <a:spLocks noGrp="1"/>
          </p:cNvSpPr>
          <p:nvPr>
            <p:ph idx="1"/>
          </p:nvPr>
        </p:nvSpPr>
        <p:spPr/>
        <p:txBody>
          <a:bodyPr/>
          <a:lstStyle/>
          <a:p>
            <a:pPr lvl="0"/>
            <a:r>
              <a:rPr/>
              <a:t>Refactoring.Guru. </a:t>
            </a:r>
            <a:r>
              <a:rPr i="1"/>
              <a:t>Decorator</a:t>
            </a:r>
            <a:r>
              <a:rPr/>
              <a:t>. </a:t>
            </a:r>
            <a:r>
              <a:rPr>
                <a:hlinkClick r:id="rId2"/>
              </a:rPr>
              <a:t>https://refactoring.guru/design-patterns/decorator</a:t>
            </a:r>
          </a:p>
          <a:p>
            <a:pPr lvl="0"/>
            <a:r>
              <a:rPr/>
              <a:t>Refactoring.Guru. </a:t>
            </a:r>
            <a:r>
              <a:rPr i="1"/>
              <a:t>Facade</a:t>
            </a:r>
            <a:r>
              <a:rPr/>
              <a:t>. </a:t>
            </a:r>
            <a:r>
              <a:rPr>
                <a:hlinkClick r:id="rId3"/>
              </a:rPr>
              <a:t>https://refactoring.guru/design-patterns/facade</a:t>
            </a:r>
          </a:p>
          <a:p>
            <a:pPr lvl="0"/>
            <a:r>
              <a:rPr/>
              <a:t>Refactoring.Guru. </a:t>
            </a:r>
            <a:r>
              <a:rPr i="1"/>
              <a:t>Flyweight</a:t>
            </a:r>
            <a:r>
              <a:rPr/>
              <a:t>. </a:t>
            </a:r>
            <a:r>
              <a:rPr>
                <a:hlinkClick r:id="rId4"/>
              </a:rPr>
              <a:t>https://refactoring.guru/design-patterns/flyweight</a:t>
            </a:r>
          </a:p>
          <a:p>
            <a:pPr lvl="0"/>
            <a:r>
              <a:rPr/>
              <a:t>Refactoring.Guru. </a:t>
            </a:r>
            <a:r>
              <a:rPr i="1"/>
              <a:t>Proxy</a:t>
            </a:r>
            <a:r>
              <a:rPr/>
              <a:t>. </a:t>
            </a:r>
            <a:r>
              <a:rPr>
                <a:hlinkClick r:id="rId5"/>
              </a:rPr>
              <a:t>https://refactoring.guru/design-patterns/proxy</a:t>
            </a:r>
          </a:p>
          <a:p>
            <a:pPr lvl="0"/>
            <a:r>
              <a:rPr/>
              <a:t>Bloch, J. (2018). </a:t>
            </a:r>
            <a:r>
              <a:rPr i="1"/>
              <a:t>Effective Java</a:t>
            </a:r>
            <a:r>
              <a:rPr/>
              <a:t> (3rd ed.). Addison-Wesley.</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Teşekkürler</a:t>
            </a:r>
          </a:p>
        </p:txBody>
      </p:sp>
      <p:sp>
        <p:nvSpPr>
          <p:cNvPr id="3" name="Content Placeholder 2"/>
          <p:cNvSpPr>
            <a:spLocks noGrp="1"/>
          </p:cNvSpPr>
          <p:nvPr>
            <p:ph idx="1"/>
          </p:nvPr>
        </p:nvSpPr>
        <p:spPr/>
        <p:txBody>
          <a:bodyPr/>
          <a:lstStyle/>
          <a:p>
            <a:pPr lvl="0" indent="0" marL="0">
              <a:spcBef>
                <a:spcPts val="3000"/>
              </a:spcBef>
              <a:buNone/>
            </a:pPr>
            <a:r>
              <a:rPr b="1"/>
              <a:t>Sorular?</a:t>
            </a:r>
          </a:p>
          <a:p>
            <a:pPr lvl="0" indent="0" marL="0">
              <a:buNone/>
            </a:pPr>
            <a:r>
              <a:rPr b="1"/>
              <a:t>CEN206 Nesne Yönelimli Programlama</a:t>
            </a:r>
            <a:r>
              <a:rPr/>
              <a:t> </a:t>
            </a:r>
            <a:r>
              <a:rPr b="1"/>
              <a:t>Hafta-10: Yapısal Tasarım Desenleri</a:t>
            </a:r>
            <a:r>
              <a:rPr/>
              <a:t> Bahar Dönemi, 2025-2026</a:t>
            </a:r>
          </a:p>
          <a:p>
            <a:pPr lvl="0" indent="0" marL="0">
              <a:buNone/>
            </a:pPr>
            <a:r>
              <a:rPr/>
              <a:t>Öğr. Gör. Dr. Uğur CORUH</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10</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Nesne Yönelimli Programlama</dc:title>
  <dc:creator>Yazar: Öğr. Gör. Dr. Uğur CORUH</dc:creator>
  <cp:keywords/>
  <dcterms:created xsi:type="dcterms:W3CDTF">2026-03-03T13:29:41Z</dcterms:created>
  <dcterms:modified xsi:type="dcterms:W3CDTF">2026-03-03T13:29:41Z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Hafta-10</vt:lpwstr>
  </property>
  <property fmtid="{D5CDD505-2E9C-101B-9397-08002B2CF9AE}" pid="8" name="footer-center">
    <vt:lpwstr>© Telif Hakkı 2025-2026</vt:lpwstr>
  </property>
  <property fmtid="{D5CDD505-2E9C-101B-9397-08002B2CF9AE}" pid="9" name="footer-left">
    <vt:lpwstr>© Telif Hakkı 2025-2026 Öğr. Gör. Dr. Uğur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Nesne Yönelimli Programlama</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Yapısal Tasarım Desenleri</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