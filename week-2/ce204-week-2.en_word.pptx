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1" Type="http://schemas.openxmlformats.org/officeDocument/2006/relationships/slide" Target="slides/slide190.xml" /><Relationship Id="rId192" Type="http://schemas.openxmlformats.org/officeDocument/2006/relationships/slide" Target="slides/slide191.xml" /><Relationship Id="rId193" Type="http://schemas.openxmlformats.org/officeDocument/2006/relationships/slide" Target="slides/slide192.xml" /><Relationship Id="rId194" Type="http://schemas.openxmlformats.org/officeDocument/2006/relationships/slide" Target="slides/slide193.xml" /><Relationship Id="rId195" Type="http://schemas.openxmlformats.org/officeDocument/2006/relationships/slide" Target="slides/slide194.xml" /><Relationship Id="rId196" Type="http://schemas.openxmlformats.org/officeDocument/2006/relationships/slide" Target="slides/slide195.xml" /><Relationship Id="rId197" Type="http://schemas.openxmlformats.org/officeDocument/2006/relationships/slide" Target="slides/slide196.xml" /><Relationship Id="rId199" Type="http://schemas.openxmlformats.org/officeDocument/2006/relationships/viewProps" Target="viewProps.xml" /><Relationship Id="rId198" Type="http://schemas.openxmlformats.org/officeDocument/2006/relationships/presProps" Target="presProps.xml" /><Relationship Id="rId1" Type="http://schemas.openxmlformats.org/officeDocument/2006/relationships/slideMaster" Target="slideMasters/slideMaster1.xml" /><Relationship Id="rId201" Type="http://schemas.openxmlformats.org/officeDocument/2006/relationships/tableStyles" Target="tableStyles.xml" /><Relationship Id="rId20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2.en.md_doc.pdf" TargetMode="External" /><Relationship Id="rId3" Type="http://schemas.openxmlformats.org/officeDocument/2006/relationships/hyperlink" Target="ce204-week-2.en.md_word.docx" TargetMode="External" /><Relationship Id="rId4" Type="http://schemas.openxmlformats.org/officeDocument/2006/relationships/hyperlink" Target="ce204-week-2.en.md_slide.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super-keyword.html" TargetMode="External" /><Relationship Id="rId3" Type="http://schemas.openxmlformats.org/officeDocument/2006/relationships/hyperlink" Target="https://www.programiz.com/java-programming/super-keyword" TargetMode="External" /><Relationship Id="rId4" Type="http://schemas.openxmlformats.org/officeDocument/2006/relationships/hyperlink" Target="http://www.btechsmartclass.com/java/java-final-keyword.html" TargetMode="External" /><Relationship Id="rId5" Type="http://schemas.openxmlformats.org/officeDocument/2006/relationships/hyperlink" Target="https://www.programiz.com/java-programming/final-keyword" TargetMode="External" /><Relationship Id="rId6" Type="http://schemas.openxmlformats.org/officeDocument/2006/relationships/hyperlink" Target="http://www.btechsmartclass.com/java/java-polymorphism.html" TargetMode="External" /><Relationship Id="rId7" Type="http://schemas.openxmlformats.org/officeDocument/2006/relationships/hyperlink" Target="https://www.programiz.com/java-programming/polymorphism" TargetMode="External" /><Relationship Id="rId8" Type="http://schemas.openxmlformats.org/officeDocument/2006/relationships/hyperlink" Target="https://www.programiz.com/java-programming/encapsulation" TargetMode="External" /><Relationship Id="rId9" Type="http://schemas.openxmlformats.org/officeDocument/2006/relationships/hyperlink" Target="http://www.btechsmartclass.com/java/java-method-overriding.html" TargetMode="External" /></Relationships>
</file>

<file path=ppt/slides/_rels/slide1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programiz.com/java-programming/method-overriding" TargetMode="External" /><Relationship Id="rId3" Type="http://schemas.openxmlformats.org/officeDocument/2006/relationships/hyperlink" Target="https://www.programiz.com/java-programming/nested-inner-class" TargetMode="External" /><Relationship Id="rId4" Type="http://schemas.openxmlformats.org/officeDocument/2006/relationships/hyperlink" Target="https://www.programiz.com/java-programming/static-class" TargetMode="External" /><Relationship Id="rId5" Type="http://schemas.openxmlformats.org/officeDocument/2006/relationships/hyperlink" Target="https://www.programiz.com/java-programming/anonymous-class" TargetMode="External" /><Relationship Id="rId6" Type="http://schemas.openxmlformats.org/officeDocument/2006/relationships/hyperlink" Target="https://www.programiz.com/java-programming/enums" TargetMode="External" /><Relationship Id="rId7" Type="http://schemas.openxmlformats.org/officeDocument/2006/relationships/hyperlink" Target="https://www.programiz.com/java-programming/enum-constructor" TargetMode="External" /><Relationship Id="rId8" Type="http://schemas.openxmlformats.org/officeDocument/2006/relationships/hyperlink" Target="https://www.programiz.com/java-programming/enum-string" TargetMode="External" /><Relationship Id="rId9" Type="http://schemas.openxmlformats.org/officeDocument/2006/relationships/hyperlink" Target="http://www.btechsmartclass.com/java/java-abstract-class.html" TargetMode="External" /><Relationship Id="rId10" Type="http://schemas.openxmlformats.org/officeDocument/2006/relationships/hyperlink" Target="https://www.programiz.com/java-programming/abstract-classes-methods" TargetMode="External" /></Relationships>
</file>

<file path=ppt/slides/_rels/slide1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Object-class.html" TargetMode="External" /><Relationship Id="rId3" Type="http://schemas.openxmlformats.org/officeDocument/2006/relationships/hyperlink" Target="http://www.btechsmartclass.com/java/java-forms-of-inheritance.html" TargetMode="External" /><Relationship Id="rId4" Type="http://schemas.openxmlformats.org/officeDocument/2006/relationships/hyperlink" Target="https://www.programiz.com/java-programming/interfaces" TargetMode="External" /><Relationship Id="rId5" Type="http://schemas.openxmlformats.org/officeDocument/2006/relationships/hyperlink" Target="http://www.btechsmartclass.com/java/java-benefits-and-costs-of-inheritance.html" TargetMode="External" /><Relationship Id="rId6" Type="http://schemas.openxmlformats.org/officeDocument/2006/relationships/hyperlink" Target="http://www.btechsmartclass.com/java/java-defining-packages.html" TargetMode="External" /><Relationship Id="rId7" Type="http://schemas.openxmlformats.org/officeDocument/2006/relationships/hyperlink" Target="http://www.btechsmartclass.com/java/java-access-protection-in-packages.html" TargetMode="External" /><Relationship Id="rId8" Type="http://schemas.openxmlformats.org/officeDocument/2006/relationships/hyperlink" Target="http://www.btechsmartclass.com/java/java-importing-packages.html" TargetMode="External" /></Relationships>
</file>

<file path=ppt/slides/_rels/slide19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Inheritance, Polymorphism and Advanced Class Structures</a:t>
            </a:r>
            <a:br/>
            <a:br/>
            <a:r>
              <a:rPr/>
              <a:t>Author: Asst. Prof. Dr. Ugur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Week-2 (Inheritance, Polymorphism and Advanced Class Structures)</a:t>
            </a:r>
          </a:p>
        </p:txBody>
      </p:sp>
      <p:sp>
        <p:nvSpPr>
          <p:cNvPr id="3" name="Content Placeholder 2"/>
          <p:cNvSpPr>
            <a:spLocks noGrp="1"/>
          </p:cNvSpPr>
          <p:nvPr>
            <p:ph idx="1"/>
          </p:nvPr>
        </p:nvSpPr>
        <p:spPr/>
        <p:txBody>
          <a:bodyPr/>
          <a:lstStyle/>
          <a:p>
            <a:pPr lvl="0" indent="0" marL="0">
              <a:spcBef>
                <a:spcPts val="3000"/>
              </a:spcBef>
              <a:buNone/>
            </a:pPr>
            <a:r>
              <a:rPr b="1"/>
              <a:t>Spring Semester, 2025-2026</a:t>
            </a:r>
          </a:p>
          <a:p>
            <a:pPr lvl="0" indent="0" marL="0">
              <a:buNone/>
            </a:pPr>
            <a:r>
              <a:rPr/>
              <a:t>Download </a:t>
            </a:r>
            <a:r>
              <a:rPr>
                <a:hlinkClick r:id="rId2"/>
              </a:rPr>
              <a:t>DOC-PDF</a:t>
            </a:r>
            <a:r>
              <a:rPr/>
              <a:t>, </a:t>
            </a:r>
            <a:r>
              <a:rPr>
                <a:hlinkClick r:id="rId3"/>
              </a:rPr>
              <a:t>DOC-DOCX</a:t>
            </a:r>
            <a:r>
              <a:rPr/>
              <a:t>, </a:t>
            </a:r>
            <a:r>
              <a:rPr>
                <a:hlinkClick r:id="rId4"/>
              </a:rPr>
              <a:t>SLIDE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A: Java Inheritance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Organizing Classes into Inheritance Hierarchies</a:t>
            </a:r>
          </a:p>
          <a:p>
            <a:pPr lvl="0"/>
            <a:r>
              <a:rPr/>
              <a:t>The Is-a Rule and Design Principles</a:t>
            </a:r>
          </a:p>
          <a:p>
            <a:pPr lvl="0"/>
            <a:r>
              <a:rPr/>
              <a:t>Java Inheritance Syntax and Basics</a:t>
            </a:r>
          </a:p>
          <a:p>
            <a:pPr lvl="0"/>
            <a:r>
              <a:rPr/>
              <a:t>Single, Multi-level, Hierarchical, and Hybrid Inheritance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Organizing Classes into Inheritance Hierarchies</a:t>
            </a:r>
          </a:p>
          <a:p>
            <a:pPr lvl="0"/>
            <a:r>
              <a:rPr b="1"/>
              <a:t>Superclasses</a:t>
            </a:r>
          </a:p>
          <a:p>
            <a:pPr lvl="1"/>
            <a:r>
              <a:rPr/>
              <a:t>Contain features common to a set of subclasses</a:t>
            </a:r>
          </a:p>
          <a:p>
            <a:pPr lvl="0"/>
            <a:r>
              <a:rPr b="1"/>
              <a:t>Inheritance hierarchies</a:t>
            </a:r>
          </a:p>
          <a:p>
            <a:pPr lvl="1"/>
            <a:r>
              <a:rPr/>
              <a:t>Show the relationships among superclasses and subclasses</a:t>
            </a:r>
          </a:p>
          <a:p>
            <a:pPr lvl="1"/>
            <a:r>
              <a:rPr/>
              <a:t>A triangle shows a </a:t>
            </a:r>
            <a:r>
              <a:rPr i="1"/>
              <a:t>generalization</a:t>
            </a:r>
          </a:p>
          <a:p>
            <a:pPr lvl="0"/>
            <a:r>
              <a:rPr b="1"/>
              <a:t>Inheritance</a:t>
            </a:r>
          </a:p>
          <a:p>
            <a:pPr lvl="1"/>
            <a:r>
              <a:rPr/>
              <a:t>The implicit possession by all subclasses of features defined in its superclasses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 Example Inheritance Hierarchy</a:t>
            </a:r>
          </a:p>
        </p:txBody>
      </p:sp>
      <p:pic>
        <p:nvPicPr>
          <p:cNvPr descr="assets/2022-02-21-01-23-58-image.png" id="0" name="Picture 1"/>
          <p:cNvPicPr>
            <a:picLocks noGrp="1" noChangeAspect="1"/>
          </p:cNvPicPr>
          <p:nvPr/>
        </p:nvPicPr>
        <p:blipFill>
          <a:blip r:embed="rId2"/>
          <a:stretch>
            <a:fillRect/>
          </a:stretch>
        </p:blipFill>
        <p:spPr bwMode="auto">
          <a:xfrm>
            <a:off x="3568700" y="1295400"/>
            <a:ext cx="5105400" cy="1689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
        <p:nvSpPr>
          <p:cNvPr id="3" name="Content Placeholder 2"/>
          <p:cNvSpPr>
            <a:spLocks noGrp="1"/>
          </p:cNvSpPr>
          <p:nvPr>
            <p:ph idx="1"/>
          </p:nvPr>
        </p:nvSpPr>
        <p:spPr/>
        <p:txBody>
          <a:bodyPr/>
          <a:lstStyle/>
          <a:p>
            <a:pPr lvl="0"/>
            <a:r>
              <a:rPr b="1"/>
              <a:t>Inheritance</a:t>
            </a:r>
          </a:p>
          <a:p>
            <a:pPr lvl="1"/>
            <a:r>
              <a:rPr/>
              <a:t>The </a:t>
            </a:r>
            <a:r>
              <a:rPr i="1"/>
              <a:t>implicit</a:t>
            </a:r>
            <a:r>
              <a:rPr/>
              <a:t> possession by all subclasses of features defined in its superclasses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Is-a Rule</a:t>
            </a:r>
          </a:p>
          <a:p>
            <a:pPr lvl="0"/>
            <a:r>
              <a:rPr b="1"/>
              <a:t>Always check generalizations to ensure they obey the isa rule</a:t>
            </a:r>
          </a:p>
          <a:p>
            <a:pPr lvl="1"/>
            <a:r>
              <a:rPr/>
              <a:t>“A checking account </a:t>
            </a:r>
            <a:r>
              <a:rPr b="1"/>
              <a:t>is an</a:t>
            </a:r>
            <a:r>
              <a:rPr/>
              <a:t> account”</a:t>
            </a:r>
          </a:p>
          <a:p>
            <a:pPr lvl="1"/>
            <a:r>
              <a:rPr/>
              <a:t>“A village </a:t>
            </a:r>
            <a:r>
              <a:rPr b="1"/>
              <a:t>is a</a:t>
            </a:r>
            <a:r>
              <a:rPr/>
              <a:t> municipality”</a:t>
            </a:r>
          </a:p>
          <a:p>
            <a:pPr lvl="0"/>
            <a:r>
              <a:rPr b="1"/>
              <a:t>Should ‘Province’ be a subclass of ‘Country’?</a:t>
            </a:r>
          </a:p>
          <a:p>
            <a:pPr lvl="1"/>
            <a:r>
              <a:rPr/>
              <a:t>No, it violates the is-a rule</a:t>
            </a:r>
          </a:p>
          <a:p>
            <a:pPr lvl="1"/>
            <a:r>
              <a:rPr/>
              <a:t>“A province </a:t>
            </a:r>
            <a:r>
              <a:rPr b="1"/>
              <a:t>is a</a:t>
            </a:r>
            <a:r>
              <a:rPr/>
              <a:t> country” is invalid!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 possible inheritance hierarchy of mathematical objects</a:t>
            </a:r>
          </a:p>
        </p:txBody>
      </p:sp>
      <p:pic>
        <p:nvPicPr>
          <p:cNvPr descr="assets/2022-02-21-01-27-13-image.png" id="0" name="Picture 1"/>
          <p:cNvPicPr>
            <a:picLocks noGrp="1" noChangeAspect="1"/>
          </p:cNvPicPr>
          <p:nvPr/>
        </p:nvPicPr>
        <p:blipFill>
          <a:blip r:embed="rId2"/>
          <a:stretch>
            <a:fillRect/>
          </a:stretch>
        </p:blipFill>
        <p:spPr bwMode="auto">
          <a:xfrm>
            <a:off x="3835400" y="203200"/>
            <a:ext cx="4572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Make Sure all Inherited Features Make Sense in Subclasses</a:t>
            </a:r>
          </a:p>
        </p:txBody>
      </p:sp>
      <p:pic>
        <p:nvPicPr>
          <p:cNvPr descr="assets/2022-02-21-01-28-36-image.png" id="0" name="Picture 1"/>
          <p:cNvPicPr>
            <a:picLocks noGrp="1" noChangeAspect="1"/>
          </p:cNvPicPr>
          <p:nvPr/>
        </p:nvPicPr>
        <p:blipFill>
          <a:blip r:embed="rId2"/>
          <a:stretch>
            <a:fillRect/>
          </a:stretch>
        </p:blipFill>
        <p:spPr bwMode="auto">
          <a:xfrm>
            <a:off x="3568700" y="508000"/>
            <a:ext cx="5105400" cy="3276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Inheritance, Polymorphism and Variables</a:t>
            </a:r>
          </a:p>
        </p:txBody>
      </p:sp>
      <p:pic>
        <p:nvPicPr>
          <p:cNvPr descr="assets/2022-02-21-01-29-28-image.png" id="0" name="Picture 1"/>
          <p:cNvPicPr>
            <a:picLocks noGrp="1" noChangeAspect="1"/>
          </p:cNvPicPr>
          <p:nvPr/>
        </p:nvPicPr>
        <p:blipFill>
          <a:blip r:embed="rId2"/>
          <a:stretch>
            <a:fillRect/>
          </a:stretch>
        </p:blipFill>
        <p:spPr bwMode="auto">
          <a:xfrm>
            <a:off x="3937000" y="203200"/>
            <a:ext cx="4368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Some Operations in the Shape Example</a:t>
            </a:r>
          </a:p>
        </p:txBody>
      </p:sp>
      <p:pic>
        <p:nvPicPr>
          <p:cNvPr descr="assets/2022-02-21-01-30-01-image.png" id="0" name="Picture 1"/>
          <p:cNvPicPr>
            <a:picLocks noGrp="1" noChangeAspect="1"/>
          </p:cNvPicPr>
          <p:nvPr/>
        </p:nvPicPr>
        <p:blipFill>
          <a:blip r:embed="rId2"/>
          <a:stretch>
            <a:fillRect/>
          </a:stretch>
        </p:blipFill>
        <p:spPr bwMode="auto">
          <a:xfrm>
            <a:off x="3721100" y="203200"/>
            <a:ext cx="4800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Inheritance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Inheritance Concept</a:t>
            </a:r>
          </a:p>
          <a:p>
            <a:pPr lvl="0"/>
            <a:r>
              <a:rPr/>
              <a:t>The inheritance is a very useful and powerful concept of object-oriented programming.</a:t>
            </a:r>
          </a:p>
          <a:p>
            <a:pPr lvl="0"/>
            <a:r>
              <a:rPr/>
              <a:t>In java, using the inheritance concept, we can use the existing features of one class in another class. - The inheritance provides a great advantage called code re-usability.</a:t>
            </a:r>
          </a:p>
          <a:p>
            <a:pPr lvl="0"/>
            <a:r>
              <a:rPr/>
              <a:t>With the help of code re-usability, the commonly used code in an application need not be written again and again.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Inheritance Concept</a:t>
            </a:r>
          </a:p>
        </p:txBody>
      </p:sp>
      <p:pic>
        <p:nvPicPr>
          <p:cNvPr descr="assets/OOP-Concept-Inheritance.png" id="0" name="Picture 1"/>
          <p:cNvPicPr>
            <a:picLocks noGrp="1" noChangeAspect="1"/>
          </p:cNvPicPr>
          <p:nvPr/>
        </p:nvPicPr>
        <p:blipFill>
          <a:blip r:embed="rId2"/>
          <a:stretch>
            <a:fillRect/>
          </a:stretch>
        </p:blipFill>
        <p:spPr bwMode="auto">
          <a:xfrm>
            <a:off x="4381500" y="203200"/>
            <a:ext cx="3479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Inheritance Concept</a:t>
            </a:r>
          </a:p>
          <a:p>
            <a:pPr lvl="0" indent="0" marL="0">
              <a:buNone/>
            </a:pPr>
            <a:r>
              <a:rPr/>
              <a:t>The inheritance is the process of acquiring the properties of one class to another class.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Inheritance Basics</a:t>
            </a:r>
          </a:p>
          <a:p>
            <a:pPr lvl="0"/>
            <a:r>
              <a:rPr/>
              <a:t>In inheritance, we use the terms like</a:t>
            </a:r>
          </a:p>
          <a:p>
            <a:pPr lvl="1"/>
            <a:r>
              <a:rPr/>
              <a:t>parent class,</a:t>
            </a:r>
          </a:p>
          <a:p>
            <a:pPr lvl="1"/>
            <a:r>
              <a:rPr/>
              <a:t>child class,</a:t>
            </a:r>
          </a:p>
          <a:p>
            <a:pPr lvl="1"/>
            <a:r>
              <a:rPr/>
              <a:t>base class,</a:t>
            </a:r>
          </a:p>
          <a:p>
            <a:pPr lvl="1"/>
            <a:r>
              <a:rPr/>
              <a:t>derived class,</a:t>
            </a:r>
          </a:p>
          <a:p>
            <a:pPr lvl="1"/>
            <a:r>
              <a:rPr/>
              <a:t>superclass, and</a:t>
            </a:r>
          </a:p>
          <a:p>
            <a:pPr lvl="1"/>
            <a:r>
              <a:rPr/>
              <a:t>subclass.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Inheritance Basics</a:t>
            </a:r>
          </a:p>
          <a:p>
            <a:pPr lvl="0"/>
            <a:r>
              <a:rPr b="1"/>
              <a:t>The Parent class</a:t>
            </a:r>
            <a:r>
              <a:rPr/>
              <a:t> is the class which provides features to another class.</a:t>
            </a:r>
          </a:p>
          <a:p>
            <a:pPr lvl="1"/>
            <a:r>
              <a:rPr b="1"/>
              <a:t>The parent class</a:t>
            </a:r>
            <a:r>
              <a:rPr/>
              <a:t> is also known as </a:t>
            </a:r>
            <a:r>
              <a:rPr b="1"/>
              <a:t>Base class</a:t>
            </a:r>
            <a:r>
              <a:rPr/>
              <a:t> or </a:t>
            </a:r>
            <a:r>
              <a:rPr b="1"/>
              <a:t>Superclass</a:t>
            </a:r>
            <a:r>
              <a:rPr/>
              <a:t>.</a:t>
            </a:r>
          </a:p>
          <a:p>
            <a:pPr lvl="0"/>
            <a:r>
              <a:rPr b="1"/>
              <a:t>The Child class</a:t>
            </a:r>
            <a:r>
              <a:rPr/>
              <a:t> is the class which receives features from another class.</a:t>
            </a:r>
          </a:p>
          <a:p>
            <a:pPr lvl="1"/>
            <a:r>
              <a:rPr b="1"/>
              <a:t>The child class</a:t>
            </a:r>
            <a:r>
              <a:rPr/>
              <a:t> is also known as the </a:t>
            </a:r>
            <a:r>
              <a:rPr b="1"/>
              <a:t>Derived Class</a:t>
            </a:r>
            <a:r>
              <a:rPr/>
              <a:t> or </a:t>
            </a:r>
            <a:r>
              <a:rPr b="1"/>
              <a:t>Subclass</a:t>
            </a:r>
            <a:r>
              <a:rPr/>
              <a: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Inheritance Basics</a:t>
            </a:r>
          </a:p>
          <a:p>
            <a:pPr lvl="0"/>
            <a:r>
              <a:rPr/>
              <a:t>In the inheritance,</a:t>
            </a:r>
          </a:p>
          <a:p>
            <a:pPr lvl="1"/>
            <a:r>
              <a:rPr/>
              <a:t>the child class acquires the features from its parent class.</a:t>
            </a:r>
          </a:p>
          <a:p>
            <a:pPr lvl="1"/>
            <a:r>
              <a:rPr/>
              <a:t>But the parent class never acquires the features from its child class.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Inheritance Basics</a:t>
            </a:r>
          </a:p>
          <a:p>
            <a:pPr lvl="0" indent="0" marL="0">
              <a:buNone/>
            </a:pPr>
            <a:r>
              <a:rPr/>
              <a:t>There are five types of inheritances, and they are as follows.</a:t>
            </a:r>
          </a:p>
          <a:p>
            <a:pPr lvl="0"/>
            <a:r>
              <a:rPr/>
              <a:t>Simple Inheritance (or) Single Inheritance</a:t>
            </a:r>
          </a:p>
          <a:p>
            <a:pPr lvl="0"/>
            <a:r>
              <a:rPr/>
              <a:t>Multiple Inheritance</a:t>
            </a:r>
          </a:p>
          <a:p>
            <a:pPr lvl="0"/>
            <a:r>
              <a:rPr/>
              <a:t>Multi-Level Inheritance</a:t>
            </a:r>
          </a:p>
          <a:p>
            <a:pPr lvl="0"/>
            <a:r>
              <a:rPr/>
              <a:t>Hierarchical Inheritance</a:t>
            </a:r>
          </a:p>
          <a:p>
            <a:pPr lvl="0"/>
            <a:r>
              <a:rPr/>
              <a:t>Hybrid Inheritance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Inheritance Basics</a:t>
            </a:r>
          </a:p>
          <a:p>
            <a:pPr lvl="0"/>
            <a:r>
              <a:rPr/>
              <a:t>Simple Inheritance (or) Single Inheritance</a:t>
            </a:r>
          </a:p>
        </p:txBody>
      </p:sp>
      <p:pic>
        <p:nvPicPr>
          <p:cNvPr descr="assets/2022-02-23-23-30-38-image.png" id="0" name="Picture 1"/>
          <p:cNvPicPr>
            <a:picLocks noGrp="1" noChangeAspect="1"/>
          </p:cNvPicPr>
          <p:nvPr/>
        </p:nvPicPr>
        <p:blipFill>
          <a:blip r:embed="rId2"/>
          <a:stretch>
            <a:fillRect/>
          </a:stretch>
        </p:blipFill>
        <p:spPr bwMode="auto">
          <a:xfrm>
            <a:off x="3924300" y="203200"/>
            <a:ext cx="4381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Inheritance Basics</a:t>
            </a:r>
          </a:p>
          <a:p>
            <a:pPr lvl="0"/>
            <a:r>
              <a:rPr/>
              <a:t>Multiple Inheritance</a:t>
            </a:r>
          </a:p>
        </p:txBody>
      </p:sp>
      <p:pic>
        <p:nvPicPr>
          <p:cNvPr descr="assets/2022-02-23-23-30-55-image.png" id="0" name="Picture 1"/>
          <p:cNvPicPr>
            <a:picLocks noGrp="1" noChangeAspect="1"/>
          </p:cNvPicPr>
          <p:nvPr/>
        </p:nvPicPr>
        <p:blipFill>
          <a:blip r:embed="rId2"/>
          <a:stretch>
            <a:fillRect/>
          </a:stretch>
        </p:blipFill>
        <p:spPr bwMode="auto">
          <a:xfrm>
            <a:off x="3568700" y="609600"/>
            <a:ext cx="5105400" cy="3048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Inheritance Basics</a:t>
            </a:r>
          </a:p>
          <a:p>
            <a:pPr lvl="0"/>
            <a:r>
              <a:rPr/>
              <a:t>Multi-Level Inheritance</a:t>
            </a:r>
          </a:p>
        </p:txBody>
      </p:sp>
      <p:pic>
        <p:nvPicPr>
          <p:cNvPr descr="assets/2022-02-23-23-31-17-image.png" id="0" name="Picture 1"/>
          <p:cNvPicPr>
            <a:picLocks noGrp="1" noChangeAspect="1"/>
          </p:cNvPicPr>
          <p:nvPr/>
        </p:nvPicPr>
        <p:blipFill>
          <a:blip r:embed="rId2"/>
          <a:stretch>
            <a:fillRect/>
          </a:stretch>
        </p:blipFill>
        <p:spPr bwMode="auto">
          <a:xfrm>
            <a:off x="4279900" y="203200"/>
            <a:ext cx="3670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Inheritance Basics</a:t>
            </a:r>
          </a:p>
          <a:p>
            <a:pPr lvl="0"/>
            <a:r>
              <a:rPr/>
              <a:t>Hierarchical Inheritance</a:t>
            </a:r>
          </a:p>
        </p:txBody>
      </p:sp>
      <p:pic>
        <p:nvPicPr>
          <p:cNvPr descr="assets/2022-02-23-23-31-46-image.png" id="0" name="Picture 1"/>
          <p:cNvPicPr>
            <a:picLocks noGrp="1" noChangeAspect="1"/>
          </p:cNvPicPr>
          <p:nvPr/>
        </p:nvPicPr>
        <p:blipFill>
          <a:blip r:embed="rId2"/>
          <a:stretch>
            <a:fillRect/>
          </a:stretch>
        </p:blipFill>
        <p:spPr bwMode="auto">
          <a:xfrm>
            <a:off x="3568700" y="558800"/>
            <a:ext cx="5105400" cy="3162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Inheritance Basics</a:t>
            </a:r>
          </a:p>
          <a:p>
            <a:pPr lvl="0"/>
            <a:r>
              <a:rPr/>
              <a:t>Hybrid Inheritance</a:t>
            </a:r>
          </a:p>
        </p:txBody>
      </p:sp>
      <p:pic>
        <p:nvPicPr>
          <p:cNvPr descr="assets/2022-02-23-23-32-26-image.png" id="0" name="Picture 1"/>
          <p:cNvPicPr>
            <a:picLocks noGrp="1" noChangeAspect="1"/>
          </p:cNvPicPr>
          <p:nvPr/>
        </p:nvPicPr>
        <p:blipFill>
          <a:blip r:embed="rId2"/>
          <a:stretch>
            <a:fillRect/>
          </a:stretch>
        </p:blipFill>
        <p:spPr bwMode="auto">
          <a:xfrm>
            <a:off x="3835400" y="203200"/>
            <a:ext cx="4584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Inheritance Basics</a:t>
            </a:r>
          </a:p>
          <a:p>
            <a:pPr lvl="0"/>
            <a:r>
              <a:rPr/>
              <a:t>The java programming language does not support multiple inheritance type.</a:t>
            </a:r>
          </a:p>
          <a:p>
            <a:pPr lvl="0"/>
            <a:r>
              <a:rPr/>
              <a:t>However, it provides an alternate with the concept of </a:t>
            </a:r>
            <a:r>
              <a:rPr b="1"/>
              <a:t>interfaces</a:t>
            </a:r>
            <a: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Child Class in java</a:t>
            </a:r>
          </a:p>
          <a:p>
            <a:pPr lvl="0"/>
            <a:r>
              <a:rPr/>
              <a:t>In java, we use the keyword </a:t>
            </a:r>
            <a:r>
              <a:rPr b="1"/>
              <a:t>extends</a:t>
            </a:r>
            <a:r>
              <a:rPr/>
              <a:t> to create a child class.</a:t>
            </a:r>
          </a:p>
          <a:p>
            <a:pPr lvl="1"/>
            <a:r>
              <a:rPr/>
              <a:t>The following syntax used to create a child class in java.</a:t>
            </a:r>
          </a:p>
          <a:p>
            <a:pPr lvl="0" indent="0" marL="0">
              <a:buNone/>
            </a:pPr>
            <a:r>
              <a:rPr>
                <a:latin typeface="Courier"/>
              </a:rPr>
              <a:t>Java linenums="1"   class &lt;ChildClassName&gt; extends &lt;ParentClassName&gt;{     ...     //Implementation of child class     ...   }</a:t>
            </a:r>
          </a:p>
          <a:p>
            <a:pPr lvl="0"/>
            <a:r>
              <a:rPr/>
              <a:t>In a java programming language, a class extends only one class.</a:t>
            </a:r>
          </a:p>
          <a:p>
            <a:pPr lvl="1"/>
            <a:r>
              <a:rPr/>
              <a:t>Extending multiple classes is not allowed in java.</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Single Inheritance in Java Example-1</a:t>
            </a:r>
          </a:p>
          <a:p>
            <a:pPr lvl="0"/>
            <a:r>
              <a:rPr/>
              <a:t>In this type of inheritance, one child class derives from one parent class.</a:t>
            </a:r>
          </a:p>
          <a:p>
            <a:pPr lvl="0" indent="0" marL="0">
              <a:buNone/>
            </a:pPr>
            <a:r>
              <a:rPr>
                <a:latin typeface="Courier"/>
              </a:rPr>
              <a:t>Java linenums="1" class ParentClass{     int a;     void setData(int a) {         this.a = a;     } }</a:t>
            </a:r>
          </a:p>
          <a:p>
            <a:pPr lvl="0" indent="0" marL="0">
              <a:buNone/>
            </a:pPr>
            <a:r>
              <a:rPr>
                <a:latin typeface="Courier"/>
              </a:rPr>
              <a:t>Java linenums="1" class ChildClass extends ParentClass{     void showData() {         System.out.println("Value of a is " + a);     } }</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Single Inheritance in Java Example-1</a:t>
            </a:r>
          </a:p>
          <a:p>
            <a:pPr lvl="0" indent="0" marL="0">
              <a:buNone/>
            </a:pPr>
            <a:r>
              <a:rPr/>
              <a:t>``` Java linenums=“1” public class SingleInheritance {</a:t>
            </a:r>
          </a:p>
          <a:p>
            <a:pPr lvl="0" indent="0">
              <a:buNone/>
            </a:pPr>
            <a:r>
              <a:rPr>
                <a:latin typeface="Courier"/>
              </a:rPr>
              <a:t>public static void main(String[] args) {
    ChildClass obj = new ChildClass();
    obj.setData(100);
    obj.showData();
}</a:t>
            </a:r>
          </a:p>
          <a:p>
            <a:pPr lvl="0" indent="0" marL="0">
              <a:buNone/>
            </a:pPr>
            <a:r>
              <a:rPr/>
              <a:t>}</a:t>
            </a:r>
          </a:p>
          <a:p>
            <a:pPr lvl="0" indent="0">
              <a:buNone/>
            </a:pPr>
            <a:r>
              <a:rPr>
                <a:latin typeface="Courier"/>
              </a:rPr>
              <a:t>
---
### Single Inheritance in Java Example-2
``` Java linenums="1"
class Animal {
  // field and method of the parent class
  String name;
  public void eat() {
    System.out.println("I can eat");
  }
}</a:t>
            </a:r>
          </a:p>
          <a:p>
            <a:pPr lvl="0" indent="0" marL="0">
              <a:buNone/>
            </a:pPr>
            <a:r>
              <a:rPr/>
              <a:t>``` Java linenums=“1” // inherit from Animal class Dog extends Animal {</a:t>
            </a:r>
          </a:p>
          <a:p>
            <a:pPr lvl="0" indent="0" marL="0">
              <a:buNone/>
            </a:pPr>
            <a:r>
              <a:rPr/>
              <a:t>// new method in subclass public void display() { System.out.println(“My name is” + name); } }</a:t>
            </a:r>
          </a:p>
          <a:p>
            <a:pPr lvl="0" indent="0">
              <a:buNone/>
            </a:pPr>
            <a:r>
              <a:rPr>
                <a:latin typeface="Courier"/>
              </a:rPr>
              <a:t>
---
### Single Inheritance in Java Example-2
``` Java linenums="1"
class Main {
  public static void main(String[] args) {
    // create an object of the subclass
    Dog labrador = new Dog();
    // access field of superclass
    labrador.name = "Rohu";
    labrador.display();
    // call method of superclass
    // using object of subclass
    labrador.eat();
  }
}</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Single Inheritance in Java Example-2</a:t>
            </a:r>
          </a:p>
        </p:txBody>
      </p:sp>
      <p:pic>
        <p:nvPicPr>
          <p:cNvPr descr="assets/java-inheritance-implementation.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Single Inheritance / is-a relationship</a:t>
            </a:r>
          </a:p>
          <a:p>
            <a:pPr lvl="0"/>
            <a:r>
              <a:rPr/>
              <a:t>In Java, inheritance is an is-a relationship. That is, we use inheritance only if there exists an is-a relationship between two classes. For example,</a:t>
            </a:r>
          </a:p>
          <a:p>
            <a:pPr lvl="1"/>
            <a:r>
              <a:rPr/>
              <a:t>Car is a Vehicle</a:t>
            </a:r>
          </a:p>
          <a:p>
            <a:pPr lvl="1"/>
            <a:r>
              <a:rPr/>
              <a:t>Orange is a Fruit</a:t>
            </a:r>
          </a:p>
          <a:p>
            <a:pPr lvl="1"/>
            <a:r>
              <a:rPr/>
              <a:t>Surgeon is a Doctor</a:t>
            </a:r>
          </a:p>
          <a:p>
            <a:pPr lvl="1"/>
            <a:r>
              <a:rPr/>
              <a:t>Dog is an Animal</a:t>
            </a:r>
          </a:p>
          <a:p>
            <a:pPr lvl="2"/>
            <a:r>
              <a:rPr/>
              <a:t>Here, Car can inherit from Vehicle, Orange can inherit from Fruit, and so 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Multi-level Inheritance in java</a:t>
            </a:r>
          </a:p>
          <a:p>
            <a:pPr lvl="0"/>
            <a:r>
              <a:rPr/>
              <a:t>In this type of inheritance, the child class derives from a class which already derived from another class</a:t>
            </a:r>
          </a:p>
          <a:p>
            <a:pPr lvl="0" indent="0" marL="0">
              <a:buNone/>
            </a:pPr>
            <a:r>
              <a:rPr>
                <a:latin typeface="Courier"/>
              </a:rPr>
              <a:t>Java linenums="1" class ParentClass{     int a;     void setData(int a) {         this.a = a;     } }</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Multi-level Inheritance in java</a:t>
            </a:r>
          </a:p>
          <a:p>
            <a:pPr lvl="0" indent="0" marL="0">
              <a:buNone/>
            </a:pPr>
            <a:r>
              <a:rPr>
                <a:latin typeface="Courier"/>
              </a:rPr>
              <a:t>Java linenums="1" class ChildClass extends ParentClass{     void showData() {         System.out.println("Value of a is " + a);     } }</a:t>
            </a:r>
          </a:p>
          <a:p>
            <a:pPr lvl="0" indent="0" marL="0">
              <a:buNone/>
            </a:pPr>
            <a:r>
              <a:rPr>
                <a:latin typeface="Courier"/>
              </a:rPr>
              <a:t>Java linenums="1" class ChildChildClass extends ChildClass{     void display() {         System.out.println("Inside ChildChildClass!");     } }</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Multi-level Inheritance in java</a:t>
            </a:r>
          </a:p>
          <a:p>
            <a:pPr lvl="0" indent="0" marL="0">
              <a:buNone/>
            </a:pPr>
            <a:r>
              <a:rPr/>
              <a:t>``` Java linenums=“1” public class MultipleInheritance {</a:t>
            </a:r>
          </a:p>
          <a:p>
            <a:pPr lvl="0" indent="0">
              <a:buNone/>
            </a:pPr>
            <a:r>
              <a:rPr>
                <a:latin typeface="Courier"/>
              </a:rPr>
              <a:t>public static void main(String[] args) {
    ChildChildClass obj = new ChildChildClass();
    obj.setData(100);
    obj.showData();
    obj.display();
}</a:t>
            </a:r>
          </a:p>
          <a:p>
            <a:pPr lvl="0" indent="0" marL="0">
              <a:buNone/>
            </a:pPr>
            <a:r>
              <a:rPr/>
              <a:t>}</a:t>
            </a:r>
          </a:p>
          <a:p>
            <a:pPr lvl="0" indent="0">
              <a:buNone/>
            </a:pPr>
            <a:r>
              <a:rPr>
                <a:latin typeface="Courier"/>
              </a:rPr>
              <a:t>
---
### Hierarchical Inheritance in java
- In this type of inheritance, two or more child classes derive from one parent class.
``` Java linenums="1"
class ParentClass{
    int a;
    void setData(int a) {
        this.a = a;
    }
}</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Hierarchical Inheritance in java</a:t>
            </a:r>
          </a:p>
          <a:p>
            <a:pPr lvl="0" indent="0" marL="0">
              <a:buNone/>
            </a:pPr>
            <a:r>
              <a:rPr>
                <a:latin typeface="Courier"/>
              </a:rPr>
              <a:t>Java linenums="1" class ChildClass extends ParentClass{     void showData() {         System.out.println("Inside ChildClass!");         System.out.println("Value of a is " + a);     } }</a:t>
            </a:r>
            <a:r>
              <a:rPr/>
              <a:t> </a:t>
            </a:r>
            <a:r>
              <a:rPr>
                <a:latin typeface="Courier"/>
              </a:rPr>
              <a:t>Java linenums="1" class ChildClassToo extends ParentClass{     void display() {         System.out.println("Inside ChildClassToo!");         System.out.println("Value of a is " + a);     } }</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Hierarchical Inheritance in java</a:t>
            </a:r>
          </a:p>
          <a:p>
            <a:pPr lvl="0" indent="0" marL="0">
              <a:buNone/>
            </a:pPr>
            <a:r>
              <a:rPr/>
              <a:t>``` Java linenums=“1” public class HierarchicalInheritance { public static void main(String[] args) { ChildClass child_obj = new ChildClass(); child_obj.setData(100); child_obj.showData();</a:t>
            </a:r>
          </a:p>
          <a:p>
            <a:pPr lvl="0" indent="0">
              <a:buNone/>
            </a:pPr>
            <a:r>
              <a:rPr>
                <a:latin typeface="Courier"/>
              </a:rPr>
              <a:t>    ChildClassToo childToo_obj = new ChildClassToo();
    childToo_obj.setData(200);
    childToo_obj.display();
}</a:t>
            </a:r>
          </a:p>
          <a:p>
            <a:pPr lvl="0" indent="0" marL="0">
              <a:buNone/>
            </a:pPr>
            <a:r>
              <a:rPr/>
              <a:t>}</a:t>
            </a:r>
          </a:p>
          <a:p>
            <a:pPr lvl="0" indent="0">
              <a:buNone/>
            </a:pPr>
            <a:r>
              <a:rPr>
                <a:latin typeface="Courier"/>
              </a:rPr>
              <a:t>
---
### Hybrid Inheritance in java
- The hybrid inheritance is the combination of more than one type of inheritance. 
  - We may use any combination as a 
    - single with multiple inheritances, 
    - multi-level with multiple inheritances, etc.,
---
### Takeaway: Java Inheritance
- Inheritance enables code reuse through parent-child class relationships
- The Is-a Rule: use inheritance only when "A Dog is-a Animal" makes sense
- Java supports single, multi-level, and hierarchical inheritance
- 'extends' keyword creates the inheritance relationship
- All inherited features must make sense in subclasses - design carefully
---
## **Module B: Constructors in Inheritance**
---
### Module Outline
- Constructor Chain in Inheritance
- super() for Parent Constructor Calls
- Method Overriding in Inheritance Context
---
## **Java Constructors in Inheritance**
---
### Java Constructors in Inheritance
- It is very important to understand how the constructors get executed in the inheritance concept.
- In the inheritance, the constructors never get inherited to any child class.
- In java, the default constructor of a parent class called automatically by the constructor of its child class. 
- That means when we create an object of the child class, 
- the parent class constructor executed, followed by the child class constructor executed.
---
### Java Constructors in Inheritance - Example
``` Java linenums="1"
class ParentClass{
    int a;
    ParentClass(){
        System.out.println("Inside ParentClass constructor!");
    }
}</a:t>
            </a:r>
          </a:p>
          <a:p>
            <a:pPr lvl="0" indent="0" marL="0">
              <a:buNone/>
            </a:pPr>
            <a:r>
              <a:rPr/>
              <a:t>``` Java linenums=“1” class ChildClass extends ParentClass{</a:t>
            </a:r>
          </a:p>
          <a:p>
            <a:pPr lvl="0" indent="0">
              <a:buNone/>
            </a:pPr>
            <a:r>
              <a:rPr>
                <a:latin typeface="Courier"/>
              </a:rPr>
              <a:t>ChildClass(){
    System.out.println("Inside ChildClass constructor!!");      
}</a:t>
            </a:r>
          </a:p>
          <a:p>
            <a:pPr lvl="0" indent="0" marL="0">
              <a:buNone/>
            </a:pPr>
            <a:r>
              <a:rPr/>
              <a:t>}</a:t>
            </a:r>
          </a:p>
          <a:p>
            <a:pPr lvl="0" indent="0">
              <a:buNone/>
            </a:pPr>
            <a:r>
              <a:rPr>
                <a:latin typeface="Courier"/>
              </a:rPr>
              <a:t>
---
### Java Constructors in Inheritance - Example
``` Java linenums="1"
class ChildChildClass extends ChildClass{
    ChildChildClass(){
        System.out.println("Inside ChildChildClass constructor!!");     
    }   
}</a:t>
            </a:r>
          </a:p>
          <a:p>
            <a:pPr lvl="0" indent="0" marL="0">
              <a:buNone/>
            </a:pPr>
            <a:r>
              <a:rPr/>
              <a:t>``` Java linenums=“1” public class ConstructorInInheritance {</a:t>
            </a:r>
          </a:p>
          <a:p>
            <a:pPr lvl="0" indent="0">
              <a:buNone/>
            </a:pPr>
            <a:r>
              <a:rPr>
                <a:latin typeface="Courier"/>
              </a:rPr>
              <a:t>public static void main(String[] args) {
    ChildChildClass obj = new ChildChildClass();
}</a:t>
            </a:r>
          </a:p>
          <a:p>
            <a:pPr lvl="0" indent="0" marL="0">
              <a:buNone/>
            </a:pPr>
            <a:r>
              <a:rPr/>
              <a:t>}</a:t>
            </a:r>
          </a:p>
          <a:p>
            <a:pPr lvl="0" indent="0">
              <a:buNone/>
            </a:pPr>
            <a:r>
              <a:rPr>
                <a:latin typeface="Courier"/>
              </a:rPr>
              <a:t>
---
### Java Constructors in Inheritance
- if the parent class contains both default and parameterized constructor, 
  - then only the default constructor called automatically 
    - by the child class constructor
---
### Java Constructors in Inheritance - Example
``` Java linenums="1"
class ParentClass{
    int a;
    ParentClass(int a){
        System.out.println("Inside ParentClass parameterized constructor!");
        this.a = a;
    }
    ParentClass(){
        System.out.println("Inside ParentClass default constructor!");
    }
}</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Constructors in Inheritance - Example</a:t>
            </a:r>
          </a:p>
          <a:p>
            <a:pPr lvl="0" indent="0" marL="0">
              <a:buNone/>
            </a:pPr>
            <a:r>
              <a:rPr>
                <a:latin typeface="Courier"/>
              </a:rPr>
              <a:t>Java linenums="1" class ChildClass extends ParentClass{     ChildClass(){         System.out.println("Inside ChildClass constructor!!");           } }</a:t>
            </a:r>
          </a:p>
          <a:p>
            <a:pPr lvl="0" indent="0" marL="0">
              <a:buNone/>
            </a:pPr>
            <a:r>
              <a:rPr>
                <a:latin typeface="Courier"/>
              </a:rPr>
              <a:t>Java linenums="1" public class ConstructorInInheritance {     public static void main(String[] args) {         ChildClass obj = new ChildClass();     } }</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Constructors in Inheritance</a:t>
            </a:r>
          </a:p>
          <a:p>
            <a:pPr lvl="0"/>
            <a:r>
              <a:rPr/>
              <a:t>The parameterized constructor of parent class must be called explicitly using the super keyword.</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 Overriding in Java Inheritance</a:t>
            </a:r>
          </a:p>
          <a:p>
            <a:pPr lvl="0" indent="0" marL="0">
              <a:buNone/>
            </a:pPr>
            <a:r>
              <a:rPr/>
              <a:t>``` Java linenums=“1” class Animal {</a:t>
            </a:r>
          </a:p>
          <a:p>
            <a:pPr lvl="0" indent="0" marL="0">
              <a:buNone/>
            </a:pPr>
            <a:r>
              <a:rPr/>
              <a:t>// method in the superclass public void eat() { System.out.println(“I can eat”); } }</a:t>
            </a:r>
          </a:p>
          <a:p>
            <a:pPr lvl="0" indent="0">
              <a:buNone/>
            </a:pPr>
            <a:r>
              <a:rPr>
                <a:latin typeface="Courier"/>
              </a:rPr>
              <a:t>
---
### Method Overriding in Java Inheritance
``` Java linenums="1"
// Dog inherits Animal
class Dog extends Animal {
  // overriding the eat() method
  @Override
  public void eat() {
    System.out.println("I eat dog food");
  }
  // new method in subclass
  public void bark() {
    System.out.println("I can bark");
  }
}</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 Overriding in Java Inheritance</a:t>
            </a:r>
          </a:p>
          <a:p>
            <a:pPr lvl="0" indent="0" marL="0">
              <a:buNone/>
            </a:pPr>
            <a:r>
              <a:rPr/>
              <a:t>``` Java linenums=“1” class Main { public static void main(String[] args) {</a:t>
            </a:r>
          </a:p>
          <a:p>
            <a:pPr lvl="0" indent="0">
              <a:buNone/>
            </a:pPr>
            <a:r>
              <a:rPr>
                <a:latin typeface="Courier"/>
              </a:rPr>
              <a:t>// create an object of the subclass
Dog labrador = new Dog();
// call the eat() method
labrador.eat();
labrador.bark();</a:t>
            </a:r>
          </a:p>
          <a:p>
            <a:pPr lvl="0" indent="0" marL="0">
              <a:buNone/>
            </a:pPr>
            <a:r>
              <a:rPr/>
              <a:t>} }</a:t>
            </a:r>
          </a:p>
          <a:p>
            <a:pPr lvl="0" indent="0">
              <a:buNone/>
            </a:pPr>
            <a:r>
              <a:rPr>
                <a:latin typeface="Courier"/>
              </a:rPr>
              <a:t>
---
### Method Overriding in Java Inheritance
- In the above example, the eat() method is present in both the superclass Animal and the subclass Dog.
- Here, we have created an object labrador of Dog.
- Now when we call eat() using the object labrador, the method inside Dog is called. This is because the method inside the derived class overrides the method inside the base class.
--- 
### Takeaway: Constructors in Inheritance
- Parent class constructor runs before child class constructor
- Use super() to explicitly call a specific parent constructor
- If no explicit super() call, Java calls the parent's no-arg constructor automatically
- Method overriding allows child classes to provide specific implementations
- Constructor chaining ensures proper initialization of the entire hierarchy
---
## **Module C: Java super Keyword - Comprehensive**
---
### Module Outline
- What is the super keyword?
- super to Access Parent Data Members
- super to Call Parent Methods
- super() to Call Parent Constructor
- Accessing Overridden Methods via super
- Complete Examples (5 detailed examples)
---
## **super Keyword in Java Inheritance**
--- 
### super Keyword in Java Inheritance
- the same method in the subclass overrides the method in superclass.
- In such a situation, the super keyword is used to call the method of the parent class from the method of the child class.
--- 
### super Keyword in Java Inheritance
``` Java linenums="1"
class Animal {
  // method in the superclass
  public void eat() {
    System.out.println("I can eat");
  }
}</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Keyword in Java Inheritance</a:t>
            </a:r>
          </a:p>
          <a:p>
            <a:pPr lvl="0" indent="0" marL="0">
              <a:buNone/>
            </a:pPr>
            <a:r>
              <a:rPr/>
              <a:t>``` Java linenums=“1” // Dog inherits Animal class Dog extends Animal {</a:t>
            </a:r>
          </a:p>
          <a:p>
            <a:pPr lvl="0" indent="0" marL="0">
              <a:buNone/>
            </a:pPr>
            <a:r>
              <a:rPr/>
              <a:t>// overriding the eat() method @Override public void eat() {</a:t>
            </a:r>
          </a:p>
          <a:p>
            <a:pPr lvl="0" indent="0">
              <a:buNone/>
            </a:pPr>
            <a:r>
              <a:rPr>
                <a:latin typeface="Courier"/>
              </a:rPr>
              <a:t>// call method of superclass
super.eat();
System.out.println("I eat dog food");</a:t>
            </a:r>
          </a:p>
          <a:p>
            <a:pPr lvl="0" indent="0" marL="0">
              <a:buNone/>
            </a:pPr>
            <a:r>
              <a:rPr/>
              <a:t>}</a:t>
            </a:r>
          </a:p>
          <a:p>
            <a:pPr lvl="0" indent="0" marL="0">
              <a:buNone/>
            </a:pPr>
            <a:r>
              <a:rPr/>
              <a:t>// new method in subclass public void bark() { System.out.println(“I can bark”); } }</a:t>
            </a:r>
          </a:p>
          <a:p>
            <a:pPr lvl="0" indent="0">
              <a:buNone/>
            </a:pPr>
            <a:r>
              <a:rPr>
                <a:latin typeface="Courier"/>
              </a:rPr>
              <a:t>
--- 
### super Keyword in Java Inheritance
``` Java linenums="1"
class Main {
  public static void main(String[] args) {
    // create an object of the subclass
    Dog labrador = new Dog();
    // call the eat() method
    labrador.eat();
    labrador.bark();
  }
}</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super keyword</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super keyword</a:t>
            </a:r>
          </a:p>
          <a:p>
            <a:pPr lvl="0"/>
            <a:r>
              <a:rPr/>
              <a:t>In java, </a:t>
            </a:r>
            <a:r>
              <a:rPr>
                <a:latin typeface="Courier"/>
              </a:rPr>
              <a:t>super</a:t>
            </a:r>
            <a:r>
              <a:rPr/>
              <a:t> is a keyword used to refers to the </a:t>
            </a:r>
            <a:r>
              <a:rPr b="1"/>
              <a:t>parent class object</a:t>
            </a:r>
            <a:r>
              <a:rPr/>
              <a:t>.</a:t>
            </a:r>
          </a:p>
          <a:p>
            <a:pPr lvl="0"/>
            <a:r>
              <a:rPr/>
              <a:t>The </a:t>
            </a:r>
            <a:r>
              <a:rPr>
                <a:latin typeface="Courier"/>
              </a:rPr>
              <a:t>super</a:t>
            </a:r>
            <a:r>
              <a:rPr/>
              <a:t> keyword came into existence to solve the </a:t>
            </a:r>
            <a:r>
              <a:rPr i="1"/>
              <a:t>naming conflicts</a:t>
            </a:r>
            <a:r>
              <a:rPr/>
              <a:t> in the inheritance.</a:t>
            </a:r>
          </a:p>
          <a:p>
            <a:pPr lvl="0"/>
            <a:r>
              <a:rPr/>
              <a:t>When both parent class and child class have members with the same name,</a:t>
            </a:r>
          </a:p>
          <a:p>
            <a:pPr lvl="1"/>
            <a:r>
              <a:rPr/>
              <a:t>then the super keyword is used to refer to the parent class version.</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super keyword</a:t>
            </a:r>
          </a:p>
          <a:p>
            <a:pPr lvl="0"/>
            <a:r>
              <a:rPr/>
              <a:t>In another word, The super keyword in Java is used in subclasses to access superclass members (attributes, constructors and methods).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super keyword</a:t>
            </a:r>
          </a:p>
          <a:p>
            <a:pPr lvl="0"/>
            <a:r>
              <a:rPr/>
              <a:t>In java, the super keyword is used for the following purposes.</a:t>
            </a:r>
          </a:p>
          <a:p>
            <a:pPr lvl="1"/>
            <a:r>
              <a:rPr/>
              <a:t>To refer parent class </a:t>
            </a:r>
            <a:r>
              <a:rPr b="1"/>
              <a:t>data members</a:t>
            </a:r>
          </a:p>
          <a:p>
            <a:pPr lvl="1"/>
            <a:r>
              <a:rPr/>
              <a:t>To refer parent class </a:t>
            </a:r>
            <a:r>
              <a:rPr b="1"/>
              <a:t>methods</a:t>
            </a:r>
          </a:p>
          <a:p>
            <a:pPr lvl="1"/>
            <a:r>
              <a:rPr/>
              <a:t>To call parent class </a:t>
            </a:r>
            <a:r>
              <a:rPr b="1"/>
              <a:t>constructor</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super keyword</a:t>
            </a:r>
          </a:p>
          <a:p>
            <a:pPr lvl="0"/>
            <a:r>
              <a:rPr/>
              <a:t>To call methods of the superclass that is overridden in the subclass.</a:t>
            </a:r>
          </a:p>
          <a:p>
            <a:pPr lvl="0"/>
            <a:r>
              <a:rPr/>
              <a:t>To access attributes (fields) of the superclass if both superclass and subclass have attributes with the same name.</a:t>
            </a:r>
          </a:p>
          <a:p>
            <a:pPr lvl="0"/>
            <a:r>
              <a:rPr/>
              <a:t>To explicitly call superclass no-arg (default) or parameterized constructor from the subclass constructor.</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super keyword</a:t>
            </a:r>
          </a:p>
          <a:p>
            <a:pPr lvl="0"/>
            <a:r>
              <a:rPr/>
              <a:t>The super keyword is used inside the child class only.</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refer parent class data members</a:t>
            </a:r>
          </a:p>
          <a:p>
            <a:pPr lvl="0"/>
            <a:r>
              <a:rPr/>
              <a:t>When both parent class and child class have data members with the same name,</a:t>
            </a:r>
          </a:p>
          <a:p>
            <a:pPr lvl="1"/>
            <a:r>
              <a:rPr/>
              <a:t>then the super keyword is used to refer to the parent class data member from child class.</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refer parent class data members</a:t>
            </a:r>
          </a:p>
          <a:p>
            <a:pPr lvl="0" indent="0" marL="0">
              <a:buNone/>
            </a:pPr>
            <a:r>
              <a:rPr/>
              <a:t>``` Java linenums=“1” class ParentClass{</a:t>
            </a:r>
          </a:p>
          <a:p>
            <a:pPr lvl="0" indent="0">
              <a:buNone/>
            </a:pPr>
            <a:r>
              <a:rPr>
                <a:latin typeface="Courier"/>
              </a:rPr>
              <a:t>int num = 10;</a:t>
            </a:r>
          </a:p>
          <a:p>
            <a:pPr lvl="0" indent="0" marL="0">
              <a:buNone/>
            </a:pPr>
            <a:r>
              <a:rPr/>
              <a:t>}</a:t>
            </a:r>
          </a:p>
          <a:p>
            <a:pPr lvl="0" indent="0">
              <a:buNone/>
            </a:pPr>
            <a:r>
              <a:rPr>
                <a:latin typeface="Courier"/>
              </a:rPr>
              <a:t>
``` Java linenums="1"
class ChildClass extends ParentClass{
    int num = 20;
    void showData() {
        System.out.println("Inside the ChildClass");
        System.out.println("ChildClass num = " + num);
        System.out.println("ParentClass num = " + super.num);       
    }
}</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refer parent class data members</a:t>
            </a:r>
          </a:p>
          <a:p>
            <a:pPr lvl="0" indent="0" marL="0">
              <a:buNone/>
            </a:pPr>
            <a:r>
              <a:rPr/>
              <a:t>``` Java linenums=“1” public class SuperKeywordExample {</a:t>
            </a:r>
          </a:p>
          <a:p>
            <a:pPr lvl="0" indent="0">
              <a:buNone/>
            </a:pPr>
            <a:r>
              <a:rPr>
                <a:latin typeface="Courier"/>
              </a:rPr>
              <a:t>public static void main(String[] args) {
    ChildClass obj = new ChildClass();
    obj.showData();
    System.out.println("\nInside the non-child class");
    System.out.println("ChildClass num = " + obj.num);
    //System.out.println("ParentClass num = " + super.num); //super can't be used here
}</a:t>
            </a:r>
          </a:p>
          <a:p>
            <a:pPr lvl="0" indent="0" marL="0">
              <a:buNone/>
            </a:pPr>
            <a:r>
              <a:rPr/>
              <a:t>}</a:t>
            </a:r>
          </a:p>
          <a:p>
            <a:pPr lvl="0" indent="0">
              <a:buNone/>
            </a:pPr>
            <a:r>
              <a:rPr>
                <a:latin typeface="Courier"/>
              </a:rPr>
              <a:t>
---
### super to refer parent class **method**
- When both parent class and child class have method with the same name, 
  - then the super keyword is used to refer to the parent class method from child class.
---
### super to refer parent class **method**
```Java
class ParentClass{
    int num1 = 10;
    void showData() {
        System.out.println("\nInside the ParentClass showData method");
        System.out.println("ChildClass num = " + num1);     
    }   
}</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refer parent class method</a:t>
            </a:r>
          </a:p>
          <a:p>
            <a:pPr lvl="0" indent="0">
              <a:buNone/>
            </a:pPr>
            <a:r>
              <a:rPr b="1">
                <a:solidFill>
                  <a:srgbClr val="007020"/>
                </a:solidFill>
                <a:latin typeface="Courier"/>
              </a:rPr>
              <a:t>class</a:t>
            </a:r>
            <a:r>
              <a:rPr>
                <a:latin typeface="Courier"/>
              </a:rPr>
              <a:t> ChildClass </a:t>
            </a:r>
            <a:r>
              <a:rPr b="1">
                <a:solidFill>
                  <a:srgbClr val="007020"/>
                </a:solidFill>
                <a:latin typeface="Courier"/>
              </a:rPr>
              <a:t>extends</a:t>
            </a:r>
            <a:r>
              <a:rPr>
                <a:latin typeface="Courier"/>
              </a:rPr>
              <a:t> ParentClass</a:t>
            </a:r>
            <a:r>
              <a:rPr>
                <a:solidFill>
                  <a:srgbClr val="666666"/>
                </a:solidFill>
                <a:latin typeface="Courier"/>
              </a:rPr>
              <a:t>{</a:t>
            </a:r>
            <a:br/>
            <a:r>
              <a:rPr>
                <a:latin typeface="Courier"/>
              </a:rPr>
              <a:t>    </a:t>
            </a:r>
            <a:br/>
            <a:r>
              <a:rPr>
                <a:latin typeface="Courier"/>
              </a:rPr>
              <a:t>    </a:t>
            </a:r>
            <a:r>
              <a:rPr>
                <a:solidFill>
                  <a:srgbClr val="902000"/>
                </a:solidFill>
                <a:latin typeface="Courier"/>
              </a:rPr>
              <a:t>int</a:t>
            </a:r>
            <a:r>
              <a:rPr>
                <a:latin typeface="Courier"/>
              </a:rPr>
              <a:t> num2 </a:t>
            </a:r>
            <a:r>
              <a:rPr>
                <a:solidFill>
                  <a:srgbClr val="666666"/>
                </a:solidFill>
                <a:latin typeface="Courier"/>
              </a:rPr>
              <a:t>=</a:t>
            </a:r>
            <a:r>
              <a:rPr>
                <a:latin typeface="Courier"/>
              </a:rPr>
              <a:t> </a:t>
            </a:r>
            <a:r>
              <a:rPr>
                <a:solidFill>
                  <a:srgbClr val="40A070"/>
                </a:solidFill>
                <a:latin typeface="Courier"/>
              </a:rPr>
              <a:t>20</a:t>
            </a:r>
            <a:r>
              <a:rPr>
                <a:solidFill>
                  <a:srgbClr val="666666"/>
                </a:solidFill>
                <a:latin typeface="Courier"/>
              </a:rPr>
              <a:t>;</a:t>
            </a:r>
            <a:br/>
            <a:r>
              <a:rPr>
                <a:latin typeface="Courier"/>
              </a:rPr>
              <a:t>    </a:t>
            </a:r>
            <a:br/>
            <a:r>
              <a:rPr>
                <a:latin typeface="Courier"/>
              </a:rPr>
              <a:t>    </a:t>
            </a:r>
            <a:r>
              <a:rPr>
                <a:solidFill>
                  <a:srgbClr val="902000"/>
                </a:solidFill>
                <a:latin typeface="Courier"/>
              </a:rPr>
              <a:t>void</a:t>
            </a:r>
            <a:r>
              <a:rPr>
                <a:latin typeface="Courier"/>
              </a:rPr>
              <a:t> </a:t>
            </a:r>
            <a:r>
              <a:rPr>
                <a:solidFill>
                  <a:srgbClr val="06287E"/>
                </a:solidFill>
                <a:latin typeface="Courier"/>
              </a:rPr>
              <a:t>showData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"\nInside the ChildClass showData method"</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"ChildClass num = "</a:t>
            </a:r>
            <a:r>
              <a:rPr>
                <a:latin typeface="Courier"/>
              </a:rPr>
              <a:t> </a:t>
            </a:r>
            <a:r>
              <a:rPr>
                <a:solidFill>
                  <a:srgbClr val="666666"/>
                </a:solidFill>
                <a:latin typeface="Courier"/>
              </a:rPr>
              <a:t>+</a:t>
            </a:r>
            <a:r>
              <a:rPr>
                <a:latin typeface="Courier"/>
              </a:rPr>
              <a:t> num2</a:t>
            </a:r>
            <a:r>
              <a:rPr>
                <a:solidFill>
                  <a:srgbClr val="666666"/>
                </a:solidFill>
                <a:latin typeface="Courier"/>
              </a:rPr>
              <a:t>);</a:t>
            </a:r>
            <a:r>
              <a:rPr>
                <a:latin typeface="Courier"/>
              </a:rPr>
              <a:t> </a:t>
            </a:r>
            <a:br/>
            <a:br/>
            <a:r>
              <a:rPr>
                <a:latin typeface="Courier"/>
              </a:rPr>
              <a:t>        </a:t>
            </a:r>
            <a:r>
              <a:rPr b="1">
                <a:solidFill>
                  <a:srgbClr val="007020"/>
                </a:solidFill>
                <a:latin typeface="Courier"/>
              </a:rPr>
              <a:t>super</a:t>
            </a:r>
            <a:r>
              <a:rPr>
                <a:solidFill>
                  <a:srgbClr val="666666"/>
                </a:solidFill>
                <a:latin typeface="Courier"/>
              </a:rPr>
              <a:t>.</a:t>
            </a:r>
            <a:r>
              <a:rPr>
                <a:solidFill>
                  <a:srgbClr val="06287E"/>
                </a:solidFill>
                <a:latin typeface="Courier"/>
              </a:rPr>
              <a:t>showData</a:t>
            </a:r>
            <a:r>
              <a:rPr>
                <a:solidFill>
                  <a:srgbClr val="666666"/>
                </a:solidFill>
                <a:latin typeface="Courier"/>
              </a:rPr>
              <a:t>();</a:t>
            </a:r>
            <a:br/>
            <a:r>
              <a:rPr>
                <a:latin typeface="Courier"/>
              </a:rPr>
              <a:t>        </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refer parent class method</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SuperKeywordExample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ChildClass obj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ChildClass</a:t>
            </a:r>
            <a:r>
              <a:rPr>
                <a:solidFill>
                  <a:srgbClr val="666666"/>
                </a:solidFill>
                <a:latin typeface="Courier"/>
              </a:rPr>
              <a:t>();</a:t>
            </a:r>
            <a:br/>
            <a:r>
              <a:rPr>
                <a:latin typeface="Courier"/>
              </a:rPr>
              <a:t>        </a:t>
            </a:r>
            <a:br/>
            <a:r>
              <a:rPr>
                <a:latin typeface="Courier"/>
              </a:rPr>
              <a:t>        obj</a:t>
            </a:r>
            <a:r>
              <a:rPr>
                <a:solidFill>
                  <a:srgbClr val="666666"/>
                </a:solidFill>
                <a:latin typeface="Courier"/>
              </a:rPr>
              <a:t>.</a:t>
            </a:r>
            <a:r>
              <a:rPr>
                <a:solidFill>
                  <a:srgbClr val="06287E"/>
                </a:solidFill>
                <a:latin typeface="Courier"/>
              </a:rPr>
              <a:t>showData</a:t>
            </a:r>
            <a:r>
              <a:rPr>
                <a:solidFill>
                  <a:srgbClr val="666666"/>
                </a:solidFill>
                <a:latin typeface="Courier"/>
              </a:rPr>
              <a:t>();</a:t>
            </a:r>
            <a:br/>
            <a:r>
              <a:rPr>
                <a:latin typeface="Courier"/>
              </a:rPr>
              <a:t>        </a:t>
            </a:r>
            <a:r>
              <a:rPr i="1">
                <a:solidFill>
                  <a:srgbClr val="60A0B0"/>
                </a:solidFill>
                <a:latin typeface="Courier"/>
              </a:rPr>
              <a:t>//super.showData(); // super can't be used here</a:t>
            </a:r>
            <a:br/>
            <a:r>
              <a:rPr>
                <a:latin typeface="Courier"/>
              </a:rPr>
              <a:t>        </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call parent class constructor</a:t>
            </a:r>
          </a:p>
          <a:p>
            <a:pPr lvl="0"/>
            <a:r>
              <a:rPr/>
              <a:t>When an object of child class is created, it automatically calls the parent class default-constructor before it’s own.</a:t>
            </a:r>
          </a:p>
          <a:p>
            <a:pPr lvl="0"/>
            <a:r>
              <a:rPr/>
              <a:t>But, the parameterized constructor of parent class must be called explicitly using the super keyword inside the child class constructor.</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call parent class constructor</a:t>
            </a:r>
          </a:p>
          <a:p>
            <a:pPr lvl="0" indent="0" marL="0">
              <a:buNone/>
            </a:pPr>
            <a:r>
              <a:rPr/>
              <a:t>``` Java linenums=“1” class ParentClass{</a:t>
            </a:r>
          </a:p>
          <a:p>
            <a:pPr lvl="0" indent="0">
              <a:buNone/>
            </a:pPr>
            <a:r>
              <a:rPr>
                <a:latin typeface="Courier"/>
              </a:rPr>
              <a:t>int num1;
ParentClass(){
    System.out.println("\nInside the ParentClass default constructor");
    num1 = 10;
}
ParentClass(int value){
    System.out.println("\nInside the ParentClass parameterized constructor");
    num1 = value;
}   </a:t>
            </a:r>
          </a:p>
          <a:p>
            <a:pPr lvl="0" indent="0" marL="0">
              <a:buNone/>
            </a:pPr>
            <a:r>
              <a:rPr/>
              <a:t>}</a:t>
            </a:r>
          </a:p>
          <a:p>
            <a:pPr lvl="0" indent="0">
              <a:buNone/>
            </a:pPr>
            <a:r>
              <a:rPr>
                <a:latin typeface="Courier"/>
              </a:rPr>
              <a:t>
--- 
### super to call parent class **constructor**
``` Java linenums="1"
class ChildClass extends ParentClass{
    int num2;
    ChildClass(){
        super(100);
        System.out.println("\nInside the ChildClass constructor");
        num2 = 200;     
    }
}</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call parent class constructor</a:t>
            </a:r>
          </a:p>
          <a:p>
            <a:pPr lvl="0" indent="0" marL="0">
              <a:buNone/>
            </a:pPr>
            <a:r>
              <a:rPr/>
              <a:t>``` Java linenums=“1” public class SuperKeywordExample {</a:t>
            </a:r>
          </a:p>
          <a:p>
            <a:pPr lvl="0" indent="0">
              <a:buNone/>
            </a:pPr>
            <a:r>
              <a:rPr>
                <a:latin typeface="Courier"/>
              </a:rPr>
              <a:t>public static void main(String[] args) {
    ChildClass obj = new ChildClass();
}</a:t>
            </a:r>
          </a:p>
          <a:p>
            <a:pPr lvl="0" indent="0" marL="0">
              <a:buNone/>
            </a:pPr>
            <a:r>
              <a:rPr/>
              <a:t>}</a:t>
            </a:r>
          </a:p>
          <a:p>
            <a:pPr lvl="0" indent="0">
              <a:buNone/>
            </a:pPr>
            <a:r>
              <a:rPr>
                <a:latin typeface="Courier"/>
              </a:rPr>
              <a:t>
--- 
### super to call parent class **constructor**
- To call the parameterized constructor of the parent class, 
- the super keyword must be the first statement inside the child class constructor, 
- and we must pass the parameter values.
---
### Access Overridden Methods of the superclass
- If methods with the same name are defined in both superclass and subclass, the method in the subclass overrides the method in the superclass. This is called method overriding.
---
### Example 1: Method overriding
``` Java linenums="1"
class Animal {
  // overridden method
  public void display(){
    System.out.println("I am an animal");
  }
}</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1: Method overriding</a:t>
            </a:r>
          </a:p>
          <a:p>
            <a:pPr lvl="0" indent="0" marL="0">
              <a:buNone/>
            </a:pPr>
            <a:r>
              <a:rPr/>
              <a:t>``` Java linenums=“1” class Dog extends Animal {</a:t>
            </a:r>
          </a:p>
          <a:p>
            <a:pPr lvl="0" indent="0" marL="0">
              <a:buNone/>
            </a:pPr>
            <a:r>
              <a:rPr/>
              <a:t>// overriding method @Override public void display(){ System.out.println(“I am a dog”); }</a:t>
            </a:r>
          </a:p>
          <a:p>
            <a:pPr lvl="0" indent="0" marL="0">
              <a:buNone/>
            </a:pPr>
            <a:r>
              <a:rPr/>
              <a:t>public void printMessage(){ display(); } }</a:t>
            </a:r>
          </a:p>
          <a:p>
            <a:pPr lvl="0" indent="0">
              <a:buNone/>
            </a:pPr>
            <a:r>
              <a:rPr>
                <a:latin typeface="Courier"/>
              </a:rPr>
              <a:t>
---
### Example 1: Method overriding
``` Java linenums="1"
class Main {
  public static void main(String[] args) {
    Dog dog1 = new Dog();
    dog1.printMessage();
  }
}
</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1: Method overriding</a:t>
            </a:r>
          </a:p>
          <a:p>
            <a:pPr lvl="0" indent="0" marL="0">
              <a:buNone/>
            </a:pPr>
            <a:r>
              <a:rPr/>
              <a:t>In this example, by making an object dog1 of Dog class, we can call its method printMessage() which then executes the display() statement.</a:t>
            </a:r>
          </a:p>
          <a:p>
            <a:pPr lvl="0" indent="0" marL="0">
              <a:buNone/>
            </a:pPr>
            <a:r>
              <a:rPr/>
              <a:t>Since display() is defined in both the classes, the method of subclass Dog overrides the method of superclass Animal. Hence, the display() of the subclass is called.</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1: Method overriding</a:t>
            </a:r>
          </a:p>
        </p:txBody>
      </p:sp>
      <p:pic>
        <p:nvPicPr>
          <p:cNvPr descr="assets/java-overriding-example.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if the overridden method of the superclass has to be called?</a:t>
            </a:r>
          </a:p>
          <a:p>
            <a:pPr lvl="0"/>
            <a:r>
              <a:rPr/>
              <a:t>We use super.display() if the overridden method display() of superclass Animal needs to be called.</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2: super to Call Superclass Method</a:t>
            </a:r>
          </a:p>
          <a:p>
            <a:pPr lvl="0" indent="0" marL="0">
              <a:buNone/>
            </a:pPr>
            <a:r>
              <a:rPr/>
              <a:t>``` Java linenums=“1” class Animal {</a:t>
            </a:r>
          </a:p>
          <a:p>
            <a:pPr lvl="0" indent="0" marL="0">
              <a:buNone/>
            </a:pPr>
            <a:r>
              <a:rPr/>
              <a:t>// overridden method public void display(){ System.out.println(“I am an animal”); } }</a:t>
            </a:r>
          </a:p>
          <a:p>
            <a:pPr lvl="0" indent="0">
              <a:buNone/>
            </a:pPr>
            <a:r>
              <a:rPr>
                <a:latin typeface="Courier"/>
              </a:rPr>
              <a:t>
---
### Example 2: super to Call Superclass Method
``` Java linenums="1"
class Dog extends Animal {
  // overriding method
  @Override
  public void display(){
    System.out.println("I am a dog");
  }
  public void printMessage(){
    // this calls overriding method
    display();
    // this calls overridden method
    super.display();
  }
}</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2: super to Call Superclass Method</a:t>
            </a:r>
          </a:p>
          <a:p>
            <a:pPr lvl="0" indent="0" marL="0">
              <a:buNone/>
            </a:pPr>
            <a:r>
              <a:rPr>
                <a:latin typeface="Courier"/>
              </a:rPr>
              <a:t>Java linenums="1" class Main {   public static void main(String[] args) {     Dog dog1 = new Dog();     dog1.printMessage();   } }</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2: super to Call Superclass Method</a:t>
            </a:r>
          </a:p>
        </p:txBody>
      </p:sp>
      <p:pic>
        <p:nvPicPr>
          <p:cNvPr descr="assets/call-superclass-method.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Attributes of the Superclass</a:t>
            </a:r>
          </a:p>
          <a:p>
            <a:pPr lvl="0"/>
            <a:r>
              <a:rPr/>
              <a:t>The superclass and subclass can have attributes with the same name.</a:t>
            </a:r>
          </a:p>
          <a:p>
            <a:pPr lvl="1"/>
            <a:r>
              <a:rPr/>
              <a:t>We use the super keyword to access the attribute of the superclass.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3: Access superclass attribute</a:t>
            </a:r>
          </a:p>
          <a:p>
            <a:pPr lvl="0" indent="0" marL="0">
              <a:buNone/>
            </a:pPr>
            <a:r>
              <a:rPr>
                <a:latin typeface="Courier"/>
              </a:rPr>
              <a:t>Java linenums="1" class Animal {   protected String type="animal"; }</a:t>
            </a:r>
          </a:p>
          <a:p>
            <a:pPr lvl="0" indent="0" marL="0">
              <a:buNone/>
            </a:pPr>
            <a:r>
              <a:rPr/>
              <a:t>``` Java linenums=“1” class Dog extends Animal { public String type=“mammal”;</a:t>
            </a:r>
          </a:p>
          <a:p>
            <a:pPr lvl="0" indent="0" marL="0">
              <a:buNone/>
            </a:pPr>
            <a:r>
              <a:rPr/>
              <a:t>public void printType() { System.out.println(“I am a” + type); System.out.println(“I am an” + super.type); } }</a:t>
            </a:r>
          </a:p>
          <a:p>
            <a:pPr lvl="0" indent="0">
              <a:buNone/>
            </a:pPr>
            <a:r>
              <a:rPr>
                <a:latin typeface="Courier"/>
              </a:rPr>
              <a:t>
---
### Example 3: Access superclass attribute
``` Java linenums="1"
class Main {
  public static void main(String[] args) {
    Dog dog1 = new Dog();
    dog1.printType();
  }
}
</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3: Access superclass attribute</a:t>
            </a:r>
          </a:p>
          <a:p>
            <a:pPr lvl="0"/>
            <a:r>
              <a:rPr/>
              <a:t>In this example, we have defined the same instance field </a:t>
            </a:r>
            <a:r>
              <a:rPr>
                <a:latin typeface="Courier"/>
              </a:rPr>
              <a:t>type</a:t>
            </a:r>
            <a:r>
              <a:rPr/>
              <a:t> in both the superclass </a:t>
            </a:r>
            <a:r>
              <a:rPr>
                <a:latin typeface="Courier"/>
              </a:rPr>
              <a:t>Animal</a:t>
            </a:r>
            <a:r>
              <a:rPr/>
              <a:t> and the subclass </a:t>
            </a:r>
            <a:r>
              <a:rPr>
                <a:latin typeface="Courier"/>
              </a:rPr>
              <a:t>Dog</a:t>
            </a:r>
            <a:r>
              <a:rPr/>
              <a:t>.</a:t>
            </a:r>
          </a:p>
          <a:p>
            <a:pPr lvl="0"/>
            <a:r>
              <a:rPr/>
              <a:t>We then created an object </a:t>
            </a:r>
            <a:r>
              <a:rPr>
                <a:latin typeface="Courier"/>
              </a:rPr>
              <a:t>dog1</a:t>
            </a:r>
            <a:r>
              <a:rPr/>
              <a:t> of the Dog class. Then, the </a:t>
            </a:r>
            <a:r>
              <a:rPr>
                <a:latin typeface="Courier"/>
              </a:rPr>
              <a:t>printType()</a:t>
            </a:r>
            <a:r>
              <a:rPr/>
              <a:t> method is called using this object.</a:t>
            </a:r>
          </a:p>
          <a:p>
            <a:pPr lvl="1"/>
            <a:r>
              <a:rPr/>
              <a:t>Inside the </a:t>
            </a:r>
            <a:r>
              <a:rPr>
                <a:latin typeface="Courier"/>
              </a:rPr>
              <a:t>printType()</a:t>
            </a:r>
            <a:r>
              <a:rPr/>
              <a:t> function,</a:t>
            </a:r>
          </a:p>
          <a:p>
            <a:pPr lvl="2"/>
            <a:r>
              <a:rPr>
                <a:latin typeface="Courier"/>
              </a:rPr>
              <a:t>type</a:t>
            </a:r>
            <a:r>
              <a:rPr/>
              <a:t> refers to the attribute of the subclass </a:t>
            </a:r>
            <a:r>
              <a:rPr>
                <a:latin typeface="Courier"/>
              </a:rPr>
              <a:t>Dog</a:t>
            </a:r>
            <a:r>
              <a:rPr/>
              <a:t>.</a:t>
            </a:r>
          </a:p>
          <a:p>
            <a:pPr lvl="2"/>
            <a:r>
              <a:rPr>
                <a:latin typeface="Courier"/>
              </a:rPr>
              <a:t>super.type</a:t>
            </a:r>
            <a:r>
              <a:rPr/>
              <a:t> refers to the attribute of the superclass Animal.</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 of super() to access superclass constructor</a:t>
            </a:r>
          </a:p>
          <a:p>
            <a:pPr lvl="0"/>
            <a:r>
              <a:rPr/>
              <a:t>As we know, when an object of a class is created, its default constructor is automatically called.</a:t>
            </a:r>
          </a:p>
          <a:p>
            <a:pPr lvl="0"/>
            <a:r>
              <a:rPr/>
              <a:t>To explicitly call the superclass constructor from the subclass constructor, we use </a:t>
            </a:r>
            <a:r>
              <a:rPr>
                <a:latin typeface="Courier"/>
              </a:rPr>
              <a:t>super()</a:t>
            </a:r>
            <a:r>
              <a:rPr/>
              <a:t>. It’s a special form of the super keyword.</a:t>
            </a:r>
          </a:p>
          <a:p>
            <a:pPr lvl="0"/>
            <a:r>
              <a:rPr>
                <a:latin typeface="Courier"/>
              </a:rPr>
              <a:t>super()</a:t>
            </a:r>
            <a:r>
              <a:rPr/>
              <a:t> can be used only inside the subclass constructor and must be the first statement.</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4: Use of super()</a:t>
            </a:r>
          </a:p>
          <a:p>
            <a:pPr lvl="0" indent="0" marL="0">
              <a:buNone/>
            </a:pPr>
            <a:r>
              <a:rPr/>
              <a:t>``` Java linenums=“1” class Animal {</a:t>
            </a:r>
          </a:p>
          <a:p>
            <a:pPr lvl="0" indent="0" marL="0">
              <a:buNone/>
            </a:pPr>
            <a:r>
              <a:rPr/>
              <a:t>// default or no-arg constructor of class Animal Animal() { System.out.println(“I am an animal”); } }</a:t>
            </a:r>
          </a:p>
          <a:p>
            <a:pPr lvl="0" indent="0">
              <a:buNone/>
            </a:pPr>
            <a:r>
              <a:rPr>
                <a:latin typeface="Courier"/>
              </a:rPr>
              <a:t>
---
### Example 4: Use of super()
``` Java linenums="1"
class Dog extends Animal {
  // default or no-arg constructor of class Dog
  Dog() {
    // calling default constructor of the superclass
    super();
    System.out.println("I am a dog");
  }
}</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4: Use of super()</a:t>
            </a:r>
          </a:p>
          <a:p>
            <a:pPr lvl="0" indent="0" marL="0">
              <a:buNone/>
            </a:pPr>
            <a:r>
              <a:rPr>
                <a:latin typeface="Courier"/>
              </a:rPr>
              <a:t>Java linenums="1" class Main {   public static void main(String[] args) {     Dog dog1 = new Dog();   } }</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4: Use of super()</a:t>
            </a:r>
          </a:p>
          <a:p>
            <a:pPr lvl="0"/>
            <a:r>
              <a:rPr/>
              <a:t>when an object dog1 of Dog class is created, it automatically calls the default or no-arg constructor of that class.</a:t>
            </a:r>
          </a:p>
          <a:p>
            <a:pPr lvl="0"/>
            <a:r>
              <a:rPr/>
              <a:t>Inside the subclass constructor, the super() statement calls the constructor of the superclass and executes the statements inside it. Hence, we get the output I am an animal.</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4: Use of super()</a:t>
            </a:r>
          </a:p>
        </p:txBody>
      </p:sp>
      <p:pic>
        <p:nvPicPr>
          <p:cNvPr descr="assets/super()-example.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
        <p:nvSpPr>
          <p:cNvPr id="3" name="Content Placeholder 2"/>
          <p:cNvSpPr>
            <a:spLocks noGrp="1"/>
          </p:cNvSpPr>
          <p:nvPr>
            <p:ph idx="1"/>
          </p:nvPr>
        </p:nvSpPr>
        <p:spPr/>
        <p:txBody>
          <a:bodyPr/>
          <a:lstStyle/>
          <a:p>
            <a:pPr lvl="0" indent="0" marL="0">
              <a:buNone/>
            </a:pPr>
            <a:r>
              <a:rPr/>
              <a:t>The flow of the program then returns back to the subclass constructor and executes the remaining statements. Thus, I am a dog will be printed.</a:t>
            </a:r>
          </a:p>
          <a:p>
            <a:pPr lvl="0" indent="0" marL="0">
              <a:buNone/>
            </a:pPr>
            <a:r>
              <a:rPr/>
              <a:t>However, using super() is not compulsory. Even if super() is not used in the subclass constructor, the compiler implicitly calls the default constructor of the superclass.</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4: Use of super()</a:t>
            </a:r>
          </a:p>
          <a:p>
            <a:pPr lvl="0"/>
            <a:r>
              <a:rPr b="1"/>
              <a:t>So, why use redundant code if the compiler automatically invokes super()?</a:t>
            </a:r>
          </a:p>
          <a:p>
            <a:pPr lvl="1"/>
            <a:r>
              <a:rPr/>
              <a:t>It is required if the parameterized constructor (a constructor that takes arguments) of the superclass has to be called from the subclass constructor.</a:t>
            </a:r>
          </a:p>
          <a:p>
            <a:pPr lvl="0"/>
            <a:r>
              <a:rPr/>
              <a:t>The parameterized super() must always be the first statement</a:t>
            </a:r>
          </a:p>
          <a:p>
            <a:pPr lvl="1"/>
            <a:r>
              <a:rPr/>
              <a:t>in the body of the constructor of the subclass,</a:t>
            </a:r>
          </a:p>
          <a:p>
            <a:pPr lvl="1"/>
            <a:r>
              <a:rPr/>
              <a:t>otherwise, we get a compilation error.</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5: Call Parameterized Constructor Using super()</a:t>
            </a:r>
          </a:p>
          <a:p>
            <a:pPr lvl="0" indent="0" marL="0">
              <a:buNone/>
            </a:pPr>
            <a:r>
              <a:rPr/>
              <a:t>``` Java linenums=“1” class Animal {</a:t>
            </a:r>
          </a:p>
          <a:p>
            <a:pPr lvl="0" indent="0" marL="0">
              <a:buNone/>
            </a:pPr>
            <a:r>
              <a:rPr/>
              <a:t>// default or no-arg constructor Animal() { System.out.println(“I am an animal”); }</a:t>
            </a:r>
          </a:p>
          <a:p>
            <a:pPr lvl="0" indent="0" marL="0">
              <a:buNone/>
            </a:pPr>
            <a:r>
              <a:rPr/>
              <a:t>// parameterized constructor Animal(String type) { System.out.println(“Type:”+type); } }</a:t>
            </a:r>
          </a:p>
          <a:p>
            <a:pPr lvl="0" indent="0">
              <a:buNone/>
            </a:pPr>
            <a:r>
              <a:rPr>
                <a:latin typeface="Courier"/>
              </a:rPr>
              <a:t>
---
### Example 5: Call Parameterized Constructor Using super()
``` Java linenums="1"
class Dog extends Animal {
  // default constructor
  Dog() {
    // calling parameterized constructor of the superclass
    super("Animal");
    System.out.println("I am a dog");
  }
}</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5: Call Parameterized Constructor Using super()</a:t>
            </a:r>
          </a:p>
          <a:p>
            <a:pPr lvl="0" indent="0" marL="0">
              <a:buNone/>
            </a:pPr>
            <a:r>
              <a:rPr>
                <a:latin typeface="Courier"/>
              </a:rPr>
              <a:t>Java linenums="1" class Main {   public static void main(String[] args) {     Dog dog1 = new Dog();   } }</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5: Call Parameterized Constructor Using super()</a:t>
            </a:r>
          </a:p>
          <a:p>
            <a:pPr lvl="0" indent="0" marL="0">
              <a:buNone/>
            </a:pPr>
            <a:r>
              <a:rPr/>
              <a:t>If a parameterized constructor has to be called, we need to explicitly define it in the subclass constructor.</a:t>
            </a:r>
          </a:p>
        </p:txBody>
      </p:sp>
      <p:pic>
        <p:nvPicPr>
          <p:cNvPr descr="assets/parameterized-super-example.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h:500px</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5: Call Parameterized Constructor Using super()</a:t>
            </a:r>
          </a:p>
        </p:txBody>
      </p:sp>
      <p:sp>
        <p:nvSpPr>
          <p:cNvPr id="3" name="Content Placeholder 2"/>
          <p:cNvSpPr>
            <a:spLocks noGrp="1"/>
          </p:cNvSpPr>
          <p:nvPr>
            <p:ph idx="1"/>
          </p:nvPr>
        </p:nvSpPr>
        <p:spPr/>
        <p:txBody>
          <a:bodyPr/>
          <a:lstStyle/>
          <a:p>
            <a:pPr lvl="0" indent="0" marL="0">
              <a:buNone/>
            </a:pPr>
            <a:r>
              <a:rPr/>
              <a:t>Note that in the above example, we explicitly called the parameterized constructor super(“Animal”). The compiler does not call the default constructor of the superclass in this case.</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Java super Keyword</a:t>
            </a:r>
          </a:p>
          <a:p>
            <a:pPr lvl="0"/>
            <a:r>
              <a:rPr/>
              <a:t>super refers to the parent (superclass) object</a:t>
            </a:r>
          </a:p>
          <a:p>
            <a:pPr lvl="0"/>
            <a:r>
              <a:rPr/>
              <a:t>Three main uses: access parent data members, call parent methods, invoke parent constructor</a:t>
            </a:r>
          </a:p>
          <a:p>
            <a:pPr lvl="0"/>
            <a:r>
              <a:rPr/>
              <a:t>super.fieldName accesses parent’s field when child has same-named field</a:t>
            </a:r>
          </a:p>
          <a:p>
            <a:pPr lvl="0"/>
            <a:r>
              <a:rPr/>
              <a:t>super.methodName() calls parent’s method - useful for extending (not replacing) behavior</a:t>
            </a:r>
          </a:p>
          <a:p>
            <a:pPr lvl="0"/>
            <a:r>
              <a:rPr/>
              <a:t>super() must be the first statement in a constructor if used</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D: Java this Keyword and instanceof Operator</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Java this Keyword: Resolving Ambiguity</a:t>
            </a:r>
          </a:p>
          <a:p>
            <a:pPr lvl="0"/>
            <a:r>
              <a:rPr/>
              <a:t>this with Getters and Setters</a:t>
            </a:r>
          </a:p>
          <a:p>
            <a:pPr lvl="0"/>
            <a:r>
              <a:rPr/>
              <a:t>this in Constructor Overloading</a:t>
            </a:r>
          </a:p>
          <a:p>
            <a:pPr lvl="0"/>
            <a:r>
              <a:rPr/>
              <a:t>Passing this as an Argument</a:t>
            </a:r>
          </a:p>
          <a:p>
            <a:pPr lvl="0"/>
            <a:r>
              <a:rPr/>
              <a:t>Java instanceof Operator</a:t>
            </a:r>
          </a:p>
          <a:p>
            <a:pPr lvl="0"/>
            <a:r>
              <a:rPr/>
              <a:t>instanceof with Inheritance and Interfaces</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this Keyword</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this Keyword</a:t>
            </a:r>
          </a:p>
          <a:p>
            <a:pPr lvl="0"/>
            <a:r>
              <a:rPr/>
              <a:t>In Java, this keyword is used to refer to</a:t>
            </a:r>
          </a:p>
          <a:p>
            <a:pPr lvl="1"/>
            <a:r>
              <a:rPr/>
              <a:t>the current object</a:t>
            </a:r>
          </a:p>
          <a:p>
            <a:pPr lvl="2"/>
            <a:r>
              <a:rPr/>
              <a:t>inside a</a:t>
            </a:r>
          </a:p>
          <a:p>
            <a:pPr lvl="3"/>
            <a:r>
              <a:rPr/>
              <a:t>method or a</a:t>
            </a:r>
          </a:p>
          <a:p>
            <a:pPr lvl="3"/>
            <a:r>
              <a:rPr/>
              <a:t>constructor</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this Keyword</a:t>
            </a:r>
          </a:p>
          <a:p>
            <a:pPr lvl="0" indent="0" marL="0">
              <a:buNone/>
            </a:pPr>
            <a:r>
              <a:rPr/>
              <a:t>``` Java linenums=“1” class Main { int instVar;</a:t>
            </a:r>
          </a:p>
          <a:p>
            <a:pPr lvl="0" indent="0">
              <a:buNone/>
            </a:pPr>
            <a:r>
              <a:rPr>
                <a:latin typeface="Courier"/>
              </a:rPr>
              <a:t>Main(int instVar){
    this.instVar = instVar;
    System.out.println("this reference = " + this);
}
public static void main(String[] args) {
    Main obj = new Main(8);
    System.out.println("object reference = " + obj);
}</a:t>
            </a:r>
          </a:p>
          <a:p>
            <a:pPr lvl="0" indent="0" marL="0">
              <a:buNone/>
            </a:pPr>
            <a:r>
              <a:rPr/>
              <a:t>}</a:t>
            </a:r>
          </a:p>
          <a:p>
            <a:pPr lvl="0" indent="0">
              <a:buNone/>
            </a:pPr>
            <a:r>
              <a:rPr>
                <a:latin typeface="Courier"/>
              </a:rPr>
              <a:t>
---
### Using this for Ambiguity Variable Names
- In Java, it is not allowed to declare two or more variables having the same name inside a scope (class scope or method scope). 
- However, instance variables and parameters may have the same name.
---
### Using this for Ambiguity Variable Names
WRONG 
``` Java linenums="1"
class Main {
    int age;
    Main(int age){
        age = age;
    }
    public static void main(String[] args) {
        Main obj = new Main(8);
        System.out.println("obj.age = " + obj.age);
    }
}</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this for Ambiguity Variable Names</a:t>
            </a:r>
          </a:p>
          <a:p>
            <a:pPr lvl="0" indent="0" marL="0">
              <a:buNone/>
            </a:pPr>
            <a:r>
              <a:rPr/>
              <a:t>CORRECT</a:t>
            </a:r>
          </a:p>
          <a:p>
            <a:pPr lvl="0" indent="0" marL="0">
              <a:buNone/>
            </a:pPr>
            <a:r>
              <a:rPr/>
              <a:t>``` Java linenums=“1” class Main {</a:t>
            </a:r>
          </a:p>
          <a:p>
            <a:pPr lvl="0" indent="0">
              <a:buNone/>
            </a:pPr>
            <a:r>
              <a:rPr>
                <a:latin typeface="Courier"/>
              </a:rPr>
              <a:t>int age;
Main(int age){
    this.age = age;
}
public static void main(String[] args) {
    Main obj = new Main(8);
    System.out.println("obj.age = " + obj.age);
}</a:t>
            </a:r>
          </a:p>
          <a:p>
            <a:pPr lvl="0" indent="0" marL="0">
              <a:buNone/>
            </a:pPr>
            <a:r>
              <a:rPr/>
              <a:t>}</a:t>
            </a:r>
          </a:p>
          <a:p>
            <a:pPr lvl="0" indent="0">
              <a:buNone/>
            </a:pPr>
            <a:r>
              <a:rPr>
                <a:latin typeface="Courier"/>
              </a:rPr>
              <a:t>
---
### this with Getters and Setters
- Another common use of this keyword is in setters and getters methods of a class
``` Java linenums="1"
class Main {
   String name;
   // setter method
   void setName( String name ) {
       this.name = name;
   }
   // getter method
   String getName(){
       return this.name;
   }
   ...</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this with Getters and Setters</a:t>
            </a:r>
          </a:p>
          <a:p>
            <a:pPr lvl="0" indent="0" marL="0">
              <a:buNone/>
            </a:pPr>
            <a:r>
              <a:rPr/>
              <a:t>``` Java linenums=“1” … public static void main( String[] args ) { Main obj = new Main();</a:t>
            </a:r>
          </a:p>
          <a:p>
            <a:pPr lvl="0" indent="0">
              <a:buNone/>
            </a:pPr>
            <a:r>
              <a:rPr>
                <a:latin typeface="Courier"/>
              </a:rPr>
              <a:t>   // calling the setter and the getter method
   obj.setName("Toshiba");
   System.out.println("obj.name: "+obj.getName());</a:t>
            </a:r>
          </a:p>
          <a:p>
            <a:pPr lvl="0" indent="0" marL="0">
              <a:buNone/>
            </a:pPr>
            <a:r>
              <a:rPr/>
              <a:t>} }</a:t>
            </a:r>
          </a:p>
          <a:p>
            <a:pPr lvl="0" indent="0">
              <a:buNone/>
            </a:pPr>
            <a:r>
              <a:rPr>
                <a:latin typeface="Courier"/>
              </a:rPr>
              <a:t>
---
### Using this in Constructor Overloading
- While working with constructor overloading, 
- we might have to invoke one constructor from another constructor. 
- In such a case, 
  - we cannot call the constructor explicitly. Instead, 
  - we have to use this keyword.
---
### Using this in Constructor Overloading
``` Java linenums="1"
class Complex {
    private int a, b;
    // constructor with 2 parameters
    private Complex( int i, int j ){
        this.a = i;
        this.b = j;
    }
    // constructor with single parameter
    private Complex(int i){
        // invokes the constructor with 2 parameters
        this(i, i); 
    }
    // constructor with no parameter
    private Complex(){
        // invokes the constructor with single parameter
        this(0);
    }
    ...</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this in Constructor Overloading</a:t>
            </a:r>
          </a:p>
          <a:p>
            <a:pPr lvl="0" indent="0" marL="0">
              <a:buNone/>
            </a:pPr>
            <a:r>
              <a:rPr/>
              <a:t>``` Java linenums=“1” @Override public String toString(){ return this.a + ” + ” + this.b + “i”; }</a:t>
            </a:r>
          </a:p>
          <a:p>
            <a:pPr lvl="0" indent="0">
              <a:buNone/>
            </a:pPr>
            <a:r>
              <a:rPr>
                <a:latin typeface="Courier"/>
              </a:rPr>
              <a:t>public static void main( String[] args ) {
    // creating object of Complex class
    // calls the constructor with 2 parameters
    Complex c1 = new Complex(2, 3); 
    // calls the constructor with a single parameter
    Complex c2 = new Complex(3);
    // calls the constructor with no parameters
    Complex c3 = new Complex();
    // print objects
    System.out.println(c1);
    System.out.println(c2);
    System.out.println(c3);
}</a:t>
            </a:r>
          </a:p>
          <a:p>
            <a:pPr lvl="0" indent="0" marL="0">
              <a:buNone/>
            </a:pPr>
            <a:r>
              <a:rPr/>
              <a:t>}</a:t>
            </a:r>
          </a:p>
          <a:p>
            <a:pPr lvl="0" indent="0">
              <a:buNone/>
            </a:pPr>
            <a:r>
              <a:rPr>
                <a:latin typeface="Courier"/>
              </a:rPr>
              <a:t>
---
### Using this in Constructor Overloading
- In the example, we have used this keyword,
  - to call the constructor `Complex(int i, int j)` from the constructor `Complex(int i)`
  - to call the constructor `Complex(int i)` from the constructor `Complex()`
- the line, `System.out.println(c1);` process, the toString() is called Since we override the toString() method inside our class, we get the output according to that method. 
---
### Using this in Constructor Overloading
- One of the huge advantages of this() is to reduce the amount of duplicate code. However, we should be always careful while using this().
- This is because calling constructor from another constructor adds overhead and it is a slow process. Another huge advantage of using this() is to reduce the amount of duplicate code.
---
### Using this in Constructor Overloading
- Invoking one constructor from another constructor is called explicit constructor invocation.
--- 
### Passing this as an Argument
- We can use this keyword to pass the current object as an argument to a method
``` Java linenums="1"
class ThisExample {
    // declare variables
    int x;
    int y;
    ThisExample(int x, int y) {
       // assign values of variables inside constructor
        this.x = x;
        this.y = y;
        // value of x and y before calling add()
        System.out.println("Before passing this to addTwo() method:");
        System.out.println("x = " + this.x + ", y = " + this.y);
        // call the add() method passing this as argument
        add(this);
        // value of x and y after calling add()
        System.out.println("After passing this to addTwo() method:");
        System.out.println("x = " + this.x + ", y = " + this.y);
    }
    void add(ThisExample o){
        o.x += 2;
        o.y += 2;
    }
}</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Passing this as an Argument</a:t>
            </a:r>
          </a:p>
          <a:p>
            <a:pPr lvl="0" indent="0" marL="0">
              <a:buNone/>
            </a:pPr>
            <a:r>
              <a:rPr>
                <a:latin typeface="Courier"/>
              </a:rPr>
              <a:t>Java linenums="1" class Main {     public static void main( String[] args ) {         ThisExample obj = new ThisExample(1, -2);     } }</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Passing this as an Argument</a:t>
            </a:r>
          </a:p>
          <a:p>
            <a:pPr lvl="0"/>
            <a:r>
              <a:rPr/>
              <a:t>In the example, inside the constructor </a:t>
            </a:r>
            <a:r>
              <a:rPr>
                <a:latin typeface="Courier"/>
              </a:rPr>
              <a:t>ThisExample()</a:t>
            </a:r>
            <a:r>
              <a:rPr/>
              <a:t>, notice the line, </a:t>
            </a:r>
            <a:r>
              <a:rPr>
                <a:latin typeface="Courier"/>
              </a:rPr>
              <a:t>add(this);</a:t>
            </a:r>
          </a:p>
          <a:p>
            <a:pPr lvl="0"/>
            <a:r>
              <a:rPr/>
              <a:t>Here, we are calling the </a:t>
            </a:r>
            <a:r>
              <a:rPr>
                <a:latin typeface="Courier"/>
              </a:rPr>
              <a:t>add()</a:t>
            </a:r>
            <a:r>
              <a:rPr/>
              <a:t> method by passing this as an argument.</a:t>
            </a:r>
          </a:p>
          <a:p>
            <a:pPr lvl="0"/>
            <a:r>
              <a:rPr/>
              <a:t>Since this keyword contains the reference to the object obj of the class,</a:t>
            </a:r>
          </a:p>
          <a:p>
            <a:pPr lvl="0"/>
            <a:r>
              <a:rPr/>
              <a:t>we can change the value of </a:t>
            </a:r>
            <a:r>
              <a:rPr>
                <a:latin typeface="Courier"/>
              </a:rPr>
              <a:t>x</a:t>
            </a:r>
            <a:r>
              <a:rPr/>
              <a:t> and </a:t>
            </a:r>
            <a:r>
              <a:rPr>
                <a:latin typeface="Courier"/>
              </a:rPr>
              <a:t>y</a:t>
            </a:r>
            <a:r>
              <a:rPr/>
              <a:t> inside the </a:t>
            </a:r>
            <a:r>
              <a:rPr>
                <a:latin typeface="Courier"/>
              </a:rPr>
              <a:t>add()</a:t>
            </a:r>
            <a:r>
              <a:rPr/>
              <a:t> method.</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instanceof Operator</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Operator</a:t>
            </a:r>
          </a:p>
          <a:p>
            <a:pPr lvl="0"/>
            <a:r>
              <a:rPr/>
              <a:t>The instanceof operator in Java is used to</a:t>
            </a:r>
          </a:p>
          <a:p>
            <a:pPr lvl="1"/>
            <a:r>
              <a:rPr/>
              <a:t>check whether an object is an instance of</a:t>
            </a:r>
          </a:p>
          <a:p>
            <a:pPr lvl="2"/>
            <a:r>
              <a:rPr/>
              <a:t>a particular class or not.</a:t>
            </a:r>
          </a:p>
          <a:p>
            <a:pPr lvl="0"/>
            <a:r>
              <a:rPr/>
              <a:t>Its syntax is</a:t>
            </a:r>
          </a:p>
          <a:p>
            <a:pPr lvl="0" indent="0">
              <a:buNone/>
            </a:pPr>
            <a:r>
              <a:rPr>
                <a:latin typeface="Courier"/>
              </a:rPr>
              <a:t>objectName instanceOf className</a:t>
            </a:r>
            <a:r>
              <a:rPr>
                <a:solidFill>
                  <a:srgbClr val="666666"/>
                </a:solidFill>
                <a:latin typeface="Courier"/>
              </a:rPr>
              <a:t>;</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Java instanceof</a:t>
            </a:r>
          </a:p>
          <a:p>
            <a:pPr lvl="0" indent="0" marL="0">
              <a:buNone/>
            </a:pPr>
            <a:r>
              <a:rPr/>
              <a:t>``` Java linenums=“1” class Main {</a:t>
            </a:r>
          </a:p>
          <a:p>
            <a:pPr lvl="0" indent="0" marL="0">
              <a:buNone/>
            </a:pPr>
            <a:r>
              <a:rPr/>
              <a:t>public static void main(String[] args) {</a:t>
            </a:r>
          </a:p>
          <a:p>
            <a:pPr lvl="0" indent="0">
              <a:buNone/>
            </a:pPr>
            <a:r>
              <a:rPr>
                <a:latin typeface="Courier"/>
              </a:rPr>
              <a:t>// create a variable of string type
String name = "My App";
// checks if name is instance of String
boolean result1 = name instanceof String;
System.out.println("name is an instance of String: " + result1);
// create an object of Main
Main obj = new Main();
// checks if obj is an instance of Main
boolean result2 = obj instanceof Main;
System.out.println("obj is an instance of Main: " + result2);</a:t>
            </a:r>
          </a:p>
          <a:p>
            <a:pPr lvl="0" indent="0" marL="0">
              <a:buNone/>
            </a:pPr>
            <a:r>
              <a:rPr/>
              <a:t>} }</a:t>
            </a:r>
          </a:p>
          <a:p>
            <a:pPr lvl="0" indent="0">
              <a:buNone/>
            </a:pPr>
            <a:r>
              <a:rPr>
                <a:latin typeface="Courier"/>
              </a:rPr>
              <a:t>
---
### Example: Java instanceof
- In the example, we have created a variable name of the String type and an object obj of the Main class.
- Here, we have used the instanceof operator to check whether name and obj are instances of the String and Main class respectively. And, the operator returns true in both cases.
---
### Java instanceof during Inheritance
- We can use the instanceof operator to check if objects of the subclass is also an instance of the superclass.
---
### Java instanceof during Inheritance
``` Java linenums="1"
// Java Program to check if an object of the subclass
// is also an instance of the superclass
// superclass
class Animal {
}
// subclass
class Dog extends Animal {
}
class Main {
  public static void main(String[] args) {
    // create an object of the subclass
    Dog d1 = new Dog();
    // checks if d1 is an instance of the subclass
    System.out.println(d1 instanceof Dog);        // prints true
    // checks if d1 is an instance of the superclass
    System.out.println(d1 instanceof Animal);     // prints true
  }
}</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during Inheritance</a:t>
            </a:r>
          </a:p>
          <a:p>
            <a:pPr lvl="0"/>
            <a:r>
              <a:rPr/>
              <a:t>In the above example, we have created a subclass Dog that inherits from the superclass Animal. We have created an object d1 of the Dog class.</a:t>
            </a:r>
          </a:p>
          <a:p>
            <a:pPr lvl="0"/>
            <a:r>
              <a:rPr/>
              <a:t>Inside the print statement, notice the expression,</a:t>
            </a:r>
          </a:p>
          <a:p>
            <a:pPr lvl="0" indent="0" marL="0">
              <a:buNone/>
            </a:pPr>
            <a:r>
              <a:rPr>
                <a:latin typeface="Courier"/>
              </a:rPr>
              <a:t>Java linenums="1" d1 instanceof Animal</a:t>
            </a:r>
          </a:p>
          <a:p>
            <a:pPr lvl="0"/>
            <a:r>
              <a:rPr/>
              <a:t>Here, we are using the </a:t>
            </a:r>
            <a:r>
              <a:rPr>
                <a:latin typeface="Courier"/>
              </a:rPr>
              <a:t>instanceof</a:t>
            </a:r>
            <a:r>
              <a:rPr/>
              <a:t> operator to check whether </a:t>
            </a:r>
            <a:r>
              <a:rPr>
                <a:latin typeface="Courier"/>
              </a:rPr>
              <a:t>d1</a:t>
            </a:r>
            <a:r>
              <a:rPr/>
              <a:t> is also an instance of the superclass </a:t>
            </a:r>
            <a:r>
              <a:rPr>
                <a:latin typeface="Courier"/>
              </a:rPr>
              <a:t>Animal</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in Interface</a:t>
            </a:r>
          </a:p>
          <a:p>
            <a:pPr lvl="0"/>
            <a:r>
              <a:rPr/>
              <a:t>The instanceof operator is also used to check whether an object of a class is</a:t>
            </a:r>
          </a:p>
          <a:p>
            <a:pPr lvl="1"/>
            <a:r>
              <a:rPr/>
              <a:t>also an instance of the interface implemented by the class</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in Interface</a:t>
            </a:r>
          </a:p>
          <a:p>
            <a:pPr lvl="0" indent="0" marL="0">
              <a:buNone/>
            </a:pPr>
            <a:r>
              <a:rPr/>
              <a:t>``` Java linenums=“1” // Java program to check if an object of a class is also // an instance of the interface implemented by the class</a:t>
            </a:r>
          </a:p>
          <a:p>
            <a:pPr lvl="0" indent="0" marL="0">
              <a:buNone/>
            </a:pPr>
            <a:r>
              <a:rPr/>
              <a:t>interface Animal { }</a:t>
            </a:r>
          </a:p>
          <a:p>
            <a:pPr lvl="0" indent="0" marL="0">
              <a:buNone/>
            </a:pPr>
            <a:r>
              <a:rPr/>
              <a:t>class Dog implements Animal { }</a:t>
            </a:r>
          </a:p>
          <a:p>
            <a:pPr lvl="0" indent="0">
              <a:buNone/>
            </a:pPr>
            <a:r>
              <a:rPr>
                <a:latin typeface="Courier"/>
              </a:rPr>
              <a:t>
--- 
### Java instanceof in Interface
``` Java linenums="1"
class Main {
  public static void main(String[] args) {
    // create an object of the Dog class
    Dog d1 = new Dog();
    // checks if the object of Dog
    // is also an instance of Animal
    System.out.println(d1 instanceof Animal);  // returns true
  }
}</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in Interface</a:t>
            </a:r>
          </a:p>
          <a:p>
            <a:pPr lvl="0"/>
            <a:r>
              <a:rPr/>
              <a:t>In the example, the </a:t>
            </a:r>
            <a:r>
              <a:rPr>
                <a:latin typeface="Courier"/>
              </a:rPr>
              <a:t>Dog</a:t>
            </a:r>
            <a:r>
              <a:rPr/>
              <a:t> class implements the </a:t>
            </a:r>
            <a:r>
              <a:rPr>
                <a:latin typeface="Courier"/>
              </a:rPr>
              <a:t>Animal</a:t>
            </a:r>
            <a:r>
              <a:rPr/>
              <a:t> interface. Inside the print statement, notice the expression,</a:t>
            </a:r>
          </a:p>
          <a:p>
            <a:pPr lvl="0" indent="0" marL="0">
              <a:buNone/>
            </a:pPr>
            <a:r>
              <a:rPr>
                <a:latin typeface="Courier"/>
              </a:rPr>
              <a:t>Java linenums="1" d1 instanceof Animal</a:t>
            </a:r>
          </a:p>
          <a:p>
            <a:pPr lvl="0"/>
            <a:r>
              <a:rPr/>
              <a:t>Here, </a:t>
            </a:r>
            <a:r>
              <a:rPr>
                <a:latin typeface="Courier"/>
              </a:rPr>
              <a:t>d1</a:t>
            </a:r>
            <a:r>
              <a:rPr/>
              <a:t> is an instance of </a:t>
            </a:r>
            <a:r>
              <a:rPr>
                <a:latin typeface="Courier"/>
              </a:rPr>
              <a:t>Dog</a:t>
            </a:r>
            <a:r>
              <a:rPr/>
              <a:t> class. The instanceof operator checks</a:t>
            </a:r>
          </a:p>
          <a:p>
            <a:pPr lvl="1"/>
            <a:r>
              <a:rPr/>
              <a:t>if </a:t>
            </a:r>
            <a:r>
              <a:rPr>
                <a:latin typeface="Courier"/>
              </a:rPr>
              <a:t>d1</a:t>
            </a:r>
            <a:r>
              <a:rPr/>
              <a:t> is also an instance of the interface </a:t>
            </a:r>
            <a:r>
              <a:rPr>
                <a:latin typeface="Courier"/>
              </a:rPr>
              <a:t>Animal</a:t>
            </a:r>
            <a:r>
              <a:rPr/>
              <a:t>.</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in Interface</a:t>
            </a:r>
          </a:p>
          <a:p>
            <a:pPr lvl="0" indent="0" marL="0">
              <a:buNone/>
            </a:pPr>
            <a:r>
              <a:rPr/>
              <a:t>In Java, all the classes are inherited from the Object class. So, instances of all the classes are also an instance of the Object class.</a:t>
            </a:r>
          </a:p>
          <a:p>
            <a:pPr lvl="0" indent="0" marL="0">
              <a:buNone/>
            </a:pPr>
            <a:r>
              <a:rPr/>
              <a:t>In the previous example, if we check,</a:t>
            </a:r>
          </a:p>
          <a:p>
            <a:pPr lvl="0" indent="0" marL="0">
              <a:buNone/>
            </a:pPr>
            <a:r>
              <a:rPr>
                <a:latin typeface="Courier"/>
              </a:rPr>
              <a:t>Java linenums="1" d1 instanceof Object</a:t>
            </a:r>
          </a:p>
          <a:p>
            <a:pPr lvl="0" indent="0" marL="0">
              <a:buNone/>
            </a:pPr>
            <a:r>
              <a:rPr/>
              <a:t>The result will be </a:t>
            </a:r>
            <a:r>
              <a:rPr>
                <a:latin typeface="Courier"/>
              </a:rPr>
              <a:t>true</a:t>
            </a:r>
            <a:r>
              <a:rPr/>
              <a:t>.</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this Keyword and instanceof</a:t>
            </a:r>
          </a:p>
          <a:p>
            <a:pPr lvl="0"/>
            <a:r>
              <a:rPr/>
              <a:t>this refers to the current object instance</a:t>
            </a:r>
          </a:p>
          <a:p>
            <a:pPr lvl="0"/>
            <a:r>
              <a:rPr/>
              <a:t>Use this to disambiguate between instance variables and parameters with same name</a:t>
            </a:r>
          </a:p>
          <a:p>
            <a:pPr lvl="0"/>
            <a:r>
              <a:rPr/>
              <a:t>this() calls another constructor in the same class (constructor chaining)</a:t>
            </a:r>
          </a:p>
          <a:p>
            <a:pPr lvl="0"/>
            <a:r>
              <a:rPr/>
              <a:t>instanceof checks if an object is an instance of a specific class or interface</a:t>
            </a:r>
          </a:p>
          <a:p>
            <a:pPr lvl="0"/>
            <a:r>
              <a:rPr/>
              <a:t>instanceof returns true for parent classes and implemented interfaces too</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E: Java Method Overriding</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What is Method Overriding? Conceptual Understanding</a:t>
            </a:r>
          </a:p>
          <a:p>
            <a:pPr lvl="0"/>
            <a:r>
              <a:rPr/>
              <a:t>How the JVM Decides Which Method to Run (Dynamic Binding)</a:t>
            </a:r>
          </a:p>
          <a:p>
            <a:pPr lvl="0"/>
            <a:r>
              <a:rPr/>
              <a:t>Java Method Overriding Syntax and Rules</a:t>
            </a:r>
          </a:p>
          <a:p>
            <a:pPr lvl="0"/>
            <a:r>
              <a:rPr/>
              <a:t>Access Specifiers in Overriding</a:t>
            </a:r>
          </a:p>
          <a:p>
            <a:pPr lvl="0"/>
            <a:r>
              <a:rPr/>
              <a:t>Using super with Overriding</a:t>
            </a:r>
          </a:p>
          <a:p>
            <a:pPr lvl="0"/>
            <a:r>
              <a:rPr/>
              <a:t>Overriding Abstract Methods</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Overriding</a:t>
            </a:r>
          </a:p>
          <a:p>
            <a:pPr lvl="0"/>
            <a:r>
              <a:rPr/>
              <a:t>A method would be inherited, but a subclass contains a new version instead</a:t>
            </a:r>
          </a:p>
          <a:p>
            <a:pPr lvl="1"/>
            <a:r>
              <a:rPr/>
              <a:t>For extension</a:t>
            </a:r>
          </a:p>
          <a:p>
            <a:pPr lvl="2"/>
            <a:r>
              <a:rPr/>
              <a:t>E.g. </a:t>
            </a:r>
            <a:r>
              <a:rPr>
                <a:latin typeface="Courier"/>
              </a:rPr>
              <a:t>SavingsAccount</a:t>
            </a:r>
            <a:r>
              <a:rPr/>
              <a:t> might charge an extra fee following every debit</a:t>
            </a:r>
          </a:p>
          <a:p>
            <a:pPr lvl="1"/>
            <a:r>
              <a:rPr/>
              <a:t>For optimization</a:t>
            </a:r>
          </a:p>
          <a:p>
            <a:pPr lvl="2"/>
            <a:r>
              <a:rPr/>
              <a:t>E.g. The </a:t>
            </a:r>
            <a:r>
              <a:rPr>
                <a:latin typeface="Courier"/>
              </a:rPr>
              <a:t>getPerimeterLength</a:t>
            </a:r>
            <a:r>
              <a:rPr/>
              <a:t> method in </a:t>
            </a:r>
            <a:r>
              <a:rPr>
                <a:latin typeface="Courier"/>
              </a:rPr>
              <a:t>Circle</a:t>
            </a:r>
            <a:r>
              <a:rPr/>
              <a:t> is much simpler than the one in </a:t>
            </a:r>
            <a:r>
              <a:rPr>
                <a:latin typeface="Courier"/>
              </a:rPr>
              <a:t>Ellipse</a:t>
            </a:r>
          </a:p>
          <a:p>
            <a:pPr lvl="1"/>
            <a:r>
              <a:rPr/>
              <a:t>For restriction (best to avoid)</a:t>
            </a:r>
          </a:p>
          <a:p>
            <a:pPr lvl="2"/>
            <a:r>
              <a:rPr/>
              <a:t>E.g. </a:t>
            </a:r>
            <a:r>
              <a:rPr>
                <a:latin typeface="Courier"/>
              </a:rPr>
              <a:t>scale(x,y)</a:t>
            </a:r>
            <a:r>
              <a:rPr/>
              <a:t> would not work in </a:t>
            </a:r>
            <a:r>
              <a:rPr>
                <a:latin typeface="Courier"/>
              </a:rPr>
              <a:t>Circle</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a decision is made about which method to run</a:t>
            </a:r>
          </a:p>
          <a:p>
            <a:pPr lvl="0"/>
            <a:r>
              <a:rPr/>
              <a:t>If there is a concrete method for the operation in the current class, run that method.</a:t>
            </a:r>
          </a:p>
          <a:p>
            <a:pPr lvl="0"/>
            <a:r>
              <a:rPr/>
              <a:t>Otherwise, check in the immediate superclass to see if there is a method there; if so, run it.</a:t>
            </a:r>
          </a:p>
          <a:p>
            <a:pPr lvl="0"/>
            <a:r>
              <a:rPr/>
              <a:t>Repeat step 2, looking in successively higher superclasses until a concrete method is found and run.</a:t>
            </a:r>
          </a:p>
          <a:p>
            <a:pPr lvl="0"/>
            <a:r>
              <a:rPr/>
              <a:t>If no method is found, then there is an error In Java and C++ the program would not have compiled</a:t>
            </a:r>
          </a:p>
          <a:p>
            <a:pPr lvl="1"/>
            <a:r>
              <a:rPr/>
              <a:t>In Java and C++ the program would not have compiled</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Dynamic binding</a:t>
            </a:r>
          </a:p>
          <a:p>
            <a:pPr lvl="0"/>
            <a:r>
              <a:rPr b="1"/>
              <a:t>Occurs when decision about which method to run can only be made at run time</a:t>
            </a:r>
          </a:p>
          <a:p>
            <a:pPr lvl="1"/>
            <a:r>
              <a:rPr/>
              <a:t>Needed when:</a:t>
            </a:r>
          </a:p>
          <a:p>
            <a:pPr lvl="2"/>
            <a:r>
              <a:rPr/>
              <a:t>A variable is declared to have a superclass as its type, and</a:t>
            </a:r>
          </a:p>
          <a:p>
            <a:pPr lvl="2"/>
            <a:r>
              <a:rPr/>
              <a:t>There is more than one possible polymorphic method that could be run among the type of the variable and its subclasses</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Method Overriding</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Overriding</a:t>
            </a:r>
          </a:p>
          <a:p>
            <a:pPr lvl="0"/>
            <a:r>
              <a:rPr/>
              <a:t>The method overriding is the process of re-defining a method in a child class that is already defined in the parent class.</a:t>
            </a:r>
          </a:p>
          <a:p>
            <a:pPr lvl="0"/>
            <a:r>
              <a:rPr/>
              <a:t>When both parent and child classes have the same method, then that method is said to be the overriding method.</a:t>
            </a:r>
          </a:p>
          <a:p>
            <a:pPr lvl="0"/>
            <a:r>
              <a:rPr/>
              <a:t>The method overriding enables the child class to change the implementation of the method which aquired from parent class according to its requirement.</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Overriding</a:t>
            </a:r>
          </a:p>
          <a:p>
            <a:pPr lvl="0" indent="0" marL="0">
              <a:buNone/>
            </a:pPr>
            <a:r>
              <a:rPr/>
              <a:t>The method overriding is also known as - dynamic method dispatch or - run time polymorphism or - pure polymorphism.</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Overriding Example</a:t>
            </a:r>
          </a:p>
          <a:p>
            <a:pPr lvl="0" indent="0" marL="0">
              <a:buNone/>
            </a:pPr>
            <a:r>
              <a:rPr/>
              <a:t>``` Java linenums=“1” class ParentClass{</a:t>
            </a:r>
          </a:p>
          <a:p>
            <a:pPr lvl="0" indent="0">
              <a:buNone/>
            </a:pPr>
            <a:r>
              <a:rPr>
                <a:latin typeface="Courier"/>
              </a:rPr>
              <a:t>int num = 10;
void showData() {
    System.out.println("Inside ParentClass showData() method");
    System.out.println("num = " + num);
}</a:t>
            </a:r>
          </a:p>
          <a:p>
            <a:pPr lvl="0" indent="0" marL="0">
              <a:buNone/>
            </a:pPr>
            <a:r>
              <a:rPr/>
              <a:t>}</a:t>
            </a:r>
          </a:p>
          <a:p>
            <a:pPr lvl="0" indent="0">
              <a:buNone/>
            </a:pPr>
            <a:r>
              <a:rPr>
                <a:latin typeface="Courier"/>
              </a:rPr>
              <a:t>
---
### Java Method Overriding Example
``` Java linenums="1"
class ChildClass extends ParentClass{
    void showData() {
        System.out.println("Inside ChildClass showData() method");
        System.out.println("num = " + num);
    }
}</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Overriding Example</a:t>
            </a:r>
          </a:p>
          <a:p>
            <a:pPr lvl="0" indent="0" marL="0">
              <a:buNone/>
            </a:pPr>
            <a:r>
              <a:rPr/>
              <a:t>``` Java linenums=“1” public class PurePolymorphism {</a:t>
            </a:r>
          </a:p>
          <a:p>
            <a:pPr lvl="0" indent="0">
              <a:buNone/>
            </a:pPr>
            <a:r>
              <a:rPr>
                <a:latin typeface="Courier"/>
              </a:rPr>
              <a:t>public static void main(String[] args) {
    ParentClass obj = new ParentClass();
    obj.showData();
    obj = new ChildClass();
    obj.showData();
}</a:t>
            </a:r>
          </a:p>
          <a:p>
            <a:pPr lvl="0" indent="0" marL="0">
              <a:buNone/>
            </a:pPr>
            <a:r>
              <a:rPr/>
              <a:t>}</a:t>
            </a:r>
          </a:p>
          <a:p>
            <a:pPr lvl="0" indent="0">
              <a:buNone/>
            </a:pPr>
            <a:r>
              <a:rPr>
                <a:latin typeface="Courier"/>
              </a:rPr>
              <a:t>
---
### Rules for method overriding
While overriding a method, we must follow the below list of rules.
- Static methods can not be overridden.
- Final methods can not be overridden.
- Private methods can not be overridden.
- Constructor can not be overridden.
- An abstract method must be overridden.
- Use super keyword to invoke overridden method from child class.
---
### Rules for method overriding
- The return type of the overriding method must be same as the parent has it.
- The access specifier of the overriding method can be changed, but the visibility must increase but not decrease. For example, a protected method in the parent class can be made public, but not private, in the child class.
---
### Rules for method overriding
- If the overridden method does not throw an exception in the parent class, then the child class overriding method can only throw the unchecked exception, throwing a checked exception is not allowed.
- If the parent class overridden method does throw an exception, then the child class overriding method can only throw the same, or subclass exception, or it may not throw any exception.
---
### Method Overriding Example
``` Java linenums="1"
class Animal {
   public void displayInfo() {
      System.out.println("I am an animal.");
   }
}
class Dog extends Animal {
   @Override
   public void displayInfo() {
      System.out.println("I am a dog.");
   }
}
class Main {
   public static void main(String[] args) {
      Dog d1 = new Dog();
      d1.displayInfo();
   }
}</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 Overriding Example</a:t>
            </a:r>
          </a:p>
          <a:p>
            <a:pPr lvl="0"/>
            <a:r>
              <a:rPr/>
              <a:t>annotations are the metadata that we used to provide information to the compiler</a:t>
            </a:r>
          </a:p>
          <a:p>
            <a:pPr lvl="0"/>
            <a:r>
              <a:rPr/>
              <a:t>It is not mandatory to use @Override. However, when we use this, the method should follow all the rules of overriding. Otherwise, the compiler will generate an error.</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Method Overriding Example</a:t>
            </a:r>
          </a:p>
        </p:txBody>
      </p:sp>
      <p:pic>
        <p:nvPicPr>
          <p:cNvPr descr="assets/method-overriding-in-java.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Keyword in Java Overriding</a:t>
            </a:r>
          </a:p>
          <a:p>
            <a:pPr lvl="0"/>
            <a:r>
              <a:rPr/>
              <a:t>Can we access the method of the superclass after overriding?</a:t>
            </a:r>
          </a:p>
          <a:p>
            <a:pPr lvl="1"/>
            <a:r>
              <a:rPr/>
              <a:t>The answer is Yes. To access the method of the superclass from the subclass, we use the super keyword</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 of super Keyword Example</a:t>
            </a:r>
          </a:p>
          <a:p>
            <a:pPr lvl="0" indent="0" marL="0">
              <a:buNone/>
            </a:pPr>
            <a:r>
              <a:rPr/>
              <a:t>``` Java linenums=“1” class Animal { public void displayInfo() { System.out.println(“I am an animal.”); } }</a:t>
            </a:r>
          </a:p>
          <a:p>
            <a:pPr lvl="0" indent="0" marL="0">
              <a:buNone/>
            </a:pPr>
            <a:r>
              <a:rPr/>
              <a:t>class Dog extends Animal { public void displayInfo() { super.displayInfo(); System.out.println(“I am a dog.”); } }</a:t>
            </a:r>
          </a:p>
          <a:p>
            <a:pPr lvl="0" indent="0" marL="0">
              <a:buNone/>
            </a:pPr>
            <a:r>
              <a:rPr/>
              <a:t>class Main { public static void main(String[] args) { Dog d1 = new Dog(); d1.displayInfo(); } }</a:t>
            </a:r>
          </a:p>
          <a:p>
            <a:pPr lvl="0" indent="0">
              <a:buNone/>
            </a:pPr>
            <a:r>
              <a:rPr>
                <a:latin typeface="Courier"/>
              </a:rPr>
              <a:t>
---
### Use of super Keyword Example
- In the above example, the subclass Dog overrides the method displayInfo() of the superclass Animal.
- When we call the method displayInfo() using the d1 object of the Dog subclass, the method inside the Dog subclass is called; the method inside the superclass is not called
- Inside displayInfo() of the Dog subclass, we have used super.displayInfo() to call displayInfo() of the superclass.
---
### Use of super Keyword Example
- note that constructors in Java are not inherited. Hence, there is no such thing as constructor overriding in Java.
- However, we can call the constructor of the superclass from its subclasses. For that, we use super()
---
### Access Specifiers in Method Overriding
- The same method declared in the superclass and its subclasses can have different access specifiers. However, there is a restriction.
- We can only use those access specifiers in subclasses that provide larger access than the access specifier of the superclass. For example,
- Suppose, a method myClass() in the superclass is declared protected. Then, the same method myClass() in the subclass can be either public or protected, but not private.
---
### Access Specifier in Overriding Example
``` Java linenums="1"
class Animal {
   protected void displayInfo() {
      System.out.println("I am an animal.");
   }
}
class Dog extends Animal {
   public void displayInfo() {
      System.out.println("I am a dog.");
   }
}
class Main {
   public static void main(String[] args) {
      Dog d1 = new Dog();
      d1.displayInfo();
   }
}</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Specifier in Overriding Example</a:t>
            </a:r>
          </a:p>
          <a:p>
            <a:pPr lvl="0"/>
            <a:r>
              <a:rPr/>
              <a:t>In the above example, the subclass Dog overrides the method displayInfo() of the superclass Animal.</a:t>
            </a:r>
          </a:p>
          <a:p>
            <a:pPr lvl="0"/>
            <a:r>
              <a:rPr/>
              <a:t>Whenever we call displayInfo() using the d1 (object of the subclass), the method inside the subclass is called.</a:t>
            </a:r>
          </a:p>
          <a:p>
            <a:pPr lvl="0"/>
            <a:r>
              <a:rPr/>
              <a:t>Notice that, the displayInfo() is declared protected in the Animal superclass. The same method has the public access specifier in the Dog subclass.</a:t>
            </a:r>
          </a:p>
          <a:p>
            <a:pPr lvl="0"/>
            <a:r>
              <a:rPr/>
              <a:t>This is possible because the public provides larger access than the protected.</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Overriding Abstract Methods</a:t>
            </a:r>
          </a:p>
          <a:p>
            <a:pPr lvl="0"/>
            <a:r>
              <a:rPr/>
              <a:t>In Java, abstract classes are created to be the superclass of other classes.</a:t>
            </a:r>
          </a:p>
          <a:p>
            <a:pPr lvl="0"/>
            <a:r>
              <a:rPr/>
              <a:t>And, if a class contains an abstract method,</a:t>
            </a:r>
          </a:p>
          <a:p>
            <a:pPr lvl="1"/>
            <a:r>
              <a:rPr/>
              <a:t>it is mandatory to override it.</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Java Method Overriding</a:t>
            </a:r>
          </a:p>
          <a:p>
            <a:pPr lvl="0"/>
            <a:r>
              <a:rPr/>
              <a:t>Override: subclass provides its own implementation of a parent method</a:t>
            </a:r>
          </a:p>
          <a:p>
            <a:pPr lvl="0"/>
            <a:r>
              <a:rPr/>
              <a:t>The JVM decides at RUNTIME which method to call (dynamic binding / late binding)</a:t>
            </a:r>
          </a:p>
          <a:p>
            <a:pPr lvl="0"/>
            <a:r>
              <a:rPr/>
              <a:t>Rules: same name, same parameters, covariant return type allowed</a:t>
            </a:r>
          </a:p>
          <a:p>
            <a:pPr lvl="0"/>
            <a:r>
              <a:rPr/>
              <a:t>Cannot override: final methods, static methods, private methods</a:t>
            </a:r>
          </a:p>
          <a:p>
            <a:pPr lvl="0"/>
            <a:r>
              <a:rPr/>
              <a:t>Access modifier in overriding method cannot be more restrictive than parent</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F: Java Polymorphism</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Conceptual Understanding of Polymorphism</a:t>
            </a:r>
          </a:p>
          <a:p>
            <a:pPr lvl="0"/>
            <a:r>
              <a:rPr/>
              <a:t>Methods, Operations, and Polymorphism</a:t>
            </a:r>
          </a:p>
          <a:p>
            <a:pPr lvl="0"/>
            <a:r>
              <a:rPr/>
              <a:t>Ad hoc Polymorphism (Method Overloading)</a:t>
            </a:r>
          </a:p>
          <a:p>
            <a:pPr lvl="0"/>
            <a:r>
              <a:rPr/>
              <a:t>Pure Polymorphism (Method Overriding)</a:t>
            </a:r>
          </a:p>
          <a:p>
            <a:pPr lvl="0"/>
            <a:r>
              <a:rPr/>
              <a:t>Polymorphic Variables and Dynamic Binding in Action</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Operations and Polymorphism</a:t>
            </a:r>
          </a:p>
          <a:p>
            <a:pPr lvl="0"/>
            <a:r>
              <a:rPr b="1"/>
              <a:t>Operation</a:t>
            </a:r>
          </a:p>
          <a:p>
            <a:pPr lvl="1"/>
            <a:r>
              <a:rPr/>
              <a:t>A higher-level procedural abstraction that specifies a type of behaviour</a:t>
            </a:r>
          </a:p>
          <a:p>
            <a:pPr lvl="1"/>
            <a:r>
              <a:rPr/>
              <a:t>Independent of any code which implements that behaviour</a:t>
            </a:r>
          </a:p>
          <a:p>
            <a:pPr lvl="2"/>
            <a:r>
              <a:rPr/>
              <a:t>E.g. calculating area (in general)</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Operations and Polymorphism</a:t>
            </a:r>
          </a:p>
          <a:p>
            <a:pPr lvl="0"/>
            <a:r>
              <a:rPr b="1"/>
              <a:t>Method</a:t>
            </a:r>
          </a:p>
          <a:p>
            <a:pPr lvl="1"/>
            <a:r>
              <a:rPr/>
              <a:t>A procedural abstraction used to implement the behaviour of a class</a:t>
            </a:r>
          </a:p>
          <a:p>
            <a:pPr lvl="1"/>
            <a:r>
              <a:rPr/>
              <a:t>Several different classes can have methods with the same name</a:t>
            </a:r>
          </a:p>
          <a:p>
            <a:pPr lvl="2"/>
            <a:r>
              <a:rPr/>
              <a:t>They implement the same abstract operation in ways suitable to each class</a:t>
            </a:r>
          </a:p>
          <a:p>
            <a:pPr lvl="2"/>
            <a:r>
              <a:rPr/>
              <a:t>E.g. calculating area in a rectangle is done differently from in a circle</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Polymorphism</a:t>
            </a:r>
          </a:p>
          <a:p>
            <a:pPr lvl="0"/>
            <a:r>
              <a:rPr b="1"/>
              <a:t>A property of object oriented software by which an abstract operation may be performed in different ways in different classes.</a:t>
            </a:r>
          </a:p>
          <a:p>
            <a:pPr lvl="1"/>
            <a:r>
              <a:rPr/>
              <a:t>Requires that there be </a:t>
            </a:r>
            <a:r>
              <a:rPr i="1"/>
              <a:t>multiple methods</a:t>
            </a:r>
            <a:r>
              <a:rPr/>
              <a:t> of </a:t>
            </a:r>
            <a:r>
              <a:rPr i="1"/>
              <a:t>the same name</a:t>
            </a:r>
          </a:p>
          <a:p>
            <a:pPr lvl="1"/>
            <a:r>
              <a:rPr/>
              <a:t>The choice of which one to execute depends on the object that is in a variable</a:t>
            </a:r>
          </a:p>
          <a:p>
            <a:pPr lvl="1"/>
            <a:r>
              <a:rPr/>
              <a:t>Reduces the need for programmers to code many </a:t>
            </a:r>
            <a:r>
              <a:rPr>
                <a:latin typeface="Courier"/>
              </a:rPr>
              <a:t>if-else</a:t>
            </a:r>
            <a:r>
              <a:rPr/>
              <a:t> or </a:t>
            </a:r>
            <a:r>
              <a:rPr>
                <a:latin typeface="Courier"/>
              </a:rPr>
              <a:t>switch</a:t>
            </a:r>
            <a:r>
              <a:rPr/>
              <a:t> statements</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Inheritance, Polymorphism and Variables</a:t>
            </a:r>
          </a:p>
        </p:txBody>
      </p:sp>
      <p:pic>
        <p:nvPicPr>
          <p:cNvPr descr="assets/2022-02-21-01-29-28-image.png" id="0" name="Picture 1"/>
          <p:cNvPicPr>
            <a:picLocks noGrp="1" noChangeAspect="1"/>
          </p:cNvPicPr>
          <p:nvPr/>
        </p:nvPicPr>
        <p:blipFill>
          <a:blip r:embed="rId2"/>
          <a:stretch>
            <a:fillRect/>
          </a:stretch>
        </p:blipFill>
        <p:spPr bwMode="auto">
          <a:xfrm>
            <a:off x="3937000" y="203200"/>
            <a:ext cx="4368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Some Operations in the Shape Example</a:t>
            </a:r>
          </a:p>
        </p:txBody>
      </p:sp>
      <p:pic>
        <p:nvPicPr>
          <p:cNvPr descr="assets/2022-02-21-01-30-01-image.png" id="0" name="Picture 1"/>
          <p:cNvPicPr>
            <a:picLocks noGrp="1" noChangeAspect="1"/>
          </p:cNvPicPr>
          <p:nvPr/>
        </p:nvPicPr>
        <p:blipFill>
          <a:blip r:embed="rId2"/>
          <a:stretch>
            <a:fillRect/>
          </a:stretch>
        </p:blipFill>
        <p:spPr bwMode="auto">
          <a:xfrm>
            <a:off x="3721100" y="203200"/>
            <a:ext cx="4800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Polymorphism</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Polymorphism</a:t>
            </a:r>
          </a:p>
          <a:p>
            <a:pPr lvl="0"/>
            <a:r>
              <a:rPr/>
              <a:t>The polymorphism is the process of defining same method with different implementation. That means creating multiple methods with different behaviors.</a:t>
            </a:r>
          </a:p>
          <a:p>
            <a:pPr lvl="0"/>
            <a:r>
              <a:rPr/>
              <a:t>In java, polymorphism implemented using</a:t>
            </a:r>
          </a:p>
          <a:p>
            <a:pPr lvl="1"/>
            <a:r>
              <a:rPr/>
              <a:t>method overloading and</a:t>
            </a:r>
          </a:p>
          <a:p>
            <a:pPr lvl="1"/>
            <a:r>
              <a:rPr/>
              <a:t>method overriding.</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 hoc polymorphism</a:t>
            </a:r>
          </a:p>
          <a:p>
            <a:pPr lvl="0"/>
            <a:r>
              <a:rPr/>
              <a:t>The ad hoc polymorphism is a technique used to define</a:t>
            </a:r>
          </a:p>
          <a:p>
            <a:pPr lvl="1"/>
            <a:r>
              <a:rPr/>
              <a:t>the same method with different implementations and</a:t>
            </a:r>
          </a:p>
          <a:p>
            <a:pPr lvl="1"/>
            <a:r>
              <a:rPr/>
              <a:t>different arguments.</a:t>
            </a:r>
          </a:p>
          <a:p>
            <a:pPr lvl="0"/>
            <a:r>
              <a:rPr/>
              <a:t>In a java programming language, ad hoc polymorphism carried out with</a:t>
            </a:r>
          </a:p>
          <a:p>
            <a:pPr lvl="1"/>
            <a:r>
              <a:rPr/>
              <a:t>a method overloading concept.</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 hoc polymorphism</a:t>
            </a:r>
          </a:p>
          <a:p>
            <a:pPr lvl="0"/>
            <a:r>
              <a:rPr/>
              <a:t>In ad hoc polymorphism the method binding happens at the time of compilation.</a:t>
            </a:r>
          </a:p>
          <a:p>
            <a:pPr lvl="0"/>
            <a:r>
              <a:rPr/>
              <a:t>Ad hoc polymorphism is also known as compile-time polymorphism.</a:t>
            </a:r>
          </a:p>
          <a:p>
            <a:pPr lvl="0"/>
            <a:r>
              <a:rPr/>
              <a:t>Every function call binded with the respective overloaded method based on the arguments.</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 hoc polymorphism</a:t>
            </a:r>
          </a:p>
          <a:p>
            <a:pPr lvl="0"/>
            <a:r>
              <a:rPr/>
              <a:t>The ad hoc polymorphism implemented within the class only.</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 hoc polymorphism example-1</a:t>
            </a:r>
          </a:p>
          <a:p>
            <a:pPr lvl="0" indent="0" marL="0">
              <a:buNone/>
            </a:pPr>
            <a:r>
              <a:rPr/>
              <a:t>``` Java linenums=“1” import java.util.Arrays;</a:t>
            </a:r>
          </a:p>
          <a:p>
            <a:pPr lvl="0" indent="0" marL="0">
              <a:buNone/>
            </a:pPr>
            <a:r>
              <a:rPr/>
              <a:t>public class AdHocPolymorphismExample {</a:t>
            </a:r>
          </a:p>
          <a:p>
            <a:pPr lvl="0" indent="0">
              <a:buNone/>
            </a:pPr>
            <a:r>
              <a:rPr>
                <a:latin typeface="Courier"/>
              </a:rPr>
              <a:t>void sorting(int[] list) {
    Arrays.parallelSort(list);
    System.out.println("Integers after sort: " + Arrays.toString(list) );
}
void sorting(String[] names) {
    Arrays.parallelSort(names);
    System.out.println("Names after sort: " + Arrays.toString(names) );     
}</a:t>
            </a:r>
          </a:p>
          <a:p>
            <a:pPr lvl="0" indent="0" marL="0">
              <a:buNone/>
            </a:pPr>
            <a:r>
              <a:rPr/>
              <a:t>…</a:t>
            </a:r>
          </a:p>
          <a:p>
            <a:pPr lvl="0" indent="0">
              <a:buNone/>
            </a:pPr>
            <a:r>
              <a:rPr>
                <a:latin typeface="Courier"/>
              </a:rPr>
              <a:t>
---
### Ad hoc polymorphism example-1
``` Java linenums="1"
...
    public static void main(String[] args) {
        AdHocPolymorphismExample obj = new AdHocPolymorphismExample();
        int list[] = {2, 3, 1, 5, 4};
        obj.sorting(list);  // Calling with integer array
        String[] names = {"rama", "raja", "shyam", "seeta"};
        obj.sorting(names); // Calling with String array
    }
}</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Pure polymorphism</a:t>
            </a:r>
          </a:p>
          <a:p>
            <a:pPr lvl="0"/>
            <a:r>
              <a:rPr/>
              <a:t>The pure polymorphism is a technique used to define the same method with the same arguments but different implementations.</a:t>
            </a:r>
          </a:p>
          <a:p>
            <a:pPr lvl="0"/>
            <a:r>
              <a:rPr/>
              <a:t>In a java programming language, pure polymorphism carried out with</a:t>
            </a:r>
          </a:p>
          <a:p>
            <a:pPr lvl="1"/>
            <a:r>
              <a:rPr/>
              <a:t>a method overriding concept.</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Pure polymorphism</a:t>
            </a:r>
          </a:p>
          <a:p>
            <a:pPr lvl="0"/>
            <a:r>
              <a:rPr/>
              <a:t>In pure polymorphism, the method binding happens at run time.</a:t>
            </a:r>
          </a:p>
          <a:p>
            <a:pPr lvl="1"/>
            <a:r>
              <a:rPr/>
              <a:t>Pure polymorphism is also known as run-time polymorphism.</a:t>
            </a:r>
          </a:p>
          <a:p>
            <a:pPr lvl="1"/>
            <a:r>
              <a:rPr/>
              <a:t>Every function call binding with the respective overridden method based on the object reference.</a:t>
            </a:r>
          </a:p>
          <a:p>
            <a:pPr lvl="0"/>
            <a:r>
              <a:rPr/>
              <a:t>When a child class has a definition for a member function of the parent class,</a:t>
            </a:r>
          </a:p>
          <a:p>
            <a:pPr lvl="1"/>
            <a:r>
              <a:rPr/>
              <a:t>the parent class function is said to be overridden.</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Pure polymorphism</a:t>
            </a:r>
          </a:p>
          <a:p>
            <a:pPr lvl="0"/>
            <a:r>
              <a:rPr/>
              <a:t>The pure polymorphism implemented in the inheritance concept only.</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Pure polymorphism example-1</a:t>
            </a:r>
          </a:p>
          <a:p>
            <a:pPr lvl="0" indent="0" marL="0">
              <a:buNone/>
            </a:pPr>
            <a:r>
              <a:rPr/>
              <a:t>``` Java linenums=“1” class ParentClass{</a:t>
            </a:r>
          </a:p>
          <a:p>
            <a:pPr lvl="0" indent="0">
              <a:buNone/>
            </a:pPr>
            <a:r>
              <a:rPr>
                <a:latin typeface="Courier"/>
              </a:rPr>
              <a:t>int num = 10;
void showData() {
    System.out.println("Inside ParentClass showData() method");
    System.out.println("num = " + num);
}</a:t>
            </a:r>
          </a:p>
          <a:p>
            <a:pPr lvl="0" indent="0" marL="0">
              <a:buNone/>
            </a:pPr>
            <a:r>
              <a:rPr/>
              <a:t>}</a:t>
            </a:r>
          </a:p>
          <a:p>
            <a:pPr lvl="0" indent="0">
              <a:buNone/>
            </a:pPr>
            <a:r>
              <a:rPr>
                <a:latin typeface="Courier"/>
              </a:rPr>
              <a:t>
---
### Pure polymorphism example-1
``` Java linenums="1"
class ChildClass extends ParentClass{
    void showData() {
        System.out.println("Inside ChildClass showData() method");
        System.out.println("num = " + num);
    }
}</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Pure polymorphism example-1</a:t>
            </a:r>
          </a:p>
          <a:p>
            <a:pPr lvl="0" indent="0" marL="0">
              <a:buNone/>
            </a:pPr>
            <a:r>
              <a:rPr/>
              <a:t>``` Java linenums=“1” public class PurePolymorphism {</a:t>
            </a:r>
          </a:p>
          <a:p>
            <a:pPr lvl="0" indent="0">
              <a:buNone/>
            </a:pPr>
            <a:r>
              <a:rPr>
                <a:latin typeface="Courier"/>
              </a:rPr>
              <a:t>public static void main(String[] args) {
    ParentClass obj = new ParentClass();
    obj.showData();
    obj = new ChildClass();
    obj.showData();
}</a:t>
            </a:r>
          </a:p>
          <a:p>
            <a:pPr lvl="0" indent="0" marL="0">
              <a:buNone/>
            </a:pPr>
            <a:r>
              <a:rPr/>
              <a:t>}</a:t>
            </a:r>
          </a:p>
          <a:p>
            <a:pPr lvl="0" indent="0">
              <a:buNone/>
            </a:pPr>
            <a:r>
              <a:rPr>
                <a:latin typeface="Courier"/>
              </a:rPr>
              <a:t>
---
### Java Method Overriding
- During inheritance in Java, if the same method is present in both the superclass and the subclass. 
  - Then, the method in the subclass overrides the same method in the superclass. This is called method overriding.
--- 
### Polymorphism using method overriding example-2
``` Java linenums="1"
class Language {
  public void displayInfo() {
    System.out.println("Common English Language");
  }
}
class Java extends Language {
  @Override
  public void displayInfo() {
    System.out.println("Java Programming Language");
  }
}</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Polymorphism using method overriding example-2</a:t>
            </a:r>
          </a:p>
          <a:p>
            <a:pPr lvl="0" indent="0" marL="0">
              <a:buNone/>
            </a:pPr>
            <a:r>
              <a:rPr/>
              <a:t>``` Java linenums=“1” class Main { public static void main(String[] args) {</a:t>
            </a:r>
          </a:p>
          <a:p>
            <a:pPr lvl="0" indent="0">
              <a:buNone/>
            </a:pPr>
            <a:r>
              <a:rPr>
                <a:latin typeface="Courier"/>
              </a:rPr>
              <a:t>// create an object of Java class
Java j1 = new Java();
j1.displayInfo();
// create an object of Language class
Language l1 = new Language();
l1.displayInfo();</a:t>
            </a:r>
          </a:p>
          <a:p>
            <a:pPr lvl="0" indent="0" marL="0">
              <a:buNone/>
            </a:pPr>
            <a:r>
              <a:rPr/>
              <a:t>} }</a:t>
            </a:r>
          </a:p>
          <a:p>
            <a:pPr lvl="0" indent="0">
              <a:buNone/>
            </a:pPr>
            <a:r>
              <a:rPr>
                <a:latin typeface="Courier"/>
              </a:rPr>
              <a:t>
---
### Polymorphism using method overriding example-2
![center h:450px](assets/java-polymorphism-implementation.png)
---
### Java Method Overloading
In a Java class, we can create methods with the same name if they differ in parameters. For example
``` Java linenums="1"
void func() { ... }
void func(int a) { ... }
float func(double a) { ... }
float func(int a, float b) { ... }</a:t>
            </a:r>
          </a:p>
          <a:p>
            <a:pPr lvl="0" indent="0" marL="0">
              <a:buNone/>
            </a:pPr>
            <a:r>
              <a:rPr/>
              <a:t>This is known as method overloading in Java. Here, the same method will perform different operations based on the parameter.</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Polymorphism using method overloading example-3</a:t>
            </a:r>
          </a:p>
          <a:p>
            <a:pPr lvl="0" indent="0" marL="0">
              <a:buNone/>
            </a:pPr>
            <a:r>
              <a:rPr/>
              <a:t>``` Java linenums=“1” class Pattern {</a:t>
            </a:r>
          </a:p>
          <a:p>
            <a:pPr lvl="0" indent="0" marL="0">
              <a:buNone/>
            </a:pPr>
            <a:r>
              <a:rPr/>
              <a:t>// method without parameter public void display() { for (int i = 0; i &lt; 10; i++) { System.out.print(“*“); } }</a:t>
            </a:r>
          </a:p>
          <a:p>
            <a:pPr lvl="0" indent="0" marL="0">
              <a:buNone/>
            </a:pPr>
            <a:r>
              <a:rPr/>
              <a:t>// method with single parameter public void display(char symbol) { for (int i = 0; i &lt; 10; i++) { System.out.print(symbol); } } }</a:t>
            </a:r>
          </a:p>
          <a:p>
            <a:pPr lvl="0" indent="0">
              <a:buNone/>
            </a:pPr>
            <a:r>
              <a:rPr>
                <a:latin typeface="Courier"/>
              </a:rPr>
              <a:t>
---
###  Polymorphism using method overloading example-3
``` Java linenums="1"
class Main {
  public static void main(String[] args) {
    Pattern d1 = new Pattern();
    // call method without any argument
    d1.display();
    System.out.println("\n");
    // call method with a single argument
    d1.display('#');
  }
}</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Polymorphic Variables</a:t>
            </a:r>
          </a:p>
          <a:p>
            <a:pPr lvl="0"/>
            <a:r>
              <a:rPr/>
              <a:t>A variable is called polymorphic if it refers to different values under different conditions.</a:t>
            </a:r>
          </a:p>
          <a:p>
            <a:pPr lvl="0"/>
            <a:r>
              <a:rPr/>
              <a:t>Object variables (instance variables) represent the behavior of polymorphic variables in Java.</a:t>
            </a:r>
          </a:p>
          <a:p>
            <a:pPr lvl="0"/>
            <a:r>
              <a:rPr/>
              <a:t>It is because object variables of a class can refer to objects of its class as well as objects of its subclasses.</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Polymorphic Variables Example-1</a:t>
            </a:r>
          </a:p>
          <a:p>
            <a:pPr lvl="0" indent="0" marL="0">
              <a:buNone/>
            </a:pPr>
            <a:r>
              <a:rPr>
                <a:latin typeface="Courier"/>
              </a:rPr>
              <a:t>Java linenums="1" class ProgrammingLanguage {   public void display() {     System.out.println("I am Programming Language.");   } }</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Polymorphic Variables Example-1</a:t>
            </a:r>
          </a:p>
          <a:p>
            <a:pPr lvl="0" indent="0" marL="0">
              <a:buNone/>
            </a:pPr>
            <a:r>
              <a:rPr>
                <a:latin typeface="Courier"/>
              </a:rPr>
              <a:t>Java linenums="1" class Java extends ProgrammingLanguage {   @Override   public void display() {     System.out.println("I am Object-Oriented Programming Language.");   } }</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Polymorphic Variables Example-1</a:t>
            </a:r>
          </a:p>
          <a:p>
            <a:pPr lvl="0" indent="0" marL="0">
              <a:buNone/>
            </a:pPr>
            <a:r>
              <a:rPr/>
              <a:t>``` Java linenums=“1” class Main { public static void main(String[] args) {</a:t>
            </a:r>
          </a:p>
          <a:p>
            <a:pPr lvl="0" indent="0">
              <a:buNone/>
            </a:pPr>
            <a:r>
              <a:rPr>
                <a:latin typeface="Courier"/>
              </a:rPr>
              <a:t>// declare an object variable
ProgrammingLanguage pl;
// create object of ProgrammingLanguage
pl = new ProgrammingLanguage();
pl.display();
// create object of Java class
pl = new Java();
pl.display();</a:t>
            </a:r>
          </a:p>
          <a:p>
            <a:pPr lvl="0" indent="0" marL="0">
              <a:buNone/>
            </a:pPr>
            <a:r>
              <a:rPr/>
              <a:t>} }</a:t>
            </a:r>
          </a:p>
          <a:p>
            <a:pPr lvl="0" indent="0">
              <a:buNone/>
            </a:pPr>
            <a:r>
              <a:rPr>
                <a:latin typeface="Courier"/>
              </a:rPr>
              <a:t>
---
### Takeaway: Java Polymorphism
- Polymorphism means 'many forms' - same interface, different implementations
- Ad hoc polymorphism: method overloading (compile-time, same class)
- Pure polymorphism: method overriding (runtime, inheritance hierarchy)
- Polymorphic variables: parent type reference can hold child type objects
- Dynamic binding: JVM resolves the actual method at runtime based on object type
---
## **Module G: Java Encapsulation and Data Hiding**
---
### Module Outline
- Conceptual Understanding of Encapsulation and Data Hiding
- Example: A Point on the Plane
- Java Encapsulation with Getters and Setters
- Why Encapsulation Matters (7 Reasons)
- Data Hiding using the Private Specifier
---
### OOP: Encapsulation and Data Hiding
- Thinking in terms of objects rather than functions 
- Close match between **objects** in the **programming** sense and  **objects in the real world** 
- Both data and the functions that operate on that data are combined into a single program entity 
- **Data** represent the **properties** (state), and **functions** represent the **behavior** of an object. Data and its functions are said to be **encapsulated** into a single entity 
- An object's functions, called member functions in Java typically provide the only way to access its data. The data is **hidden**, so it is safe from accidental alteration. 
---
### OOP: Encapsulation and Data Hiding
- **Encapsulation** and **data hiding** are key terms in the 
  description of object-oriented languages. 
- If you want to modify the data in an object, you know exactly what functions to interact with it 
  - The member functions in the object. 
  - No other functions can access the data: This simplifies writing, debugging, and maintaining the program. 
---
### Example: A Point on the plane
- A Point on a plane has two properties; x-y coordinates. 
- Abilities (behavior) of a Point are, moving on the plane, appearing on the screen and disappearing.  
- A model for 2 dimensional points with the following parts: 
  - Two integer variables `(x,y)` to represent x and y  coordinates 
  - A function to move the point: `move` 
  - A function to print the point on the screen: `print` 
  - A function to hide the point: `hide` 
---
### Example: A Point on the plane
- Once the **model** has been built and tested, it is  possible to create many **objects of this model**, in the  main program. 
``` Java linenums="1"
Point pointOne = new Point(67, 89); 
Point pointTwo = new Point(12, 34); 
public class Point { 
    public int x = 0; 
    public int y = 0; 
    public Point(int a, int b) { 
    x = a; 
    y = b; 
    } 
} </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Encapsulation</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Encapsulation</a:t>
            </a:r>
          </a:p>
          <a:p>
            <a:pPr lvl="0"/>
            <a:r>
              <a:rPr/>
              <a:t>It prevents outer classes from accessing and changing fields and methods of a class. This also helps to achieve data hiding</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Encapsulation Example</a:t>
            </a:r>
          </a:p>
          <a:p>
            <a:pPr lvl="0" indent="0" marL="0">
              <a:buNone/>
            </a:pPr>
            <a:r>
              <a:rPr/>
              <a:t>``` Java linenums=“1” class Area {</a:t>
            </a:r>
          </a:p>
          <a:p>
            <a:pPr lvl="0" indent="0" marL="0">
              <a:buNone/>
            </a:pPr>
            <a:r>
              <a:rPr/>
              <a:t>// fields to calculate area int length; int breadth;</a:t>
            </a:r>
          </a:p>
          <a:p>
            <a:pPr lvl="0" indent="0" marL="0">
              <a:buNone/>
            </a:pPr>
            <a:r>
              <a:rPr/>
              <a:t>// constructor to initialize values Area(int length, int breadth) { this.length = length; this.breadth = breadth; }</a:t>
            </a:r>
          </a:p>
          <a:p>
            <a:pPr lvl="0" indent="0" marL="0">
              <a:buNone/>
            </a:pPr>
            <a:r>
              <a:rPr/>
              <a:t>// method to calculate area public void getArea() { int area = length * breadth; System.out.println(“Area:” + area); } }</a:t>
            </a:r>
          </a:p>
          <a:p>
            <a:pPr lvl="0" indent="0">
              <a:buNone/>
            </a:pPr>
            <a:r>
              <a:rPr>
                <a:latin typeface="Courier"/>
              </a:rPr>
              <a:t>
---
### Java Encapsulation Example
``` Java linenums="1"
class Main {
  public static void main(String[] args) {
    // create object of Area
    // pass value of length and breadth
    Area rectangle = new Area(5, 6);
    rectangle.getArea();
  }
}</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Encapsulation?</a:t>
            </a:r>
          </a:p>
          <a:p>
            <a:pPr lvl="0"/>
            <a:r>
              <a:rPr/>
              <a:t>In Java, encapsulation helps us to keep</a:t>
            </a:r>
          </a:p>
          <a:p>
            <a:pPr lvl="1"/>
            <a:r>
              <a:rPr/>
              <a:t>related</a:t>
            </a:r>
          </a:p>
          <a:p>
            <a:pPr lvl="2"/>
            <a:r>
              <a:rPr/>
              <a:t>fields and</a:t>
            </a:r>
          </a:p>
          <a:p>
            <a:pPr lvl="2"/>
            <a:r>
              <a:rPr/>
              <a:t>methods together,</a:t>
            </a:r>
          </a:p>
          <a:p>
            <a:pPr lvl="1"/>
            <a:r>
              <a:rPr/>
              <a:t>which makes our code cleaner and easy to read.</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Encapsulation?</a:t>
            </a:r>
          </a:p>
          <a:p>
            <a:pPr lvl="0"/>
            <a:r>
              <a:rPr/>
              <a:t>It helps to control the values of our data fields</a:t>
            </a:r>
          </a:p>
          <a:p>
            <a:pPr lvl="0" indent="0" marL="0">
              <a:buNone/>
            </a:pPr>
            <a:r>
              <a:rPr/>
              <a:t>``` Java linenums=“1” class Person { private int age;</a:t>
            </a:r>
          </a:p>
          <a:p>
            <a:pPr lvl="0" indent="0" marL="0">
              <a:buNone/>
            </a:pPr>
            <a:r>
              <a:rPr/>
              <a:t>public void setAge(int age) { if (age &gt;= 0) { this.age = age; } } }</a:t>
            </a:r>
          </a:p>
          <a:p>
            <a:pPr lvl="0" indent="0">
              <a:buNone/>
            </a:pPr>
            <a:r>
              <a:rPr>
                <a:latin typeface="Courier"/>
              </a:rPr>
              <a:t>
---
### Why Encapsulation?
- The getter and setter methods provide 
  - read-only or 
  - write-only 
- access to our class fields
``` Java linenums="1"
getName()  // provides read-only access
setName() // provides write-only access</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Encapsulation?</a:t>
            </a:r>
          </a:p>
          <a:p>
            <a:pPr lvl="0"/>
            <a:r>
              <a:rPr/>
              <a:t>It helps to decouple components of a system.</a:t>
            </a:r>
          </a:p>
          <a:p>
            <a:pPr lvl="1"/>
            <a:r>
              <a:rPr/>
              <a:t>For example,</a:t>
            </a:r>
          </a:p>
          <a:p>
            <a:pPr lvl="2"/>
            <a:r>
              <a:rPr/>
              <a:t>we can encapsulate code into multiple bundles.</a:t>
            </a:r>
          </a:p>
          <a:p>
            <a:pPr lvl="0"/>
            <a:r>
              <a:rPr/>
              <a:t>These decoupled components (bundle)</a:t>
            </a:r>
          </a:p>
          <a:p>
            <a:pPr lvl="1"/>
            <a:r>
              <a:rPr/>
              <a:t>can be developed,</a:t>
            </a:r>
          </a:p>
          <a:p>
            <a:pPr lvl="1"/>
            <a:r>
              <a:rPr/>
              <a:t>tested, and</a:t>
            </a:r>
          </a:p>
          <a:p>
            <a:pPr lvl="1"/>
            <a:r>
              <a:rPr/>
              <a:t>debugged independently and concurrently.</a:t>
            </a:r>
          </a:p>
          <a:p>
            <a:pPr lvl="0"/>
            <a:r>
              <a:rPr/>
              <a:t>And, any changes in a particular component</a:t>
            </a:r>
          </a:p>
          <a:p>
            <a:pPr lvl="1"/>
            <a:r>
              <a:rPr/>
              <a:t>do not have any effect on other components.</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Encapsulation?</a:t>
            </a:r>
          </a:p>
          <a:p>
            <a:pPr lvl="0"/>
            <a:r>
              <a:rPr/>
              <a:t>We can also achieve data hiding using encapsulation.</a:t>
            </a:r>
          </a:p>
          <a:p>
            <a:pPr lvl="0"/>
            <a:r>
              <a:rPr/>
              <a:t>In the next example,</a:t>
            </a:r>
          </a:p>
          <a:p>
            <a:pPr lvl="1"/>
            <a:r>
              <a:rPr/>
              <a:t>if we change the length and breadth variable into private,</a:t>
            </a:r>
          </a:p>
          <a:p>
            <a:pPr lvl="1"/>
            <a:r>
              <a:rPr/>
              <a:t>then the access to these fields is restricted.</a:t>
            </a:r>
          </a:p>
          <a:p>
            <a:pPr lvl="0"/>
            <a:r>
              <a:rPr/>
              <a:t>And, they are kept hidden from outer classes.</a:t>
            </a:r>
          </a:p>
          <a:p>
            <a:pPr lvl="1"/>
            <a:r>
              <a:rPr/>
              <a:t>This is called data hiding.</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Encapsulation?</a:t>
            </a:r>
          </a:p>
          <a:p>
            <a:pPr lvl="0" indent="0" marL="0">
              <a:buNone/>
            </a:pPr>
            <a:r>
              <a:rPr/>
              <a:t>``` Java linenums=“1” class Area {</a:t>
            </a:r>
          </a:p>
          <a:p>
            <a:pPr lvl="0" indent="0" marL="0">
              <a:buNone/>
            </a:pPr>
            <a:r>
              <a:rPr/>
              <a:t>// fields to calculate area int length; int breadth;</a:t>
            </a:r>
          </a:p>
          <a:p>
            <a:pPr lvl="0" indent="0" marL="0">
              <a:buNone/>
            </a:pPr>
            <a:r>
              <a:rPr/>
              <a:t>// constructor to initialize values Area(int length, int breadth) { this.length = length; this.breadth = breadth; }</a:t>
            </a:r>
          </a:p>
          <a:p>
            <a:pPr lvl="0" indent="0" marL="0">
              <a:buNone/>
            </a:pPr>
            <a:r>
              <a:rPr/>
              <a:t>// method to calculate area public void getArea() { int area = length * breadth; System.out.println(“Area:” + area); } }</a:t>
            </a:r>
          </a:p>
          <a:p>
            <a:pPr lvl="0" indent="0">
              <a:buNone/>
            </a:pPr>
            <a:r>
              <a:rPr>
                <a:latin typeface="Courier"/>
              </a:rPr>
              <a:t>
---
### Why Encapsulation?
``` Java linenums="1"
class Main {
  public static void main(String[] args) {
    // create object of Area
    // pass value of length and breadth
    Area rectangle = new Area(5, 6);
    rectangle.getArea();
  }
}</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Hiding</a:t>
            </a:r>
          </a:p>
          <a:p>
            <a:pPr lvl="0"/>
            <a:r>
              <a:rPr/>
              <a:t>Data hiding is a way of restricting the access of our data members by hiding the implementation details.</a:t>
            </a:r>
          </a:p>
          <a:p>
            <a:pPr lvl="0"/>
            <a:r>
              <a:rPr/>
              <a:t>Encapsulation also provides a way for data hiding.</a:t>
            </a:r>
          </a:p>
          <a:p>
            <a:pPr lvl="0"/>
            <a:r>
              <a:rPr/>
              <a:t>We can use access modifiers to achieve data hiding</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hiding using the private specifier example</a:t>
            </a:r>
          </a:p>
          <a:p>
            <a:pPr lvl="0"/>
            <a:r>
              <a:rPr/>
              <a:t>Making </a:t>
            </a:r>
            <a:r>
              <a:rPr>
                <a:latin typeface="Courier"/>
              </a:rPr>
              <a:t>age</a:t>
            </a:r>
            <a:r>
              <a:rPr/>
              <a:t> private allowed us to restrict unauthorized access from outside the class. This is data hiding.</a:t>
            </a:r>
          </a:p>
        </p:txBody>
      </p:sp>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hiding using the private specifier example</a:t>
            </a:r>
          </a:p>
          <a:p>
            <a:pPr lvl="0" indent="0" marL="0">
              <a:buNone/>
            </a:pPr>
            <a:r>
              <a:rPr/>
              <a:t>``` Java linenums=“1” class Person {</a:t>
            </a:r>
          </a:p>
          <a:p>
            <a:pPr lvl="0" indent="0" marL="0">
              <a:buNone/>
            </a:pPr>
            <a:r>
              <a:rPr/>
              <a:t>// private field private int age;</a:t>
            </a:r>
          </a:p>
          <a:p>
            <a:pPr lvl="0" indent="0" marL="0">
              <a:buNone/>
            </a:pPr>
            <a:r>
              <a:rPr/>
              <a:t>// getter method public int getAge() { return age; }</a:t>
            </a:r>
          </a:p>
          <a:p>
            <a:pPr lvl="0" indent="0" marL="0">
              <a:buNone/>
            </a:pPr>
            <a:r>
              <a:rPr/>
              <a:t>// setter method public void setAge(int age) { this.age = age; } }</a:t>
            </a:r>
          </a:p>
          <a:p>
            <a:pPr lvl="0" indent="0">
              <a:buNone/>
            </a:pPr>
            <a:r>
              <a:rPr>
                <a:latin typeface="Courier"/>
              </a:rPr>
              <a:t>
---
### Data hiding using the private specifier example
``` Java linenums="1"
class Main {
  public static void main(String[] args) {
    // create an object of Person
    Person p1 = new Person();
    // change age using setter
    p1.setAge(24);
    // access age using getter
    System.out.println("My age is " + p1.getAge());
  }
}</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Encapsulation and Data Hiding</a:t>
            </a:r>
          </a:p>
          <a:p>
            <a:pPr lvl="0"/>
            <a:r>
              <a:rPr/>
              <a:t>Encapsulation bundles data and methods that operate on that data within a class</a:t>
            </a:r>
          </a:p>
          <a:p>
            <a:pPr lvl="0"/>
            <a:r>
              <a:rPr/>
              <a:t>Data hiding: make fields private, provide public getter/setter methods</a:t>
            </a:r>
          </a:p>
          <a:p>
            <a:pPr lvl="0"/>
            <a:r>
              <a:rPr/>
              <a:t>Benefits: control over data, flexibility to change implementation, data validation</a:t>
            </a:r>
          </a:p>
          <a:p>
            <a:pPr lvl="0"/>
            <a:r>
              <a:rPr/>
              <a:t>The Point example shows how encapsulation protects x,y coordinates</a:t>
            </a:r>
          </a:p>
          <a:p>
            <a:pPr lvl="0"/>
            <a:r>
              <a:rPr/>
              <a:t>Follow the principle: private fields, public methods (getters/setters where needed)</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H: Java final Keyword</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final with Variables (Constants)</a:t>
            </a:r>
          </a:p>
          <a:p>
            <a:pPr lvl="0"/>
            <a:r>
              <a:rPr/>
              <a:t>final with Methods (Prevent Overriding)</a:t>
            </a:r>
          </a:p>
          <a:p>
            <a:pPr lvl="0"/>
            <a:r>
              <a:rPr/>
              <a:t>final with Classes (Prevent Inheritance)</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final keyword</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final keyword</a:t>
            </a:r>
          </a:p>
          <a:p>
            <a:pPr lvl="0"/>
            <a:r>
              <a:rPr/>
              <a:t>In java, the final is a keyword and it is used with the following things.</a:t>
            </a:r>
          </a:p>
          <a:p>
            <a:pPr lvl="1"/>
            <a:r>
              <a:rPr/>
              <a:t>With variable (to create constant)</a:t>
            </a:r>
          </a:p>
          <a:p>
            <a:pPr lvl="1"/>
            <a:r>
              <a:rPr/>
              <a:t>With method (to avoid method overriding)</a:t>
            </a:r>
          </a:p>
          <a:p>
            <a:pPr lvl="1"/>
            <a:r>
              <a:rPr/>
              <a:t>With class (to avoid inheritance)</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final restrictions</a:t>
            </a:r>
          </a:p>
          <a:p>
            <a:pPr lvl="0"/>
            <a:r>
              <a:rPr/>
              <a:t>the final variable cannot be reinitialized with another value</a:t>
            </a:r>
          </a:p>
          <a:p>
            <a:pPr lvl="0"/>
            <a:r>
              <a:rPr/>
              <a:t>the final method cannot be overridden</a:t>
            </a:r>
          </a:p>
          <a:p>
            <a:pPr lvl="0"/>
            <a:r>
              <a:rPr/>
              <a:t>the final class cannot be extended</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variables</a:t>
            </a:r>
          </a:p>
          <a:p>
            <a:pPr lvl="0"/>
            <a:r>
              <a:rPr/>
              <a:t>When a variable defined with the final keyword,</a:t>
            </a:r>
          </a:p>
          <a:p>
            <a:pPr lvl="0"/>
            <a:r>
              <a:rPr/>
              <a:t>it becomes a constant, and</a:t>
            </a:r>
          </a:p>
          <a:p>
            <a:pPr lvl="1"/>
            <a:r>
              <a:rPr/>
              <a:t>it does not allow us to modify the value.</a:t>
            </a:r>
          </a:p>
          <a:p>
            <a:pPr lvl="0"/>
            <a:r>
              <a:rPr/>
              <a:t>The variable defined with the final keyword allows only a one-time assignment,</a:t>
            </a:r>
          </a:p>
          <a:p>
            <a:pPr lvl="1"/>
            <a:r>
              <a:rPr/>
              <a:t>once a value assigned to it,</a:t>
            </a:r>
          </a:p>
          <a:p>
            <a:pPr lvl="2"/>
            <a:r>
              <a:rPr/>
              <a:t>never allows us to change it again.</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variables example-1</a:t>
            </a:r>
          </a:p>
          <a:p>
            <a:pPr lvl="0" indent="0" marL="0">
              <a:buNone/>
            </a:pPr>
            <a:r>
              <a:rPr>
                <a:latin typeface="Courier"/>
              </a:rPr>
              <a:t>Java linenums="1" public class FinalVariableExample {     public static void main(String[] args) {         final int a = 10;         System.out.println("a = " + a);         a = 100;    // Can't be modified     } }</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variables example-2</a:t>
            </a:r>
          </a:p>
          <a:p>
            <a:pPr lvl="0" indent="0" marL="0">
              <a:buNone/>
            </a:pPr>
            <a:r>
              <a:rPr/>
              <a:t>``` Java linenums=“1” class Main { public static void main(String[] args) {</a:t>
            </a:r>
          </a:p>
          <a:p>
            <a:pPr lvl="0" indent="0">
              <a:buNone/>
            </a:pPr>
            <a:r>
              <a:rPr>
                <a:latin typeface="Courier"/>
              </a:rPr>
              <a:t>// create a final variable
final int AGE = 32;
// try to change the final variable
AGE = 45;
System.out.println("Age: " + AGE);</a:t>
            </a:r>
          </a:p>
          <a:p>
            <a:pPr lvl="0" indent="0" marL="0">
              <a:buNone/>
            </a:pPr>
            <a:r>
              <a:rPr/>
              <a:t>} }</a:t>
            </a:r>
          </a:p>
          <a:p>
            <a:pPr lvl="0" indent="0">
              <a:buNone/>
            </a:pPr>
            <a:r>
              <a:rPr>
                <a:latin typeface="Courier"/>
              </a:rPr>
              <a:t>
---
### **final** with variables recommendation
- It is recommended to use uppercase to declare final variables in Java.
---
### **final** with methods
- When a method defined with the final keyword, 
  - it does not allow it to override. 
- The final method extends to the child class, 
  - but the child class can not override or re-define it. 
- It must be used as it has implemented in the parent class.
---
### **final** with methods example-1
``` Java linenums="1"
class ParentClass{
    int num = 10;
    final void showData() {
        System.out.println("Inside ParentClass showData() method");
        System.out.println("num = " + num);
    }
}</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methods example-1</a:t>
            </a:r>
          </a:p>
          <a:p>
            <a:pPr lvl="0" indent="0" marL="0">
              <a:buNone/>
            </a:pPr>
            <a:r>
              <a:rPr/>
              <a:t>``` Java linenums=“1” class ChildClass extends ParentClass{</a:t>
            </a:r>
          </a:p>
          <a:p>
            <a:pPr lvl="0" indent="0">
              <a:buNone/>
            </a:pPr>
            <a:r>
              <a:rPr>
                <a:latin typeface="Courier"/>
              </a:rPr>
              <a:t>void showData() {
    System.out.println("Inside ChildClass showData() method");
    System.out.println("num = " + num);
}</a:t>
            </a:r>
          </a:p>
          <a:p>
            <a:pPr lvl="0" indent="0" marL="0">
              <a:buNone/>
            </a:pPr>
            <a:r>
              <a:rPr/>
              <a:t>}</a:t>
            </a:r>
          </a:p>
          <a:p>
            <a:pPr lvl="0" indent="0">
              <a:buNone/>
            </a:pPr>
            <a:r>
              <a:rPr>
                <a:latin typeface="Courier"/>
              </a:rPr>
              <a:t>
---
### **final** with methods example-1
``` Java linenums="1"
public class FinalKeywordExample {
    public static void main(String[] args) {
        ChildClass obj = new ChildClass();
        obj.showData();
    }
}</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methods example-2</a:t>
            </a:r>
          </a:p>
          <a:p>
            <a:pPr lvl="0" indent="0" marL="0">
              <a:buNone/>
            </a:pPr>
            <a:r>
              <a:rPr/>
              <a:t>``` Java linenums=“1” class FinalDemo { // create a final method public final void display() { System.out.println(“This is a final method.”); } }</a:t>
            </a:r>
          </a:p>
          <a:p>
            <a:pPr lvl="0" indent="0" marL="0">
              <a:buNone/>
            </a:pPr>
            <a:r>
              <a:rPr/>
              <a:t>class Main extends FinalDemo { // try to override final method public final void display() { System.out.println(“The final method is overridden.”); }</a:t>
            </a:r>
          </a:p>
          <a:p>
            <a:pPr lvl="0" indent="0" marL="0">
              <a:buNone/>
            </a:pPr>
            <a:r>
              <a:rPr/>
              <a:t>public static void main(String[] args) { Main obj = new Main(); obj.display(); } }</a:t>
            </a:r>
          </a:p>
          <a:p>
            <a:pPr lvl="0" indent="0">
              <a:buNone/>
            </a:pPr>
            <a:r>
              <a:rPr>
                <a:latin typeface="Courier"/>
              </a:rPr>
              <a:t>
---
### **final** with class
- When a class defined with final keyword, it can not be extended by any other class.
---
### **final** with class example-1
``` Java linenums="1"
final class ParentClass{
    int num = 10;
    void showData() {
        System.out.println("Inside ParentClass showData() method");
        System.out.println("num = " + num);
    }
}</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class example-1</a:t>
            </a:r>
          </a:p>
          <a:p>
            <a:pPr lvl="0" indent="0" marL="0">
              <a:buNone/>
            </a:pPr>
            <a:r>
              <a:rPr/>
              <a:t>``` Java linenums=“1” class ChildClass extends ParentClass{</a:t>
            </a:r>
          </a:p>
          <a:p>
            <a:pPr lvl="0" indent="0" marL="0">
              <a:buNone/>
            </a:pPr>
            <a:r>
              <a:rPr/>
              <a:t>}</a:t>
            </a:r>
          </a:p>
          <a:p>
            <a:pPr lvl="0" indent="0">
              <a:buNone/>
            </a:pPr>
            <a:r>
              <a:rPr>
                <a:latin typeface="Courier"/>
              </a:rPr>
              <a:t>
---
### **final** with class example-1
``` Java linenums="1"
public class FinalKeywordExample {
    public static void main(String[] args) {
        ChildClass obj = new ChildClass();
    }
}</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class example-2</a:t>
            </a:r>
          </a:p>
          <a:p>
            <a:pPr lvl="0" indent="0" marL="0">
              <a:buNone/>
            </a:pPr>
            <a:r>
              <a:rPr/>
              <a:t>``` Java linenums=“1” // create a final class final class FinalClass { public void display() { System.out.println(“This is a final method.”); } }</a:t>
            </a:r>
          </a:p>
          <a:p>
            <a:pPr lvl="0" indent="0" marL="0">
              <a:buNone/>
            </a:pPr>
            <a:r>
              <a:rPr/>
              <a:t>// try to extend the final class class Main extends FinalClass { public void display() { System.out.println(“The final method is overridden.”); }</a:t>
            </a:r>
          </a:p>
          <a:p>
            <a:pPr lvl="0" indent="0" marL="0">
              <a:buNone/>
            </a:pPr>
            <a:r>
              <a:rPr/>
              <a:t>public static void main(String[] args) { Main obj = new Main(); obj.display(); } }</a:t>
            </a:r>
          </a:p>
          <a:p>
            <a:pPr lvl="0" indent="0">
              <a:buNone/>
            </a:pPr>
            <a:r>
              <a:rPr>
                <a:latin typeface="Courier"/>
              </a:rPr>
              <a:t>
---
### Takeaway: Java final Keyword
- final variable: value cannot be changed once assigned (constant)
- final method: cannot be overridden by subclasses
- final class: cannot be extended (no subclasses allowed)
- Best practice: use final for constants (static final), utility classes, security-sensitive methods
- String class in Java is final - it cannot be subclassed
---
## **Module I: Java Abstract Classes**
---
### Module Outline
- Conceptual Understanding of Abstract Classes and Methods
- Defining Abstract Classes and Methods in Java
- Abstract Class Examples (3 detailed examples)
- Constructors of Abstract Classes
- Rules for Method Overriding in Abstract Classes
- Abstract Class and Method Review
---
### Abstract Classes and Methods
- **An operation should be declared to exist at the highest class in the hierarchy where it makes sense**
  - The *operation* may be *abstract* (lacking implementation) at that level
  - If so, the class also *must* be abstract
    - No instances can be created
    - The opposite of an abstract class is a *concrete* class
  - If a superclass has an abstract operation then its subclasses at some level must have a concrete method for the operation
    - Leaf classes must have or inherit concrete methods for all operations
    - Leaf classes must be concrete
---
## **Java Abstract Class**
---
### Java Abstract Class
- An abstract class is a class that created using abstract keyword. In other words, a class prefixed with abstract keyword is known as an abstract class.
- In java, an abstract class may contain abstract methods (methods without implementation) and also non-abstract methods (methods with implementation).
- We use the following syntax to create an abstract class.
``` Java linenums="1"
abstract class &lt;ClassName&gt;{
    ...
}</a:t>
            </a:r>
          </a:p>
        </p:txBody>
      </p:sp>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Example-1</a:t>
            </a:r>
          </a:p>
          <a:p>
            <a:pPr lvl="0" indent="0" marL="0">
              <a:buNone/>
            </a:pPr>
            <a:r>
              <a:rPr/>
              <a:t>``` Java linenums=“1” import java.util.*;</a:t>
            </a:r>
          </a:p>
          <a:p>
            <a:pPr lvl="0" indent="0" marL="0">
              <a:buNone/>
            </a:pPr>
            <a:r>
              <a:rPr/>
              <a:t>abstract class Shape { int length, breadth, radius; Scanner input = new Scanner(System.in);</a:t>
            </a:r>
          </a:p>
          <a:p>
            <a:pPr lvl="0" indent="0">
              <a:buNone/>
            </a:pPr>
            <a:r>
              <a:rPr>
                <a:latin typeface="Courier"/>
              </a:rPr>
              <a:t>abstract void printArea();</a:t>
            </a:r>
          </a:p>
          <a:p>
            <a:pPr lvl="0" indent="0" marL="0">
              <a:buNone/>
            </a:pPr>
            <a:r>
              <a:rPr/>
              <a:t>}</a:t>
            </a:r>
          </a:p>
          <a:p>
            <a:pPr lvl="0" indent="0">
              <a:buNone/>
            </a:pPr>
            <a:r>
              <a:rPr>
                <a:latin typeface="Courier"/>
              </a:rPr>
              <a:t>
---
### Java Abstract Class Example-1
``` Java linenums="1"
class Rectangle extends Shape {
    void printArea() {
        System.out.println("*** Finding the Area of Rectangle ***");
        System.out.print("Enter length and breadth: ");
        length = input.nextInt();
        breadth = input.nextInt();
        System.out.println("The area of Rectangle is: " + length * breadth);
    }
}</a:t>
            </a:r>
          </a:p>
        </p:txBody>
      </p:sp>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Example-1</a:t>
            </a:r>
          </a:p>
          <a:p>
            <a:pPr lvl="0" indent="0" marL="0">
              <a:buNone/>
            </a:pPr>
            <a:r>
              <a:rPr>
                <a:latin typeface="Courier"/>
              </a:rPr>
              <a:t>Java linenums="1" class Triangle extends Shape {     void printArea() {         System.out.println("\n*** Finding the Area of Triangle ***");         System.out.print("Enter Base And Height: ");         length = input.nextInt();         breadth = input.nextInt();         System.out.println("The area of Triangle is: " + (length * breadth) / 2);     } }</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Example-1</a:t>
            </a:r>
          </a:p>
          <a:p>
            <a:pPr lvl="0" indent="0" marL="0">
              <a:buNone/>
            </a:pPr>
            <a:r>
              <a:rPr>
                <a:latin typeface="Courier"/>
              </a:rPr>
              <a:t>Java linenums="1" class Cricle extends Shape {     void printArea() {         System.out.println("\n*** Finding the Area of Cricle ***");         System.out.print("Enter Radius: ");         radius = input.nextInt();         System.out.println("The area of Cricle is: " + 3.14f * radius * radius);     } }</a:t>
            </a:r>
          </a:p>
        </p:txBody>
      </p:sp>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Example-1</a:t>
            </a:r>
          </a:p>
          <a:p>
            <a:pPr lvl="0" indent="0" marL="0">
              <a:buNone/>
            </a:pPr>
            <a:r>
              <a:rPr/>
              <a:t>``` Java linenums=“1” public class AbstractClassExample { public static void main(String[] args) { Rectangle rec = new Rectangle(); rec.printArea();</a:t>
            </a:r>
          </a:p>
          <a:p>
            <a:pPr lvl="0" indent="0">
              <a:buNone/>
            </a:pPr>
            <a:r>
              <a:rPr>
                <a:latin typeface="Courier"/>
              </a:rPr>
              <a:t>    Triangle tri = new Triangle();
    tri.printArea();
    Cricle cri = new Cricle();
    cri.printArea();
}</a:t>
            </a:r>
          </a:p>
          <a:p>
            <a:pPr lvl="0" indent="0" marL="0">
              <a:buNone/>
            </a:pPr>
            <a:r>
              <a:rPr/>
              <a:t>}</a:t>
            </a:r>
          </a:p>
          <a:p>
            <a:pPr lvl="0" indent="0">
              <a:buNone/>
            </a:pPr>
            <a:r>
              <a:rPr>
                <a:latin typeface="Courier"/>
              </a:rPr>
              <a:t>
---
### Java Abstract Class Example-1
- An abstract class can not be instantiated but can be referenced. 
  - That means we can not create an object of an abstract class, 
  - but base reference can be created.
---
### Java Abstract Class Example-1
- In the example program, the child class objects are created to invoke the overridden abstract method. 
- But we may also create base class reference and assign it with child class instance to invoke the same. 
- The main method of the above program can be written as follows that produce the same output.
---
### Java Abstract Class Example-1
``` Java linenums="1"
public static void main(String[] args) {
        Shape obj = new Rectangle();  //Base class reference to Child class instance
        obj.printArea();
        obj = new Triangle();
        obj.printArea();
        obj = new Cricle();
        obj.printArea();
    }</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Example-2</a:t>
            </a:r>
          </a:p>
          <a:p>
            <a:pPr lvl="0" indent="0" marL="0">
              <a:buNone/>
            </a:pPr>
            <a:r>
              <a:rPr/>
              <a:t>``` Java linenums=“1” abstract class Animal { abstract void makeSound();</a:t>
            </a:r>
          </a:p>
          <a:p>
            <a:pPr lvl="0" indent="0" marL="0">
              <a:buNone/>
            </a:pPr>
            <a:r>
              <a:rPr/>
              <a:t>public void eat() { System.out.println(“I can eat.”); } }</a:t>
            </a:r>
          </a:p>
          <a:p>
            <a:pPr lvl="0" indent="0">
              <a:buNone/>
            </a:pPr>
            <a:r>
              <a:rPr>
                <a:latin typeface="Courier"/>
              </a:rPr>
              <a:t>
---
### Java Abstract Class Example-2
``` Java linenums="1"
class Dog extends Animal {
  // provide implementation of abstract method
  public void makeSound() {
    System.out.println("Bark bark");
  }
}</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Example-2</a:t>
            </a:r>
          </a:p>
          <a:p>
            <a:pPr lvl="0" indent="0" marL="0">
              <a:buNone/>
            </a:pPr>
            <a:r>
              <a:rPr/>
              <a:t>``` Java linenums=“1” class Main { public static void main(String[] args) {</a:t>
            </a:r>
          </a:p>
          <a:p>
            <a:pPr lvl="0" indent="0">
              <a:buNone/>
            </a:pPr>
            <a:r>
              <a:rPr>
                <a:latin typeface="Courier"/>
              </a:rPr>
              <a:t>// create an object of Dog class
Dog d1 = new Dog();
d1.makeSound();
d1.eat();</a:t>
            </a:r>
          </a:p>
          <a:p>
            <a:pPr lvl="0" indent="0" marL="0">
              <a:buNone/>
            </a:pPr>
            <a:r>
              <a:rPr/>
              <a:t>} }</a:t>
            </a:r>
          </a:p>
          <a:p>
            <a:pPr lvl="0" indent="0">
              <a:buNone/>
            </a:pPr>
            <a:r>
              <a:rPr>
                <a:latin typeface="Courier"/>
              </a:rPr>
              <a:t>
---
### Java Abstract Class Example-3
``` Java linenums="1"
abstract class MotorBike {
  abstract void brake();
}</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Example-3</a:t>
            </a:r>
          </a:p>
          <a:p>
            <a:pPr lvl="0" indent="0" marL="0">
              <a:buNone/>
            </a:pPr>
            <a:r>
              <a:rPr/>
              <a:t>``` Java linenums=“1” class SportsBike extends MotorBike {</a:t>
            </a:r>
          </a:p>
          <a:p>
            <a:pPr lvl="0" indent="0" marL="0">
              <a:buNone/>
            </a:pPr>
            <a:r>
              <a:rPr/>
              <a:t>// implementation of abstract method public void brake() { System.out.println(“SportsBike Brake”); } }</a:t>
            </a:r>
          </a:p>
          <a:p>
            <a:pPr lvl="0" indent="0">
              <a:buNone/>
            </a:pPr>
            <a:r>
              <a:rPr>
                <a:latin typeface="Courier"/>
              </a:rPr>
              <a:t>
---
### Java Abstract Class Example-3
``` Java linenums="1"
class MountainBike extends MotorBike {
  // implementation of abstract method
  public void brake() {
    System.out.println("MountainBike Brake");
  }
}</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Example-3</a:t>
            </a:r>
          </a:p>
          <a:p>
            <a:pPr lvl="0" indent="0" marL="0">
              <a:buNone/>
            </a:pPr>
            <a:r>
              <a:rPr>
                <a:latin typeface="Courier"/>
              </a:rPr>
              <a:t>Java linenums="1" class Main {   public static void main(String[] args) {     MountainBike m1 = new MountainBike();     m1.brake();     SportsBike s1 = new SportsBike();     s1.brake();   } }</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Accesses Constructor of Abstract Classes</a:t>
            </a:r>
          </a:p>
          <a:p>
            <a:pPr lvl="0"/>
            <a:r>
              <a:rPr/>
              <a:t>An abstract class can have constructors like the regular class. And, we can access the constructor of an abstract class from the subclass using the super keyword. For example,</a:t>
            </a:r>
          </a:p>
          <a:p>
            <a:pPr lvl="0" indent="0" marL="0">
              <a:buNone/>
            </a:pPr>
            <a:r>
              <a:rPr/>
              <a:t>``` Java linenums=“1” abstract class Animal { Animal() { …. } }</a:t>
            </a:r>
          </a:p>
          <a:p>
            <a:pPr lvl="0" indent="0" marL="0">
              <a:buNone/>
            </a:pPr>
            <a:r>
              <a:rPr/>
              <a:t>class Dog extends Animal { Dog() { super(); … } }</a:t>
            </a:r>
          </a:p>
          <a:p>
            <a:pPr lvl="0" indent="0">
              <a:buNone/>
            </a:pPr>
            <a:r>
              <a:rPr>
                <a:latin typeface="Courier"/>
              </a:rPr>
              <a:t>
---
### Accesses Constructor of Abstract Classes
- **Note that the `super` should always be the first statement of the subclass constructor**
---
### Java Abstract Class 
#### Rules for method overriding
An abstract class must follow the below list of rules.
- An abstract class must be created with abstract keyword.
- An abstract class can be created without any abstract method.
- An abstract class may contain abstract methods and non-abstract methods.
- An abstract class may contain final methods that can not be overridden.
---
### Java Abstract Class 
#### Rules for method overriding
- An abstract class may contain static methods, but the abstract method can not be static.
- An abstract class may have a constructor that gets executed when the child class object created.
- An abstract method must be overridden by the child class, otherwise, it must be defined as an abstract class.
- An abstract class can not be instantiated but can be referenced.
---
## **Java Abstract Class Review**
---
### Java Abstract Class Review
The abstract class in Java cannot be instantiated (we cannot create objects of abstract classes). We use the abstract keyword to declare an abstract class. For example,
``` Java linenums="1"
// create an abstract class
abstract class Language {
  // fields and methods
}
...
// try to create an object Language
// throws an error
Language obj = new Language(); </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Review</a:t>
            </a:r>
          </a:p>
          <a:p>
            <a:pPr lvl="0"/>
            <a:r>
              <a:rPr/>
              <a:t>An abstract class can have both the regular methods and abstract methods. For example,</a:t>
            </a:r>
          </a:p>
          <a:p>
            <a:pPr lvl="0" indent="0" marL="0">
              <a:buNone/>
            </a:pPr>
            <a:r>
              <a:rPr/>
              <a:t>``` Java linenums=“1” abstract class Language {</a:t>
            </a:r>
          </a:p>
          <a:p>
            <a:pPr lvl="0" indent="0" marL="0">
              <a:buNone/>
            </a:pPr>
            <a:r>
              <a:rPr/>
              <a:t>// abstract method abstract void method1();</a:t>
            </a:r>
          </a:p>
          <a:p>
            <a:pPr lvl="0" indent="0" marL="0">
              <a:buNone/>
            </a:pPr>
            <a:r>
              <a:rPr/>
              <a:t>// regular method void method2() { System.out.println(“This is regular method”); } }</a:t>
            </a:r>
          </a:p>
          <a:p>
            <a:pPr lvl="0" indent="0">
              <a:buNone/>
            </a:pPr>
            <a:r>
              <a:rPr>
                <a:latin typeface="Courier"/>
              </a:rPr>
              <a:t>
---
&lt;style scoped&gt;section{ font-size: 25px; }&lt;/style&gt;
### Java Abstract Method Review
- A method that doesn't have its body is known as an abstract method. We use the same abstract keyword to create abstract methods. For example,
``` Java linenums="1"
abstract void display();</a:t>
            </a:r>
          </a:p>
          <a:p>
            <a:pPr lvl="0" indent="0" marL="0">
              <a:buNone/>
            </a:pPr>
            <a:r>
              <a:rPr/>
              <a:t>Here, display() is an abstract method. The body of display() is replaced by ;.</a:t>
            </a:r>
          </a:p>
          <a:p>
            <a:pPr lvl="0" indent="0" marL="0">
              <a:buNone/>
            </a:pPr>
            <a:r>
              <a:rPr/>
              <a:t>If a class contains an abstract method, then the class should be declared abstract. Otherwise, it will generate an error. For example,</a:t>
            </a:r>
          </a:p>
          <a:p>
            <a:pPr lvl="0" indent="0" marL="0">
              <a:buNone/>
            </a:pPr>
            <a:r>
              <a:rPr/>
              <a:t>``` Java linenums=“1” // error // class should be abstract class Language {</a:t>
            </a:r>
          </a:p>
          <a:p>
            <a:pPr lvl="0" indent="0" marL="0">
              <a:buNone/>
            </a:pPr>
            <a:r>
              <a:rPr/>
              <a:t>// abstract method abstract void method1(); }</a:t>
            </a:r>
          </a:p>
          <a:p>
            <a:pPr lvl="0" indent="0">
              <a:buNone/>
            </a:pPr>
            <a:r>
              <a:rPr>
                <a:latin typeface="Courier"/>
              </a:rPr>
              <a:t>
---
### Java Abstract Class and Method Example
- Though abstract classes cannot be instantiated, we can create subclasses from it. We can then access members of the abstract class using the object of the subclass.
---
### Java Abstract Class and Method Example
``` Java linenums="1"
abstract class Language {
  // method of abstract class
  public void display() {
    System.out.println("This is Java Programming");
  }
}
class Main extends Language {
  public static void main(String[] args) {
    // create an object of Main
    Main obj = new Main();
    // access method of abstract class
    // using object of Main class
    obj.display();
  }
}</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and Method Example</a:t>
            </a:r>
          </a:p>
          <a:p>
            <a:pPr lvl="0"/>
            <a:r>
              <a:rPr/>
              <a:t>In the example, we have created an abstract class named Language. The class contains a regular method display().</a:t>
            </a:r>
          </a:p>
          <a:p>
            <a:pPr lvl="0"/>
            <a:r>
              <a:rPr/>
              <a:t>We have created the Main class that inherits the abstract class. Notice the statement, </a:t>
            </a:r>
            <a:r>
              <a:rPr>
                <a:latin typeface="Courier"/>
              </a:rPr>
              <a:t>Java linenums="1" obj.display();</a:t>
            </a:r>
          </a:p>
          <a:p>
            <a:pPr lvl="0"/>
            <a:r>
              <a:rPr/>
              <a:t>Here, obj is the object of the child class Main. We are calling the method of the abstract class using the object obj.</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Method Review Keypoints</a:t>
            </a:r>
          </a:p>
          <a:p>
            <a:pPr lvl="0"/>
            <a:r>
              <a:rPr/>
              <a:t>We use the abstract keyword to create abstract classes and methods.</a:t>
            </a:r>
          </a:p>
          <a:p>
            <a:pPr lvl="0"/>
            <a:r>
              <a:rPr/>
              <a:t>An abstract method doesn’t have any implementation (method body).</a:t>
            </a:r>
          </a:p>
          <a:p>
            <a:pPr lvl="0"/>
            <a:r>
              <a:rPr/>
              <a:t>A class containing abstract methods should also be abstract.</a:t>
            </a:r>
          </a:p>
          <a:p>
            <a:pPr lvl="0"/>
            <a:r>
              <a:rPr/>
              <a:t>We cannot create objects of an abstract class.</a:t>
            </a:r>
          </a:p>
          <a:p>
            <a:pPr lvl="0"/>
            <a:r>
              <a:rPr/>
              <a:t>To implement features of an abstract class, we inherit subclasses from it and create objects of the subclass.</a:t>
            </a:r>
          </a:p>
          <a:p>
            <a:pPr lvl="0"/>
            <a:r>
              <a:rPr/>
              <a:t>A subclass must override all abstract methods of an abstract class. However, if the subclass is declared abstract, it’s not mandatory to override abstract methods.</a:t>
            </a:r>
          </a:p>
          <a:p>
            <a:pPr lvl="0"/>
            <a:r>
              <a:rPr/>
              <a:t>We can access the static attributes and methods of an abstract class using the reference of the abstract class. For example, </a:t>
            </a:r>
            <a:r>
              <a:rPr>
                <a:latin typeface="Courier"/>
              </a:rPr>
              <a:t>Java linenums="1" Animal.staticMethod();</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Java Abstract Classes</a:t>
            </a:r>
          </a:p>
          <a:p>
            <a:pPr lvl="0"/>
            <a:r>
              <a:rPr/>
              <a:t>Abstract class: cannot be instantiated, serves as a template for subclasses</a:t>
            </a:r>
          </a:p>
          <a:p>
            <a:pPr lvl="0"/>
            <a:r>
              <a:rPr/>
              <a:t>Abstract method: declared without body, MUST be overridden by concrete subclasses</a:t>
            </a:r>
          </a:p>
          <a:p>
            <a:pPr lvl="0"/>
            <a:r>
              <a:rPr/>
              <a:t>A class with at least one abstract method must be declared abstract</a:t>
            </a:r>
          </a:p>
          <a:p>
            <a:pPr lvl="0"/>
            <a:r>
              <a:rPr/>
              <a:t>Abstract classes CAN have constructors, concrete methods, and fields</a:t>
            </a:r>
          </a:p>
          <a:p>
            <a:pPr lvl="0"/>
            <a:r>
              <a:rPr/>
              <a:t>Use abstract classes when closely related classes share code and behavior</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J: Java Object Class and Forms of Inheritance</a:t>
            </a:r>
          </a:p>
        </p:txBody>
      </p:sp>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The java.lang.Object Class</a:t>
            </a:r>
          </a:p>
          <a:p>
            <a:pPr lvl="0"/>
            <a:r>
              <a:rPr/>
              <a:t>Methods of Object: toString, equals, hashCode, clone, getClass, finalize</a:t>
            </a:r>
          </a:p>
          <a:p>
            <a:pPr lvl="0"/>
            <a:r>
              <a:rPr/>
              <a:t>Six Forms of Inheritance</a:t>
            </a:r>
          </a:p>
          <a:p>
            <a:pPr lvl="0"/>
            <a:r>
              <a:rPr/>
              <a:t>Benefits and Costs of Inheritance</a:t>
            </a:r>
          </a:p>
        </p:txBody>
      </p:sp>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Object Class</a:t>
            </a:r>
          </a:p>
        </p:txBody>
      </p:sp>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Object Class</a:t>
            </a:r>
          </a:p>
          <a:p>
            <a:pPr lvl="0"/>
            <a:r>
              <a:rPr/>
              <a:t>In java, the Object class is the super most class of any class hierarchy.</a:t>
            </a:r>
          </a:p>
          <a:p>
            <a:pPr lvl="1"/>
            <a:r>
              <a:rPr/>
              <a:t>The Object class in the java programming language is present inside the java.lang package.</a:t>
            </a:r>
          </a:p>
          <a:p>
            <a:pPr lvl="0"/>
            <a:r>
              <a:rPr/>
              <a:t>Every class in the java programming language is a subclass of Object class by default.</a:t>
            </a:r>
          </a:p>
          <a:p>
            <a:pPr lvl="0"/>
            <a:r>
              <a:rPr/>
              <a:t>The Object class is useful when you want to refer to any object whose type you don’t know.</a:t>
            </a:r>
          </a:p>
          <a:p>
            <a:pPr lvl="1"/>
            <a:r>
              <a:rPr/>
              <a:t>Because it is the superclass of all other classes in java,</a:t>
            </a:r>
          </a:p>
          <a:p>
            <a:pPr lvl="2"/>
            <a:r>
              <a:rPr/>
              <a:t>it can refer to any type of object.</a:t>
            </a:r>
          </a:p>
        </p:txBody>
      </p:sp>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Object class</a:t>
            </a:r>
          </a:p>
          <a:p>
            <a:pPr lvl="0"/>
            <a:r>
              <a:rPr/>
              <a:t>object </a:t>
            </a:r>
            <a:r>
              <a:rPr b="1"/>
              <a:t>getClass()</a:t>
            </a:r>
          </a:p>
          <a:p>
            <a:pPr lvl="1"/>
            <a:r>
              <a:rPr/>
              <a:t>Returns Class class object</a:t>
            </a:r>
            <a:br/>
          </a:p>
          <a:p>
            <a:pPr lvl="0"/>
            <a:r>
              <a:rPr/>
              <a:t>int </a:t>
            </a:r>
            <a:r>
              <a:rPr b="1"/>
              <a:t>hashCode()</a:t>
            </a:r>
          </a:p>
          <a:p>
            <a:pPr lvl="1"/>
            <a:r>
              <a:rPr/>
              <a:t>returns the hashcode number for object being used.</a:t>
            </a:r>
          </a:p>
          <a:p>
            <a:pPr lvl="0"/>
            <a:r>
              <a:rPr/>
              <a:t>boolean </a:t>
            </a:r>
            <a:r>
              <a:rPr b="1"/>
              <a:t>equals(Object obj)</a:t>
            </a:r>
          </a:p>
          <a:p>
            <a:pPr lvl="1"/>
            <a:r>
              <a:rPr/>
              <a:t>compares the argument object to calling object.</a:t>
            </a:r>
          </a:p>
          <a:p>
            <a:pPr lvl="0"/>
            <a:r>
              <a:rPr/>
              <a:t>int </a:t>
            </a:r>
            <a:r>
              <a:rPr b="1"/>
              <a:t>clone()</a:t>
            </a:r>
          </a:p>
          <a:p>
            <a:pPr lvl="1"/>
            <a:r>
              <a:rPr/>
              <a:t>Compares two strings, ignoring case</a:t>
            </a:r>
          </a:p>
        </p:txBody>
      </p:sp>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Object class</a:t>
            </a:r>
          </a:p>
          <a:p>
            <a:pPr lvl="0"/>
            <a:r>
              <a:rPr/>
              <a:t>object </a:t>
            </a:r>
            <a:r>
              <a:rPr b="1"/>
              <a:t>concat(String)</a:t>
            </a:r>
          </a:p>
          <a:p>
            <a:pPr lvl="1"/>
            <a:r>
              <a:rPr/>
              <a:t>Creates copy of invoking object</a:t>
            </a:r>
          </a:p>
          <a:p>
            <a:pPr lvl="0"/>
            <a:r>
              <a:rPr/>
              <a:t>String </a:t>
            </a:r>
            <a:r>
              <a:rPr b="1"/>
              <a:t>toString()</a:t>
            </a:r>
          </a:p>
          <a:p>
            <a:pPr lvl="1"/>
            <a:r>
              <a:rPr/>
              <a:t>Returns the string representation of invoking object.</a:t>
            </a:r>
          </a:p>
          <a:p>
            <a:pPr lvl="0"/>
            <a:r>
              <a:rPr/>
              <a:t>void </a:t>
            </a:r>
            <a:r>
              <a:rPr b="1"/>
              <a:t>notify()</a:t>
            </a:r>
          </a:p>
          <a:p>
            <a:pPr lvl="1"/>
            <a:r>
              <a:rPr/>
              <a:t>Wakes up a thread, waiting on invoking object’s monitor.</a:t>
            </a:r>
          </a:p>
          <a:p>
            <a:pPr lvl="0"/>
            <a:r>
              <a:rPr/>
              <a:t>void </a:t>
            </a:r>
            <a:r>
              <a:rPr b="1"/>
              <a:t>notifyAll()</a:t>
            </a:r>
          </a:p>
          <a:p>
            <a:pPr lvl="1"/>
            <a:r>
              <a:rPr/>
              <a:t>wakes up all the threads, waiting on invoking object’s - monitor.</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Object class</a:t>
            </a:r>
          </a:p>
          <a:p>
            <a:pPr lvl="0"/>
            <a:r>
              <a:rPr/>
              <a:t>void </a:t>
            </a:r>
            <a:r>
              <a:rPr b="1"/>
              <a:t>wait()</a:t>
            </a:r>
          </a:p>
          <a:p>
            <a:pPr lvl="1"/>
            <a:r>
              <a:rPr/>
              <a:t>causes the current thread to wait, until another thread - notifies</a:t>
            </a:r>
          </a:p>
          <a:p>
            <a:pPr lvl="0"/>
            <a:r>
              <a:rPr/>
              <a:t>void </a:t>
            </a:r>
            <a:r>
              <a:rPr b="1"/>
              <a:t>wait(long,int)</a:t>
            </a:r>
          </a:p>
          <a:p>
            <a:pPr lvl="1"/>
            <a:r>
              <a:rPr/>
              <a:t>causes the current thread to wait for the specified - milliseconds and nanoseconds, until another thread notifies.</a:t>
            </a:r>
            <a:br/>
          </a:p>
          <a:p>
            <a:pPr lvl="0"/>
            <a:r>
              <a:rPr/>
              <a:t>void </a:t>
            </a:r>
            <a:r>
              <a:rPr b="1"/>
              <a:t>finalize()</a:t>
            </a:r>
          </a:p>
          <a:p>
            <a:pPr lvl="1"/>
            <a:r>
              <a:rPr/>
              <a:t>It is invoked by the garbage collector before an object is being garbage collected.</a:t>
            </a:r>
          </a:p>
        </p:txBody>
      </p:sp>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a:r>
              <a:rPr/>
              <a:t>The inheritance concept used for the number of purposes in the java programming language.</a:t>
            </a:r>
          </a:p>
          <a:p>
            <a:pPr lvl="0"/>
            <a:r>
              <a:rPr/>
              <a:t>One of the main purposes is substitutability.</a:t>
            </a:r>
          </a:p>
          <a:p>
            <a:pPr lvl="1"/>
            <a:r>
              <a:rPr/>
              <a:t>The substitutability means that when a child class acquires properties from its parent class, the object of the parent class may be substituted with the child class object.</a:t>
            </a:r>
          </a:p>
          <a:p>
            <a:pPr lvl="1"/>
            <a:r>
              <a:rPr/>
              <a:t>For example, if B is a child class of A, anywhere we expect an instance of A we can use an instance of B.</a:t>
            </a:r>
          </a:p>
          <a:p>
            <a:pPr lvl="0"/>
            <a:r>
              <a:rPr/>
              <a:t>The substitutability can achieve using inheritance, whether using extends or implements keywords.</a:t>
            </a:r>
          </a:p>
        </p:txBody>
      </p:sp>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a:r>
              <a:rPr/>
              <a:t>The following are the different forms of inheritance in java.</a:t>
            </a:r>
          </a:p>
          <a:p>
            <a:pPr lvl="0"/>
            <a:r>
              <a:rPr/>
              <a:t>Specialization</a:t>
            </a:r>
          </a:p>
          <a:p>
            <a:pPr lvl="0"/>
            <a:r>
              <a:rPr/>
              <a:t>Specification</a:t>
            </a:r>
          </a:p>
          <a:p>
            <a:pPr lvl="0"/>
            <a:r>
              <a:rPr/>
              <a:t>Construction</a:t>
            </a:r>
          </a:p>
          <a:p>
            <a:pPr lvl="0"/>
            <a:r>
              <a:rPr/>
              <a:t>Extension</a:t>
            </a:r>
          </a:p>
          <a:p>
            <a:pPr lvl="0"/>
            <a:r>
              <a:rPr/>
              <a:t>Limitation</a:t>
            </a:r>
          </a:p>
          <a:p>
            <a:pPr lvl="0"/>
            <a:r>
              <a:rPr/>
              <a:t>Combination</a:t>
            </a:r>
          </a:p>
        </p:txBody>
      </p:sp>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Specialization</a:t>
            </a:r>
          </a:p>
          <a:p>
            <a:pPr lvl="0" indent="0" marL="0">
              <a:buNone/>
            </a:pPr>
            <a:r>
              <a:rPr/>
              <a:t>It is the most ideal form of inheritance. The subclass is a special case of the parent class. It holds the principle of substitutability.</a:t>
            </a:r>
          </a:p>
        </p:txBody>
      </p:sp>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Specification</a:t>
            </a:r>
          </a:p>
          <a:p>
            <a:pPr lvl="0" indent="0" marL="0">
              <a:buNone/>
            </a:pPr>
            <a:r>
              <a:rPr/>
              <a:t>This is another commonly used form of inheritance. In this form of inheritance, the parent class just specifies which methods should be available to the child class but doesn’t implement them. The java provides concepts like abstract and interfaces to support this form of inheritance. It holds the principle of substitutability.</a:t>
            </a:r>
          </a:p>
        </p:txBody>
      </p:sp>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Construction</a:t>
            </a:r>
          </a:p>
          <a:p>
            <a:pPr lvl="0" indent="0" marL="0">
              <a:buNone/>
            </a:pPr>
            <a:r>
              <a:rPr/>
              <a:t>This is another form of inheritance where the child class may change the behavior defined by the parent class (overriding). It does not hold the principle of substitutability.</a:t>
            </a:r>
          </a:p>
        </p:txBody>
      </p:sp>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Extension</a:t>
            </a:r>
          </a:p>
          <a:p>
            <a:pPr lvl="0" indent="0" marL="0">
              <a:buNone/>
            </a:pPr>
            <a:r>
              <a:rPr/>
              <a:t>This is another form of inheritance where the child class may add its new properties. It holds the principle of substitutability.</a:t>
            </a:r>
          </a:p>
        </p:txBody>
      </p:sp>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Limitation</a:t>
            </a:r>
          </a:p>
          <a:p>
            <a:pPr lvl="0" indent="0" marL="0">
              <a:buNone/>
            </a:pPr>
            <a:r>
              <a:rPr/>
              <a:t>This is another form of inheritance where the subclass restricts the inherited behavior. It does not hold the principle of substitutability.</a:t>
            </a:r>
          </a:p>
        </p:txBody>
      </p:sp>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Combination</a:t>
            </a:r>
          </a:p>
          <a:p>
            <a:pPr lvl="0" indent="0" marL="0">
              <a:buNone/>
            </a:pPr>
            <a:r>
              <a:rPr/>
              <a:t>This is another form of inheritance where the subclass inherits properties from multiple parent classes. Java does not support multiple inheritance type.</a:t>
            </a:r>
          </a:p>
        </p:txBody>
      </p:sp>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and Costs of Inheritance in java</a:t>
            </a:r>
          </a:p>
          <a:p>
            <a:pPr lvl="0"/>
            <a:r>
              <a:rPr/>
              <a:t>Inheritance is the core and more useful concept of Object-Oriented Programming.</a:t>
            </a:r>
          </a:p>
          <a:p>
            <a:pPr lvl="0"/>
            <a:r>
              <a:rPr/>
              <a:t>It proWith inheritance, we will be able to override the methods of the base class so that the meaningful implementation of the base class method can be designed in the derived class.</a:t>
            </a:r>
          </a:p>
          <a:p>
            <a:pPr lvl="0"/>
            <a:r>
              <a:rPr/>
              <a:t>An inheritance leads to less development and maintenance costs. Vides many benefits, and a few of them are listed below.</a:t>
            </a:r>
          </a:p>
        </p:txBody>
      </p:sp>
    </p:spTree>
  </p:cSld>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Inheritance</a:t>
            </a:r>
          </a:p>
          <a:p>
            <a:pPr lvl="0"/>
            <a:r>
              <a:rPr/>
              <a:t>Inheritance helps in code reuse. The child class may use the code defined in the parent class without re-writing it.</a:t>
            </a:r>
          </a:p>
          <a:p>
            <a:pPr lvl="0"/>
            <a:r>
              <a:rPr/>
              <a:t>Inheritance can save time and effort as the main code need not be written again.</a:t>
            </a:r>
          </a:p>
          <a:p>
            <a:pPr lvl="0"/>
            <a:r>
              <a:rPr/>
              <a:t>Inheritance provides a clear model structure which is easy to understand.</a:t>
            </a:r>
          </a:p>
          <a:p>
            <a:pPr lvl="0"/>
            <a:r>
              <a:rPr/>
              <a:t>An inheritance leads to less development and maintenance costs.</a:t>
            </a:r>
          </a:p>
          <a:p>
            <a:pPr lvl="0"/>
            <a:r>
              <a:rPr/>
              <a:t>With inheritance, we will be able to override the methods of the base class so that the meaningful implementation of the base class method can be designed in the derived class. An inheritance leads to less development and maintenance costs.</a:t>
            </a:r>
          </a:p>
          <a:p>
            <a:pPr lvl="0"/>
            <a:r>
              <a:rPr/>
              <a:t>In inheritance base class can decide to keep some data private so that it cannot be altered by the derived class.</a:t>
            </a:r>
          </a:p>
        </p:txBody>
      </p:sp>
    </p:spTree>
  </p:cSld>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Costs of Inheritance</a:t>
            </a:r>
          </a:p>
          <a:p>
            <a:pPr lvl="0"/>
            <a:r>
              <a:rPr/>
              <a:t>Inheritance decreases the execution speed due to the increased time and effort it takes, the program to jump through all the levels of overloaded classes.</a:t>
            </a:r>
          </a:p>
          <a:p>
            <a:pPr lvl="0"/>
            <a:r>
              <a:rPr/>
              <a:t>Inheritance makes the two classes (base and inherited class) get tightly coupled. This means one cannot be used independently of each other.</a:t>
            </a:r>
          </a:p>
          <a:p>
            <a:pPr lvl="0"/>
            <a:r>
              <a:rPr/>
              <a:t>The changes made in the parent class will affect the behavior of child class too.</a:t>
            </a:r>
          </a:p>
          <a:p>
            <a:pPr lvl="0"/>
            <a:r>
              <a:rPr/>
              <a:t>The overuse of inheritance makes the program more complex.</a:t>
            </a:r>
          </a:p>
        </p:txBody>
      </p:sp>
    </p:spTree>
  </p:cSld>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Object Class and Forms of Inheritance</a:t>
            </a:r>
          </a:p>
          <a:p>
            <a:pPr lvl="0"/>
            <a:r>
              <a:rPr/>
              <a:t>Every class in Java implicitly extends java.lang.Object</a:t>
            </a:r>
          </a:p>
          <a:p>
            <a:pPr lvl="0"/>
            <a:r>
              <a:rPr/>
              <a:t>Key Object methods: toString(), equals(), hashCode(), clone(), getClass(), finalize()</a:t>
            </a:r>
          </a:p>
          <a:p>
            <a:pPr lvl="0"/>
            <a:r>
              <a:rPr/>
              <a:t>Six forms of inheritance: Specialization, Specification, Construction, Extension, Limitation, Combination</a:t>
            </a:r>
          </a:p>
          <a:p>
            <a:pPr lvl="0"/>
            <a:r>
              <a:rPr/>
              <a:t>Benefits: code reuse, polymorphism, logical organization</a:t>
            </a:r>
          </a:p>
          <a:p>
            <a:pPr lvl="0"/>
            <a:r>
              <a:rPr/>
              <a:t>Costs: tight coupling, fragile base class problem, increased complexity</a:t>
            </a:r>
          </a:p>
        </p:txBody>
      </p:sp>
    </p:spTree>
  </p:cSld>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BtechSmartClass-super Keyword</a:t>
            </a:r>
          </a:p>
          <a:p>
            <a:pPr lvl="0"/>
            <a:r>
              <a:rPr>
                <a:hlinkClick r:id="rId3"/>
              </a:rPr>
              <a:t>Programiz-super Keyword</a:t>
            </a:r>
          </a:p>
          <a:p>
            <a:pPr lvl="0"/>
            <a:r>
              <a:rPr>
                <a:hlinkClick r:id="rId4"/>
              </a:rPr>
              <a:t>BtechSmartClass-Java final Keyword</a:t>
            </a:r>
          </a:p>
          <a:p>
            <a:pPr lvl="0"/>
            <a:r>
              <a:rPr>
                <a:hlinkClick r:id="rId5"/>
              </a:rPr>
              <a:t>Programiz-final Keyword</a:t>
            </a:r>
          </a:p>
          <a:p>
            <a:pPr lvl="0"/>
            <a:r>
              <a:rPr>
                <a:hlinkClick r:id="rId6"/>
              </a:rPr>
              <a:t>BtechSmartClass-java Polymorphism</a:t>
            </a:r>
          </a:p>
          <a:p>
            <a:pPr lvl="0"/>
            <a:r>
              <a:rPr>
                <a:hlinkClick r:id="rId7"/>
              </a:rPr>
              <a:t>Programiz-Polymorphism</a:t>
            </a:r>
          </a:p>
          <a:p>
            <a:pPr lvl="0"/>
            <a:r>
              <a:rPr>
                <a:hlinkClick r:id="rId8"/>
              </a:rPr>
              <a:t>Programiz-Encapsulation</a:t>
            </a:r>
          </a:p>
          <a:p>
            <a:pPr lvl="0"/>
            <a:r>
              <a:rPr>
                <a:hlinkClick r:id="rId9"/>
              </a:rPr>
              <a:t>BtechSmartClass-Java Method Overriding</a:t>
            </a:r>
          </a:p>
        </p:txBody>
      </p:sp>
    </p:spTree>
  </p:cSld>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Programiz-Method Overriding</a:t>
            </a:r>
          </a:p>
          <a:p>
            <a:pPr lvl="0"/>
            <a:r>
              <a:rPr>
                <a:hlinkClick r:id="rId3"/>
              </a:rPr>
              <a:t>Programiz-Nested Inner Class</a:t>
            </a:r>
          </a:p>
          <a:p>
            <a:pPr lvl="0"/>
            <a:r>
              <a:rPr>
                <a:hlinkClick r:id="rId4"/>
              </a:rPr>
              <a:t>Programiz-Static Class</a:t>
            </a:r>
          </a:p>
          <a:p>
            <a:pPr lvl="0"/>
            <a:r>
              <a:rPr>
                <a:hlinkClick r:id="rId5"/>
              </a:rPr>
              <a:t>Programiz-Anonymous Class</a:t>
            </a:r>
          </a:p>
          <a:p>
            <a:pPr lvl="0"/>
            <a:r>
              <a:rPr>
                <a:hlinkClick r:id="rId6"/>
              </a:rPr>
              <a:t>Programiz-enums</a:t>
            </a:r>
          </a:p>
          <a:p>
            <a:pPr lvl="0"/>
            <a:r>
              <a:rPr>
                <a:hlinkClick r:id="rId7"/>
              </a:rPr>
              <a:t>Programiz-enum constructor</a:t>
            </a:r>
          </a:p>
          <a:p>
            <a:pPr lvl="0"/>
            <a:r>
              <a:rPr>
                <a:hlinkClick r:id="rId8"/>
              </a:rPr>
              <a:t>Programiz-enum string</a:t>
            </a:r>
          </a:p>
          <a:p>
            <a:pPr lvl="0"/>
            <a:r>
              <a:rPr>
                <a:hlinkClick r:id="rId9"/>
              </a:rPr>
              <a:t>BtechSmartClass-Java Abstract Class</a:t>
            </a:r>
          </a:p>
          <a:p>
            <a:pPr lvl="0"/>
            <a:r>
              <a:rPr>
                <a:hlinkClick r:id="rId10"/>
              </a:rPr>
              <a:t>Programiz-Abstract Classes Methods</a:t>
            </a:r>
          </a:p>
        </p:txBody>
      </p:sp>
    </p:spTree>
  </p:cSld>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BtechSmartClass-Java Object class</a:t>
            </a:r>
          </a:p>
          <a:p>
            <a:pPr lvl="0"/>
            <a:r>
              <a:rPr>
                <a:hlinkClick r:id="rId3"/>
              </a:rPr>
              <a:t>BtechSmartClass-Java Forms of Inheritance</a:t>
            </a:r>
          </a:p>
          <a:p>
            <a:pPr lvl="0"/>
            <a:r>
              <a:rPr>
                <a:hlinkClick r:id="rId4"/>
              </a:rPr>
              <a:t>Programiz-Interfaces</a:t>
            </a:r>
          </a:p>
          <a:p>
            <a:pPr lvl="0"/>
            <a:r>
              <a:rPr>
                <a:hlinkClick r:id="rId5"/>
              </a:rPr>
              <a:t>BtechSmartClass-Java Benefits and Costs of Inheritance</a:t>
            </a:r>
          </a:p>
          <a:p>
            <a:pPr lvl="0"/>
            <a:r>
              <a:rPr>
                <a:hlinkClick r:id="rId6"/>
              </a:rPr>
              <a:t>BtechSmartClass-Java Defining Packages</a:t>
            </a:r>
          </a:p>
          <a:p>
            <a:pPr lvl="0"/>
            <a:r>
              <a:rPr>
                <a:hlinkClick r:id="rId7"/>
              </a:rPr>
              <a:t>BtechSmartClass-Java Access Protection in Packages</a:t>
            </a:r>
          </a:p>
          <a:p>
            <a:pPr lvl="0"/>
            <a:r>
              <a:rPr>
                <a:hlinkClick r:id="rId8"/>
              </a:rPr>
              <a:t>BtechSmartClass-Java Importing Packages</a:t>
            </a:r>
          </a:p>
        </p:txBody>
      </p:sp>
    </p:spTree>
  </p:cSld>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2</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Ugur CORUH</dc:creator>
  <cp:keywords/>
  <dcterms:created xsi:type="dcterms:W3CDTF">2026-03-03T13:31:01Z</dcterms:created>
  <dcterms:modified xsi:type="dcterms:W3CDTF">2026-03-03T13:31:01Z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Week-2</vt:lpwstr>
  </property>
  <property fmtid="{D5CDD505-2E9C-101B-9397-08002B2CF9AE}" pid="8" name="footer-center">
    <vt:lpwstr>© Copyright 2025-2026</vt:lpwstr>
  </property>
  <property fmtid="{D5CDD505-2E9C-101B-9397-08002B2CF9AE}" pid="9" name="footer-left">
    <vt:lpwstr>© Copyright 2025-2026 Asst. Prof. Dr. Ugur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Inheritance, Polymorphism and Advanced Class Structures</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