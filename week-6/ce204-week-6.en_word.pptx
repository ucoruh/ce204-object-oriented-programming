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5" Type="http://schemas.openxmlformats.org/officeDocument/2006/relationships/slide" Target="slides/slide64.xml" /><Relationship Id="rId66" Type="http://schemas.openxmlformats.org/officeDocument/2006/relationships/slide" Target="slides/slide65.xml" /><Relationship Id="rId67" Type="http://schemas.openxmlformats.org/officeDocument/2006/relationships/slide" Target="slides/slide66.xml" /><Relationship Id="rId68" Type="http://schemas.openxmlformats.org/officeDocument/2006/relationships/slide" Target="slides/slide67.xml" /><Relationship Id="rId69" Type="http://schemas.openxmlformats.org/officeDocument/2006/relationships/slide" Target="slides/slide68.xml" /><Relationship Id="rId70" Type="http://schemas.openxmlformats.org/officeDocument/2006/relationships/slide" Target="slides/slide69.xml" /><Relationship Id="rId71" Type="http://schemas.openxmlformats.org/officeDocument/2006/relationships/slide" Target="slides/slide70.xml" /><Relationship Id="rId72" Type="http://schemas.openxmlformats.org/officeDocument/2006/relationships/slide" Target="slides/slide71.xml" /><Relationship Id="rId73" Type="http://schemas.openxmlformats.org/officeDocument/2006/relationships/slide" Target="slides/slide72.xml" /><Relationship Id="rId74" Type="http://schemas.openxmlformats.org/officeDocument/2006/relationships/slide" Target="slides/slide73.xml" /><Relationship Id="rId75" Type="http://schemas.openxmlformats.org/officeDocument/2006/relationships/slide" Target="slides/slide74.xml" /><Relationship Id="rId76" Type="http://schemas.openxmlformats.org/officeDocument/2006/relationships/slide" Target="slides/slide75.xml" /><Relationship Id="rId77" Type="http://schemas.openxmlformats.org/officeDocument/2006/relationships/slide" Target="slides/slide76.xml" /><Relationship Id="rId78" Type="http://schemas.openxmlformats.org/officeDocument/2006/relationships/slide" Target="slides/slide77.xml" /><Relationship Id="rId79" Type="http://schemas.openxmlformats.org/officeDocument/2006/relationships/slide" Target="slides/slide78.xml" /><Relationship Id="rId80" Type="http://schemas.openxmlformats.org/officeDocument/2006/relationships/slide" Target="slides/slide79.xml" /><Relationship Id="rId81" Type="http://schemas.openxmlformats.org/officeDocument/2006/relationships/slide" Target="slides/slide80.xml" /><Relationship Id="rId82" Type="http://schemas.openxmlformats.org/officeDocument/2006/relationships/slide" Target="slides/slide81.xml" /><Relationship Id="rId83" Type="http://schemas.openxmlformats.org/officeDocument/2006/relationships/slide" Target="slides/slide82.xml" /><Relationship Id="rId84" Type="http://schemas.openxmlformats.org/officeDocument/2006/relationships/slide" Target="slides/slide83.xml" /><Relationship Id="rId85" Type="http://schemas.openxmlformats.org/officeDocument/2006/relationships/slide" Target="slides/slide84.xml" /><Relationship Id="rId86" Type="http://schemas.openxmlformats.org/officeDocument/2006/relationships/slide" Target="slides/slide85.xml" /><Relationship Id="rId87" Type="http://schemas.openxmlformats.org/officeDocument/2006/relationships/slide" Target="slides/slide86.xml" /><Relationship Id="rId88" Type="http://schemas.openxmlformats.org/officeDocument/2006/relationships/slide" Target="slides/slide87.xml" /><Relationship Id="rId89" Type="http://schemas.openxmlformats.org/officeDocument/2006/relationships/slide" Target="slides/slide88.xml" /><Relationship Id="rId90" Type="http://schemas.openxmlformats.org/officeDocument/2006/relationships/slide" Target="slides/slide89.xml" /><Relationship Id="rId91" Type="http://schemas.openxmlformats.org/officeDocument/2006/relationships/slide" Target="slides/slide90.xml" /><Relationship Id="rId92" Type="http://schemas.openxmlformats.org/officeDocument/2006/relationships/slide" Target="slides/slide91.xml" /><Relationship Id="rId93" Type="http://schemas.openxmlformats.org/officeDocument/2006/relationships/slide" Target="slides/slide92.xml" /><Relationship Id="rId94" Type="http://schemas.openxmlformats.org/officeDocument/2006/relationships/slide" Target="slides/slide93.xml" /><Relationship Id="rId95" Type="http://schemas.openxmlformats.org/officeDocument/2006/relationships/slide" Target="slides/slide94.xml" /><Relationship Id="rId96" Type="http://schemas.openxmlformats.org/officeDocument/2006/relationships/slide" Target="slides/slide95.xml" /><Relationship Id="rId97" Type="http://schemas.openxmlformats.org/officeDocument/2006/relationships/slide" Target="slides/slide96.xml" /><Relationship Id="rId99" Type="http://schemas.openxmlformats.org/officeDocument/2006/relationships/viewProps" Target="viewProps.xml" /><Relationship Id="rId9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1" Type="http://schemas.openxmlformats.org/officeDocument/2006/relationships/tableStyles" Target="tableStyles.xml" /><Relationship Id="rId10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ce204-week-6.en.md_doc.pdf" TargetMode="External" /><Relationship Id="rId3" Type="http://schemas.openxmlformats.org/officeDocument/2006/relationships/hyperlink" Target="ce204-week-6.en.md_word.docx" TargetMode="External" /><Relationship Id="rId4" Type="http://schemas.openxmlformats.org/officeDocument/2006/relationships/hyperlink" Target="ce204-week-6.en.md_slide.pdf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hyperlink" Target="https://cruise.UMPLE.org/UMPLEonline/?text=class%20Recording%7B%20%20*%20--%201%20RecordingCategory%20category;%7Dclass%20RecordingCategory%7B%20%200..1%20--%20*%20RecordingCategory%20subcategory;%7D//$?%5BEnd_of_model%5D$?class%20Recording%7B%20%20position%20157%2030%20109%2045;%20%20position.association%20Recording__RecordingCategory%2062,46%2075,0;%7Dclass%20RecordingCategory%7B%20%20position%20149%20135%20133%2045;%7D" TargetMode="External" /><Relationship Id="rId3" Type="http://schemas.openxmlformats.org/officeDocument/2006/relationships/image" Target="../media/image7.png" /></Relationships>
</file>

<file path=ppt/slides/_rels/slide6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://associations.UMPLE.org" TargetMode="External" /></Relationships>
</file>

<file path=ppt/slides/_rels/slide6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8.png" /></Relationships>
</file>

<file path=ppt/slides/_rels/slide7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9.png" /></Relationships>
</file>

<file path=ppt/slides/_rels/slide7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0.png" /></Relationships>
</file>

<file path=ppt/slides/_rels/slide7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1.png" /></Relationships>
</file>

<file path=ppt/slides/_rels/slide7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2.png" /></Relationships>
</file>

<file path=ppt/slides/_rels/slide7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3.png" /></Relationships>
</file>

<file path=ppt/slides/_rels/slide7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hyperlink" Target="https://cruise.UMPLE.org/UMPLEonline/?text=class%20Assistant%20%7B%7Dclass%20Manager%20%7B%20%201..*%20supervisor%20--%20*%20Assistant;%7D//$?%5BEnd_of_model%5D$?class%20Assistant%7B%20%20position%2049%2030%20109%2045;%7Dclass%20Manager%7B%20%20position%2073%20127%20109%2045;%7D" TargetMode="External" /><Relationship Id="rId3" Type="http://schemas.openxmlformats.org/officeDocument/2006/relationships/image" Target="../media/image14.png" /></Relationships>
</file>

<file path=ppt/slides/_rels/slide8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hyperlink" Target="https://cruise.UMPLE.org/UMPLEonline/?text=class%20Company%20%7B%7Dclass%20BoardOfDirectors%20%7B%7Dassociation%20%7B%20%201%20Company%20--%201%20BoardOfDirectors;%7D//$?%5BEnd_of_model%5D$?class%20Company%7B%20%20position%2050%2030%20109%2045;%7Dclass%20BoardOfDirectors%7B%20%20position%2050%20130%20109%2045;%7D" TargetMode="External" /><Relationship Id="rId3" Type="http://schemas.openxmlformats.org/officeDocument/2006/relationships/image" Target="../media/image15.png" /></Relationships>
</file>

<file path=ppt/slides/_rels/slide8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6.png" /></Relationships>
</file>

<file path=ppt/slides/_rels/slide8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hyperlink" Target="https://cruise.UMPLE.org/UMPLEonline/?text=class%20Day%20%7B%20%20*%20-%3E%201%20Note;%7Dclass%20Note%20%7B%7D//$?%5BEnd_of_model%5D$?class%20Day%7B%20%20position%2050%2031%20109%2045;%20%20position.association%20Day__Note%2030,46%2030,0;%7Dclass%20Note%7B%20%20position%2050%20131%20109%2045;%7D" TargetMode="External" /><Relationship Id="rId3" Type="http://schemas.openxmlformats.org/officeDocument/2006/relationships/image" Target="../media/image17.png" /></Relationships>
</file>

<file path=ppt/slides/_rels/slide8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hyperlink" Target="https://cruise.UMPLE.org/UMPLEonline/?text=class%20Student%20%7B%7Dclass%20CourseSection%20%7B%7Dclass%20Registration%20%7B%20%20*%20--%201%20Student;%20%20*%20--%201%20CourseSection;%7D//$?%5BEnd_of_model%5D$?class%20Student%7B%20%20position%2050%2030%20109%2045;%7Dclass%20CourseSection%7B%20%20position%2097%20203%20109%2045;%7Dclass%20Registration%7B%20%20position%2067%20123%20109%2045;%20%20position.association%20CourseSection__Registration%2084,45%2029,0;%7D" TargetMode="External" /><Relationship Id="rId3" Type="http://schemas.openxmlformats.org/officeDocument/2006/relationships/hyperlink" Target="https://cruise.UMPLE.org/UMPLEonline/?text=class%20Student%20%7B%7D%0A%0Aclass%20CourseSection%20%7B%20%0A%0A%201%20--%20*%20Evaluation%3B%0A%7D%0A%0Aclass%20Registration%20%7B%0A%20%20finalGrade%3B%0A%20%20*%20--%201%20Student%3B%0A%20%20*%20--%201%20CourseSection%3B%0A%7D%0A%0Aclass%20ComponentGrade%0A%7B%0A%20%20Integer%20value%3B%0A%20%20*%20--%201%20Registration%3B%0A%20%20*%20--%201%20Evaluation%3B%0A%7D%0A%0Aclass%20Evaluation%0A%7B%0A%20%20description%3B%0A%20%20Float%20weight%3B%0A%7D%0A%0A%2F%2F%24%3F%5BEnd_of_model%5D%24%3F%0A%0Aclass%20Student%0A%7B%0A%20%20position%2050%2030%20109%2045%3B%0A%7D%0A%0Aclass%20CourseSection%0A%7B%0A%20%20position%2088%20229%20109%2045%3B%0A%20%20position.association%20CourseSection__Evaluation%20110%2C43%202%2C0%3B%0A%7D%0A%0Aclass%20Registration%0A%7B%0A%20%20position%2052%20123%20145%2063%3B%0A%20%20position.association%20CourseSection__Registration%2071%2C63%2029%2C0%3B%0A%20%20position.association%20Registration__Student%2030%2C0%2030%2C46%3B%0A%7D%0A%0Aclass%20ComponentGrade%0A%7B%0A%20%20position%20305%20124%20124%2046%3B%0A%20%20position.association%20ComponentGrade__Registration%200%2C27%20146%2C26%3B%0A%20%20position.association%20ComponentGrade__Evaluation%2064%2C63%20102%2C0%3B%0A%7D%0A%0Aclass%20Evaluation%0A%7B%0A%20%20position%20252%20293%20149%2063%3B%0A%7D" TargetMode="External" /><Relationship Id="rId5" Type="http://schemas.openxmlformats.org/officeDocument/2006/relationships/image" Target="../media/image19.png" /><Relationship Id="rId4" Type="http://schemas.openxmlformats.org/officeDocument/2006/relationships/image" Target="../media/image18.png" /></Relationships>
</file>

<file path=ppt/slides/_rels/slide8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3" Type="http://schemas.openxmlformats.org/officeDocument/2006/relationships/hyperlink" Target="https://cruise.UMPLE.org/UMPLEonline/?text=class%20Course%20%7B%20%20%20*%20self%20isMutuallyExclusiveWith;%7Dassociation%20%7B%20%20%20%20%20*%20Course%20successor%20--%20*%20Course%20prerequisite;%7D//$?%5BEnd_of_model%5D$?class%20Course%7B%20%20position%20122%2025%20109%2045;%7D" TargetMode="External" /><Relationship Id="rId2" Type="http://schemas.openxmlformats.org/officeDocument/2006/relationships/image" Target="../media/image20.png" /></Relationships>
</file>

<file path=ppt/slides/_rels/slide8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1.png" /></Relationships>
</file>

<file path=ppt/slides/_rels/slide8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2.png" /></Relationships>
</file>

<file path=ppt/slides/_rels/slide9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UMPLE/UMPLE/wiki/Tutorials" TargetMode="External" /><Relationship Id="rId3" Type="http://schemas.openxmlformats.org/officeDocument/2006/relationships/hyperlink" Target="https://github.com/UMPLE/UMPLE" TargetMode="External" /><Relationship Id="rId4" Type="http://schemas.openxmlformats.org/officeDocument/2006/relationships/hyperlink" Target="https://UMPLE.org" TargetMode="External" /><Relationship Id="rId5" Type="http://schemas.openxmlformats.org/officeDocument/2006/relationships/hyperlink" Target="https://cruise.UMPLE.org/UMPLE/" TargetMode="External" /><Relationship Id="rId6" Type="http://schemas.openxmlformats.org/officeDocument/2006/relationships/hyperlink" Target="http://www.site.uottawa.ca/~mgarz042/files/CSI5112-UMPLE.pdf" TargetMode="External" /><Relationship Id="rId7" Type="http://schemas.openxmlformats.org/officeDocument/2006/relationships/hyperlink" Target="https://cruise.UMPLE.org/presentations/UMPLEModels2020Tutorial/" TargetMode="External" /><Relationship Id="rId8" Type="http://schemas.openxmlformats.org/officeDocument/2006/relationships/hyperlink" Target="https://cruise.UMPLE.org/presentations/UMPLEModels2020Tutorial/UMPLETutForModels2020.pdf" TargetMode="External" /></Relationships>
</file>

<file path=ppt/slides/_rels/slide9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ruise.UMPLE.org/UMPLE/GettingStarted.html" TargetMode="External" /><Relationship Id="rId3" Type="http://schemas.openxmlformats.org/officeDocument/2006/relationships/hyperlink" Target="https://www.youtube.com/watch?v=yif1clbrXnI&amp;ab_channel=CSEETconf" TargetMode="External" /><Relationship Id="rId4" Type="http://schemas.openxmlformats.org/officeDocument/2006/relationships/hyperlink" Target="https://cruise.UMPLE.org/presentations/UMPLETutorialCSEET2020.pdf" TargetMode="External" /><Relationship Id="rId5" Type="http://schemas.openxmlformats.org/officeDocument/2006/relationships/hyperlink" Target="https://tomassetti.me/code-generation/" TargetMode="External" /></Relationships>
</file>

<file path=ppt/slides/_rels/slide9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CEN206 Object-Oriented Programming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UMPLE - Part 1</a:t>
            </a:r>
            <a:br/>
            <a:br/>
            <a:r>
              <a:rPr/>
              <a:t>Author: Asst. Prof. Dr. Ugur CORUH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/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CEN206 Object-Oriented Programming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Week-6 (UMPLE - Part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Spring Semester, 2025-2026</a:t>
            </a:r>
          </a:p>
          <a:p>
            <a:pPr lvl="0" indent="0" marL="0">
              <a:buNone/>
            </a:pPr>
            <a:r>
              <a:rPr/>
              <a:t>Download </a:t>
            </a:r>
            <a:r>
              <a:rPr>
                <a:hlinkClick r:id="rId2"/>
              </a:rPr>
              <a:t>DOC-PDF</a:t>
            </a:r>
            <a:r>
              <a:rPr/>
              <a:t>, </a:t>
            </a:r>
            <a:r>
              <a:rPr>
                <a:hlinkClick r:id="rId3"/>
              </a:rPr>
              <a:t>DOC-DOCX</a:t>
            </a:r>
            <a:r>
              <a:rPr/>
              <a:t>, </a:t>
            </a:r>
            <a:r>
              <a:rPr>
                <a:hlinkClick r:id="rId4"/>
              </a:rPr>
              <a:t>SLIDE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Module A: Introduction to UMPLE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Module Outline</a:t>
            </a:r>
          </a:p>
          <a:p>
            <a:pPr lvl="0"/>
            <a:r>
              <a:rPr/>
              <a:t>What is UMPLE?</a:t>
            </a:r>
          </a:p>
          <a:p>
            <a:pPr lvl="0"/>
            <a:r>
              <a:rPr/>
              <a:t>UMPLE Motivation and Key Innovations</a:t>
            </a:r>
          </a:p>
          <a:p>
            <a:pPr lvl="0"/>
            <a:r>
              <a:rPr/>
              <a:t>Model-Driven Development with UMPLE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Introduction to UMPLE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UMPLE: Si&amp;mple&amp;, A&amp;mple&amp;, &amp;UM&amp;L &amp;P&amp;rogramming &amp;L&amp;anguag&amp;e&amp;</a:t>
            </a:r>
          </a:p>
          <a:p>
            <a:pPr lvl="0"/>
            <a:r>
              <a:rPr b="1"/>
              <a:t>Open source textual modelling tool set for 3 platforms</a:t>
            </a:r>
          </a:p>
          <a:p>
            <a:pPr lvl="1"/>
            <a:r>
              <a:rPr/>
              <a:t>Command line compiler</a:t>
            </a:r>
          </a:p>
          <a:p>
            <a:pPr lvl="1"/>
            <a:r>
              <a:rPr/>
              <a:t>Web-based tool (UMPLEOnline) for demos and education</a:t>
            </a:r>
          </a:p>
          <a:p>
            <a:pPr lvl="1"/>
            <a:r>
              <a:rPr/>
              <a:t>Eclipse plugin</a:t>
            </a:r>
          </a:p>
          <a:p>
            <a:pPr lvl="0"/>
            <a:r>
              <a:rPr b="1"/>
              <a:t>Code generator for UML ++</a:t>
            </a:r>
          </a:p>
          <a:p>
            <a:pPr lvl="1"/>
            <a:r>
              <a:rPr/>
              <a:t>Infinitely nested state machines, with concurrency</a:t>
            </a:r>
          </a:p>
          <a:p>
            <a:pPr lvl="1"/>
            <a:r>
              <a:rPr/>
              <a:t>Proper referential integrity and multiplicity constraints on associations</a:t>
            </a:r>
          </a:p>
          <a:p>
            <a:pPr lvl="1"/>
            <a:r>
              <a:rPr/>
              <a:t>Traits, mixins, aspects for modularity</a:t>
            </a:r>
          </a:p>
          <a:p>
            <a:pPr lvl="1"/>
            <a:r>
              <a:rPr/>
              <a:t>Text generation templates, patterns, traits</a:t>
            </a:r>
          </a:p>
          <a:p>
            <a:pPr lvl="0"/>
            <a:r>
              <a:rPr b="1"/>
              <a:t>Pre-processor to add UML, patterns and other features on top of Java, PhP, C++ and other languages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UMPLE: Si&amp;mple&amp;, A&amp;mple&amp;, &amp;UM&amp;L &amp;P&amp;rogramming &amp;L&amp;anguag&amp;e&amp;</a:t>
            </a:r>
          </a:p>
          <a:p>
            <a:pPr lvl="0"/>
            <a:r>
              <a:rPr/>
              <a:t>Open source textual modeling tool and code generator</a:t>
            </a:r>
          </a:p>
          <a:p>
            <a:pPr lvl="1"/>
            <a:r>
              <a:rPr/>
              <a:t>Adds modeling to Java,. C++, PHP</a:t>
            </a:r>
          </a:p>
          <a:p>
            <a:pPr lvl="1"/>
            <a:r>
              <a:rPr/>
              <a:t>A sample of features</a:t>
            </a:r>
          </a:p>
          <a:p>
            <a:pPr lvl="2"/>
            <a:r>
              <a:rPr/>
              <a:t>Referential integrity on associations</a:t>
            </a:r>
          </a:p>
          <a:p>
            <a:pPr lvl="2"/>
            <a:r>
              <a:rPr/>
              <a:t>Code generation for patterns</a:t>
            </a:r>
          </a:p>
          <a:p>
            <a:pPr lvl="2"/>
            <a:r>
              <a:rPr/>
              <a:t>Blending of conventional code with models</a:t>
            </a:r>
          </a:p>
          <a:p>
            <a:pPr lvl="2"/>
            <a:r>
              <a:rPr/>
              <a:t>Infinitely nested state machines, with concurrency</a:t>
            </a:r>
          </a:p>
          <a:p>
            <a:pPr lvl="2"/>
            <a:r>
              <a:rPr/>
              <a:t>Separation of concerns for models: mixins, traits, mixsets, aspects</a:t>
            </a:r>
          </a:p>
          <a:p>
            <a:pPr lvl="0"/>
            <a:r>
              <a:rPr/>
              <a:t>Tools</a:t>
            </a:r>
          </a:p>
          <a:p>
            <a:pPr lvl="1"/>
            <a:r>
              <a:rPr/>
              <a:t>Command line compiler</a:t>
            </a:r>
          </a:p>
          <a:p>
            <a:pPr lvl="1"/>
            <a:r>
              <a:rPr/>
              <a:t>Web-based tool (UMPLEOnline) for demos and education</a:t>
            </a:r>
          </a:p>
          <a:p>
            <a:pPr lvl="1"/>
            <a:r>
              <a:rPr/>
              <a:t>Plugins for Eclipse and other tools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Are we Going to Learn About in This Tutorial? What Will You Be Able To Do?</a:t>
            </a:r>
          </a:p>
          <a:p>
            <a:pPr lvl="0"/>
            <a:r>
              <a:rPr/>
              <a:t>Modeling using </a:t>
            </a:r>
            <a:r>
              <a:rPr b="1"/>
              <a:t>class diagrams</a:t>
            </a:r>
          </a:p>
          <a:p>
            <a:pPr lvl="1"/>
            <a:r>
              <a:rPr/>
              <a:t>Attributes, Associations, Methods, Patterns, Constraints</a:t>
            </a:r>
          </a:p>
          <a:p>
            <a:pPr lvl="0"/>
            <a:r>
              <a:rPr/>
              <a:t>Modeling using </a:t>
            </a:r>
            <a:r>
              <a:rPr b="1"/>
              <a:t>state diagrams</a:t>
            </a:r>
          </a:p>
          <a:p>
            <a:pPr lvl="1"/>
            <a:r>
              <a:rPr/>
              <a:t>States, Events, Transitions, Guards, Nesting, Actions, Activities</a:t>
            </a:r>
          </a:p>
          <a:p>
            <a:pPr lvl="1"/>
            <a:r>
              <a:rPr/>
              <a:t>Concurrency</a:t>
            </a:r>
          </a:p>
          <a:p>
            <a:pPr lvl="0"/>
            <a:r>
              <a:rPr b="1"/>
              <a:t>Separation of Concerns</a:t>
            </a:r>
            <a:r>
              <a:rPr/>
              <a:t> in Models</a:t>
            </a:r>
          </a:p>
          <a:p>
            <a:pPr lvl="1"/>
            <a:r>
              <a:rPr/>
              <a:t>Mixins, Traits, Aspects, Mixsets</a:t>
            </a:r>
          </a:p>
          <a:p>
            <a:pPr lvl="0"/>
            <a:r>
              <a:rPr/>
              <a:t>Practice with a examples focusing on </a:t>
            </a:r>
            <a:r>
              <a:rPr b="1"/>
              <a:t>state machines</a:t>
            </a:r>
            <a:r>
              <a:rPr/>
              <a:t> and </a:t>
            </a:r>
            <a:r>
              <a:rPr b="1"/>
              <a:t>product lines</a:t>
            </a:r>
          </a:p>
          <a:p>
            <a:pPr lvl="0"/>
            <a:r>
              <a:rPr/>
              <a:t>Building a complete system in UMPLE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Technology Will You Need?</a:t>
            </a:r>
          </a:p>
          <a:p>
            <a:pPr lvl="0"/>
            <a:r>
              <a:rPr/>
              <a:t>As a minimum: Any web browser.</a:t>
            </a:r>
          </a:p>
          <a:p>
            <a:pPr lvl="0"/>
            <a:r>
              <a:rPr/>
              <a:t>For a richer command-line experience</a:t>
            </a:r>
          </a:p>
          <a:p>
            <a:pPr lvl="1"/>
            <a:r>
              <a:rPr/>
              <a:t>A computer (laptop) with Java 8-14 JDK</a:t>
            </a:r>
          </a:p>
          <a:p>
            <a:pPr lvl="1"/>
            <a:r>
              <a:rPr/>
              <a:t>Mac and Linux are the easiest platforms, but Windows also will work</a:t>
            </a:r>
          </a:p>
          <a:p>
            <a:pPr lvl="1"/>
            <a:r>
              <a:rPr/>
              <a:t>Download UMPLE Jar at http://dl.UMPLE.org</a:t>
            </a:r>
          </a:p>
          <a:p>
            <a:pPr lvl="0"/>
            <a:r>
              <a:rPr/>
              <a:t>You can also run UMPLE in Docker: http://docker.UMPLE.org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Websites</a:t>
            </a:r>
          </a:p>
          <a:p>
            <a:pPr lvl="0"/>
            <a:r>
              <a:rPr/>
              <a:t>Entry-point: https://www.UMPLE.org</a:t>
            </a:r>
          </a:p>
          <a:p>
            <a:pPr lvl="1"/>
            <a:r>
              <a:rPr/>
              <a:t>Everything you need to get started with UMPLE</a:t>
            </a:r>
          </a:p>
          <a:p>
            <a:pPr lvl="0"/>
            <a:r>
              <a:rPr/>
              <a:t>Github: https://github.com/UMPLE/UMPLE</a:t>
            </a:r>
          </a:p>
          <a:p>
            <a:pPr lvl="1"/>
            <a:r>
              <a:rPr/>
              <a:t>Source code and examples for UMPLE</a:t>
            </a:r>
          </a:p>
          <a:p>
            <a:pPr lvl="0"/>
            <a:r>
              <a:rPr/>
              <a:t>UMPLE Online: https://try.UMPLE.org</a:t>
            </a:r>
          </a:p>
          <a:p>
            <a:pPr lvl="1"/>
            <a:r>
              <a:rPr/>
              <a:t>Online application for UMPLE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Websites (Another way)</a:t>
            </a:r>
          </a:p>
          <a:p>
            <a:pPr lvl="0" indent="0" marL="0">
              <a:buNone/>
            </a:pPr>
            <a:r>
              <a:rPr/>
              <a:t>The UMPLEOnline web interface is at try.UMPLE.org</a:t>
            </a:r>
          </a:p>
          <a:p>
            <a:pPr lvl="0" indent="0" marL="0">
              <a:buNone/>
            </a:pPr>
            <a:r>
              <a:rPr/>
              <a:t>The user manual is at manual.UMPLE.org</a:t>
            </a:r>
          </a:p>
          <a:p>
            <a:pPr lvl="0" indent="0" marL="0">
              <a:buNone/>
            </a:pPr>
            <a:r>
              <a:rPr/>
              <a:t>The UMPLE home page is at www.UMPLE.org</a:t>
            </a:r>
          </a:p>
          <a:p>
            <a:pPr lvl="0" indent="0" marL="0">
              <a:buNone/>
            </a:pPr>
            <a:r>
              <a:rPr/>
              <a:t>UMPLE download page: dl.UMPLE.org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Motivation for developing UMPLE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Motivation for developing UMPLE (1)</a:t>
            </a:r>
          </a:p>
          <a:p>
            <a:pPr lvl="0" indent="0" marL="0">
              <a:buNone/>
            </a:pPr>
            <a:r>
              <a:rPr/>
              <a:t>Designers want the best combination of features:</a:t>
            </a:r>
          </a:p>
          <a:p>
            <a:pPr lvl="0"/>
            <a:r>
              <a:rPr/>
              <a:t>Textual editing and blending with other languages</a:t>
            </a:r>
          </a:p>
          <a:p>
            <a:pPr lvl="0"/>
            <a:r>
              <a:rPr/>
              <a:t>Ability to use in an agile process</a:t>
            </a:r>
          </a:p>
          <a:p>
            <a:pPr lvl="1"/>
            <a:r>
              <a:rPr/>
              <a:t>Write tests, continuous integration, versioning</a:t>
            </a:r>
          </a:p>
          <a:p>
            <a:pPr lvl="1"/>
            <a:r>
              <a:rPr/>
              <a:t>Combine the best of agility and modeling</a:t>
            </a:r>
          </a:p>
          <a:p>
            <a:pPr lvl="0"/>
            <a:r>
              <a:rPr/>
              <a:t>Excellent code generation</a:t>
            </a:r>
          </a:p>
          <a:p>
            <a:pPr lvl="1"/>
            <a:r>
              <a:rPr/>
              <a:t>A complete generation of real systems (including itself)</a:t>
            </a:r>
          </a:p>
          <a:p>
            <a:pPr lvl="0"/>
            <a:r>
              <a:rPr/>
              <a:t>Multi-platform (command line, Eclipse, VsCode, Web)</a:t>
            </a:r>
          </a:p>
          <a:p>
            <a:pPr lvl="0"/>
            <a:r>
              <a:rPr/>
              <a:t>Practical and easy to use for developers</a:t>
            </a:r>
          </a:p>
          <a:p>
            <a:pPr lvl="1"/>
            <a:r>
              <a:rPr/>
              <a:t>Including great documentation</a:t>
            </a:r>
          </a:p>
          <a:p>
            <a:pPr lvl="0"/>
            <a:r>
              <a:rPr/>
              <a:t>Open source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Motivation for developing UMPLE (2)</a:t>
            </a:r>
          </a:p>
          <a:p>
            <a:pPr lvl="0" indent="0" marL="0">
              <a:buNone/>
            </a:pPr>
            <a:r>
              <a:rPr/>
              <a:t>Many existing tools:</a:t>
            </a:r>
          </a:p>
          <a:p>
            <a:pPr lvl="0"/>
            <a:r>
              <a:rPr/>
              <a:t>Lacked in usability</a:t>
            </a:r>
          </a:p>
          <a:p>
            <a:pPr lvl="1"/>
            <a:r>
              <a:rPr/>
              <a:t>Awkward to edit diagrams</a:t>
            </a:r>
          </a:p>
          <a:p>
            <a:pPr lvl="1"/>
            <a:r>
              <a:rPr/>
              <a:t>Many steps to do a task</a:t>
            </a:r>
          </a:p>
          <a:p>
            <a:pPr lvl="1"/>
            <a:r>
              <a:rPr/>
              <a:t>Lengthy learning process</a:t>
            </a:r>
          </a:p>
          <a:p>
            <a:pPr lvl="0"/>
            <a:r>
              <a:rPr/>
              <a:t>Lack in ongoing support</a:t>
            </a:r>
          </a:p>
          <a:p>
            <a:pPr lvl="0"/>
            <a:r>
              <a:rPr/>
              <a:t>Could be enhanced by us perhaps, but we would be tied to key decisions (e.g. Eclipse-only)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Takeaway: Introduction to UMPLE</a:t>
            </a:r>
          </a:p>
          <a:p>
            <a:pPr lvl="0"/>
            <a:r>
              <a:rPr/>
              <a:t>UMPLE = UML + Programming Language - adds UML constructs directly into code</a:t>
            </a:r>
          </a:p>
          <a:p>
            <a:pPr lvl="0"/>
            <a:r>
              <a:rPr/>
              <a:t>Model-driven development: write models that generate production-quality code</a:t>
            </a:r>
          </a:p>
          <a:p>
            <a:pPr lvl="0"/>
            <a:r>
              <a:rPr/>
              <a:t>UMPLE supports Java, C++, PHP, Ruby code generation from UML models</a:t>
            </a:r>
          </a:p>
          <a:p>
            <a:pPr lvl="0"/>
            <a:r>
              <a:rPr/>
              <a:t>Key innovation: seamless integration of modeling and programming</a:t>
            </a:r>
          </a:p>
          <a:p>
            <a:pPr lvl="0"/>
            <a:r>
              <a:rPr/>
              <a:t>UMPLE eliminates the gap between design models and implementation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Module B: Using UMPLE &amp; Philosophy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Module Outline</a:t>
            </a:r>
          </a:p>
          <a:p>
            <a:pPr lvl="0"/>
            <a:r>
              <a:rPr/>
              <a:t>UMPLE Key Innovations</a:t>
            </a:r>
          </a:p>
          <a:p>
            <a:pPr lvl="0"/>
            <a:r>
              <a:rPr/>
              <a:t>Using UMPLE (Online, Command-Line, Eclipse, VS Code)</a:t>
            </a:r>
          </a:p>
          <a:p>
            <a:pPr lvl="0"/>
            <a:r>
              <a:rPr/>
              <a:t>UMPLE Philosophy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Some key UMPLE innovations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Some key UMPLE innovations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Model is code</a:t>
            </a:r>
          </a:p>
          <a:p>
            <a:pPr lvl="1"/>
            <a:r>
              <a:rPr/>
              <a:t>Traditional code is embedded in model</a:t>
            </a:r>
          </a:p>
          <a:p>
            <a:pPr lvl="0"/>
            <a:r>
              <a:rPr/>
              <a:t>No need to edit generated code</a:t>
            </a:r>
          </a:p>
          <a:p>
            <a:pPr lvl="1"/>
            <a:r>
              <a:rPr/>
              <a:t>No </a:t>
            </a:r>
            <a:r>
              <a:rPr i="1"/>
              <a:t>round-trip engineering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Using UMPLE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Using UMPLE</a:t>
            </a:r>
          </a:p>
          <a:p>
            <a:pPr lvl="0"/>
            <a:r>
              <a:rPr/>
              <a:t>We will mostly be using</a:t>
            </a:r>
          </a:p>
          <a:p>
            <a:pPr lvl="1"/>
            <a:r>
              <a:rPr/>
              <a:t>UMPLEonline</a:t>
            </a:r>
          </a:p>
          <a:p>
            <a:pPr lvl="2"/>
            <a:r>
              <a:rPr/>
              <a:t>In a web browser: http://try.UMPLE.org</a:t>
            </a:r>
          </a:p>
          <a:p>
            <a:pPr lvl="2"/>
            <a:r>
              <a:rPr/>
              <a:t>Or in Docker: http://docker.UMPLE.org</a:t>
            </a:r>
          </a:p>
          <a:p>
            <a:pPr lvl="1"/>
            <a:r>
              <a:rPr/>
              <a:t>UMPLE on the command line: http://dl.UMPLE.org</a:t>
            </a:r>
          </a:p>
          <a:p>
            <a:pPr lvl="2"/>
            <a:r>
              <a:rPr/>
              <a:t>Needs Java 8 JDK on the command line:</a:t>
            </a:r>
          </a:p>
          <a:p>
            <a:pPr lvl="3"/>
            <a:r>
              <a:rPr/>
              <a:t>http://bit.ly/1lO1FSV</a:t>
            </a:r>
          </a:p>
          <a:p>
            <a:pPr lvl="4"/>
            <a:r>
              <a:rPr/>
              <a:t>Java 9 works well too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Docker Container Experimental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mkdir</a:t>
            </a:r>
            <a:r>
              <a:rPr>
                <a:latin typeface="Courier"/>
              </a:rPr>
              <a:t> ~/src </a:t>
            </a:r>
            <a:r>
              <a:rPr b="1">
                <a:solidFill>
                  <a:srgbClr val="007020"/>
                </a:solidFill>
                <a:latin typeface="Courier"/>
              </a:rPr>
              <a:t>&amp;&amp;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cd</a:t>
            </a:r>
            <a:r>
              <a:rPr>
                <a:latin typeface="Courier"/>
              </a:rPr>
              <a:t> ~/src </a:t>
            </a:r>
            <a:r>
              <a:rPr b="1">
                <a:solidFill>
                  <a:srgbClr val="007020"/>
                </a:solidFill>
                <a:latin typeface="Courier"/>
              </a:rPr>
              <a:t>&amp;&amp;</a:t>
            </a:r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clone git@github.com:UMPLE/UMPLE.git</a:t>
            </a:r>
          </a:p>
          <a:p>
            <a:pPr lvl="0" indent="0">
              <a:buNone/>
            </a:pPr>
            <a:r>
              <a:rPr>
                <a:latin typeface="Courier"/>
              </a:rPr>
              <a:t>docker run </a:t>
            </a:r>
            <a:r>
              <a:rPr>
                <a:solidFill>
                  <a:srgbClr val="7D9029"/>
                </a:solidFill>
                <a:latin typeface="Courier"/>
              </a:rPr>
              <a:t>-i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-t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-v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`</a:t>
            </a:r>
            <a:r>
              <a:rPr>
                <a:solidFill>
                  <a:srgbClr val="008000"/>
                </a:solidFill>
                <a:latin typeface="Courier"/>
              </a:rPr>
              <a:t>pwd</a:t>
            </a:r>
            <a:r>
              <a:rPr b="1">
                <a:solidFill>
                  <a:srgbClr val="007020"/>
                </a:solidFill>
                <a:latin typeface="Courier"/>
              </a:rPr>
              <a:t>`</a:t>
            </a:r>
            <a:r>
              <a:rPr>
                <a:latin typeface="Courier"/>
              </a:rPr>
              <a:t>:/src UMPLE/UMPLE:0.4.0 bash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Using UMPLE</a:t>
            </a:r>
          </a:p>
          <a:p>
            <a:pPr lvl="0"/>
            <a:r>
              <a:rPr/>
              <a:t>Optional:</a:t>
            </a:r>
          </a:p>
          <a:p>
            <a:pPr lvl="1"/>
            <a:r>
              <a:rPr/>
              <a:t>UMPLE in Eclipse</a:t>
            </a:r>
          </a:p>
          <a:p>
            <a:pPr lvl="2"/>
            <a:r>
              <a:rPr/>
              <a:t>https://github.com/UMPLE/UMPLE/wiki/InstallEclipsePlugin</a:t>
            </a:r>
          </a:p>
          <a:p>
            <a:pPr lvl="1"/>
            <a:r>
              <a:rPr/>
              <a:t>cmake and gcc for compiling C++ code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UMPLE Philosophy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UMPLE Philosophy 1-4</a:t>
            </a:r>
          </a:p>
          <a:p>
            <a:pPr lvl="0"/>
            <a:r>
              <a:rPr/>
              <a:t>P1. Modeling is programming and vice versa</a:t>
            </a:r>
          </a:p>
          <a:p>
            <a:pPr lvl="0"/>
            <a:r>
              <a:rPr/>
              <a:t>P2. An UMPLE programmer should never need to edit generated code to accomplish any task.</a:t>
            </a:r>
          </a:p>
          <a:p>
            <a:pPr lvl="0"/>
            <a:r>
              <a:rPr/>
              <a:t>P3. The UMPLE compiler can accept and generate code that uses nothing but UML abstractions.</a:t>
            </a:r>
          </a:p>
          <a:p>
            <a:pPr lvl="1"/>
            <a:r>
              <a:rPr/>
              <a:t>The above is the inverse of the following</a:t>
            </a:r>
          </a:p>
          <a:p>
            <a:pPr lvl="0"/>
            <a:r>
              <a:rPr/>
              <a:t>P4. A program without UMPLE features can be compiled by an UMPLE compiler.</a:t>
            </a:r>
          </a:p>
          <a:p>
            <a:pPr lvl="1"/>
            <a:r>
              <a:rPr/>
              <a:t>e.g. input Java results in the same as output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UMPLE Philosophy 5-8</a:t>
            </a:r>
          </a:p>
          <a:p>
            <a:pPr lvl="0"/>
            <a:r>
              <a:rPr/>
              <a:t>P5. A programmer can incrementally add UMPLE features to an existing program</a:t>
            </a:r>
          </a:p>
          <a:p>
            <a:pPr lvl="1"/>
            <a:r>
              <a:rPr/>
              <a:t>Umplification</a:t>
            </a:r>
          </a:p>
          <a:p>
            <a:pPr lvl="0"/>
            <a:r>
              <a:rPr/>
              <a:t>P6. UMPLE extends the base language in a minimally invasive and safe way.</a:t>
            </a:r>
          </a:p>
          <a:p>
            <a:pPr lvl="0"/>
            <a:r>
              <a:rPr/>
              <a:t>P7. UMPLE features can be created and viewed diagrammatically or textually</a:t>
            </a:r>
          </a:p>
          <a:p>
            <a:pPr lvl="0"/>
            <a:r>
              <a:rPr/>
              <a:t>P8. UMPLE goes beyond UML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Takeaway: Using UMPLE &amp; Philosophy</a:t>
            </a:r>
          </a:p>
          <a:p>
            <a:pPr lvl="0"/>
            <a:r>
              <a:rPr/>
              <a:t>UMPLE can be used online (try.umple.org), via command line, or through IDE plugins</a:t>
            </a:r>
          </a:p>
          <a:p>
            <a:pPr lvl="0"/>
            <a:r>
              <a:rPr/>
              <a:t>Philosophy: modeling should be part of programming, not a separate activity</a:t>
            </a:r>
          </a:p>
          <a:p>
            <a:pPr lvl="0"/>
            <a:r>
              <a:rPr/>
              <a:t>UMPLE treats UML associations, state machines, and patterns as first-class language constructs</a:t>
            </a:r>
          </a:p>
          <a:p>
            <a:pPr lvl="0"/>
            <a:r>
              <a:rPr/>
              <a:t>Code generation produces clean, readable code in target languages</a:t>
            </a:r>
          </a:p>
          <a:p>
            <a:pPr lvl="0"/>
            <a:r>
              <a:rPr/>
              <a:t>UMPLE is open-source and actively maintained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Module C: UMPLE Class Modeling &amp; Attributes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Module Outline</a:t>
            </a:r>
          </a:p>
          <a:p>
            <a:pPr lvl="0"/>
            <a:r>
              <a:rPr/>
              <a:t>UMPLE Class Modeling Basics</a:t>
            </a:r>
          </a:p>
          <a:p>
            <a:pPr lvl="0"/>
            <a:r>
              <a:rPr/>
              <a:t>Defining Classes and Namespaces</a:t>
            </a:r>
          </a:p>
          <a:p>
            <a:pPr lvl="0"/>
            <a:r>
              <a:rPr/>
              <a:t>UMPLE Attributes (Basic, Defaulted, Derived, Immutable, Lazy, Autounique)</a:t>
            </a:r>
          </a:p>
          <a:p>
            <a:pPr lvl="0"/>
            <a:r>
              <a:rPr/>
              <a:t>Attribute Types and Constraints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UMPLE Class Modeling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UMPLE Class Models - Quick Overview</a:t>
            </a:r>
          </a:p>
          <a:p>
            <a:pPr lvl="0"/>
            <a:r>
              <a:rPr/>
              <a:t>Key elements:</a:t>
            </a:r>
          </a:p>
          <a:p>
            <a:pPr lvl="1"/>
            <a:r>
              <a:rPr/>
              <a:t>Classes</a:t>
            </a:r>
          </a:p>
          <a:p>
            <a:pPr lvl="1"/>
            <a:r>
              <a:rPr/>
              <a:t>Attributes</a:t>
            </a:r>
          </a:p>
          <a:p>
            <a:pPr lvl="1"/>
            <a:r>
              <a:rPr/>
              <a:t>Associations</a:t>
            </a:r>
          </a:p>
          <a:p>
            <a:pPr lvl="1"/>
            <a:r>
              <a:rPr/>
              <a:t>Generalizations</a:t>
            </a:r>
          </a:p>
          <a:p>
            <a:pPr lvl="1"/>
            <a:r>
              <a:rPr/>
              <a:t>Methods</a:t>
            </a:r>
          </a:p>
          <a:p>
            <a:pPr lvl="0"/>
            <a:r>
              <a:rPr/>
              <a:t>We will look at all these using examples via UMPLE ONLINE</a:t>
            </a:r>
          </a:p>
          <a:p>
            <a:pPr lvl="0"/>
            <a:r>
              <a:rPr/>
              <a:t>UMPLE code/models are stored in files with suffix </a:t>
            </a:r>
            <a:r>
              <a:rPr b="1"/>
              <a:t>.ump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Exercise: Compiling and changing a model</a:t>
            </a:r>
          </a:p>
          <a:p>
            <a:pPr lvl="0"/>
            <a:r>
              <a:rPr/>
              <a:t>Look at the example at the bottom of</a:t>
            </a:r>
          </a:p>
          <a:p>
            <a:pPr lvl="1"/>
            <a:r>
              <a:rPr/>
              <a:t>http://helloworld.UMPLE.org (also on next slide)</a:t>
            </a:r>
          </a:p>
          <a:p>
            <a:pPr lvl="2"/>
            <a:r>
              <a:rPr/>
              <a:t>Observe: attribute, association, class hierarchy, mixin</a:t>
            </a:r>
          </a:p>
          <a:p>
            <a:pPr lvl="0"/>
            <a:r>
              <a:rPr/>
              <a:t>Click on Load the above code into UMPLEOnline</a:t>
            </a:r>
          </a:p>
          <a:p>
            <a:pPr lvl="1"/>
            <a:r>
              <a:rPr/>
              <a:t>Observe and modify the diagram</a:t>
            </a:r>
          </a:p>
          <a:p>
            <a:pPr lvl="1"/>
            <a:r>
              <a:rPr/>
              <a:t>Add an attribute</a:t>
            </a:r>
          </a:p>
          <a:p>
            <a:pPr lvl="1"/>
            <a:r>
              <a:rPr/>
              <a:t>Make a multiplicity error, then undo</a:t>
            </a:r>
          </a:p>
          <a:p>
            <a:pPr lvl="1"/>
            <a:r>
              <a:rPr/>
              <a:t>Generate code and take a look</a:t>
            </a:r>
          </a:p>
          <a:p>
            <a:pPr lvl="1"/>
            <a:r>
              <a:rPr/>
              <a:t>Download, compile and run if you want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Hello World Example 2 in the User Manual</a:t>
            </a:r>
          </a:p>
        </p:txBody>
      </p:sp>
      <p:pic>
        <p:nvPicPr>
          <p:cNvPr descr="assets/2022-05-08-00-21-37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04800"/>
            <a:ext cx="5105400" cy="3657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h:550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tools:</a:t>
            </a:r>
          </a:p>
          <a:p>
            <a:pPr lvl="0"/>
            <a:r>
              <a:rPr/>
              <a:t>UMPLE Online</a:t>
            </a:r>
          </a:p>
          <a:p>
            <a:pPr lvl="0"/>
            <a:r>
              <a:rPr/>
              <a:t>Command-Line</a:t>
            </a:r>
          </a:p>
          <a:p>
            <a:pPr lvl="0"/>
            <a:r>
              <a:rPr/>
              <a:t>User Manual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Hello World example 2 in UMPLEOnline</a:t>
            </a:r>
          </a:p>
        </p:txBody>
      </p:sp>
      <p:pic>
        <p:nvPicPr>
          <p:cNvPr descr="assets/2022-05-08-00-23-54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711200"/>
            <a:ext cx="5105400" cy="2844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h:500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Exploration of UMPLEOnline</a:t>
            </a:r>
          </a:p>
          <a:p>
            <a:pPr lvl="0"/>
            <a:r>
              <a:rPr/>
              <a:t>Explore class diagram examples</a:t>
            </a:r>
          </a:p>
          <a:p>
            <a:pPr lvl="0"/>
            <a:r>
              <a:rPr/>
              <a:t>Options</a:t>
            </a:r>
          </a:p>
          <a:p>
            <a:pPr lvl="1"/>
            <a:r>
              <a:rPr>
                <a:latin typeface="Courier"/>
              </a:rPr>
              <a:t>T</a:t>
            </a:r>
            <a:r>
              <a:rPr/>
              <a:t> or </a:t>
            </a:r>
            <a:r>
              <a:rPr>
                <a:latin typeface="Courier"/>
              </a:rPr>
              <a:t>Control-t</a:t>
            </a:r>
            <a:r>
              <a:rPr/>
              <a:t> (</a:t>
            </a:r>
            <a:r>
              <a:rPr b="1"/>
              <a:t>hide and show text</a:t>
            </a:r>
            <a:r>
              <a:rPr/>
              <a:t>)</a:t>
            </a:r>
          </a:p>
          <a:p>
            <a:pPr lvl="1"/>
            <a:r>
              <a:rPr>
                <a:latin typeface="Courier"/>
              </a:rPr>
              <a:t>D</a:t>
            </a:r>
            <a:r>
              <a:rPr/>
              <a:t> or </a:t>
            </a:r>
            <a:r>
              <a:rPr>
                <a:latin typeface="Courier"/>
              </a:rPr>
              <a:t>Control-d</a:t>
            </a:r>
            <a:r>
              <a:rPr/>
              <a:t> (</a:t>
            </a:r>
            <a:r>
              <a:rPr b="1"/>
              <a:t>hide and show diagram</a:t>
            </a:r>
            <a:r>
              <a:rPr/>
              <a:t>)</a:t>
            </a:r>
          </a:p>
          <a:p>
            <a:pPr lvl="1"/>
            <a:r>
              <a:rPr>
                <a:latin typeface="Courier"/>
              </a:rPr>
              <a:t>A</a:t>
            </a:r>
            <a:r>
              <a:rPr/>
              <a:t>, </a:t>
            </a:r>
            <a:r>
              <a:rPr>
                <a:latin typeface="Courier"/>
              </a:rPr>
              <a:t>M</a:t>
            </a:r>
            <a:r>
              <a:rPr/>
              <a:t> to </a:t>
            </a:r>
            <a:r>
              <a:rPr b="1"/>
              <a:t>hide and show attributes, methods</a:t>
            </a:r>
          </a:p>
          <a:p>
            <a:pPr lvl="1"/>
            <a:r>
              <a:rPr/>
              <a:t>Default diagram types</a:t>
            </a:r>
          </a:p>
          <a:p>
            <a:pPr lvl="2"/>
            <a:r>
              <a:rPr>
                <a:latin typeface="Courier"/>
              </a:rPr>
              <a:t>G</a:t>
            </a:r>
            <a:r>
              <a:rPr/>
              <a:t>/</a:t>
            </a:r>
            <a:r>
              <a:rPr>
                <a:latin typeface="Courier"/>
              </a:rPr>
              <a:t>Control-g</a:t>
            </a:r>
            <a:r>
              <a:rPr/>
              <a:t> (</a:t>
            </a:r>
            <a:r>
              <a:rPr b="1"/>
              <a:t>Graphviz</a:t>
            </a:r>
            <a:r>
              <a:rPr/>
              <a:t>), </a:t>
            </a:r>
            <a:r>
              <a:rPr>
                <a:latin typeface="Courier"/>
              </a:rPr>
              <a:t>S</a:t>
            </a:r>
            <a:r>
              <a:rPr/>
              <a:t>/</a:t>
            </a:r>
            <a:r>
              <a:rPr>
                <a:latin typeface="Courier"/>
              </a:rPr>
              <a:t>Control-s</a:t>
            </a:r>
            <a:r>
              <a:rPr/>
              <a:t> (</a:t>
            </a:r>
            <a:r>
              <a:rPr b="1"/>
              <a:t>State Diagram</a:t>
            </a:r>
            <a:r>
              <a:rPr/>
              <a:t>)</a:t>
            </a:r>
          </a:p>
          <a:p>
            <a:pPr lvl="2"/>
            <a:r>
              <a:rPr>
                <a:latin typeface="Courier"/>
              </a:rPr>
              <a:t>E</a:t>
            </a:r>
            <a:r>
              <a:rPr/>
              <a:t>/</a:t>
            </a:r>
            <a:r>
              <a:rPr>
                <a:latin typeface="Courier"/>
              </a:rPr>
              <a:t>Control-e</a:t>
            </a:r>
            <a:r>
              <a:rPr/>
              <a:t> (</a:t>
            </a:r>
            <a:r>
              <a:rPr b="1"/>
              <a:t>Editable class diagram</a:t>
            </a:r>
            <a:r>
              <a:rPr/>
              <a:t>)</a:t>
            </a:r>
          </a:p>
          <a:p>
            <a:pPr lvl="0"/>
            <a:r>
              <a:rPr/>
              <a:t>Generate code and look at the results</a:t>
            </a:r>
          </a:p>
          <a:p>
            <a:pPr lvl="1"/>
            <a:r>
              <a:rPr/>
              <a:t>In UMPLE you never should modify generated code</a:t>
            </a:r>
          </a:p>
          <a:p>
            <a:pPr lvl="1"/>
            <a:r>
              <a:rPr/>
              <a:t>It is designed to be readable for educational purposes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Use of the UMPLEOnline Docker image</a:t>
            </a:r>
          </a:p>
          <a:p>
            <a:pPr lvl="0"/>
            <a:r>
              <a:rPr/>
              <a:t>UMPLE’s server can handle </a:t>
            </a:r>
            <a:r>
              <a:rPr>
                <a:latin typeface="Courier"/>
              </a:rPr>
              <a:t>80,000</a:t>
            </a:r>
            <a:r>
              <a:rPr/>
              <a:t> transactions per hour</a:t>
            </a:r>
          </a:p>
          <a:p>
            <a:pPr lvl="1"/>
            <a:r>
              <a:rPr/>
              <a:t>Code generations, edits</a:t>
            </a:r>
          </a:p>
          <a:p>
            <a:pPr lvl="0"/>
            <a:r>
              <a:rPr/>
              <a:t>But needs a good Internet connection (sometimes hundreds of students have assignments due)</a:t>
            </a:r>
          </a:p>
          <a:p>
            <a:pPr lvl="0"/>
            <a:r>
              <a:rPr/>
              <a:t>To maximize speed of UMPLEOnline run it in your local machine:</a:t>
            </a:r>
          </a:p>
          <a:p>
            <a:pPr lvl="1"/>
            <a:r>
              <a:rPr/>
              <a:t>Follow the instructions at http://docker.UMPLE.org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Demo of compiling on the command line</a:t>
            </a:r>
          </a:p>
          <a:p>
            <a:pPr lvl="0"/>
            <a:r>
              <a:rPr/>
              <a:t>To compile on the command line you will need Java 8</a:t>
            </a:r>
          </a:p>
          <a:p>
            <a:pPr lvl="0"/>
            <a:r>
              <a:rPr/>
              <a:t>Download UMPLE from http://dl.UMPLE.org</a:t>
            </a:r>
          </a:p>
          <a:p>
            <a:pPr lvl="0"/>
            <a:r>
              <a:rPr/>
              <a:t>Basic compilation</a:t>
            </a:r>
          </a:p>
          <a:p>
            <a:pPr lvl="0" indent="0">
              <a:buNone/>
            </a:pPr>
            <a:r>
              <a:rPr>
                <a:latin typeface="Courier"/>
              </a:rPr>
              <a:t>java </a:t>
            </a:r>
            <a:r>
              <a:rPr>
                <a:solidFill>
                  <a:srgbClr val="7D9029"/>
                </a:solidFill>
                <a:latin typeface="Courier"/>
              </a:rPr>
              <a:t>-jar</a:t>
            </a:r>
            <a:r>
              <a:rPr>
                <a:latin typeface="Courier"/>
              </a:rPr>
              <a:t> UMPLE.jar model.ump</a:t>
            </a:r>
          </a:p>
          <a:p>
            <a:pPr lvl="0"/>
            <a:r>
              <a:rPr/>
              <a:t>Help for features and commands</a:t>
            </a:r>
          </a:p>
          <a:p>
            <a:pPr lvl="0" indent="0">
              <a:buNone/>
            </a:pPr>
            <a:r>
              <a:rPr>
                <a:latin typeface="Courier"/>
              </a:rPr>
              <a:t>java </a:t>
            </a:r>
            <a:r>
              <a:rPr>
                <a:solidFill>
                  <a:srgbClr val="7D9029"/>
                </a:solidFill>
                <a:latin typeface="Courier"/>
              </a:rPr>
              <a:t>-jar</a:t>
            </a:r>
            <a:r>
              <a:rPr>
                <a:latin typeface="Courier"/>
              </a:rPr>
              <a:t> UMPLE.jar </a:t>
            </a:r>
            <a:r>
              <a:rPr>
                <a:solidFill>
                  <a:srgbClr val="7D9029"/>
                </a:solidFill>
                <a:latin typeface="Courier"/>
              </a:rPr>
              <a:t>--help</a:t>
            </a:r>
          </a:p>
          <a:p>
            <a:pPr lvl="0"/>
            <a:r>
              <a:rPr/>
              <a:t>To generate and compile the java to a final system</a:t>
            </a:r>
          </a:p>
          <a:p>
            <a:pPr lvl="0" indent="0">
              <a:buNone/>
            </a:pPr>
            <a:r>
              <a:rPr>
                <a:latin typeface="Courier"/>
              </a:rPr>
              <a:t>java –jar UMPLE.jar model.ump </a:t>
            </a:r>
            <a:r>
              <a:rPr>
                <a:solidFill>
                  <a:srgbClr val="7D9029"/>
                </a:solidFill>
                <a:latin typeface="Courier"/>
              </a:rPr>
              <a:t>-c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-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Quick walkthrough of the user manual</a:t>
            </a:r>
          </a:p>
          <a:p>
            <a:pPr lvl="0"/>
            <a:r>
              <a:rPr/>
              <a:t>http://manual.UMPLE.org</a:t>
            </a:r>
          </a:p>
          <a:p>
            <a:pPr lvl="0" indent="0" marL="0">
              <a:buNone/>
            </a:pPr>
            <a:r>
              <a:rPr b="1"/>
              <a:t>Note in particular</a:t>
            </a:r>
          </a:p>
          <a:p>
            <a:pPr lvl="0"/>
            <a:r>
              <a:rPr/>
              <a:t>Key sections:</a:t>
            </a:r>
          </a:p>
          <a:p>
            <a:pPr lvl="1"/>
            <a:r>
              <a:rPr/>
              <a:t>attributes,</a:t>
            </a:r>
          </a:p>
          <a:p>
            <a:pPr lvl="1"/>
            <a:r>
              <a:rPr/>
              <a:t>associations,</a:t>
            </a:r>
          </a:p>
          <a:p>
            <a:pPr lvl="1"/>
            <a:r>
              <a:rPr/>
              <a:t>state machines</a:t>
            </a:r>
          </a:p>
          <a:p>
            <a:pPr lvl="0"/>
            <a:r>
              <a:rPr/>
              <a:t>Grammar</a:t>
            </a:r>
          </a:p>
          <a:p>
            <a:pPr lvl="0"/>
            <a:r>
              <a:rPr/>
              <a:t>Generated API</a:t>
            </a:r>
          </a:p>
          <a:p>
            <a:pPr lvl="0"/>
            <a:r>
              <a:rPr/>
              <a:t>Errors and warnings</a:t>
            </a:r>
          </a:p>
          <a:p>
            <a:pPr lvl="0"/>
            <a:r>
              <a:rPr/>
              <a:t>Editing pages in github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UMPLE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More than just variables</a:t>
            </a:r>
          </a:p>
          <a:p>
            <a:pPr lvl="1"/>
            <a:r>
              <a:rPr/>
              <a:t>http://attributes.UMPLE.org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Attributes</a:t>
            </a:r>
          </a:p>
        </p:txBody>
      </p:sp>
      <p:pic>
        <p:nvPicPr>
          <p:cNvPr descr="assets/2022-05-08-02-39-10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68400"/>
            <a:ext cx="5105400" cy="1943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h:400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Attributes Exercise #1</a:t>
            </a:r>
          </a:p>
        </p:txBody>
      </p:sp>
      <p:pic>
        <p:nvPicPr>
          <p:cNvPr descr="assets/2022-05-08-02-39-59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81100"/>
            <a:ext cx="5105400" cy="1917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h:400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Attributes</a:t>
            </a:r>
          </a:p>
          <a:p>
            <a:pPr lvl="0"/>
            <a:r>
              <a:rPr/>
              <a:t>“</a:t>
            </a:r>
            <a:r>
              <a:rPr i="1"/>
              <a:t>Instance variables</a:t>
            </a:r>
            <a:r>
              <a:rPr/>
              <a:t>”</a:t>
            </a:r>
          </a:p>
          <a:p>
            <a:pPr lvl="1"/>
            <a:r>
              <a:rPr/>
              <a:t>Part of the state of an object</a:t>
            </a:r>
          </a:p>
          <a:p>
            <a:pPr lvl="1"/>
            <a:r>
              <a:rPr/>
              <a:t>Simple data that will always be present in each instance</a:t>
            </a:r>
          </a:p>
          <a:p>
            <a:pPr lvl="0"/>
            <a:r>
              <a:rPr/>
              <a:t>Specified like a Java or C++ field or member variable</a:t>
            </a:r>
          </a:p>
          <a:p>
            <a:pPr lvl="0"/>
            <a:r>
              <a:rPr/>
              <a:t>But, intended to be more abstract!</a:t>
            </a:r>
          </a:p>
          <a:p>
            <a:pPr lvl="1"/>
            <a:r>
              <a:rPr b="1"/>
              <a:t>Example</a:t>
            </a:r>
            <a:r>
              <a:rPr/>
              <a:t>, with an initial value</a:t>
            </a:r>
          </a:p>
          <a:p>
            <a:pPr lvl="0" indent="0">
              <a:buNone/>
            </a:pPr>
            <a:r>
              <a:rPr>
                <a:latin typeface="Courier"/>
              </a:rPr>
              <a:t>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"init value"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Attributes</a:t>
            </a:r>
          </a:p>
          <a:p>
            <a:pPr lvl="0"/>
            <a:r>
              <a:rPr/>
              <a:t>As in UML, more abstract than instance variables</a:t>
            </a:r>
          </a:p>
          <a:p>
            <a:pPr lvl="1"/>
            <a:r>
              <a:rPr/>
              <a:t>Always private by default</a:t>
            </a:r>
          </a:p>
          <a:p>
            <a:pPr lvl="1"/>
            <a:r>
              <a:rPr/>
              <a:t>Should only be accessed get, set methods</a:t>
            </a:r>
          </a:p>
          <a:p>
            <a:pPr lvl="1"/>
            <a:r>
              <a:rPr/>
              <a:t>Can be stereotyped (upcoming slides) to affect code generation</a:t>
            </a:r>
          </a:p>
          <a:p>
            <a:pPr lvl="1"/>
            <a:r>
              <a:rPr/>
              <a:t>Can have aspects applied (discussed later)</a:t>
            </a:r>
          </a:p>
          <a:p>
            <a:pPr lvl="1"/>
            <a:r>
              <a:rPr/>
              <a:t>Can be constrained (discussed later)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Code generation from attributes</a:t>
            </a:r>
          </a:p>
          <a:p>
            <a:pPr lvl="0"/>
            <a:r>
              <a:rPr/>
              <a:t>Default code generation</a:t>
            </a:r>
          </a:p>
          <a:p>
            <a:pPr lvl="1"/>
            <a:r>
              <a:rPr/>
              <a:t>Generates a </a:t>
            </a:r>
            <a:r>
              <a:rPr>
                <a:latin typeface="Courier"/>
              </a:rPr>
              <a:t>getName()</a:t>
            </a:r>
            <a:r>
              <a:rPr/>
              <a:t> and </a:t>
            </a:r>
            <a:r>
              <a:rPr>
                <a:latin typeface="Courier"/>
              </a:rPr>
              <a:t>setName()</a:t>
            </a:r>
            <a:r>
              <a:rPr/>
              <a:t> method for </a:t>
            </a:r>
            <a:r>
              <a:rPr>
                <a:latin typeface="Courier"/>
              </a:rPr>
              <a:t>name</a:t>
            </a:r>
          </a:p>
          <a:p>
            <a:pPr lvl="2"/>
            <a:r>
              <a:rPr>
                <a:latin typeface="Courier"/>
              </a:rPr>
              <a:t>public</a:t>
            </a:r>
          </a:p>
          <a:p>
            <a:pPr lvl="0"/>
            <a:r>
              <a:rPr/>
              <a:t>Creates an arguments in the class constructor by default</a:t>
            </a:r>
          </a:p>
          <a:p>
            <a:pPr lvl="0"/>
            <a:r>
              <a:rPr/>
              <a:t>An attribute is </a:t>
            </a:r>
            <a:r>
              <a:rPr>
                <a:latin typeface="Courier"/>
              </a:rPr>
              <a:t>private</a:t>
            </a:r>
            <a:r>
              <a:rPr/>
              <a:t> to the class by default</a:t>
            </a:r>
          </a:p>
          <a:p>
            <a:pPr lvl="1"/>
            <a:r>
              <a:rPr i="1"/>
              <a:t>Should only be accessed get, set methods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Code Generation (JavaDocs)</a:t>
            </a:r>
          </a:p>
        </p:txBody>
      </p:sp>
      <p:pic>
        <p:nvPicPr>
          <p:cNvPr descr="assets/2022-05-08-02-42-08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003300"/>
            <a:ext cx="5105400" cy="2260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h:500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Code Generation Patterns</a:t>
            </a:r>
          </a:p>
          <a:p>
            <a:pPr lvl="0"/>
            <a:r>
              <a:rPr/>
              <a:t>Attributes</a:t>
            </a:r>
          </a:p>
          <a:p>
            <a:pPr lvl="1"/>
            <a:r>
              <a:rPr/>
              <a:t>Set/Get (UB = 1)</a:t>
            </a:r>
          </a:p>
          <a:p>
            <a:pPr lvl="1"/>
            <a:r>
              <a:rPr/>
              <a:t>Add/Remove/NumberOf/IndexOf/Get (UB &gt; 1)</a:t>
            </a:r>
          </a:p>
          <a:p>
            <a:pPr lvl="1"/>
            <a:r>
              <a:rPr/>
              <a:t>Lazy immutability</a:t>
            </a:r>
          </a:p>
          <a:p>
            <a:pPr lvl="1"/>
            <a:r>
              <a:rPr/>
              <a:t>Default values</a:t>
            </a:r>
          </a:p>
          <a:p>
            <a:pPr lvl="1"/>
            <a:r>
              <a:rPr/>
              <a:t>Constants</a:t>
            </a:r>
          </a:p>
          <a:p>
            <a:pPr lvl="1"/>
            <a:r>
              <a:rPr/>
              <a:t>Before / After cod</a:t>
            </a:r>
          </a:p>
          <a:p>
            <a:pPr lvl="1" indent="0" marL="342900">
              <a:buNone/>
            </a:pPr>
            <a:r>
              <a:rPr/>
              <a:t>UB = upper bound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Code Generation Patterns</a:t>
            </a:r>
          </a:p>
          <a:p>
            <a:pPr lvl="0"/>
            <a:r>
              <a:rPr/>
              <a:t>Associations</a:t>
            </a:r>
          </a:p>
          <a:p>
            <a:pPr lvl="1"/>
            <a:r>
              <a:rPr/>
              <a:t>Set/Get (UB = 1)</a:t>
            </a:r>
          </a:p>
          <a:p>
            <a:pPr lvl="1"/>
            <a:r>
              <a:rPr/>
              <a:t>Add/Remove/NumberOf/IndexOf/Get (UB &gt; 1)</a:t>
            </a:r>
          </a:p>
          <a:p>
            <a:pPr lvl="1"/>
            <a:r>
              <a:rPr/>
              <a:t>Referential Integrity</a:t>
            </a:r>
          </a:p>
          <a:p>
            <a:pPr lvl="1"/>
            <a:r>
              <a:rPr/>
              <a:t>Multiplicity Constraints</a:t>
            </a:r>
          </a:p>
          <a:p>
            <a:pPr lvl="1"/>
            <a:r>
              <a:rPr/>
              <a:t>42 different cases</a:t>
            </a:r>
          </a:p>
          <a:p>
            <a:pPr lvl="1" indent="0" marL="342900">
              <a:buNone/>
            </a:pPr>
            <a:r>
              <a:rPr/>
              <a:t>UB = upper bound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Code Generation (Semantics)</a:t>
            </a:r>
          </a:p>
          <a:p>
            <a:pPr lvl="0"/>
            <a:r>
              <a:rPr/>
              <a:t>http://api.UMPLE.org/</a:t>
            </a:r>
          </a:p>
        </p:txBody>
      </p:sp>
      <p:pic>
        <p:nvPicPr>
          <p:cNvPr descr="assets/2022-05-08-03-08-29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762000"/>
            <a:ext cx="5105400" cy="2768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h:500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UMPLE builtin datatypes</a:t>
            </a:r>
          </a:p>
          <a:p>
            <a:pPr lvl="0" indent="0">
              <a:buNone/>
            </a:pPr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// (default if none specified)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Integer</a:t>
            </a:r>
            <a:br/>
            <a:r>
              <a:rPr>
                <a:solidFill>
                  <a:srgbClr val="008000"/>
                </a:solidFill>
                <a:latin typeface="Courier"/>
              </a:rPr>
              <a:t>Float</a:t>
            </a:r>
            <a:br/>
            <a:r>
              <a:rPr>
                <a:solidFill>
                  <a:srgbClr val="008000"/>
                </a:solidFill>
                <a:latin typeface="Courier"/>
              </a:rPr>
              <a:t>Double</a:t>
            </a:r>
            <a:br/>
            <a:r>
              <a:rPr>
                <a:solidFill>
                  <a:srgbClr val="008000"/>
                </a:solidFill>
                <a:latin typeface="Courier"/>
              </a:rPr>
              <a:t>Boolean</a:t>
            </a:r>
            <a:br/>
            <a:r>
              <a:rPr>
                <a:solidFill>
                  <a:srgbClr val="008000"/>
                </a:solidFill>
                <a:latin typeface="Courier"/>
              </a:rPr>
              <a:t>Time</a:t>
            </a:r>
            <a:br/>
            <a:r>
              <a:rPr>
                <a:solidFill>
                  <a:srgbClr val="008000"/>
                </a:solidFill>
                <a:latin typeface="Courier"/>
              </a:rPr>
              <a:t>Date</a:t>
            </a:r>
          </a:p>
          <a:p>
            <a:pPr lvl="0"/>
            <a:r>
              <a:rPr/>
              <a:t>The above will generate appropriate code in Java, C++ etc.</a:t>
            </a:r>
          </a:p>
          <a:p>
            <a:pPr lvl="1"/>
            <a:r>
              <a:rPr/>
              <a:t>e.g. Integer becomes int</a:t>
            </a:r>
          </a:p>
          <a:p>
            <a:pPr lvl="0"/>
            <a:r>
              <a:rPr/>
              <a:t>Other (native) types can be used but without guaranteed correctness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Attribute stereotypes (1)</a:t>
            </a:r>
          </a:p>
          <a:p>
            <a:pPr lvl="0"/>
            <a:r>
              <a:rPr/>
              <a:t>Code generation can be controlled through stereotypes:</a:t>
            </a:r>
          </a:p>
          <a:p>
            <a:pPr lvl="1"/>
            <a:r>
              <a:rPr/>
              <a:t>lazy - </a:t>
            </a:r>
            <a:r>
              <a:rPr b="1"/>
              <a:t>don’t add a constructor argument</a:t>
            </a:r>
          </a:p>
          <a:p>
            <a:pPr lvl="0" indent="0">
              <a:buNone/>
            </a:pPr>
            <a:r>
              <a:rPr>
                <a:latin typeface="Courier"/>
              </a:rPr>
              <a:t>lazy b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// sets it to null, 0, "" depending on type</a:t>
            </a:r>
          </a:p>
          <a:p>
            <a:pPr lvl="0"/>
            <a:r>
              <a:rPr/>
              <a:t>Defaulted – </a:t>
            </a:r>
            <a:r>
              <a:rPr i="1"/>
              <a:t>can be reset</a:t>
            </a:r>
          </a:p>
          <a:p>
            <a:pPr lvl="0" indent="0">
              <a:buNone/>
            </a:pPr>
            <a:r>
              <a:rPr>
                <a:latin typeface="Courier"/>
              </a:rPr>
              <a:t>defaulted 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"def"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// resettable to the default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Attribute stereotypes (2)</a:t>
            </a:r>
          </a:p>
          <a:p>
            <a:pPr lvl="0"/>
            <a:r>
              <a:rPr/>
              <a:t>autounique – provide a unique value to each instance</a:t>
            </a:r>
          </a:p>
          <a:p>
            <a:pPr lvl="0" indent="0">
              <a:buNone/>
            </a:pPr>
            <a:r>
              <a:rPr>
                <a:latin typeface="Courier"/>
              </a:rPr>
              <a:t>autounique x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// sets attribute to 1, 2, 3 ...</a:t>
            </a:r>
          </a:p>
          <a:p>
            <a:pPr lvl="0"/>
            <a:r>
              <a:rPr/>
              <a:t>internal – don’t generate any methods</a:t>
            </a:r>
          </a:p>
          <a:p>
            <a:pPr lvl="0" indent="0">
              <a:buNone/>
            </a:pPr>
            <a:r>
              <a:rPr>
                <a:latin typeface="Courier"/>
              </a:rPr>
              <a:t>internal i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// doesn't generate any get/set either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Immutability</a:t>
            </a:r>
          </a:p>
          <a:p>
            <a:pPr lvl="0"/>
            <a:r>
              <a:rPr/>
              <a:t>Useful for objects where you want to guarantee no possible change once created</a:t>
            </a:r>
          </a:p>
          <a:p>
            <a:pPr lvl="1"/>
            <a:r>
              <a:rPr/>
              <a:t>e.g. a geometric point</a:t>
            </a:r>
          </a:p>
          <a:p>
            <a:pPr lvl="0"/>
            <a:r>
              <a:rPr/>
              <a:t>Generate a constructor argument and get method but no set method</a:t>
            </a:r>
          </a:p>
          <a:p>
            <a:pPr lvl="0" indent="0">
              <a:buNone/>
            </a:pPr>
            <a:r>
              <a:rPr>
                <a:latin typeface="Courier"/>
              </a:rPr>
              <a:t>immutable </a:t>
            </a:r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str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</a:p>
          <a:p>
            <a:pPr lvl="0"/>
            <a:r>
              <a:rPr/>
              <a:t>No constructor argument, but allows setting just once.</a:t>
            </a:r>
          </a:p>
          <a:p>
            <a:pPr lvl="0" indent="0">
              <a:buNone/>
            </a:pPr>
            <a:r>
              <a:rPr>
                <a:latin typeface="Courier"/>
              </a:rPr>
              <a:t>lazy immutable z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Lets explore attributes by example</a:t>
            </a:r>
          </a:p>
          <a:p>
            <a:pPr lvl="0"/>
            <a:r>
              <a:rPr/>
              <a:t>Go to</a:t>
            </a:r>
          </a:p>
          <a:p>
            <a:pPr lvl="1"/>
            <a:r>
              <a:rPr/>
              <a:t>http://attributes.UMPLE.org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Derived attributes</a:t>
            </a:r>
          </a:p>
          <a:p>
            <a:pPr lvl="0"/>
            <a:r>
              <a:rPr/>
              <a:t>These generate a get method that is calculated.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Point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Cartesian coordinates</a:t>
            </a:r>
            <a:br/>
            <a:r>
              <a:rPr>
                <a:solidFill>
                  <a:srgbClr val="008000"/>
                </a:solidFill>
                <a:latin typeface="Courier"/>
              </a:rPr>
              <a:t>Float</a:t>
            </a:r>
            <a:r>
              <a:rPr>
                <a:latin typeface="Courier"/>
              </a:rPr>
              <a:t> x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008000"/>
                </a:solidFill>
                <a:latin typeface="Courier"/>
              </a:rPr>
              <a:t>Float</a:t>
            </a:r>
            <a:r>
              <a:rPr>
                <a:latin typeface="Courier"/>
              </a:rPr>
              <a:t> y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Polar coordinates</a:t>
            </a:r>
            <a:br/>
            <a:r>
              <a:rPr>
                <a:solidFill>
                  <a:srgbClr val="008000"/>
                </a:solidFill>
                <a:latin typeface="Courier"/>
              </a:rPr>
              <a:t>Float</a:t>
            </a:r>
            <a:r>
              <a:rPr>
                <a:latin typeface="Courier"/>
              </a:rPr>
              <a:t> rho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solidFill>
                  <a:srgbClr val="008000"/>
                </a:solidFill>
                <a:latin typeface="Courier"/>
              </a:rPr>
              <a:t>Math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sqrt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Math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pow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getX</a:t>
            </a:r>
            <a:r>
              <a:rPr>
                <a:solidFill>
                  <a:srgbClr val="666666"/>
                </a:solidFill>
                <a:latin typeface="Courier"/>
              </a:rPr>
              <a:t>(),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Math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pow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getY</a:t>
            </a:r>
            <a:r>
              <a:rPr>
                <a:solidFill>
                  <a:srgbClr val="666666"/>
                </a:solidFill>
                <a:latin typeface="Courier"/>
              </a:rPr>
              <a:t>(),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))}</a:t>
            </a:r>
            <a:br/>
            <a:r>
              <a:rPr>
                <a:solidFill>
                  <a:srgbClr val="008000"/>
                </a:solidFill>
                <a:latin typeface="Courier"/>
              </a:rPr>
              <a:t>Float</a:t>
            </a:r>
            <a:r>
              <a:rPr>
                <a:latin typeface="Courier"/>
              </a:rPr>
              <a:t> theta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solidFill>
                  <a:srgbClr val="008000"/>
                </a:solidFill>
                <a:latin typeface="Courier"/>
              </a:rPr>
              <a:t>Math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toDegrees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Math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atan2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getY</a:t>
            </a:r>
            <a:r>
              <a:rPr>
                <a:solidFill>
                  <a:srgbClr val="666666"/>
                </a:solidFill>
                <a:latin typeface="Courier"/>
              </a:rPr>
              <a:t>(),</a:t>
            </a:r>
            <a:r>
              <a:rPr>
                <a:solidFill>
                  <a:srgbClr val="06287E"/>
                </a:solidFill>
                <a:latin typeface="Courier"/>
              </a:rPr>
              <a:t>getX</a:t>
            </a:r>
            <a:r>
              <a:rPr>
                <a:solidFill>
                  <a:srgbClr val="666666"/>
                </a:solidFill>
                <a:latin typeface="Courier"/>
              </a:rPr>
              <a:t>()))}</a:t>
            </a:r>
            <a:br/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Multi-valued attributes</a:t>
            </a:r>
          </a:p>
          <a:p>
            <a:pPr lvl="0"/>
            <a:r>
              <a:rPr/>
              <a:t>Limit their use. Associations are generally better.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Office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008000"/>
                </a:solidFill>
                <a:latin typeface="Courier"/>
              </a:rPr>
              <a:t>Integer</a:t>
            </a:r>
            <a:r>
              <a:rPr>
                <a:latin typeface="Courier"/>
              </a:rPr>
              <a:t> number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Phone</a:t>
            </a:r>
            <a:r>
              <a:rPr>
                <a:solidFill>
                  <a:srgbClr val="666666"/>
                </a:solidFill>
                <a:latin typeface="Courier"/>
              </a:rPr>
              <a:t>[]</a:t>
            </a:r>
            <a:r>
              <a:rPr>
                <a:latin typeface="Courier"/>
              </a:rPr>
              <a:t> installedTelephones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Phone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digits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callerID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Keys</a:t>
            </a:r>
          </a:p>
          <a:p>
            <a:pPr lvl="0"/>
            <a:r>
              <a:rPr/>
              <a:t>Enable UMPLE to generate an </a:t>
            </a:r>
            <a:r>
              <a:rPr>
                <a:latin typeface="Courier"/>
              </a:rPr>
              <a:t>equals()</a:t>
            </a:r>
            <a:r>
              <a:rPr/>
              <a:t> and a </a:t>
            </a:r>
            <a:r>
              <a:rPr>
                <a:latin typeface="Courier"/>
              </a:rPr>
              <a:t>hashcode()</a:t>
            </a:r>
            <a:r>
              <a:rPr/>
              <a:t> method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Student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008000"/>
                </a:solidFill>
                <a:latin typeface="Courier"/>
              </a:rPr>
              <a:t>Integer</a:t>
            </a:r>
            <a:r>
              <a:rPr>
                <a:latin typeface="Courier"/>
              </a:rPr>
              <a:t> id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name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key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id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/>
            <a:r>
              <a:rPr/>
              <a:t>The user manual has a sports team example showing keys on associations too</a:t>
            </a:r>
          </a:p>
          <a:p>
            <a:pPr lvl="0"/>
            <a:r>
              <a:rPr/>
              <a:t>Note how this feature is not inherited from UML</a:t>
            </a:r>
          </a:p>
        </p:txBody>
      </p:sp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Takeaway: UMPLE Class Modeling &amp; Attributes</a:t>
            </a:r>
          </a:p>
          <a:p>
            <a:pPr lvl="0"/>
            <a:r>
              <a:rPr/>
              <a:t>UMPLE classes look like simplified Java/C++ with UML-level abstractions</a:t>
            </a:r>
          </a:p>
          <a:p>
            <a:pPr lvl="0"/>
            <a:r>
              <a:rPr/>
              <a:t>Attribute types: basic, defaulted (with initial value), derived (computed), immutable (set once)</a:t>
            </a:r>
          </a:p>
          <a:p>
            <a:pPr lvl="0"/>
            <a:r>
              <a:rPr/>
              <a:t>Lazy attributes: initialized only when first accessed</a:t>
            </a:r>
          </a:p>
          <a:p>
            <a:pPr lvl="0"/>
            <a:r>
              <a:rPr/>
              <a:t>Autounique attributes: automatically assigned unique integer values</a:t>
            </a:r>
          </a:p>
          <a:p>
            <a:pPr lvl="0"/>
            <a:r>
              <a:rPr/>
              <a:t>UMPLE generates complete getter/setter methods and constructor logic from attribute declarations</a:t>
            </a:r>
          </a:p>
        </p:txBody>
      </p:sp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Module D: Generalization, Methods &amp; Associations</a:t>
            </a:r>
          </a:p>
        </p:txBody>
      </p:sp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Module Outline</a:t>
            </a:r>
          </a:p>
          <a:p>
            <a:pPr lvl="0"/>
            <a:r>
              <a:rPr/>
              <a:t>UMPLE Generalization and Interfaces</a:t>
            </a:r>
          </a:p>
          <a:p>
            <a:pPr lvl="0"/>
            <a:r>
              <a:rPr/>
              <a:t>UMPLE Methods</a:t>
            </a:r>
          </a:p>
          <a:p>
            <a:pPr lvl="0"/>
            <a:r>
              <a:rPr/>
              <a:t>UMPLE Associations (Types, Multiplicity, Reflexive, Sorted, Qualifiers)</a:t>
            </a:r>
          </a:p>
        </p:txBody>
      </p:sp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UMPLE Generalization and interfaces</a:t>
            </a:r>
          </a:p>
        </p:txBody>
      </p:sp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Generalization in UMPLE</a:t>
            </a:r>
          </a:p>
          <a:p>
            <a:pPr lvl="0"/>
            <a:r>
              <a:rPr/>
              <a:t>UMPLE uses the </a:t>
            </a:r>
            <a:r>
              <a:rPr>
                <a:latin typeface="Courier"/>
              </a:rPr>
              <a:t>isA</a:t>
            </a:r>
            <a:r>
              <a:rPr/>
              <a:t> keyword to indicate generalization</a:t>
            </a:r>
          </a:p>
          <a:p>
            <a:pPr lvl="0"/>
            <a:r>
              <a:rPr/>
              <a:t>Used to indicate </a:t>
            </a:r>
            <a:r>
              <a:rPr>
                <a:latin typeface="Courier"/>
              </a:rPr>
              <a:t>superclass</a:t>
            </a:r>
            <a:r>
              <a:rPr/>
              <a:t>, used </a:t>
            </a:r>
            <a:r>
              <a:rPr>
                <a:latin typeface="Courier"/>
              </a:rPr>
              <a:t>trait</a:t>
            </a:r>
            <a:r>
              <a:rPr/>
              <a:t>, implemented </a:t>
            </a:r>
            <a:r>
              <a:rPr>
                <a:latin typeface="Courier"/>
              </a:rPr>
              <a:t>interface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Shape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colour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Rectangle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isA </a:t>
            </a:r>
            <a:r>
              <a:rPr>
                <a:solidFill>
                  <a:srgbClr val="008000"/>
                </a:solidFill>
                <a:latin typeface="Courier"/>
              </a:rPr>
              <a:t>Shape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Avoiding unnecessary generalizations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Open in UMPLE</a:t>
            </a:r>
          </a:p>
          <a:p>
            <a:pPr lvl="0"/>
            <a:r>
              <a:rPr/>
              <a:t>Inappropriate hierarchy of Classes</a:t>
            </a:r>
          </a:p>
          <a:p>
            <a:pPr lvl="0"/>
            <a:r>
              <a:rPr/>
              <a:t>What should the model be?</a:t>
            </a:r>
          </a:p>
        </p:txBody>
      </p:sp>
      <p:pic>
        <p:nvPicPr>
          <p:cNvPr descr="assets/2022-05-08-00-51-43-imag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568700" y="1143000"/>
            <a:ext cx="5105400" cy="1993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h:300</a:t>
            </a:r>
          </a:p>
        </p:txBody>
      </p:sp>
    </p:spTree>
  </p:cSld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Interfaces</a:t>
            </a:r>
          </a:p>
          <a:p>
            <a:pPr lvl="0"/>
            <a:r>
              <a:rPr/>
              <a:t>Declare signatures of a group of methods that must be implemented by various classes</a:t>
            </a:r>
          </a:p>
          <a:p>
            <a:pPr lvl="0"/>
            <a:r>
              <a:rPr/>
              <a:t>Also declared using the keyword </a:t>
            </a:r>
            <a:r>
              <a:rPr>
                <a:latin typeface="Courier"/>
              </a:rPr>
              <a:t>isA</a:t>
            </a:r>
          </a:p>
          <a:p>
            <a:pPr lvl="0"/>
            <a:r>
              <a:rPr/>
              <a:t>Essentially the same concept as in Java</a:t>
            </a:r>
          </a:p>
          <a:p>
            <a:pPr lvl="0"/>
            <a:r>
              <a:rPr i="1"/>
              <a:t>Let’s explore examples in the user manual …</a:t>
            </a:r>
          </a:p>
        </p:txBody>
      </p:sp>
    </p:spTree>
  </p:cSld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UMPLE Methods</a:t>
            </a:r>
          </a:p>
        </p:txBody>
      </p:sp>
    </p:spTree>
  </p:cSld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User-written Methods in UMPLE</a:t>
            </a:r>
          </a:p>
          <a:p>
            <a:pPr lvl="0"/>
            <a:r>
              <a:rPr/>
              <a:t>Methods can be added to any UMPLE code.</a:t>
            </a:r>
          </a:p>
          <a:p>
            <a:pPr lvl="0"/>
            <a:r>
              <a:rPr/>
              <a:t>UMPLE parses the signature only; the rest is passed to the generated code.</a:t>
            </a:r>
          </a:p>
          <a:p>
            <a:pPr lvl="0"/>
            <a:r>
              <a:rPr/>
              <a:t>You can specify different bodies in different languages</a:t>
            </a:r>
          </a:p>
          <a:p>
            <a:pPr lvl="0"/>
            <a:r>
              <a:rPr i="1"/>
              <a:t>We will look at examples in the user manual …</a:t>
            </a:r>
          </a:p>
        </p:txBody>
      </p:sp>
    </p:spTree>
  </p:cSld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UMPLE Associations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hlinkClick r:id="rId2"/>
              </a:rPr>
              <a:t>http://associations.UMPLE.org</a:t>
            </a:r>
          </a:p>
          <a:p>
            <a:pPr lvl="1"/>
            <a:r>
              <a:rPr/>
              <a:t>Notice the inline and independent state machines</a:t>
            </a:r>
          </a:p>
        </p:txBody>
      </p:sp>
    </p:spTree>
  </p:cSld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Associations</a:t>
            </a:r>
          </a:p>
        </p:txBody>
      </p:sp>
      <p:pic>
        <p:nvPicPr>
          <p:cNvPr descr="assets/2022-05-08-02-44-23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65200"/>
            <a:ext cx="5105400" cy="2349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h:500</a:t>
            </a:r>
          </a:p>
        </p:txBody>
      </p:sp>
    </p:spTree>
  </p:cSld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Associations Exercise #1</a:t>
            </a:r>
          </a:p>
        </p:txBody>
      </p:sp>
      <p:pic>
        <p:nvPicPr>
          <p:cNvPr descr="assets/2022-05-08-02-45-24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003300"/>
            <a:ext cx="5105400" cy="2286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h:500</a:t>
            </a:r>
          </a:p>
        </p:txBody>
      </p:sp>
    </p:spTree>
  </p:cSld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Associations Exercise #2</a:t>
            </a:r>
          </a:p>
        </p:txBody>
      </p:sp>
      <p:pic>
        <p:nvPicPr>
          <p:cNvPr descr="assets/2022-05-08-02-46-10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054100"/>
            <a:ext cx="5105400" cy="2171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h:500</a:t>
            </a:r>
          </a:p>
        </p:txBody>
      </p:sp>
    </p:spTree>
  </p:cSld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Associations</a:t>
                </a:r>
              </a:p>
              <a:p>
                <a:pPr lvl="0"/>
                <a:r>
                  <a:rPr/>
                  <a:t>Describe how instances of classes are linked at runtime</a:t>
                </a:r>
              </a:p>
              <a:p>
                <a:pPr lvl="1"/>
                <a:r>
                  <a:rPr/>
                  <a:t>Bidirectional </a:t>
                </a:r>
                <a:r>
                  <a:rPr>
                    <a:latin typeface="Courier"/>
                  </a:rPr>
                  <a:t>--</a:t>
                </a:r>
                <a:r>
                  <a:rPr/>
                  <a:t> or</a:t>
                </a:r>
              </a:p>
              <a:p>
                <a:pPr lvl="1"/>
                <a:r>
                  <a:rPr/>
                  <a:t>Unidirectional </a:t>
                </a:r>
                <a:r>
                  <a:rPr>
                    <a:latin typeface="Courier"/>
                  </a:rPr>
                  <a:t>-&gt;</a:t>
                </a:r>
              </a:p>
              <a:p>
                <a:pPr lvl="0"/>
                <a:r>
                  <a:rPr/>
                  <a:t>Multiplicity:</a:t>
                </a:r>
              </a:p>
              <a:p>
                <a:pPr lvl="1"/>
                <a:r>
                  <a:rPr/>
                  <a:t>Bounds on the number of linked instances</a:t>
                </a:r>
              </a:p>
              <a:p>
                <a:pPr lvl="0"/>
                <a:r>
                  <a:rPr>
                    <a:latin typeface="Courier"/>
                  </a:rPr>
                  <a:t>*</a:t>
                </a:r>
                <a:r>
                  <a:rPr/>
                  <a:t> Or </a:t>
                </a:r>
                <a:r>
                  <a:rPr>
                    <a:latin typeface="Courier"/>
                  </a:rPr>
                  <a:t>0..*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0 or more</a:t>
                </a:r>
              </a:p>
              <a:p>
                <a:pPr lvl="0"/>
                <a:r>
                  <a:rPr>
                    <a:latin typeface="Courier"/>
                  </a:rPr>
                  <a:t>1..*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1 or more</a:t>
                </a:r>
              </a:p>
              <a:p>
                <a:pPr lvl="0"/>
                <a:r>
                  <a:rPr>
                    <a:latin typeface="Courier"/>
                  </a:rPr>
                  <a:t>1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Exactly 1</a:t>
                </a:r>
              </a:p>
              <a:p>
                <a:pPr lvl="0"/>
                <a:r>
                  <a:rPr>
                    <a:latin typeface="Courier"/>
                  </a:rPr>
                  <a:t>2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Exactly 2</a:t>
                </a:r>
              </a:p>
              <a:p>
                <a:pPr lvl="0"/>
                <a:r>
                  <a:rPr>
                    <a:latin typeface="Courier"/>
                  </a:rPr>
                  <a:t>1..3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Between 1 and 3</a:t>
                </a:r>
              </a:p>
              <a:p>
                <a:pPr lvl="0"/>
                <a:r>
                  <a:rPr>
                    <a:latin typeface="Courier"/>
                  </a:rPr>
                  <a:t>0..2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Up to 2</a:t>
                </a:r>
              </a:p>
            </p:txBody>
          </p:sp>
        </mc:Choice>
      </mc:AlternateContent>
    </p:spTree>
  </p:cSld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Association Relationships</a:t>
            </a:r>
          </a:p>
        </p:txBody>
      </p:sp>
      <p:pic>
        <p:nvPicPr>
          <p:cNvPr descr="assets/2022-05-08-02-47-31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397000"/>
            <a:ext cx="5105400" cy="1498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h:400</a:t>
            </a:r>
          </a:p>
        </p:txBody>
      </p:sp>
    </p:spTree>
  </p:cSld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Association Relationships</a:t>
            </a:r>
          </a:p>
          <a:p>
            <a:pPr lvl="0"/>
            <a:r>
              <a:rPr/>
              <a:t>Directional Associations</a:t>
            </a:r>
          </a:p>
          <a:p>
            <a:pPr lvl="0" indent="0">
              <a:buNone/>
            </a:pPr>
            <a:r>
              <a:rPr>
                <a:latin typeface="Courier"/>
              </a:rPr>
              <a:t>* </a:t>
            </a:r>
            <a:r>
              <a:rPr>
                <a:solidFill>
                  <a:srgbClr val="7D9029"/>
                </a:solidFill>
                <a:latin typeface="Courier"/>
              </a:rPr>
              <a:t>-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0..1, </a:t>
            </a:r>
            <a:r>
              <a:rPr>
                <a:solidFill>
                  <a:srgbClr val="BC7A00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-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1, </a:t>
            </a:r>
            <a:r>
              <a:rPr>
                <a:solidFill>
                  <a:srgbClr val="BC7A00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-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C7A00"/>
                </a:solidFill>
                <a:latin typeface="Courier"/>
              </a:rPr>
              <a:t>*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BC7A00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-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m..n, </a:t>
            </a:r>
            <a:r>
              <a:rPr>
                <a:solidFill>
                  <a:srgbClr val="BC7A00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n, </a:t>
            </a:r>
            <a:r>
              <a:rPr>
                <a:solidFill>
                  <a:srgbClr val="BC7A00"/>
                </a:solidFill>
                <a:latin typeface="Courier"/>
              </a:rPr>
              <a:t>*</a:t>
            </a:r>
            <a:r>
              <a:rPr>
                <a:latin typeface="Courier"/>
              </a:rPr>
              <a:t>-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m..</a:t>
            </a:r>
            <a:r>
              <a:rPr>
                <a:solidFill>
                  <a:srgbClr val="BC7A00"/>
                </a:solidFill>
                <a:latin typeface="Courier"/>
              </a:rPr>
              <a:t>*</a:t>
            </a:r>
            <a:r>
              <a:rPr>
                <a:latin typeface="Courier"/>
              </a:rPr>
              <a:t> and</a:t>
            </a:r>
            <a:r>
              <a:rPr>
                <a:solidFill>
                  <a:srgbClr val="BC7A00"/>
                </a:solidFill>
                <a:latin typeface="Courier"/>
              </a:rPr>
              <a:t>*</a:t>
            </a:r>
            <a:r>
              <a:rPr>
                <a:latin typeface="Courier"/>
              </a:rPr>
              <a:t>-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0..n.</a:t>
            </a:r>
          </a:p>
          <a:p>
            <a:pPr lvl="0"/>
            <a:r>
              <a:rPr/>
              <a:t>Symmetric Reflexive</a:t>
            </a:r>
          </a:p>
          <a:p>
            <a:pPr lvl="0" indent="0">
              <a:buNone/>
            </a:pPr>
            <a:r>
              <a:rPr>
                <a:latin typeface="Courier"/>
              </a:rPr>
              <a:t>0..1, 0..n, </a:t>
            </a:r>
            <a:r>
              <a:rPr>
                <a:solidFill>
                  <a:srgbClr val="BC7A00"/>
                </a:solidFill>
                <a:latin typeface="Courier"/>
              </a:rPr>
              <a:t>*</a:t>
            </a:r>
            <a:r>
              <a:rPr>
                <a:latin typeface="Courier"/>
              </a:rPr>
              <a:t>, 1, n, m..n,m..</a:t>
            </a:r>
            <a:r>
              <a:rPr>
                <a:solidFill>
                  <a:srgbClr val="BC7A00"/>
                </a:solidFill>
                <a:latin typeface="Courier"/>
              </a:rPr>
              <a:t>*</a:t>
            </a:r>
          </a:p>
        </p:txBody>
      </p:sp>
    </p:spTree>
  </p:cSld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Basic UML associations</a:t>
            </a:r>
          </a:p>
        </p:txBody>
      </p:sp>
      <p:pic>
        <p:nvPicPr>
          <p:cNvPr descr="assets/2022-05-08-01-00-04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57200"/>
            <a:ext cx="5105400" cy="3378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h:500</a:t>
            </a:r>
          </a:p>
        </p:txBody>
      </p:sp>
    </p:spTree>
  </p:cSld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Many-to-one associations (1)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Employee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id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firstName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lastName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Company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name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Employee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Many-to-one associations (2)</a:t>
            </a:r>
          </a:p>
          <a:p>
            <a:pPr lvl="0"/>
            <a:r>
              <a:rPr/>
              <a:t>A company has many employees,</a:t>
            </a:r>
          </a:p>
          <a:p>
            <a:pPr lvl="0"/>
            <a:r>
              <a:rPr/>
              <a:t>An employee can only work for one company.</a:t>
            </a:r>
          </a:p>
          <a:p>
            <a:pPr lvl="1"/>
            <a:r>
              <a:rPr/>
              <a:t>This company will not store data about the moonlighting activities of employees!</a:t>
            </a:r>
          </a:p>
          <a:p>
            <a:pPr lvl="0"/>
            <a:r>
              <a:rPr/>
              <a:t>A company can have zero employees</a:t>
            </a:r>
          </a:p>
          <a:p>
            <a:pPr lvl="1"/>
            <a:r>
              <a:rPr/>
              <a:t>E.g. a ‘shell’ company</a:t>
            </a:r>
          </a:p>
          <a:p>
            <a:pPr lvl="0"/>
            <a:r>
              <a:rPr/>
              <a:t>It is not possible to be an employee unless you work for a company</a:t>
            </a:r>
          </a:p>
          <a:p>
            <a:pPr lvl="0"/>
            <a:r>
              <a:rPr/>
              <a:t>Let’s draw and write this in UMPLEOnline:</a:t>
            </a:r>
          </a:p>
        </p:txBody>
      </p:sp>
      <p:pic>
        <p:nvPicPr>
          <p:cNvPr descr="assets/2022-05-08-01-02-32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739900"/>
            <a:ext cx="5105400" cy="787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h:150</a:t>
            </a:r>
          </a:p>
        </p:txBody>
      </p:sp>
    </p:spTree>
  </p:cSld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Role names (optional, in most cases)</a:t>
            </a:r>
          </a:p>
          <a:p>
            <a:pPr lvl="0"/>
            <a:r>
              <a:rPr/>
              <a:t>Allow you to better label either end of an association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Person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id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firstName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lastName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Company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name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employer </a:t>
            </a:r>
            <a:r>
              <a:rPr>
                <a:solidFill>
                  <a:srgbClr val="666666"/>
                </a:solidFill>
                <a:latin typeface="Courier"/>
              </a:rPr>
              <a:t>--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Person employee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Referential Integrity</a:t>
            </a:r>
          </a:p>
          <a:p>
            <a:pPr lvl="0"/>
            <a:r>
              <a:rPr/>
              <a:t>When an instance on one side of the association changes</a:t>
            </a:r>
          </a:p>
          <a:p>
            <a:pPr lvl="1"/>
            <a:r>
              <a:rPr/>
              <a:t>The linked instances on the other side know …</a:t>
            </a:r>
          </a:p>
          <a:p>
            <a:pPr lvl="1"/>
            <a:r>
              <a:rPr/>
              <a:t>And vice-versa</a:t>
            </a:r>
          </a:p>
          <a:p>
            <a:pPr lvl="0"/>
            <a:r>
              <a:rPr/>
              <a:t>This is standard in UMPLE associations, which are bidirectional</a:t>
            </a:r>
          </a:p>
        </p:txBody>
      </p:sp>
    </p:spTree>
  </p:cSld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Many-to-Many Associations</a:t>
            </a:r>
          </a:p>
          <a:p>
            <a:pPr lvl="0"/>
            <a:r>
              <a:rPr/>
              <a:t>An assistant can work for many managers</a:t>
            </a:r>
          </a:p>
          <a:p>
            <a:pPr lvl="0"/>
            <a:r>
              <a:rPr/>
              <a:t>A manager can have many assistants</a:t>
            </a:r>
          </a:p>
          <a:p>
            <a:pPr lvl="0"/>
            <a:r>
              <a:rPr/>
              <a:t>Assistants can work in pools working for several managers</a:t>
            </a:r>
          </a:p>
          <a:p>
            <a:pPr lvl="0"/>
            <a:r>
              <a:rPr/>
              <a:t>Managers can have a group of assistants</a:t>
            </a:r>
          </a:p>
          <a:p>
            <a:pPr lvl="0"/>
            <a:r>
              <a:rPr/>
              <a:t>Some managers might have zero assistants.</a:t>
            </a:r>
          </a:p>
          <a:p>
            <a:pPr lvl="0"/>
            <a:r>
              <a:rPr/>
              <a:t>Is it possible for an assistant to have, perhaps temporarily, zero managers?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Open in UMPLE</a:t>
            </a:r>
          </a:p>
        </p:txBody>
      </p:sp>
      <p:pic>
        <p:nvPicPr>
          <p:cNvPr descr="assets/2022-05-08-01-05-55-imag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568700" y="1803400"/>
            <a:ext cx="5105400" cy="660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h:150</a:t>
            </a:r>
          </a:p>
        </p:txBody>
      </p:sp>
    </p:spTree>
  </p:cSld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One-to-One Associations (Use cautiously)</a:t>
            </a:r>
          </a:p>
          <a:p>
            <a:pPr lvl="0"/>
            <a:r>
              <a:rPr/>
              <a:t>For each company, there is exactly one board of directors</a:t>
            </a:r>
          </a:p>
          <a:p>
            <a:pPr lvl="0"/>
            <a:r>
              <a:rPr/>
              <a:t>A board is the board of only one company</a:t>
            </a:r>
          </a:p>
          <a:p>
            <a:pPr lvl="0"/>
            <a:r>
              <a:rPr/>
              <a:t>A company must always have a board</a:t>
            </a:r>
          </a:p>
          <a:p>
            <a:pPr lvl="0"/>
            <a:r>
              <a:rPr/>
              <a:t>A board must always be of some company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Open in UMPLE</a:t>
            </a:r>
          </a:p>
        </p:txBody>
      </p:sp>
      <p:pic>
        <p:nvPicPr>
          <p:cNvPr descr="assets/2022-05-08-01-07-33-imag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568700" y="1701800"/>
            <a:ext cx="5105400" cy="863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h:150</a:t>
            </a:r>
          </a:p>
        </p:txBody>
      </p:sp>
    </p:spTree>
  </p:cSld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Typical erroneous use of one-to-one</a:t>
            </a:r>
          </a:p>
        </p:txBody>
      </p:sp>
      <p:pic>
        <p:nvPicPr>
          <p:cNvPr descr="assets/2022-05-08-01-08-48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787400"/>
            <a:ext cx="5105400" cy="2717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h:500</a:t>
            </a:r>
          </a:p>
        </p:txBody>
      </p:sp>
    </p:spTree>
  </p:cSld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Unidirectional Associations</a:t>
            </a:r>
          </a:p>
          <a:p>
            <a:pPr lvl="0"/>
            <a:r>
              <a:rPr/>
              <a:t>Associations are by default bi-directional</a:t>
            </a:r>
          </a:p>
          <a:p>
            <a:pPr lvl="0"/>
            <a:r>
              <a:rPr/>
              <a:t>It is possible to limit the direction of an association by adding an arrow at one end</a:t>
            </a:r>
          </a:p>
          <a:p>
            <a:pPr lvl="0"/>
            <a:r>
              <a:rPr/>
              <a:t>In the following unidirectional association</a:t>
            </a:r>
          </a:p>
          <a:p>
            <a:pPr lvl="1"/>
            <a:r>
              <a:rPr/>
              <a:t>A Day knows about its notes, but a Note does not know which Day is belongs to</a:t>
            </a:r>
          </a:p>
          <a:p>
            <a:pPr lvl="1"/>
            <a:r>
              <a:rPr/>
              <a:t>Note remains ‘uncoupled’ and can be used in other contexts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Day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Note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Note </a:t>
            </a:r>
            <a:r>
              <a:rPr>
                <a:solidFill>
                  <a:srgbClr val="666666"/>
                </a:solidFill>
                <a:latin typeface="Courier"/>
              </a:rPr>
              <a:t>{}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Open in UMPLE</a:t>
            </a:r>
          </a:p>
        </p:txBody>
      </p:sp>
      <p:pic>
        <p:nvPicPr>
          <p:cNvPr descr="assets/2022-05-08-01-10-48-imag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568700" y="1536700"/>
            <a:ext cx="5105400" cy="1219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h:150</a:t>
            </a:r>
          </a:p>
        </p:txBody>
      </p:sp>
    </p:spTree>
  </p:cSld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Association Classes</a:t>
            </a:r>
          </a:p>
          <a:p>
            <a:pPr lvl="0"/>
            <a:r>
              <a:rPr/>
              <a:t>Sometimes, an attribute that concerns two associated classes cannot be placed in either of the classes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Open in UMPLE</a:t>
            </a:r>
          </a:p>
          <a:p>
            <a:pPr lvl="0" indent="0" marL="0">
              <a:buNone/>
            </a:pPr>
            <a:r>
              <a:rPr/>
              <a:t>and </a:t>
            </a:r>
            <a:r>
              <a:rPr>
                <a:hlinkClick r:id="rId3"/>
              </a:rPr>
              <a:t>Extended Example</a:t>
            </a:r>
          </a:p>
        </p:txBody>
      </p:sp>
      <p:pic>
        <p:nvPicPr>
          <p:cNvPr descr="assets/2022-05-08-01-13-16-image.png" id="0" name="Picture 1"/>
          <p:cNvPicPr>
            <a:picLocks noGrp="1"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3568700" y="1778000"/>
            <a:ext cx="5105400" cy="723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h:100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following are nearly equivalent</a:t>
            </a:r>
          </a:p>
          <a:p>
            <a:pPr lvl="1"/>
            <a:r>
              <a:rPr/>
              <a:t>The only difference:</a:t>
            </a:r>
          </a:p>
          <a:p>
            <a:pPr lvl="2"/>
            <a:r>
              <a:rPr/>
              <a:t>in the association class there can be only a single registration of a given Student in a CourseSection</a:t>
            </a:r>
          </a:p>
        </p:txBody>
      </p:sp>
      <p:pic>
        <p:nvPicPr>
          <p:cNvPr descr="assets/2022-05-08-01-13-30-image.png" id="0" name="Picture 1"/>
          <p:cNvPicPr>
            <a:picLocks noGrp="1"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3568700" y="1066800"/>
            <a:ext cx="5105400" cy="2146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h:200</a:t>
            </a:r>
          </a:p>
        </p:txBody>
      </p:sp>
    </p:spTree>
  </p:cSld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Association classes (cont.)</a:t>
            </a:r>
          </a:p>
          <a:p>
            <a:pPr lvl="0"/>
            <a:r>
              <a:rPr/>
              <a:t>UMPLE code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Student </a:t>
            </a:r>
            <a:r>
              <a:rPr>
                <a:solidFill>
                  <a:srgbClr val="666666"/>
                </a:solidFill>
                <a:latin typeface="Courier"/>
              </a:rPr>
              <a:t>{}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CourseSection </a:t>
            </a:r>
            <a:r>
              <a:rPr>
                <a:solidFill>
                  <a:srgbClr val="666666"/>
                </a:solidFill>
                <a:latin typeface="Courier"/>
              </a:rPr>
              <a:t>{}</a:t>
            </a:r>
            <a:br/>
            <a:r>
              <a:rPr>
                <a:latin typeface="Courier"/>
              </a:rPr>
              <a:t>associationClass Registration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 Student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 CourseSection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/>
            <a:r>
              <a:rPr/>
              <a:t>Open in UMPLEOnline, and then generate code</a:t>
            </a:r>
          </a:p>
        </p:txBody>
      </p:sp>
    </p:spTree>
  </p:cSld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Reflexive Associations</a:t>
            </a:r>
          </a:p>
          <a:p>
            <a:pPr lvl="0"/>
            <a:r>
              <a:rPr/>
              <a:t>An association that connects a class to itself</a:t>
            </a:r>
          </a:p>
        </p:txBody>
      </p:sp>
      <p:pic>
        <p:nvPicPr>
          <p:cNvPr descr="assets/2022-05-08-01-17-19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473200"/>
            <a:ext cx="5105400" cy="133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3"/>
              </a:rPr>
              <a:t>Open in UMPLE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Course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self isMutuallyExclusiveWith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// Symmetric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>
                <a:latin typeface="Courier"/>
              </a:rPr>
              <a:t>association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Course successor </a:t>
            </a:r>
            <a:r>
              <a:rPr>
                <a:solidFill>
                  <a:srgbClr val="666666"/>
                </a:solidFill>
                <a:latin typeface="Courier"/>
              </a:rPr>
              <a:t>--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Course prerequisite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</a:p>
        </p:txBody>
      </p:sp>
    </p:spTree>
  </p:cSld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Inline vs. Standalone associations</a:t>
            </a:r>
          </a:p>
          <a:p>
            <a:pPr lvl="0"/>
            <a:r>
              <a:rPr/>
              <a:t>The following are equivalent to allow flexibility: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X </a:t>
            </a:r>
            <a:r>
              <a:rPr>
                <a:solidFill>
                  <a:srgbClr val="666666"/>
                </a:solidFill>
                <a:latin typeface="Courier"/>
              </a:rPr>
              <a:t>{}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Y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X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X </a:t>
            </a:r>
            <a:r>
              <a:rPr>
                <a:solidFill>
                  <a:srgbClr val="666666"/>
                </a:solidFill>
                <a:latin typeface="Courier"/>
              </a:rPr>
              <a:t>{}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Y </a:t>
            </a:r>
            <a:r>
              <a:rPr>
                <a:solidFill>
                  <a:srgbClr val="666666"/>
                </a:solidFill>
                <a:latin typeface="Courier"/>
              </a:rPr>
              <a:t>{}</a:t>
            </a:r>
            <a:br/>
            <a:r>
              <a:rPr>
                <a:latin typeface="Courier"/>
              </a:rPr>
              <a:t>association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Y </a:t>
            </a:r>
            <a:r>
              <a:rPr>
                <a:solidFill>
                  <a:srgbClr val="666666"/>
                </a:solidFill>
                <a:latin typeface="Courier"/>
              </a:rPr>
              <a:t>--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X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Aggregation</a:t>
            </a:r>
          </a:p>
          <a:p>
            <a:pPr lvl="0"/>
            <a:r>
              <a:rPr/>
              <a:t>Aggregations are ordinary associations that represent part-whole relationships.</a:t>
            </a:r>
          </a:p>
          <a:p>
            <a:pPr lvl="1"/>
            <a:r>
              <a:rPr/>
              <a:t>The ‘whole’ side is often called the assembly or the aggregate</a:t>
            </a:r>
          </a:p>
          <a:p>
            <a:pPr lvl="1"/>
            <a:r>
              <a:rPr/>
              <a:t>This is a shorthand for association named </a:t>
            </a:r>
            <a:r>
              <a:rPr>
                <a:latin typeface="Courier"/>
              </a:rPr>
              <a:t>isPartOf</a:t>
            </a:r>
          </a:p>
          <a:p>
            <a:pPr lvl="1"/>
            <a:r>
              <a:rPr/>
              <a:t>UMPLE has no special syntax currently</a:t>
            </a:r>
          </a:p>
        </p:txBody>
      </p:sp>
      <p:pic>
        <p:nvPicPr>
          <p:cNvPr descr="assets/2022-05-08-01-20-52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358900"/>
            <a:ext cx="5105400" cy="1562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Vehicle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whole </a:t>
            </a:r>
            <a:r>
              <a:rPr>
                <a:solidFill>
                  <a:srgbClr val="666666"/>
                </a:solidFill>
                <a:latin typeface="Courier"/>
              </a:rPr>
              <a:t>--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VehiclePart part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VehiclePart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Composition</a:t>
            </a:r>
          </a:p>
          <a:p>
            <a:pPr lvl="0"/>
            <a:r>
              <a:rPr/>
              <a:t>A composition is a strong kind of aggregation</a:t>
            </a:r>
          </a:p>
          <a:p>
            <a:pPr lvl="1"/>
            <a:r>
              <a:rPr/>
              <a:t>If the aggregate is destroyed, then the parts are destroyed as well</a:t>
            </a:r>
          </a:p>
        </p:txBody>
      </p:sp>
      <p:pic>
        <p:nvPicPr>
          <p:cNvPr descr="assets/2022-05-08-01-22-54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841500"/>
            <a:ext cx="5105400" cy="1117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Building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7D9029"/>
                </a:solidFill>
                <a:latin typeface="Courier"/>
              </a:rPr>
              <a:t>@</a:t>
            </a:r>
            <a:r>
              <a:rPr>
                <a:solidFill>
                  <a:srgbClr val="666666"/>
                </a:solidFill>
                <a:latin typeface="Courier"/>
              </a:rPr>
              <a:t>&gt;-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Room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Room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Sorted Associations</a:t>
            </a:r>
          </a:p>
          <a:p>
            <a:pPr lvl="0"/>
            <a:r>
              <a:rPr/>
              <a:t>Order objects in the association according to a specific key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Academy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Student registrants sorted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id</a:t>
            </a:r>
            <a:r>
              <a:rPr>
                <a:solidFill>
                  <a:srgbClr val="666666"/>
                </a:solidFill>
                <a:latin typeface="Courier"/>
              </a:rPr>
              <a:t>};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Student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008000"/>
                </a:solidFill>
                <a:latin typeface="Courier"/>
              </a:rPr>
              <a:t>Integer</a:t>
            </a:r>
            <a:r>
              <a:rPr>
                <a:latin typeface="Courier"/>
              </a:rPr>
              <a:t> id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name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/>
            <a:r>
              <a:rPr/>
              <a:t>We will look at a more complete example in the User Manual</a:t>
            </a:r>
          </a:p>
        </p:txBody>
      </p:sp>
    </p:spTree>
  </p:cSld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 final word on associations</a:t>
            </a:r>
          </a:p>
          <a:p>
            <a:pPr lvl="0"/>
            <a:r>
              <a:rPr/>
              <a:t>More help and examples are in the user manual online at</a:t>
            </a:r>
          </a:p>
          <a:p>
            <a:pPr lvl="1"/>
            <a:r>
              <a:rPr/>
              <a:t>http://associations.UMPLE.org</a:t>
            </a:r>
          </a:p>
        </p:txBody>
      </p:sp>
    </p:spTree>
  </p:cSld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Takeaway: Generalization, Methods &amp; Associations</a:t>
            </a:r>
          </a:p>
          <a:p>
            <a:pPr lvl="0"/>
            <a:r>
              <a:rPr/>
              <a:t>UMPLE supports inheritance (isA keyword) and interface implementation</a:t>
            </a:r>
          </a:p>
          <a:p>
            <a:pPr lvl="0"/>
            <a:r>
              <a:rPr/>
              <a:t>Methods can be added directly in UMPLE alongside UML constructs</a:t>
            </a:r>
          </a:p>
          <a:p>
            <a:pPr lvl="0"/>
            <a:r>
              <a:rPr/>
              <a:t>Associations define relationships between classes with multiplicity (</a:t>
            </a:r>
            <a:r>
              <a:rPr i="1"/>
              <a:t>, 0..1, 1..</a:t>
            </a:r>
            <a:r>
              <a:rPr/>
              <a:t>, etc.)</a:t>
            </a:r>
          </a:p>
          <a:p>
            <a:pPr lvl="0"/>
            <a:r>
              <a:rPr/>
              <a:t>UMPLE generates referential integrity code for associations automatically</a:t>
            </a:r>
          </a:p>
          <a:p>
            <a:pPr lvl="0"/>
            <a:r>
              <a:rPr/>
              <a:t>Special association features: reflexive, sorted, qualified associations</a:t>
            </a:r>
          </a:p>
        </p:txBody>
      </p:sp>
    </p:spTree>
  </p:cSld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hlinkClick r:id="rId2"/>
              </a:rPr>
              <a:t>UMPLE Tutorials</a:t>
            </a:r>
          </a:p>
          <a:p>
            <a:pPr lvl="0"/>
            <a:r>
              <a:rPr>
                <a:hlinkClick r:id="rId3"/>
              </a:rPr>
              <a:t>UMPLE Github</a:t>
            </a:r>
          </a:p>
          <a:p>
            <a:pPr lvl="0"/>
            <a:r>
              <a:rPr>
                <a:hlinkClick r:id="rId4"/>
              </a:rPr>
              <a:t>UMPLE Online</a:t>
            </a:r>
          </a:p>
          <a:p>
            <a:pPr lvl="0"/>
            <a:r>
              <a:rPr>
                <a:hlinkClick r:id="rId5"/>
              </a:rPr>
              <a:t>UMPLE Documentation</a:t>
            </a:r>
          </a:p>
          <a:p>
            <a:pPr lvl="0"/>
            <a:r>
              <a:rPr>
                <a:hlinkClick r:id="rId6"/>
              </a:rPr>
              <a:t>UMPLE CSI5112– February 2018</a:t>
            </a:r>
          </a:p>
          <a:p>
            <a:pPr lvl="0"/>
            <a:r>
              <a:rPr>
                <a:hlinkClick r:id="rId7"/>
              </a:rPr>
              <a:t>UMPLE Tutorial: Models 2020 Web</a:t>
            </a:r>
          </a:p>
          <a:p>
            <a:pPr lvl="0"/>
            <a:r>
              <a:rPr>
                <a:hlinkClick r:id="rId8"/>
              </a:rPr>
              <a:t>UMPLE Tutorial: Models 2020 Pdf</a:t>
            </a:r>
          </a:p>
        </p:txBody>
      </p:sp>
    </p:spTree>
  </p:cSld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hlinkClick r:id="rId2"/>
              </a:rPr>
              <a:t>Getting Started in UMPLE</a:t>
            </a:r>
          </a:p>
          <a:p>
            <a:pPr lvl="0"/>
            <a:r>
              <a:rPr>
                <a:hlinkClick r:id="rId3"/>
              </a:rPr>
              <a:t>Experiential Learning for Software Engineering Using Agile Modeling in UMPLE (Youtube)</a:t>
            </a:r>
          </a:p>
          <a:p>
            <a:pPr lvl="0"/>
            <a:r>
              <a:rPr>
                <a:hlinkClick r:id="rId4"/>
              </a:rPr>
              <a:t>Experiential Learning for Software Engineering Using Agile Modeling in UMPLE (Slide)</a:t>
            </a:r>
          </a:p>
          <a:p>
            <a:pPr lvl="0"/>
            <a:r>
              <a:rPr>
                <a:hlinkClick r:id="rId5"/>
              </a:rPr>
              <a:t>Tomassetti Code Generation</a:t>
            </a:r>
          </a:p>
        </p:txBody>
      </p:sp>
    </p:spTree>
  </p:cSld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E</m:t>
                    </m:r>
                    <m:r>
                      <m:t>n</m:t>
                    </m:r>
                    <m:r>
                      <m:t>d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O</m:t>
                    </m:r>
                    <m:r>
                      <m:t>f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W</m:t>
                    </m:r>
                    <m:r>
                      <m:t>e</m:t>
                    </m:r>
                    <m:r>
                      <m:t>e</m:t>
                    </m:r>
                    <m:r>
                      <m:t>k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6</m:t>
                    </m:r>
                  </m:oMath>
                </a14:m>
              </a:p>
            </p:txBody>
          </p:sp>
        </mc:Choice>
      </mc:AlternateContent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CEN206 Object-Oriented Programming</dc:title>
  <dc:creator>Author: Asst. Prof. Dr. Ugur CORUH</dc:creator>
  <cp:keywords/>
  <dcterms:created xsi:type="dcterms:W3CDTF">2026-03-03T13:34:36Z</dcterms:created>
  <dcterms:modified xsi:type="dcterms:W3CDTF">2026-03-03T13:34:36Z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class">
    <vt:lpwstr>lead</vt:lpwstr>
  </property>
  <property fmtid="{D5CDD505-2E9C-101B-9397-08002B2CF9AE}" pid="3" name="backgroundColor">
    <vt:lpwstr/>
  </property>
  <property fmtid="{D5CDD505-2E9C-101B-9397-08002B2CF9AE}" pid="4" name="backgroundImage">
    <vt:lpwstr>url(‘assets/hero-background.svg’)</vt:lpwstr>
  </property>
  <property fmtid="{D5CDD505-2E9C-101B-9397-08002B2CF9AE}" pid="5" name="date">
    <vt:lpwstr/>
  </property>
  <property fmtid="{D5CDD505-2E9C-101B-9397-08002B2CF9AE}" pid="6" name="disable-header-and-footer">
    <vt:lpwstr>False</vt:lpwstr>
  </property>
  <property fmtid="{D5CDD505-2E9C-101B-9397-08002B2CF9AE}" pid="7" name="footer">
    <vt:lpwstr>height:50px RTEU CEN206 Week-6</vt:lpwstr>
  </property>
  <property fmtid="{D5CDD505-2E9C-101B-9397-08002B2CF9AE}" pid="8" name="footer-center">
    <vt:lpwstr>© Copyright 2025-2026</vt:lpwstr>
  </property>
  <property fmtid="{D5CDD505-2E9C-101B-9397-08002B2CF9AE}" pid="9" name="footer-left">
    <vt:lpwstr>© Copyright 2025-2026 Asst. Prof. Dr. Ugur CORUH</vt:lpwstr>
  </property>
  <property fmtid="{D5CDD505-2E9C-101B-9397-08002B2CF9AE}" pid="10" name="footer-right">
    <vt:lpwstr/>
  </property>
  <property fmtid="{D5CDD505-2E9C-101B-9397-08002B2CF9AE}" pid="11" name="geometry">
    <vt:lpwstr>left=2.54cm,right=2.54cm,top=1.91cm,bottom=1.91cm</vt:lpwstr>
  </property>
  <property fmtid="{D5CDD505-2E9C-101B-9397-08002B2CF9AE}" pid="12" name="header">
    <vt:lpwstr>CEN206 Object-Oriented Programming</vt:lpwstr>
  </property>
  <property fmtid="{D5CDD505-2E9C-101B-9397-08002B2CF9AE}" pid="13" name="header-center">
    <vt:lpwstr/>
  </property>
  <property fmtid="{D5CDD505-2E9C-101B-9397-08002B2CF9AE}" pid="14" name="header-left">
    <vt:lpwstr/>
  </property>
  <property fmtid="{D5CDD505-2E9C-101B-9397-08002B2CF9AE}" pid="15" name="header-right">
    <vt:lpwstr/>
  </property>
  <property fmtid="{D5CDD505-2E9C-101B-9397-08002B2CF9AE}" pid="16" name="links-as-notes">
    <vt:lpwstr>True</vt:lpwstr>
  </property>
  <property fmtid="{D5CDD505-2E9C-101B-9397-08002B2CF9AE}" pid="17" name="listings-disable-line-numbers">
    <vt:lpwstr>True</vt:lpwstr>
  </property>
  <property fmtid="{D5CDD505-2E9C-101B-9397-08002B2CF9AE}" pid="18" name="listings-no-page-break">
    <vt:lpwstr>False</vt:lpwstr>
  </property>
  <property fmtid="{D5CDD505-2E9C-101B-9397-08002B2CF9AE}" pid="19" name="lof">
    <vt:lpwstr>True</vt:lpwstr>
  </property>
  <property fmtid="{D5CDD505-2E9C-101B-9397-08002B2CF9AE}" pid="20" name="logo">
    <vt:lpwstr>assets/2021-10-19-15-01-36-image.png</vt:lpwstr>
  </property>
  <property fmtid="{D5CDD505-2E9C-101B-9397-08002B2CF9AE}" pid="21" name="logo-width">
    <vt:lpwstr>100</vt:lpwstr>
  </property>
  <property fmtid="{D5CDD505-2E9C-101B-9397-08002B2CF9AE}" pid="22" name="lot">
    <vt:lpwstr>True</vt:lpwstr>
  </property>
  <property fmtid="{D5CDD505-2E9C-101B-9397-08002B2CF9AE}" pid="23" name="marp">
    <vt:lpwstr>True</vt:lpwstr>
  </property>
  <property fmtid="{D5CDD505-2E9C-101B-9397-08002B2CF9AE}" pid="24" name="math">
    <vt:lpwstr>katex</vt:lpwstr>
  </property>
  <property fmtid="{D5CDD505-2E9C-101B-9397-08002B2CF9AE}" pid="25" name="page-background">
    <vt:lpwstr/>
  </property>
  <property fmtid="{D5CDD505-2E9C-101B-9397-08002B2CF9AE}" pid="26" name="page-background-opacity">
    <vt:lpwstr/>
  </property>
  <property fmtid="{D5CDD505-2E9C-101B-9397-08002B2CF9AE}" pid="27" name="paginate">
    <vt:lpwstr>True</vt:lpwstr>
  </property>
  <property fmtid="{D5CDD505-2E9C-101B-9397-08002B2CF9AE}" pid="28" name="style">
    <vt:lpwstr>img[alt~=“center”] { display: block; margin: 0 auto; }</vt:lpwstr>
  </property>
  <property fmtid="{D5CDD505-2E9C-101B-9397-08002B2CF9AE}" pid="29" name="subparagraph">
    <vt:lpwstr>True</vt:lpwstr>
  </property>
  <property fmtid="{D5CDD505-2E9C-101B-9397-08002B2CF9AE}" pid="30" name="subtitle">
    <vt:lpwstr>UMPLE - Part 1</vt:lpwstr>
  </property>
  <property fmtid="{D5CDD505-2E9C-101B-9397-08002B2CF9AE}" pid="31" name="theme">
    <vt:lpwstr>default</vt:lpwstr>
  </property>
  <property fmtid="{D5CDD505-2E9C-101B-9397-08002B2CF9AE}" pid="32" name="titlepage">
    <vt:lpwstr>True</vt:lpwstr>
  </property>
  <property fmtid="{D5CDD505-2E9C-101B-9397-08002B2CF9AE}" pid="33" name="titlepage-color">
    <vt:lpwstr>FFFFFF</vt:lpwstr>
  </property>
  <property fmtid="{D5CDD505-2E9C-101B-9397-08002B2CF9AE}" pid="34" name="titlepage-rule-color">
    <vt:lpwstr>CCCCCC</vt:lpwstr>
  </property>
  <property fmtid="{D5CDD505-2E9C-101B-9397-08002B2CF9AE}" pid="35" name="titlepage-rule-height">
    <vt:lpwstr>4</vt:lpwstr>
  </property>
  <property fmtid="{D5CDD505-2E9C-101B-9397-08002B2CF9AE}" pid="36" name="titlepage-text-color">
    <vt:lpwstr>000000</vt:lpwstr>
  </property>
</Properties>
</file>