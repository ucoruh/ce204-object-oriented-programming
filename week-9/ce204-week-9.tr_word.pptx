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8" Type="http://schemas.openxmlformats.org/officeDocument/2006/relationships/viewProps" Target="viewProps.xml" /><Relationship Id="rId127" Type="http://schemas.openxmlformats.org/officeDocument/2006/relationships/presProps" Target="presProps.xml" /><Relationship Id="rId1" Type="http://schemas.openxmlformats.org/officeDocument/2006/relationships/slideMaster" Target="slideMasters/slideMaster1.xml" /><Relationship Id="rId130" Type="http://schemas.openxmlformats.org/officeDocument/2006/relationships/tableStyles" Target="tableStyles.xml" /><Relationship Id="rId12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9.tr.md_doc.pdf" TargetMode="External" /><Relationship Id="rId3" Type="http://schemas.openxmlformats.org/officeDocument/2006/relationships/hyperlink" Target="ce204-week-9.tr.md_word.docx" TargetMode="External" /><Relationship Id="rId4" Type="http://schemas.openxmlformats.org/officeDocument/2006/relationships/hyperlink" Target="ce204-week-9.tr.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factory-method" TargetMode="Externa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abstract-factory" TargetMode="Externa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builder" TargetMode="Externa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prototype" TargetMode="Externa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singleton" TargetMode="Externa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 TargetMode="External" /><Relationship Id="rId3" Type="http://schemas.openxmlformats.org/officeDocument/2006/relationships/hyperlink" Target="https://refactoring.guru/design-patterns/factory-method" TargetMode="External" /><Relationship Id="rId4" Type="http://schemas.openxmlformats.org/officeDocument/2006/relationships/hyperlink" Target="https://refactoring.guru/design-patterns/abstract-factory" TargetMode="External" /><Relationship Id="rId5" Type="http://schemas.openxmlformats.org/officeDocument/2006/relationships/hyperlink" Target="https://refactoring.guru/design-patterns/builder" TargetMode="External" /><Relationship Id="rId6" Type="http://schemas.openxmlformats.org/officeDocument/2006/relationships/hyperlink" Target="https://refactoring.guru/design-patterns/prototype" TargetMode="External" /><Relationship Id="rId7" Type="http://schemas.openxmlformats.org/officeDocument/2006/relationships/hyperlink" Target="https://refactoring.guru/design-patterns/singleton" TargetMode="Externa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Nesne Yönelimli Programlama</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Tasarım Desenlerine Giriş ve Yaratımsal Desenler</a:t>
            </a:r>
            <a:br/>
            <a:br/>
            <a:r>
              <a:rPr/>
              <a:t>Yazar: Dr. Öğr. Üyesi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Nesne Yönelimli Programlama</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Hafta-9 (Tasarım Desenlerine Giriş ve Yaratımsal Desenler)</a:t>
            </a:r>
          </a:p>
        </p:txBody>
      </p:sp>
      <p:sp>
        <p:nvSpPr>
          <p:cNvPr id="3" name="Content Placeholder 2"/>
          <p:cNvSpPr>
            <a:spLocks noGrp="1"/>
          </p:cNvSpPr>
          <p:nvPr>
            <p:ph idx="1"/>
          </p:nvPr>
        </p:nvSpPr>
        <p:spPr/>
        <p:txBody>
          <a:bodyPr/>
          <a:lstStyle/>
          <a:p>
            <a:pPr lvl="0" indent="0" marL="0">
              <a:spcBef>
                <a:spcPts val="3000"/>
              </a:spcBef>
              <a:buNone/>
            </a:pPr>
            <a:r>
              <a:rPr b="1"/>
              <a:t>Bahar Dönemi, 2025-2026</a:t>
            </a:r>
          </a:p>
          <a:p>
            <a:pPr lvl="0" indent="0" marL="0">
              <a:buNone/>
            </a:pPr>
            <a:r>
              <a:rPr/>
              <a:t>İndir </a:t>
            </a:r>
            <a:r>
              <a:rPr>
                <a:hlinkClick r:id="rId2"/>
              </a:rPr>
              <a:t>DOC-PDF</a:t>
            </a:r>
            <a:r>
              <a:rPr/>
              <a:t>, </a:t>
            </a:r>
            <a:r>
              <a:rPr>
                <a:hlinkClick r:id="rId3"/>
              </a:rPr>
              <a:t>DOC-DOCX</a:t>
            </a:r>
            <a:r>
              <a:rPr/>
              <a:t>, </a:t>
            </a:r>
            <a:r>
              <a:rPr>
                <a:hlinkClick r:id="rId4"/>
              </a:rPr>
              <a:t>SLAYT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Hafta-9 Ana Hatlar</a:t>
            </a:r>
          </a:p>
        </p:txBody>
      </p:sp>
      <p:sp>
        <p:nvSpPr>
          <p:cNvPr id="3" name="Content Placeholder 2"/>
          <p:cNvSpPr>
            <a:spLocks noGrp="1"/>
          </p:cNvSpPr>
          <p:nvPr>
            <p:ph idx="1"/>
          </p:nvPr>
        </p:nvSpPr>
        <p:spPr/>
        <p:txBody>
          <a:bodyPr/>
          <a:lstStyle/>
          <a:p>
            <a:pPr lvl="0" indent="0" marL="0">
              <a:spcBef>
                <a:spcPts val="3000"/>
              </a:spcBef>
              <a:buNone/>
            </a:pPr>
            <a:r>
              <a:rPr b="1"/>
              <a:t>Modüller</a:t>
            </a:r>
          </a:p>
          <a:p>
            <a:pPr lvl="0"/>
            <a:r>
              <a:rPr b="1"/>
              <a:t>Modül A:</a:t>
            </a:r>
            <a:r>
              <a:rPr/>
              <a:t> Tasarım Desenleri (Design Patterns) Nedir?</a:t>
            </a:r>
          </a:p>
          <a:p>
            <a:pPr lvl="0"/>
            <a:r>
              <a:rPr b="1"/>
              <a:t>Modül B:</a:t>
            </a:r>
            <a:r>
              <a:rPr/>
              <a:t> Factory Method (Fabrika Yöntemi) Deseni</a:t>
            </a:r>
          </a:p>
          <a:p>
            <a:pPr lvl="0"/>
            <a:r>
              <a:rPr b="1"/>
              <a:t>Modül C:</a:t>
            </a:r>
            <a:r>
              <a:rPr/>
              <a:t> Abstract Factory (Soyut Fabrika) Deseni</a:t>
            </a:r>
          </a:p>
          <a:p>
            <a:pPr lvl="0"/>
            <a:r>
              <a:rPr b="1"/>
              <a:t>Modül D:</a:t>
            </a:r>
            <a:r>
              <a:rPr/>
              <a:t> Builder (İnşaatçı) Deseni</a:t>
            </a:r>
          </a:p>
          <a:p>
            <a:pPr lvl="0"/>
            <a:r>
              <a:rPr b="1"/>
              <a:t>Modül E:</a:t>
            </a:r>
            <a:r>
              <a:rPr/>
              <a:t> Prototype (Prototip) Deseni</a:t>
            </a:r>
          </a:p>
          <a:p>
            <a:pPr lvl="0"/>
            <a:r>
              <a:rPr b="1"/>
              <a:t>Modül F:</a:t>
            </a:r>
            <a:r>
              <a:rPr/>
              <a:t> Singleton (Tekil Nesne) Deseni</a:t>
            </a:r>
          </a:p>
          <a:p>
            <a:pPr lvl="0" indent="0" marL="0">
              <a:buNone/>
            </a:pPr>
            <a:r>
              <a:rPr/>
              <a:t>Her modül; amaç, problem, çözüm, yapı, sözde kod, uygulanabilirlik, uygulama adımları, artılar/eksiler, diğer desenlerle ilişkiler ve Java kod örneklerini kapsamlı şekilde içermektedir.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A: Tasarım Desenleri (Design Patterns) Nedir?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Tasarım Desenleri (Design Patterns) Nedir?</a:t>
            </a:r>
          </a:p>
        </p:txBody>
      </p:sp>
      <p:sp>
        <p:nvSpPr>
          <p:cNvPr id="3" name="Content Placeholder 2"/>
          <p:cNvSpPr>
            <a:spLocks noGrp="1"/>
          </p:cNvSpPr>
          <p:nvPr>
            <p:ph idx="1"/>
          </p:nvPr>
        </p:nvSpPr>
        <p:spPr/>
        <p:txBody>
          <a:bodyPr/>
          <a:lstStyle/>
          <a:p>
            <a:pPr lvl="0"/>
            <a:r>
              <a:rPr b="1"/>
              <a:t>Tasarım desenleri (Design Patterns)</a:t>
            </a:r>
            <a:r>
              <a:rPr/>
              <a:t>, yazılım tasarımında sıkça karşılaşılan sorunlara yönelik tipik çözümlerdir.</a:t>
            </a:r>
          </a:p>
          <a:p>
            <a:pPr lvl="0"/>
            <a:r>
              <a:rPr/>
              <a:t>Kodunuzdaki tekrarlayan bir tasarım sorununu çözmek için özelleştirebileceğiniz hazır şablonlar gibidirler.</a:t>
            </a:r>
          </a:p>
          <a:p>
            <a:pPr lvl="0"/>
            <a:r>
              <a:rPr/>
              <a:t>Bir desen belirli bir kod parçası değil, belirli bir sorunu çözmek için genel bir kavramdır.</a:t>
            </a:r>
          </a:p>
          <a:p>
            <a:pPr lvl="0"/>
            <a:r>
              <a:rPr/>
              <a:t>Desen ayrıntılarını takip edebilir ve kendi programınızın gerçeklerine uygun bir çözüm uygulayabilirsiniz.</a:t>
            </a:r>
          </a:p>
          <a:p>
            <a:pPr lvl="0"/>
            <a:r>
              <a:rPr/>
              <a:t>Desenler genellikle algoritmalarla karıştırılır. Bir algoritma her zaman net bir eylem dizisi tanımlarken, bir desen bir çözümün daha üst düzey bir açıklamasıdır.</a:t>
            </a:r>
          </a:p>
          <a:p>
            <a:pPr lvl="0"/>
            <a:r>
              <a:rPr/>
              <a:t>Aynı desenin iki farklı programa uygulanmış kodu birbirinden farklı olabilir.</a:t>
            </a:r>
          </a:p>
          <a:p>
            <a:pPr lvl="0" indent="0" marL="0">
              <a:buNone/>
            </a:pPr>
            <a:r>
              <a:rPr/>
              <a:t>Referans: </a:t>
            </a:r>
            <a:r>
              <a:rPr>
                <a:hlinkClick r:id="rId2"/>
              </a:rPr>
              <a:t>RefactoringGuru - Design Patterns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Desenler ve Algoritmalar Karşılaştırması</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422400"/>
                <a:gridCol w="1739900"/>
                <a:gridCol w="5067300"/>
              </a:tblGrid>
              <a:tr h="0">
                <a:tc>
                  <a:txBody>
                    <a:bodyPr/>
                    <a:lstStyle/>
                    <a:p>
                      <a:pPr lvl="0" indent="0" marL="0">
                        <a:buNone/>
                      </a:pPr>
                      <a:r>
                        <a:rPr/>
                        <a:t>Özellik</a:t>
                      </a:r>
                    </a:p>
                  </a:txBody>
                  <a:tcPr/>
                </a:tc>
                <a:tc>
                  <a:txBody>
                    <a:bodyPr/>
                    <a:lstStyle/>
                    <a:p>
                      <a:pPr lvl="0" indent="0" marL="0">
                        <a:buNone/>
                      </a:pPr>
                      <a:r>
                        <a:rPr/>
                        <a:t>Algoritma</a:t>
                      </a:r>
                    </a:p>
                  </a:txBody>
                  <a:tcPr/>
                </a:tc>
                <a:tc>
                  <a:txBody>
                    <a:bodyPr/>
                    <a:lstStyle/>
                    <a:p>
                      <a:pPr lvl="0" indent="0" marL="0">
                        <a:buNone/>
                      </a:pPr>
                      <a:r>
                        <a:rPr/>
                        <a:t>Tasarım Deseni (Design Pattern)</a:t>
                      </a:r>
                    </a:p>
                  </a:txBody>
                  <a:tcPr/>
                </a:tc>
              </a:tr>
              <a:tr h="0">
                <a:tc>
                  <a:txBody>
                    <a:bodyPr/>
                    <a:lstStyle/>
                    <a:p>
                      <a:pPr lvl="0" indent="0" marL="0">
                        <a:buNone/>
                      </a:pPr>
                      <a:r>
                        <a:rPr b="1"/>
                        <a:t>Düzey</a:t>
                      </a:r>
                    </a:p>
                  </a:txBody>
                </a:tc>
                <a:tc>
                  <a:txBody>
                    <a:bodyPr/>
                    <a:lstStyle/>
                    <a:p>
                      <a:pPr lvl="0" indent="0" marL="0">
                        <a:buNone/>
                      </a:pPr>
                      <a:r>
                        <a:rPr/>
                        <a:t>Düşük seviyeli, adım adım</a:t>
                      </a:r>
                    </a:p>
                  </a:txBody>
                </a:tc>
                <a:tc>
                  <a:txBody>
                    <a:bodyPr/>
                    <a:lstStyle/>
                    <a:p>
                      <a:pPr lvl="0" indent="0" marL="0">
                        <a:buNone/>
                      </a:pPr>
                      <a:r>
                        <a:rPr/>
                        <a:t>Üst düzey, mimari</a:t>
                      </a:r>
                    </a:p>
                  </a:txBody>
                </a:tc>
              </a:tr>
              <a:tr h="0">
                <a:tc>
                  <a:txBody>
                    <a:bodyPr/>
                    <a:lstStyle/>
                    <a:p>
                      <a:pPr lvl="0" indent="0" marL="0">
                        <a:buNone/>
                      </a:pPr>
                      <a:r>
                        <a:rPr b="1"/>
                        <a:t>Benzetme</a:t>
                      </a:r>
                    </a:p>
                  </a:txBody>
                </a:tc>
                <a:tc>
                  <a:txBody>
                    <a:bodyPr/>
                    <a:lstStyle/>
                    <a:p>
                      <a:pPr lvl="0" indent="0" marL="0">
                        <a:buNone/>
                      </a:pPr>
                      <a:r>
                        <a:rPr/>
                        <a:t>Bir yemek tarifi</a:t>
                      </a:r>
                    </a:p>
                  </a:txBody>
                </a:tc>
                <a:tc>
                  <a:txBody>
                    <a:bodyPr/>
                    <a:lstStyle/>
                    <a:p>
                      <a:pPr lvl="0" indent="0" marL="0">
                        <a:buNone/>
                      </a:pPr>
                      <a:r>
                        <a:rPr/>
                        <a:t>Bir mimari plan</a:t>
                      </a:r>
                    </a:p>
                  </a:txBody>
                </a:tc>
              </a:tr>
              <a:tr h="0">
                <a:tc>
                  <a:txBody>
                    <a:bodyPr/>
                    <a:lstStyle/>
                    <a:p>
                      <a:pPr lvl="0" indent="0" marL="0">
                        <a:buNone/>
                      </a:pPr>
                      <a:r>
                        <a:rPr b="1"/>
                        <a:t>Özgüllük</a:t>
                      </a:r>
                    </a:p>
                  </a:txBody>
                </a:tc>
                <a:tc>
                  <a:txBody>
                    <a:bodyPr/>
                    <a:lstStyle/>
                    <a:p>
                      <a:pPr lvl="0" indent="0" marL="0">
                        <a:buNone/>
                      </a:pPr>
                      <a:r>
                        <a:rPr/>
                        <a:t>Bir hedefe ulaşmak için net eylem dizisi</a:t>
                      </a:r>
                    </a:p>
                  </a:txBody>
                </a:tc>
                <a:tc>
                  <a:txBody>
                    <a:bodyPr/>
                    <a:lstStyle/>
                    <a:p>
                      <a:pPr lvl="0" indent="0" marL="0">
                        <a:buNone/>
                      </a:pPr>
                      <a:r>
                        <a:rPr/>
                        <a:t>Bir sorunu çözmek için genel kavram</a:t>
                      </a:r>
                    </a:p>
                  </a:txBody>
                </a:tc>
              </a:tr>
              <a:tr h="0">
                <a:tc>
                  <a:txBody>
                    <a:bodyPr/>
                    <a:lstStyle/>
                    <a:p>
                      <a:pPr lvl="0" indent="0" marL="0">
                        <a:buNone/>
                      </a:pPr>
                      <a:r>
                        <a:rPr b="1"/>
                        <a:t>Uygulama</a:t>
                      </a:r>
                    </a:p>
                  </a:txBody>
                </a:tc>
                <a:tc>
                  <a:txBody>
                    <a:bodyPr/>
                    <a:lstStyle/>
                    <a:p>
                      <a:pPr lvl="0" indent="0" marL="0">
                        <a:buNone/>
                      </a:pPr>
                      <a:r>
                        <a:rPr/>
                        <a:t>Aynı kod doğrudan yeniden kullanılabilir</a:t>
                      </a:r>
                    </a:p>
                  </a:txBody>
                </a:tc>
                <a:tc>
                  <a:txBody>
                    <a:bodyPr/>
                    <a:lstStyle/>
                    <a:p>
                      <a:pPr lvl="0" indent="0" marL="0">
                        <a:buNone/>
                      </a:pPr>
                      <a:r>
                        <a:rPr/>
                        <a:t>Her programa uyarlanmalıdır</a:t>
                      </a:r>
                    </a:p>
                  </a:txBody>
                </a:tc>
              </a:tr>
              <a:tr h="0">
                <a:tc>
                  <a:txBody>
                    <a:bodyPr/>
                    <a:lstStyle/>
                    <a:p>
                      <a:pPr lvl="0" indent="0" marL="0">
                        <a:buNone/>
                      </a:pPr>
                      <a:r>
                        <a:rPr b="1"/>
                        <a:t>Odak</a:t>
                      </a:r>
                    </a:p>
                  </a:txBody>
                </a:tc>
                <a:tc>
                  <a:txBody>
                    <a:bodyPr/>
                    <a:lstStyle/>
                    <a:p>
                      <a:pPr lvl="0" indent="0" marL="0">
                        <a:buNone/>
                      </a:pPr>
                      <a:r>
                        <a:rPr/>
                        <a:t>Veriyi nasıl işlenir</a:t>
                      </a:r>
                    </a:p>
                  </a:txBody>
                </a:tc>
                <a:tc>
                  <a:txBody>
                    <a:bodyPr/>
                    <a:lstStyle/>
                    <a:p>
                      <a:pPr lvl="0" indent="0" marL="0">
                        <a:buNone/>
                      </a:pPr>
                      <a:r>
                        <a:rPr/>
                        <a:t>Kodu nasıl yapılandırılır</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Bir algoritma bir yemek tarifi gibidir: her ikisinde de bir hedefe ulaşmak için net adımlar vardır.</a:t>
            </a:r>
          </a:p>
          <a:p>
            <a:pPr lvl="0"/>
            <a:r>
              <a:rPr/>
              <a:t>Bir desen daha çok bir mimari plan gibidir: sonucun ve özelliklerinin ne olduğunu görebilirsiniz, ancak kesin uygulama sırası size bağlıdır.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Bir Desen Nelerden Oluşur?</a:t>
            </a:r>
          </a:p>
        </p:txBody>
      </p:sp>
      <p:sp>
        <p:nvSpPr>
          <p:cNvPr id="3" name="Content Placeholder 2"/>
          <p:cNvSpPr>
            <a:spLocks noGrp="1"/>
          </p:cNvSpPr>
          <p:nvPr>
            <p:ph idx="1"/>
          </p:nvPr>
        </p:nvSpPr>
        <p:spPr/>
        <p:txBody>
          <a:bodyPr/>
          <a:lstStyle/>
          <a:p>
            <a:pPr lvl="0" indent="0" marL="0">
              <a:buNone/>
            </a:pPr>
            <a:r>
              <a:rPr/>
              <a:t>Çoğu desen, birçok bağlamda yeniden üretilebilmeleri için biçimsel olarak tanımlanır. Bir desen açıklaması genellikle şunları içerir:</a:t>
            </a:r>
          </a:p>
          <a:p>
            <a:pPr lvl="0"/>
            <a:r>
              <a:rPr b="1"/>
              <a:t>Amaç (Intent)</a:t>
            </a:r>
            <a:r>
              <a:rPr/>
              <a:t>: hem sorunu hem de çözümü kısaca açıklar.</a:t>
            </a:r>
          </a:p>
          <a:p>
            <a:pPr lvl="0"/>
            <a:r>
              <a:rPr b="1"/>
              <a:t>Motivasyon (Motivation)</a:t>
            </a:r>
            <a:r>
              <a:rPr/>
              <a:t>: sorunu ve desenin mümkün kıldığı çözümü daha ayrıntılı açıklar.</a:t>
            </a:r>
          </a:p>
          <a:p>
            <a:pPr lvl="0"/>
            <a:r>
              <a:rPr b="1"/>
              <a:t>Yapı (Structure)</a:t>
            </a:r>
            <a:r>
              <a:rPr/>
              <a:t>: desenin her parçasını ve bunların birbirleriyle nasıl ilişkili olduğunu gösterir (sınıf diyagramları).</a:t>
            </a:r>
          </a:p>
          <a:p>
            <a:pPr lvl="0"/>
            <a:r>
              <a:rPr b="1"/>
              <a:t>Sözde Kod/Kod Örneği (Pseudocode/Code example)</a:t>
            </a:r>
            <a:r>
              <a:rPr/>
              <a:t>: desenin arkasındaki fikri kavramayı kolaylaştırır.</a:t>
            </a:r>
          </a:p>
          <a:p>
            <a:pPr lvl="0"/>
            <a:r>
              <a:rPr b="1"/>
              <a:t>Uygulanabilirlik (Applicability)</a:t>
            </a:r>
            <a:r>
              <a:rPr/>
              <a:t>: desenin ne zaman kullanılacağı.</a:t>
            </a:r>
          </a:p>
          <a:p>
            <a:pPr lvl="0"/>
            <a:r>
              <a:rPr b="1"/>
              <a:t>Uygulama Adımları (Implementation steps)</a:t>
            </a:r>
            <a:r>
              <a:rPr/>
              <a:t>: desenin nasıl uygulanacağı.</a:t>
            </a:r>
          </a:p>
          <a:p>
            <a:pPr lvl="0"/>
            <a:r>
              <a:rPr b="1"/>
              <a:t>Diğer Desenlerle İlişkiler (Relations with other patterns)</a:t>
            </a:r>
            <a:r>
              <a:rPr/>
              <a:t>: desenlerin birbirleriyle nasıl ilişkili olduğu.</a:t>
            </a:r>
          </a:p>
          <a:p>
            <a:pPr lvl="0" indent="0" marL="0">
              <a:buNone/>
            </a:pPr>
            <a:r>
              <a:rPr/>
              <a:t>Bazı desen katalogları ayrıca şunları listeler: artılar ve eksiler, bilinen kullanımlar ve alternatif isimler.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Tasarım Desenlerinin Tarihçesi</a:t>
            </a:r>
          </a:p>
        </p:txBody>
      </p:sp>
      <p:sp>
        <p:nvSpPr>
          <p:cNvPr id="3" name="Content Placeholder 2"/>
          <p:cNvSpPr>
            <a:spLocks noGrp="1"/>
          </p:cNvSpPr>
          <p:nvPr>
            <p:ph idx="1"/>
          </p:nvPr>
        </p:nvSpPr>
        <p:spPr/>
        <p:txBody>
          <a:bodyPr/>
          <a:lstStyle/>
          <a:p>
            <a:pPr lvl="0"/>
            <a:r>
              <a:rPr/>
              <a:t>Desen kavramı ilk olarak </a:t>
            </a:r>
            <a:r>
              <a:rPr b="1"/>
              <a:t>Christopher Alexander</a:t>
            </a:r>
            <a:r>
              <a:rPr/>
              <a:t> tarafından </a:t>
            </a:r>
            <a:r>
              <a:rPr i="1"/>
              <a:t>A Pattern Language: Towns, Buildings, Construction</a:t>
            </a:r>
            <a:r>
              <a:rPr/>
              <a:t> (1977) adlı kitapta tanımlanmıştır.</a:t>
            </a:r>
          </a:p>
          <a:p>
            <a:pPr lvl="1"/>
            <a:r>
              <a:rPr/>
              <a:t>Kitap, kentsel çevreyi tasarlamak için bir “dil” tanımlar.</a:t>
            </a:r>
          </a:p>
          <a:p>
            <a:pPr lvl="0"/>
            <a:r>
              <a:rPr/>
              <a:t>Bu fikir dört yazar tarafından benimsendi: </a:t>
            </a:r>
            <a:r>
              <a:rPr b="1"/>
              <a:t>Erich Gamma</a:t>
            </a:r>
            <a:r>
              <a:rPr/>
              <a:t>, </a:t>
            </a:r>
            <a:r>
              <a:rPr b="1"/>
              <a:t>John Vlissides</a:t>
            </a:r>
            <a:r>
              <a:rPr/>
              <a:t>, </a:t>
            </a:r>
            <a:r>
              <a:rPr b="1"/>
              <a:t>Ralph Johnson</a:t>
            </a:r>
            <a:r>
              <a:rPr/>
              <a:t> ve </a:t>
            </a:r>
            <a:r>
              <a:rPr b="1"/>
              <a:t>Richard Helm</a:t>
            </a:r>
            <a:r>
              <a:rPr/>
              <a:t>.</a:t>
            </a:r>
          </a:p>
          <a:p>
            <a:pPr lvl="0"/>
            <a:r>
              <a:rPr/>
              <a:t>1994’te </a:t>
            </a:r>
            <a:r>
              <a:rPr b="1"/>
              <a:t>“Design Patterns: Elements of Reusable Object-Oriented Software”</a:t>
            </a:r>
            <a:r>
              <a:rPr/>
              <a:t> kitabını yayımladılar.</a:t>
            </a:r>
          </a:p>
          <a:p>
            <a:pPr lvl="0"/>
            <a:r>
              <a:rPr/>
              <a:t>Kitapta, nesne yönelimli tasarımın çeşitli sorunlarını çözen </a:t>
            </a:r>
            <a:r>
              <a:rPr b="1"/>
              <a:t>23 desen</a:t>
            </a:r>
            <a:r>
              <a:rPr/>
              <a:t> yer almaktadır.</a:t>
            </a:r>
          </a:p>
          <a:p>
            <a:pPr lvl="0"/>
            <a:r>
              <a:rPr/>
              <a:t>Kitabın uzun ismi nedeniyle insanlar ona </a:t>
            </a:r>
            <a:r>
              <a:rPr b="1"/>
              <a:t>“Dörtlü Çete (Gang of Four - GoF) kitabı”</a:t>
            </a:r>
            <a:r>
              <a:rPr/>
              <a:t> demeye başladı.</a:t>
            </a:r>
          </a:p>
          <a:p>
            <a:pPr lvl="0"/>
            <a:r>
              <a:rPr/>
              <a:t>O zamandan beri düzinelerce başka nesne yönelimli desen keşfedilmiştir.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Dörtlü Çete (Gang of Four - GoF)</a:t>
            </a:r>
          </a:p>
        </p:txBody>
      </p:sp>
      <p:sp>
        <p:nvSpPr>
          <p:cNvPr id="4" name="Text Placeholder 3"/>
          <p:cNvSpPr>
            <a:spLocks noGrp="1"/>
          </p:cNvSpPr>
          <p:nvPr>
            <p:ph idx="2" sz="half" type="body"/>
          </p:nvPr>
        </p:nvSpPr>
        <p:spPr/>
        <p:txBody>
          <a:bodyPr/>
          <a:lstStyle/>
          <a:p>
            <a:pPr lvl="0" indent="0" marL="0">
              <a:buNone/>
            </a:pPr>
            <a:r>
              <a:rPr/>
              <a:t>Bu çığır açan kitabın dört yazarı:</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Yazar</a:t>
                      </a:r>
                    </a:p>
                  </a:txBody>
                  <a:tcPr/>
                </a:tc>
                <a:tc>
                  <a:txBody>
                    <a:bodyPr/>
                    <a:lstStyle/>
                    <a:p>
                      <a:pPr lvl="0" indent="0" marL="0">
                        <a:buNone/>
                      </a:pPr>
                      <a:r>
                        <a:rPr/>
                        <a:t>Katkı</a:t>
                      </a:r>
                    </a:p>
                  </a:txBody>
                  <a:tcPr/>
                </a:tc>
              </a:tr>
              <a:tr h="0">
                <a:tc>
                  <a:txBody>
                    <a:bodyPr/>
                    <a:lstStyle/>
                    <a:p>
                      <a:pPr lvl="0" indent="0" marL="0">
                        <a:buNone/>
                      </a:pPr>
                      <a:r>
                        <a:rPr b="1"/>
                        <a:t>Erich Gamma</a:t>
                      </a:r>
                    </a:p>
                  </a:txBody>
                </a:tc>
                <a:tc>
                  <a:txBody>
                    <a:bodyPr/>
                    <a:lstStyle/>
                    <a:p>
                      <a:pPr lvl="0" indent="0" marL="0">
                        <a:buNone/>
                      </a:pPr>
                      <a:r>
                        <a:rPr/>
                        <a:t>Daha sonra IBM’de Eclipse platform geliştirmesini yönetti</a:t>
                      </a:r>
                    </a:p>
                  </a:txBody>
                </a:tc>
              </a:tr>
              <a:tr h="0">
                <a:tc>
                  <a:txBody>
                    <a:bodyPr/>
                    <a:lstStyle/>
                    <a:p>
                      <a:pPr lvl="0" indent="0" marL="0">
                        <a:buNone/>
                      </a:pPr>
                      <a:r>
                        <a:rPr b="1"/>
                        <a:t>Richard Helm</a:t>
                      </a:r>
                    </a:p>
                  </a:txBody>
                </a:tc>
                <a:tc>
                  <a:txBody>
                    <a:bodyPr/>
                    <a:lstStyle/>
                    <a:p>
                      <a:pPr lvl="0" indent="0" marL="0">
                        <a:buNone/>
                      </a:pPr>
                      <a:r>
                        <a:rPr/>
                        <a:t>Avustralya’da yazılım mimarı</a:t>
                      </a:r>
                    </a:p>
                  </a:txBody>
                </a:tc>
              </a:tr>
              <a:tr h="0">
                <a:tc>
                  <a:txBody>
                    <a:bodyPr/>
                    <a:lstStyle/>
                    <a:p>
                      <a:pPr lvl="0" indent="0" marL="0">
                        <a:buNone/>
                      </a:pPr>
                      <a:r>
                        <a:rPr b="1"/>
                        <a:t>Ralph Johnson</a:t>
                      </a:r>
                    </a:p>
                  </a:txBody>
                </a:tc>
                <a:tc>
                  <a:txBody>
                    <a:bodyPr/>
                    <a:lstStyle/>
                    <a:p>
                      <a:pPr lvl="0" indent="0" marL="0">
                        <a:buNone/>
                      </a:pPr>
                      <a:r>
                        <a:rPr/>
                        <a:t>Illinois Üniversitesi’nde profesör</a:t>
                      </a:r>
                    </a:p>
                  </a:txBody>
                </a:tc>
              </a:tr>
              <a:tr h="0">
                <a:tc>
                  <a:txBody>
                    <a:bodyPr/>
                    <a:lstStyle/>
                    <a:p>
                      <a:pPr lvl="0" indent="0" marL="0">
                        <a:buNone/>
                      </a:pPr>
                      <a:r>
                        <a:rPr b="1"/>
                        <a:t>John Vlissides</a:t>
                      </a:r>
                    </a:p>
                  </a:txBody>
                </a:tc>
                <a:tc>
                  <a:txBody>
                    <a:bodyPr/>
                    <a:lstStyle/>
                    <a:p>
                      <a:pPr lvl="0" indent="0" marL="0">
                        <a:buNone/>
                      </a:pPr>
                      <a:r>
                        <a:rPr/>
                        <a:t>IBM’de araştırmacı (1961-2005)</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Kitapları, bugün hala NYP’nin (Nesne Yönelimli Programlama) temelini oluşturan 23 klasik tasarım desenini kataloglamıştır. Desenler, gerçek dünya yazılım geliştirme deneyimi yoluyla organik olarak gelişen çözümlerdir.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Tasarım Desenlerinin Sınıflandırılması</a:t>
            </a:r>
          </a:p>
        </p:txBody>
      </p:sp>
      <p:sp>
        <p:nvSpPr>
          <p:cNvPr id="4" name="Text Placeholder 3"/>
          <p:cNvSpPr>
            <a:spLocks noGrp="1"/>
          </p:cNvSpPr>
          <p:nvPr>
            <p:ph idx="2" sz="half" type="body"/>
          </p:nvPr>
        </p:nvSpPr>
        <p:spPr/>
        <p:txBody>
          <a:bodyPr/>
          <a:lstStyle/>
          <a:p>
            <a:pPr lvl="0" indent="0" marL="0">
              <a:buNone/>
            </a:pPr>
            <a:r>
              <a:rPr/>
              <a:t>Tasarım desenleri karmaşıklık, ayrıntı düzeyi ve uygulanabilirlik ölçeği bakımından farklılık gösterir. GoF bunları </a:t>
            </a:r>
            <a:r>
              <a:rPr b="1"/>
              <a:t>üç kategoriye</a:t>
            </a:r>
            <a:r>
              <a:rPr/>
              <a:t> sınıflandırmıştır: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324100"/>
                <a:gridCol w="1397000"/>
                <a:gridCol w="1397000"/>
              </a:tblGrid>
              <a:tr h="0">
                <a:tc>
                  <a:txBody>
                    <a:bodyPr/>
                    <a:lstStyle/>
                    <a:p>
                      <a:pPr lvl="0" indent="0" marL="0">
                        <a:buNone/>
                      </a:pPr>
                      <a:r>
                        <a:rPr/>
                        <a:t>Kategori</a:t>
                      </a:r>
                    </a:p>
                  </a:txBody>
                  <a:tcPr/>
                </a:tc>
                <a:tc>
                  <a:txBody>
                    <a:bodyPr/>
                    <a:lstStyle/>
                    <a:p>
                      <a:pPr lvl="0" indent="0" marL="0">
                        <a:buNone/>
                      </a:pPr>
                      <a:r>
                        <a:rPr/>
                        <a:t>Sayı</a:t>
                      </a:r>
                    </a:p>
                  </a:txBody>
                  <a:tcPr/>
                </a:tc>
                <a:tc>
                  <a:txBody>
                    <a:bodyPr/>
                    <a:lstStyle/>
                    <a:p>
                      <a:pPr lvl="0" indent="0" marL="0">
                        <a:buNone/>
                      </a:pPr>
                      <a:r>
                        <a:rPr/>
                        <a:t>Amaç</a:t>
                      </a:r>
                    </a:p>
                  </a:txBody>
                  <a:tcPr/>
                </a:tc>
              </a:tr>
              <a:tr h="0">
                <a:tc>
                  <a:txBody>
                    <a:bodyPr/>
                    <a:lstStyle/>
                    <a:p>
                      <a:pPr lvl="0" indent="0" marL="0">
                        <a:buNone/>
                      </a:pPr>
                      <a:r>
                        <a:rPr b="1"/>
                        <a:t>Yaratımsal (Creational)</a:t>
                      </a:r>
                    </a:p>
                  </a:txBody>
                </a:tc>
                <a:tc>
                  <a:txBody>
                    <a:bodyPr/>
                    <a:lstStyle/>
                    <a:p>
                      <a:pPr lvl="0" indent="0" marL="0">
                        <a:buNone/>
                      </a:pPr>
                      <a:r>
                        <a:rPr/>
                        <a:t>5</a:t>
                      </a:r>
                    </a:p>
                  </a:txBody>
                </a:tc>
                <a:tc>
                  <a:txBody>
                    <a:bodyPr/>
                    <a:lstStyle/>
                    <a:p>
                      <a:pPr lvl="0" indent="0" marL="0">
                        <a:buNone/>
                      </a:pPr>
                      <a:r>
                        <a:rPr/>
                        <a:t>Nesne oluşturma mekanizmaları</a:t>
                      </a:r>
                    </a:p>
                  </a:txBody>
                </a:tc>
              </a:tr>
              <a:tr h="0">
                <a:tc>
                  <a:txBody>
                    <a:bodyPr/>
                    <a:lstStyle/>
                    <a:p>
                      <a:pPr lvl="0" indent="0" marL="0">
                        <a:buNone/>
                      </a:pPr>
                      <a:r>
                        <a:rPr b="1"/>
                        <a:t>Yapısal (Structural)</a:t>
                      </a:r>
                    </a:p>
                  </a:txBody>
                </a:tc>
                <a:tc>
                  <a:txBody>
                    <a:bodyPr/>
                    <a:lstStyle/>
                    <a:p>
                      <a:pPr lvl="0" indent="0" marL="0">
                        <a:buNone/>
                      </a:pPr>
                      <a:r>
                        <a:rPr/>
                        <a:t>7</a:t>
                      </a:r>
                    </a:p>
                  </a:txBody>
                </a:tc>
                <a:tc>
                  <a:txBody>
                    <a:bodyPr/>
                    <a:lstStyle/>
                    <a:p>
                      <a:pPr lvl="0" indent="0" marL="0">
                        <a:buNone/>
                      </a:pPr>
                      <a:r>
                        <a:rPr/>
                        <a:t>Nesneleri ve sınıfları daha büyük yapılarda birleştirme</a:t>
                      </a:r>
                    </a:p>
                  </a:txBody>
                </a:tc>
              </a:tr>
              <a:tr h="0">
                <a:tc>
                  <a:txBody>
                    <a:bodyPr/>
                    <a:lstStyle/>
                    <a:p>
                      <a:pPr lvl="0" indent="0" marL="0">
                        <a:buNone/>
                      </a:pPr>
                      <a:r>
                        <a:rPr b="1"/>
                        <a:t>Davranışsal (Behavioral)</a:t>
                      </a:r>
                    </a:p>
                  </a:txBody>
                </a:tc>
                <a:tc>
                  <a:txBody>
                    <a:bodyPr/>
                    <a:lstStyle/>
                    <a:p>
                      <a:pPr lvl="0" indent="0" marL="0">
                        <a:buNone/>
                      </a:pPr>
                      <a:r>
                        <a:rPr/>
                        <a:t>10</a:t>
                      </a:r>
                    </a:p>
                  </a:txBody>
                </a:tc>
                <a:tc>
                  <a:txBody>
                    <a:bodyPr/>
                    <a:lstStyle/>
                    <a:p>
                      <a:pPr lvl="0" indent="0" marL="0">
                        <a:buNone/>
                      </a:pPr>
                      <a:r>
                        <a:rPr/>
                        <a:t>Nesneler arasındaki iletişim</a:t>
                      </a:r>
                    </a:p>
                  </a:txBody>
                </a:tc>
              </a:tr>
              <a:tr h="0">
                <a:tc>
                  <a:txBody>
                    <a:bodyPr/>
                    <a:lstStyle/>
                    <a:p>
                      <a:pPr lvl="0" indent="0" marL="0">
                        <a:buNone/>
                      </a:pPr>
                      <a:r>
                        <a:rPr b="1"/>
                        <a:t>Toplam</a:t>
                      </a:r>
                    </a:p>
                  </a:txBody>
                </a:tc>
                <a:tc>
                  <a:txBody>
                    <a:bodyPr/>
                    <a:lstStyle/>
                    <a:p>
                      <a:pPr lvl="0" indent="0" marL="0">
                        <a:buNone/>
                      </a:pPr>
                      <a:r>
                        <a:rPr b="1"/>
                        <a:t>22</a:t>
                      </a:r>
                    </a:p>
                  </a:txBody>
                </a:tc>
                <a:tc>
                  <a:txBody>
                    <a:bodyPr/>
                    <a:lstStyle/>
                    <a:p>
                      <a:pPr lvl="0" indent="0" marL="0">
                        <a:buNone/>
                      </a:pPr>
                      <a:r>
                        <a:rPr/>
                        <a:t>(GoF’ta 23, ancak biz 22 temel deseni kapsıyoruz)</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Desenler ayrıca kapsamlarına göre de sınıflandırılabilir: - </a:t>
            </a:r>
            <a:r>
              <a:rPr b="1"/>
              <a:t>Sınıf desenleri (Class patterns)</a:t>
            </a:r>
            <a:r>
              <a:rPr/>
              <a:t>: sınıflar ve alt sınıflar arasındaki ilişkilerle ilgilenir (derleme zamanı) - </a:t>
            </a:r>
            <a:r>
              <a:rPr b="1"/>
              <a:t>Nesne desenleri (Object patterns)</a:t>
            </a:r>
            <a:r>
              <a:rPr/>
              <a:t>: nesne ilişkileriyle ilgilenir (çalışma zamanı)</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GoF Desen Kategorileri - Genel Bakış</a:t>
            </a:r>
          </a:p>
        </p:txBody>
      </p:sp>
      <p:pic>
        <p:nvPicPr>
          <p:cNvPr descr="assets/gof-pattern-categories.png" id="0" name="Picture 1"/>
          <p:cNvPicPr>
            <a:picLocks noGrp="1" noChangeAspect="1"/>
          </p:cNvPicPr>
          <p:nvPr/>
        </p:nvPicPr>
        <p:blipFill>
          <a:blip r:embed="rId2"/>
          <a:stretch>
            <a:fillRect/>
          </a:stretch>
        </p:blipFill>
        <p:spPr bwMode="auto">
          <a:xfrm>
            <a:off x="4140200" y="203200"/>
            <a:ext cx="3949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Yaratımsal Desenler (Creational Patterns) (5)</a:t>
            </a:r>
          </a:p>
        </p:txBody>
      </p:sp>
      <p:sp>
        <p:nvSpPr>
          <p:cNvPr id="4" name="Text Placeholder 3"/>
          <p:cNvSpPr>
            <a:spLocks noGrp="1"/>
          </p:cNvSpPr>
          <p:nvPr>
            <p:ph idx="2" sz="half" type="body"/>
          </p:nvPr>
        </p:nvSpPr>
        <p:spPr/>
        <p:txBody>
          <a:bodyPr/>
          <a:lstStyle/>
          <a:p>
            <a:pPr lvl="0" indent="0" marL="0">
              <a:buNone/>
            </a:pPr>
            <a:r>
              <a:rPr/>
              <a:t>Yaratımsal desenler (Creational Patterns), mevcut kodun esnekliğini ve yeniden kullanılabilirliğini artıran nesne oluşturma mekanizmaları sağlar.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743200"/>
                <a:gridCol w="2362200"/>
              </a:tblGrid>
              <a:tr h="0">
                <a:tc>
                  <a:txBody>
                    <a:bodyPr/>
                    <a:lstStyle/>
                    <a:p>
                      <a:pPr lvl="0" indent="0" marL="0">
                        <a:buNone/>
                      </a:pPr>
                      <a:r>
                        <a:rPr/>
                        <a:t>Desen</a:t>
                      </a:r>
                    </a:p>
                  </a:txBody>
                  <a:tcPr/>
                </a:tc>
                <a:tc>
                  <a:txBody>
                    <a:bodyPr/>
                    <a:lstStyle/>
                    <a:p>
                      <a:pPr lvl="0" indent="0" marL="0">
                        <a:buNone/>
                      </a:pPr>
                      <a:r>
                        <a:rPr/>
                        <a:t>Amaç</a:t>
                      </a:r>
                    </a:p>
                  </a:txBody>
                  <a:tcPr/>
                </a:tc>
              </a:tr>
              <a:tr h="0">
                <a:tc>
                  <a:txBody>
                    <a:bodyPr/>
                    <a:lstStyle/>
                    <a:p>
                      <a:pPr lvl="0" indent="0" marL="0">
                        <a:buNone/>
                      </a:pPr>
                      <a:r>
                        <a:rPr b="1"/>
                        <a:t>Factory Method (Fabrika Yöntemi)</a:t>
                      </a:r>
                    </a:p>
                  </a:txBody>
                </a:tc>
                <a:tc>
                  <a:txBody>
                    <a:bodyPr/>
                    <a:lstStyle/>
                    <a:p>
                      <a:pPr lvl="0" indent="0" marL="0">
                        <a:buNone/>
                      </a:pPr>
                      <a:r>
                        <a:rPr/>
                        <a:t>Bir arayüz aracılığıyla nesne oluşturur; alt sınıflar türü belirler</a:t>
                      </a:r>
                    </a:p>
                  </a:txBody>
                </a:tc>
              </a:tr>
              <a:tr h="0">
                <a:tc>
                  <a:txBody>
                    <a:bodyPr/>
                    <a:lstStyle/>
                    <a:p>
                      <a:pPr lvl="0" indent="0" marL="0">
                        <a:buNone/>
                      </a:pPr>
                      <a:r>
                        <a:rPr b="1"/>
                        <a:t>Abstract Factory (Soyut Fabrika)</a:t>
                      </a:r>
                    </a:p>
                  </a:txBody>
                </a:tc>
                <a:tc>
                  <a:txBody>
                    <a:bodyPr/>
                    <a:lstStyle/>
                    <a:p>
                      <a:pPr lvl="0" indent="0" marL="0">
                        <a:buNone/>
                      </a:pPr>
                      <a:r>
                        <a:rPr/>
                        <a:t>Somut sınıfları belirtmeden ilişkili nesne aileleri üretir</a:t>
                      </a:r>
                    </a:p>
                  </a:txBody>
                </a:tc>
              </a:tr>
              <a:tr h="0">
                <a:tc>
                  <a:txBody>
                    <a:bodyPr/>
                    <a:lstStyle/>
                    <a:p>
                      <a:pPr lvl="0" indent="0" marL="0">
                        <a:buNone/>
                      </a:pPr>
                      <a:r>
                        <a:rPr b="1"/>
                        <a:t>Builder (İnşaatçı)</a:t>
                      </a:r>
                    </a:p>
                  </a:txBody>
                </a:tc>
                <a:tc>
                  <a:txBody>
                    <a:bodyPr/>
                    <a:lstStyle/>
                    <a:p>
                      <a:pPr lvl="0" indent="0" marL="0">
                        <a:buNone/>
                      </a:pPr>
                      <a:r>
                        <a:rPr/>
                        <a:t>Karmaşık nesneleri adım adım inşa eder</a:t>
                      </a:r>
                    </a:p>
                  </a:txBody>
                </a:tc>
              </a:tr>
              <a:tr h="0">
                <a:tc>
                  <a:txBody>
                    <a:bodyPr/>
                    <a:lstStyle/>
                    <a:p>
                      <a:pPr lvl="0" indent="0" marL="0">
                        <a:buNone/>
                      </a:pPr>
                      <a:r>
                        <a:rPr b="1"/>
                        <a:t>Prototype (Prototip)</a:t>
                      </a:r>
                    </a:p>
                  </a:txBody>
                </a:tc>
                <a:tc>
                  <a:txBody>
                    <a:bodyPr/>
                    <a:lstStyle/>
                    <a:p>
                      <a:pPr lvl="0" indent="0" marL="0">
                        <a:buNone/>
                      </a:pPr>
                      <a:r>
                        <a:rPr/>
                        <a:t>Mevcut nesneleri sınıflarına bağımlı olmadan kopyalar</a:t>
                      </a:r>
                    </a:p>
                  </a:txBody>
                </a:tc>
              </a:tr>
              <a:tr h="0">
                <a:tc>
                  <a:txBody>
                    <a:bodyPr/>
                    <a:lstStyle/>
                    <a:p>
                      <a:pPr lvl="0" indent="0" marL="0">
                        <a:buNone/>
                      </a:pPr>
                      <a:r>
                        <a:rPr b="1"/>
                        <a:t>Singleton (Tekil Nesne)</a:t>
                      </a:r>
                    </a:p>
                  </a:txBody>
                </a:tc>
                <a:tc>
                  <a:txBody>
                    <a:bodyPr/>
                    <a:lstStyle/>
                    <a:p>
                      <a:pPr lvl="0" indent="0" marL="0">
                        <a:buNone/>
                      </a:pPr>
                      <a:r>
                        <a:rPr/>
                        <a:t>Bir sınıfın yalnızca bir örneğe sahip olmasını global erişim noktasıyla sağlar</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Yapısal Desenler (Structural Patterns) (7)</a:t>
            </a:r>
          </a:p>
        </p:txBody>
      </p:sp>
      <p:sp>
        <p:nvSpPr>
          <p:cNvPr id="4" name="Text Placeholder 3"/>
          <p:cNvSpPr>
            <a:spLocks noGrp="1"/>
          </p:cNvSpPr>
          <p:nvPr>
            <p:ph idx="2" sz="half" type="body"/>
          </p:nvPr>
        </p:nvSpPr>
        <p:spPr/>
        <p:txBody>
          <a:bodyPr/>
          <a:lstStyle/>
          <a:p>
            <a:pPr lvl="0" indent="0" marL="0">
              <a:buNone/>
            </a:pPr>
            <a:r>
              <a:rPr/>
              <a:t>Yapısal desenler (Structural Patterns), nesneleri ve sınıfları esnek ve verimli tutarak daha büyük yapılara nasıl birleştirileceğini açıklar.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743200"/>
                <a:gridCol w="2362200"/>
              </a:tblGrid>
              <a:tr h="0">
                <a:tc>
                  <a:txBody>
                    <a:bodyPr/>
                    <a:lstStyle/>
                    <a:p>
                      <a:pPr lvl="0" indent="0" marL="0">
                        <a:buNone/>
                      </a:pPr>
                      <a:r>
                        <a:rPr/>
                        <a:t>Desen</a:t>
                      </a:r>
                    </a:p>
                  </a:txBody>
                  <a:tcPr/>
                </a:tc>
                <a:tc>
                  <a:txBody>
                    <a:bodyPr/>
                    <a:lstStyle/>
                    <a:p>
                      <a:pPr lvl="0" indent="0" marL="0">
                        <a:buNone/>
                      </a:pPr>
                      <a:r>
                        <a:rPr/>
                        <a:t>Amaç</a:t>
                      </a:r>
                    </a:p>
                  </a:txBody>
                  <a:tcPr/>
                </a:tc>
              </a:tr>
              <a:tr h="0">
                <a:tc>
                  <a:txBody>
                    <a:bodyPr/>
                    <a:lstStyle/>
                    <a:p>
                      <a:pPr lvl="0" indent="0" marL="0">
                        <a:buNone/>
                      </a:pPr>
                      <a:r>
                        <a:rPr b="1"/>
                        <a:t>Adapter (Adaptör)</a:t>
                      </a:r>
                    </a:p>
                  </a:txBody>
                </a:tc>
                <a:tc>
                  <a:txBody>
                    <a:bodyPr/>
                    <a:lstStyle/>
                    <a:p>
                      <a:pPr lvl="0" indent="0" marL="0">
                        <a:buNone/>
                      </a:pPr>
                      <a:r>
                        <a:rPr/>
                        <a:t>Uyumsuz arayüzlere sahip nesnelerin birlikte çalışmasını sağlar</a:t>
                      </a:r>
                    </a:p>
                  </a:txBody>
                </a:tc>
              </a:tr>
              <a:tr h="0">
                <a:tc>
                  <a:txBody>
                    <a:bodyPr/>
                    <a:lstStyle/>
                    <a:p>
                      <a:pPr lvl="0" indent="0" marL="0">
                        <a:buNone/>
                      </a:pPr>
                      <a:r>
                        <a:rPr b="1"/>
                        <a:t>Bridge (Köprü)</a:t>
                      </a:r>
                    </a:p>
                  </a:txBody>
                </a:tc>
                <a:tc>
                  <a:txBody>
                    <a:bodyPr/>
                    <a:lstStyle/>
                    <a:p>
                      <a:pPr lvl="0" indent="0" marL="0">
                        <a:buNone/>
                      </a:pPr>
                      <a:r>
                        <a:rPr/>
                        <a:t>Büyük bir sınıfı iki hiyerarşiye böler (soyutlama + uygulama)</a:t>
                      </a:r>
                    </a:p>
                  </a:txBody>
                </a:tc>
              </a:tr>
              <a:tr h="0">
                <a:tc>
                  <a:txBody>
                    <a:bodyPr/>
                    <a:lstStyle/>
                    <a:p>
                      <a:pPr lvl="0" indent="0" marL="0">
                        <a:buNone/>
                      </a:pPr>
                      <a:r>
                        <a:rPr b="1"/>
                        <a:t>Composite (Bileşik)</a:t>
                      </a:r>
                    </a:p>
                  </a:txBody>
                </a:tc>
                <a:tc>
                  <a:txBody>
                    <a:bodyPr/>
                    <a:lstStyle/>
                    <a:p>
                      <a:pPr lvl="0" indent="0" marL="0">
                        <a:buNone/>
                      </a:pPr>
                      <a:r>
                        <a:rPr/>
                        <a:t>Nesneleri ağaç yapılarında oluşturur</a:t>
                      </a:r>
                    </a:p>
                  </a:txBody>
                </a:tc>
              </a:tr>
              <a:tr h="0">
                <a:tc>
                  <a:txBody>
                    <a:bodyPr/>
                    <a:lstStyle/>
                    <a:p>
                      <a:pPr lvl="0" indent="0" marL="0">
                        <a:buNone/>
                      </a:pPr>
                      <a:r>
                        <a:rPr b="1"/>
                        <a:t>Decorator (Dekoratör)</a:t>
                      </a:r>
                    </a:p>
                  </a:txBody>
                </a:tc>
                <a:tc>
                  <a:txBody>
                    <a:bodyPr/>
                    <a:lstStyle/>
                    <a:p>
                      <a:pPr lvl="0" indent="0" marL="0">
                        <a:buNone/>
                      </a:pPr>
                      <a:r>
                        <a:rPr/>
                        <a:t>Nesneleri sarmalayarak yeni davranışlar ekler</a:t>
                      </a:r>
                    </a:p>
                  </a:txBody>
                </a:tc>
              </a:tr>
              <a:tr h="0">
                <a:tc>
                  <a:txBody>
                    <a:bodyPr/>
                    <a:lstStyle/>
                    <a:p>
                      <a:pPr lvl="0" indent="0" marL="0">
                        <a:buNone/>
                      </a:pPr>
                      <a:r>
                        <a:rPr b="1"/>
                        <a:t>Facade (Cephe)</a:t>
                      </a:r>
                    </a:p>
                  </a:txBody>
                </a:tc>
                <a:tc>
                  <a:txBody>
                    <a:bodyPr/>
                    <a:lstStyle/>
                    <a:p>
                      <a:pPr lvl="0" indent="0" marL="0">
                        <a:buNone/>
                      </a:pPr>
                      <a:r>
                        <a:rPr/>
                        <a:t>Bir kütüphane veya çerçeveye basitleştirilmiş bir arayüz sağlar</a:t>
                      </a:r>
                    </a:p>
                  </a:txBody>
                </a:tc>
              </a:tr>
              <a:tr h="0">
                <a:tc>
                  <a:txBody>
                    <a:bodyPr/>
                    <a:lstStyle/>
                    <a:p>
                      <a:pPr lvl="0" indent="0" marL="0">
                        <a:buNone/>
                      </a:pPr>
                      <a:r>
                        <a:rPr b="1"/>
                        <a:t>Flyweight (Sinek Siklet)</a:t>
                      </a:r>
                    </a:p>
                  </a:txBody>
                </a:tc>
                <a:tc>
                  <a:txBody>
                    <a:bodyPr/>
                    <a:lstStyle/>
                    <a:p>
                      <a:pPr lvl="0" indent="0" marL="0">
                        <a:buNone/>
                      </a:pPr>
                      <a:r>
                        <a:rPr/>
                        <a:t>Ortak durumu paylaşarak RAM’e daha fazla nesne sığdırır</a:t>
                      </a:r>
                    </a:p>
                  </a:txBody>
                </a:tc>
              </a:tr>
              <a:tr h="0">
                <a:tc>
                  <a:txBody>
                    <a:bodyPr/>
                    <a:lstStyle/>
                    <a:p>
                      <a:pPr lvl="0" indent="0" marL="0">
                        <a:buNone/>
                      </a:pPr>
                      <a:r>
                        <a:rPr b="1"/>
                        <a:t>Proxy (Vekil)</a:t>
                      </a:r>
                    </a:p>
                  </a:txBody>
                </a:tc>
                <a:tc>
                  <a:txBody>
                    <a:bodyPr/>
                    <a:lstStyle/>
                    <a:p>
                      <a:pPr lvl="0" indent="0" marL="0">
                        <a:buNone/>
                      </a:pPr>
                      <a:r>
                        <a:rPr/>
                        <a:t>Başka bir nesne için bir vekil veya yer tutucu sağlar</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Davranışsal Desenler (Behavioral Patterns) (10)</a:t>
            </a:r>
          </a:p>
        </p:txBody>
      </p:sp>
      <p:sp>
        <p:nvSpPr>
          <p:cNvPr id="4" name="Text Placeholder 3"/>
          <p:cNvSpPr>
            <a:spLocks noGrp="1"/>
          </p:cNvSpPr>
          <p:nvPr>
            <p:ph idx="2" sz="half" type="body"/>
          </p:nvPr>
        </p:nvSpPr>
        <p:spPr/>
        <p:txBody>
          <a:bodyPr/>
          <a:lstStyle/>
          <a:p>
            <a:pPr lvl="0" indent="0" marL="0">
              <a:buNone/>
            </a:pPr>
            <a:r>
              <a:rPr/>
              <a:t>Davranışsal desenler (Behavioral Patterns), nesneler arasındaki etkili iletişimi ve sorumluluk dağılımını ele alır.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743200"/>
                <a:gridCol w="2362200"/>
              </a:tblGrid>
              <a:tr h="0">
                <a:tc>
                  <a:txBody>
                    <a:bodyPr/>
                    <a:lstStyle/>
                    <a:p>
                      <a:pPr lvl="0" indent="0" marL="0">
                        <a:buNone/>
                      </a:pPr>
                      <a:r>
                        <a:rPr/>
                        <a:t>Desen</a:t>
                      </a:r>
                    </a:p>
                  </a:txBody>
                  <a:tcPr/>
                </a:tc>
                <a:tc>
                  <a:txBody>
                    <a:bodyPr/>
                    <a:lstStyle/>
                    <a:p>
                      <a:pPr lvl="0" indent="0" marL="0">
                        <a:buNone/>
                      </a:pPr>
                      <a:r>
                        <a:rPr/>
                        <a:t>Amaç</a:t>
                      </a:r>
                    </a:p>
                  </a:txBody>
                  <a:tcPr/>
                </a:tc>
              </a:tr>
              <a:tr h="0">
                <a:tc>
                  <a:txBody>
                    <a:bodyPr/>
                    <a:lstStyle/>
                    <a:p>
                      <a:pPr lvl="0" indent="0" marL="0">
                        <a:buNone/>
                      </a:pPr>
                      <a:r>
                        <a:rPr b="1"/>
                        <a:t>Chain of Responsibility (Sorumluluk Zinciri)</a:t>
                      </a:r>
                    </a:p>
                  </a:txBody>
                </a:tc>
                <a:tc>
                  <a:txBody>
                    <a:bodyPr/>
                    <a:lstStyle/>
                    <a:p>
                      <a:pPr lvl="0" indent="0" marL="0">
                        <a:buNone/>
                      </a:pPr>
                      <a:r>
                        <a:rPr/>
                        <a:t>İstekleri bir işleyiciler zinciri boyunca iletir</a:t>
                      </a:r>
                    </a:p>
                  </a:txBody>
                </a:tc>
              </a:tr>
              <a:tr h="0">
                <a:tc>
                  <a:txBody>
                    <a:bodyPr/>
                    <a:lstStyle/>
                    <a:p>
                      <a:pPr lvl="0" indent="0" marL="0">
                        <a:buNone/>
                      </a:pPr>
                      <a:r>
                        <a:rPr b="1"/>
                        <a:t>Command (Komut)</a:t>
                      </a:r>
                    </a:p>
                  </a:txBody>
                </a:tc>
                <a:tc>
                  <a:txBody>
                    <a:bodyPr/>
                    <a:lstStyle/>
                    <a:p>
                      <a:pPr lvl="0" indent="0" marL="0">
                        <a:buNone/>
                      </a:pPr>
                      <a:r>
                        <a:rPr/>
                        <a:t>Bir isteği bağımsız bir nesneye dönüştürür</a:t>
                      </a:r>
                    </a:p>
                  </a:txBody>
                </a:tc>
              </a:tr>
              <a:tr h="0">
                <a:tc>
                  <a:txBody>
                    <a:bodyPr/>
                    <a:lstStyle/>
                    <a:p>
                      <a:pPr lvl="0" indent="0" marL="0">
                        <a:buNone/>
                      </a:pPr>
                      <a:r>
                        <a:rPr b="1"/>
                        <a:t>Iterator (Yineleyici)</a:t>
                      </a:r>
                    </a:p>
                  </a:txBody>
                </a:tc>
                <a:tc>
                  <a:txBody>
                    <a:bodyPr/>
                    <a:lstStyle/>
                    <a:p>
                      <a:pPr lvl="0" indent="0" marL="0">
                        <a:buNone/>
                      </a:pPr>
                      <a:r>
                        <a:rPr/>
                        <a:t>Bir koleksiyonun elemanlarını sırayla dolaşır</a:t>
                      </a:r>
                    </a:p>
                  </a:txBody>
                </a:tc>
              </a:tr>
              <a:tr h="0">
                <a:tc>
                  <a:txBody>
                    <a:bodyPr/>
                    <a:lstStyle/>
                    <a:p>
                      <a:pPr lvl="0" indent="0" marL="0">
                        <a:buNone/>
                      </a:pPr>
                      <a:r>
                        <a:rPr b="1"/>
                        <a:t>Mediator (Arabulucu)</a:t>
                      </a:r>
                    </a:p>
                  </a:txBody>
                </a:tc>
                <a:tc>
                  <a:txBody>
                    <a:bodyPr/>
                    <a:lstStyle/>
                    <a:p>
                      <a:pPr lvl="0" indent="0" marL="0">
                        <a:buNone/>
                      </a:pPr>
                      <a:r>
                        <a:rPr/>
                        <a:t>Nesneler arasındaki kaotik bağımlılıkları azaltır</a:t>
                      </a:r>
                    </a:p>
                  </a:txBody>
                </a:tc>
              </a:tr>
              <a:tr h="0">
                <a:tc>
                  <a:txBody>
                    <a:bodyPr/>
                    <a:lstStyle/>
                    <a:p>
                      <a:pPr lvl="0" indent="0" marL="0">
                        <a:buNone/>
                      </a:pPr>
                      <a:r>
                        <a:rPr b="1"/>
                        <a:t>Memento (Hatıra)</a:t>
                      </a:r>
                    </a:p>
                  </a:txBody>
                </a:tc>
                <a:tc>
                  <a:txBody>
                    <a:bodyPr/>
                    <a:lstStyle/>
                    <a:p>
                      <a:pPr lvl="0" indent="0" marL="0">
                        <a:buNone/>
                      </a:pPr>
                      <a:r>
                        <a:rPr/>
                        <a:t>Bir nesnenin önceki durumunu kaydeder ve geri yükler</a:t>
                      </a:r>
                    </a:p>
                  </a:txBody>
                </a:tc>
              </a:tr>
              <a:tr h="0">
                <a:tc>
                  <a:txBody>
                    <a:bodyPr/>
                    <a:lstStyle/>
                    <a:p>
                      <a:pPr lvl="0" indent="0" marL="0">
                        <a:buNone/>
                      </a:pPr>
                      <a:r>
                        <a:rPr b="1"/>
                        <a:t>Observer (Gözlemci)</a:t>
                      </a:r>
                    </a:p>
                  </a:txBody>
                </a:tc>
                <a:tc>
                  <a:txBody>
                    <a:bodyPr/>
                    <a:lstStyle/>
                    <a:p>
                      <a:pPr lvl="0" indent="0" marL="0">
                        <a:buNone/>
                      </a:pPr>
                      <a:r>
                        <a:rPr/>
                        <a:t>Olay bildirimi için bir abonelik mekanizması tanımlar</a:t>
                      </a:r>
                    </a:p>
                  </a:txBody>
                </a:tc>
              </a:tr>
              <a:tr h="0">
                <a:tc>
                  <a:txBody>
                    <a:bodyPr/>
                    <a:lstStyle/>
                    <a:p>
                      <a:pPr lvl="0" indent="0" marL="0">
                        <a:buNone/>
                      </a:pPr>
                      <a:r>
                        <a:rPr b="1"/>
                        <a:t>State (Durum)</a:t>
                      </a:r>
                    </a:p>
                  </a:txBody>
                </a:tc>
                <a:tc>
                  <a:txBody>
                    <a:bodyPr/>
                    <a:lstStyle/>
                    <a:p>
                      <a:pPr lvl="0" indent="0" marL="0">
                        <a:buNone/>
                      </a:pPr>
                      <a:r>
                        <a:rPr/>
                        <a:t>İç durum değiştiğinde davranışı değiştirir</a:t>
                      </a:r>
                    </a:p>
                  </a:txBody>
                </a:tc>
              </a:tr>
              <a:tr h="0">
                <a:tc>
                  <a:txBody>
                    <a:bodyPr/>
                    <a:lstStyle/>
                    <a:p>
                      <a:pPr lvl="0" indent="0" marL="0">
                        <a:buNone/>
                      </a:pPr>
                      <a:r>
                        <a:rPr b="1"/>
                        <a:t>Strategy (Strateji)</a:t>
                      </a:r>
                    </a:p>
                  </a:txBody>
                </a:tc>
                <a:tc>
                  <a:txBody>
                    <a:bodyPr/>
                    <a:lstStyle/>
                    <a:p>
                      <a:pPr lvl="0" indent="0" marL="0">
                        <a:buNone/>
                      </a:pPr>
                      <a:r>
                        <a:rPr/>
                        <a:t>Birbiriyle değiştirilebilir algoritma ailesi tanımlar</a:t>
                      </a:r>
                    </a:p>
                  </a:txBody>
                </a:tc>
              </a:tr>
              <a:tr h="0">
                <a:tc>
                  <a:txBody>
                    <a:bodyPr/>
                    <a:lstStyle/>
                    <a:p>
                      <a:pPr lvl="0" indent="0" marL="0">
                        <a:buNone/>
                      </a:pPr>
                      <a:r>
                        <a:rPr b="1"/>
                        <a:t>Template Method (Şablon Yöntemi)</a:t>
                      </a:r>
                    </a:p>
                  </a:txBody>
                </a:tc>
                <a:tc>
                  <a:txBody>
                    <a:bodyPr/>
                    <a:lstStyle/>
                    <a:p>
                      <a:pPr lvl="0" indent="0" marL="0">
                        <a:buNone/>
                      </a:pPr>
                      <a:r>
                        <a:rPr/>
                        <a:t>Bir algoritmanın iskeletini tanımlar; alt sınıflar adımları doldurur</a:t>
                      </a:r>
                    </a:p>
                  </a:txBody>
                </a:tc>
              </a:tr>
              <a:tr h="0">
                <a:tc>
                  <a:txBody>
                    <a:bodyPr/>
                    <a:lstStyle/>
                    <a:p>
                      <a:pPr lvl="0" indent="0" marL="0">
                        <a:buNone/>
                      </a:pPr>
                      <a:r>
                        <a:rPr b="1"/>
                        <a:t>Visitor (Ziyaretçi)</a:t>
                      </a:r>
                    </a:p>
                  </a:txBody>
                </a:tc>
                <a:tc>
                  <a:txBody>
                    <a:bodyPr/>
                    <a:lstStyle/>
                    <a:p>
                      <a:pPr lvl="0" indent="0" marL="0">
                        <a:buNone/>
                      </a:pPr>
                      <a:r>
                        <a:rPr/>
                        <a:t>Algoritmaları üzerinde çalıştıkları nesnelerden ayırır</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Tasarım Desenlerini Neden Öğrenmeliyiz?</a:t>
            </a:r>
          </a:p>
        </p:txBody>
      </p:sp>
      <p:sp>
        <p:nvSpPr>
          <p:cNvPr id="3" name="Content Placeholder 2"/>
          <p:cNvSpPr>
            <a:spLocks noGrp="1"/>
          </p:cNvSpPr>
          <p:nvPr>
            <p:ph idx="1"/>
          </p:nvPr>
        </p:nvSpPr>
        <p:spPr/>
        <p:txBody>
          <a:bodyPr/>
          <a:lstStyle/>
          <a:p>
            <a:pPr lvl="0"/>
            <a:r>
              <a:rPr b="1"/>
              <a:t>Kanıtlanmış çözümler</a:t>
            </a:r>
            <a:r>
              <a:rPr/>
              <a:t>: Desenler, yaygın sorunlara yönelik denenmiş ve test edilmiş çözümlerdir. Bu sorunlarla hiç karşılaşmasanız bile, desenleri bilmek size NYP (Nesne Yönelimli Programlama) ilkelerini kullanarak sorunları nasıl çözeceğinizi öğretir.</a:t>
            </a:r>
          </a:p>
          <a:p>
            <a:pPr lvl="0"/>
            <a:r>
              <a:rPr b="1"/>
              <a:t>Ortak dil</a:t>
            </a:r>
            <a:r>
              <a:rPr/>
              <a:t>: Desenler paylaşılan bir kelime dağarcığı tanımlar. “Bunun için bir Singleton kullan” diyebilirsiniz ve herkes öneriyi hemen anlar.</a:t>
            </a:r>
          </a:p>
          <a:p>
            <a:pPr lvl="0"/>
            <a:r>
              <a:rPr b="1"/>
              <a:t>Daha iyi iletişim</a:t>
            </a:r>
            <a:r>
              <a:rPr/>
              <a:t>: Ekip üyeleri desenleri bildiğinde, tasarım hakkındaki iletişim daha hızlı ve daha kesin olur.</a:t>
            </a:r>
          </a:p>
          <a:p>
            <a:pPr lvl="0"/>
            <a:r>
              <a:rPr b="1"/>
              <a:t>Çerçeveleri anlama</a:t>
            </a:r>
            <a:r>
              <a:rPr/>
              <a:t>: Birçok çerçeve (framework) ve kütüphane tasarım desenleri kullanır. Desenleri anlamak, çerçevelerin nasıl çalıştığını kavramanıza yardımcı olur.</a:t>
            </a:r>
          </a:p>
          <a:p>
            <a:pPr lvl="0"/>
            <a:r>
              <a:rPr b="1"/>
              <a:t>Daha iyi kod yazma</a:t>
            </a:r>
            <a:r>
              <a:rPr/>
              <a:t>: Desenler daha esnek, yeniden kullanılabilir ve sürdürülebilir kod yazmanıza yardımcı olur.</a:t>
            </a:r>
          </a:p>
          <a:p>
            <a:pPr lvl="0"/>
            <a:r>
              <a:rPr b="1"/>
              <a:t>Kariyer gelişimi</a:t>
            </a:r>
            <a:r>
              <a:rPr/>
              <a:t>: Tasarım deseni bilgisi teknik mülakatlarda sıkça test edilir.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Tasarım Desenlerinin Faydaları</a:t>
            </a:r>
          </a:p>
        </p:txBody>
      </p:sp>
      <p:sp>
        <p:nvSpPr>
          <p:cNvPr id="3" name="Content Placeholder 2"/>
          <p:cNvSpPr>
            <a:spLocks noGrp="1"/>
          </p:cNvSpPr>
          <p:nvPr>
            <p:ph idx="1"/>
          </p:nvPr>
        </p:nvSpPr>
        <p:spPr/>
        <p:txBody>
          <a:bodyPr/>
          <a:lstStyle/>
          <a:p>
            <a:pPr lvl="0"/>
            <a:r>
              <a:rPr b="1"/>
              <a:t>Yeniden Kullanılabilirlik</a:t>
            </a:r>
            <a:r>
              <a:rPr/>
              <a:t>: Desenler, projeler arasında uyarlanabilen yeniden kullanılabilir çözümler sağlar.</a:t>
            </a:r>
          </a:p>
          <a:p>
            <a:pPr lvl="0"/>
            <a:r>
              <a:rPr b="1"/>
              <a:t>Sürdürülebilirlik</a:t>
            </a:r>
            <a:r>
              <a:rPr/>
              <a:t>: Desenlerle yapılandırılmış kod, anlaşılması ve değiştirilmesi daha kolaydır.</a:t>
            </a:r>
          </a:p>
          <a:p>
            <a:pPr lvl="0"/>
            <a:r>
              <a:rPr b="1"/>
              <a:t>Ölçeklenebilirlik</a:t>
            </a:r>
            <a:r>
              <a:rPr/>
              <a:t>: Desenler, yönetilemez hale gelmeden büyüyebilen sistemler tasarlamaya yardımcı olur.</a:t>
            </a:r>
          </a:p>
          <a:p>
            <a:pPr lvl="0"/>
            <a:r>
              <a:rPr b="1"/>
              <a:t>Esneklik</a:t>
            </a:r>
            <a:r>
              <a:rPr/>
              <a:t>: Desenler genellikle uygulamaları değiştirmeyi veya yeni özellikler eklemeyi kolaylaştırır.</a:t>
            </a:r>
          </a:p>
          <a:p>
            <a:pPr lvl="0"/>
            <a:r>
              <a:rPr b="1"/>
              <a:t>Belgeleme</a:t>
            </a:r>
            <a:r>
              <a:rPr/>
              <a:t>: Desenler, tasarım kararları için bir belgeleme biçimi görevi görür.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Tasarım Desenlerine Yönelik Eleştiriler</a:t>
            </a:r>
          </a:p>
        </p:txBody>
      </p:sp>
      <p:sp>
        <p:nvSpPr>
          <p:cNvPr id="3" name="Content Placeholder 2"/>
          <p:cNvSpPr>
            <a:spLocks noGrp="1"/>
          </p:cNvSpPr>
          <p:nvPr>
            <p:ph idx="1"/>
          </p:nvPr>
        </p:nvSpPr>
        <p:spPr/>
        <p:txBody>
          <a:bodyPr/>
          <a:lstStyle/>
          <a:p>
            <a:pPr lvl="0"/>
            <a:r>
              <a:rPr b="1"/>
              <a:t>Aşırı mühendislik</a:t>
            </a:r>
            <a:r>
              <a:rPr/>
              <a:t>: Basit kodun yeterli olduğu yerlerde desen kullanmak gereksiz karmaşıklık ekler.</a:t>
            </a:r>
          </a:p>
          <a:p>
            <a:pPr lvl="0"/>
            <a:r>
              <a:rPr b="1"/>
              <a:t>Dil sınırlamaları</a:t>
            </a:r>
            <a:r>
              <a:rPr/>
              <a:t>: Desenler genellikle eksik dil özelliklerini telafi eder (örn., birinci sınıf fonksiyonları olmayan dillerde Strategy).</a:t>
            </a:r>
          </a:p>
          <a:p>
            <a:pPr lvl="0"/>
            <a:r>
              <a:rPr b="1"/>
              <a:t>Yanlış kullanım</a:t>
            </a:r>
            <a:r>
              <a:rPr/>
              <a:t>: Bir soruna yanlış deseni uygulamak kodu iyileştirmek yerine kötüleştirebilir.</a:t>
            </a:r>
          </a:p>
          <a:p>
            <a:pPr lvl="0"/>
            <a:r>
              <a:rPr b="1"/>
              <a:t>Öğrenme eğrisi</a:t>
            </a:r>
            <a:r>
              <a:rPr/>
              <a:t>: Desenleri ne zaman ve nasıl uygulayacağınızı anlamak deneyim gerektirir.</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A: Özet</a:t>
            </a:r>
          </a:p>
        </p:txBody>
      </p:sp>
      <p:sp>
        <p:nvSpPr>
          <p:cNvPr id="3" name="Content Placeholder 2"/>
          <p:cNvSpPr>
            <a:spLocks noGrp="1"/>
          </p:cNvSpPr>
          <p:nvPr>
            <p:ph idx="1"/>
          </p:nvPr>
        </p:nvSpPr>
        <p:spPr/>
        <p:txBody>
          <a:bodyPr/>
          <a:lstStyle/>
          <a:p>
            <a:pPr lvl="0"/>
            <a:r>
              <a:rPr/>
              <a:t>Tasarım desenleri, yazılım tasarımında sıkça karşılaşılan sorunlara yönelik </a:t>
            </a:r>
            <a:r>
              <a:rPr b="1"/>
              <a:t>tipik çözümlerdir</a:t>
            </a:r>
            <a:r>
              <a:rPr/>
              <a:t>.</a:t>
            </a:r>
          </a:p>
          <a:p>
            <a:pPr lvl="0"/>
            <a:r>
              <a:rPr/>
              <a:t>1994’te </a:t>
            </a:r>
            <a:r>
              <a:rPr b="1"/>
              <a:t>Dörtlü Çete (GoF)</a:t>
            </a:r>
            <a:r>
              <a:rPr/>
              <a:t> kitabı ile </a:t>
            </a:r>
            <a:r>
              <a:rPr b="1"/>
              <a:t>23 desen</a:t>
            </a:r>
            <a:r>
              <a:rPr/>
              <a:t> içinde popülerleştirilmişlerdir.</a:t>
            </a:r>
          </a:p>
          <a:p>
            <a:pPr lvl="0"/>
            <a:r>
              <a:rPr/>
              <a:t>Desenler üç kategoriye ayrılır: </a:t>
            </a:r>
            <a:r>
              <a:rPr b="1"/>
              <a:t>Yaratımsal (Creational)</a:t>
            </a:r>
            <a:r>
              <a:rPr/>
              <a:t> (5), </a:t>
            </a:r>
            <a:r>
              <a:rPr b="1"/>
              <a:t>Yapısal (Structural)</a:t>
            </a:r>
            <a:r>
              <a:rPr/>
              <a:t> (7) ve </a:t>
            </a:r>
            <a:r>
              <a:rPr b="1"/>
              <a:t>Davranışsal (Behavioral)</a:t>
            </a:r>
            <a:r>
              <a:rPr/>
              <a:t> (10).</a:t>
            </a:r>
          </a:p>
          <a:p>
            <a:pPr lvl="0"/>
            <a:r>
              <a:rPr/>
              <a:t>Her desenin şunları vardır: </a:t>
            </a:r>
            <a:r>
              <a:rPr b="1"/>
              <a:t>Amaç</a:t>
            </a:r>
            <a:r>
              <a:rPr/>
              <a:t>, </a:t>
            </a:r>
            <a:r>
              <a:rPr b="1"/>
              <a:t>Motivasyon</a:t>
            </a:r>
            <a:r>
              <a:rPr/>
              <a:t>, </a:t>
            </a:r>
            <a:r>
              <a:rPr b="1"/>
              <a:t>Yapı</a:t>
            </a:r>
            <a:r>
              <a:rPr/>
              <a:t>, </a:t>
            </a:r>
            <a:r>
              <a:rPr b="1"/>
              <a:t>Sözde Kod</a:t>
            </a:r>
            <a:r>
              <a:rPr/>
              <a:t>, </a:t>
            </a:r>
            <a:r>
              <a:rPr b="1"/>
              <a:t>Uygulanabilirlik</a:t>
            </a:r>
            <a:r>
              <a:rPr/>
              <a:t>, </a:t>
            </a:r>
            <a:r>
              <a:rPr b="1"/>
              <a:t>Uygulama</a:t>
            </a:r>
            <a:r>
              <a:rPr/>
              <a:t> ve </a:t>
            </a:r>
            <a:r>
              <a:rPr b="1"/>
              <a:t>İlişkiler</a:t>
            </a:r>
            <a:r>
              <a:rPr/>
              <a:t>.</a:t>
            </a:r>
          </a:p>
          <a:p>
            <a:pPr lvl="0"/>
            <a:r>
              <a:rPr/>
              <a:t>Desenleri öğrenmek size </a:t>
            </a:r>
            <a:r>
              <a:rPr b="1"/>
              <a:t>ortak bir kelime dağarcığı</a:t>
            </a:r>
            <a:r>
              <a:rPr/>
              <a:t> kazandırır ve </a:t>
            </a:r>
            <a:r>
              <a:rPr b="1"/>
              <a:t>daha iyi, daha sürdürülebilir kod</a:t>
            </a:r>
            <a:r>
              <a:rPr/>
              <a:t> yazmanıza yardımcı olur.</a:t>
            </a:r>
          </a:p>
          <a:p>
            <a:pPr lvl="0"/>
            <a:r>
              <a:rPr/>
              <a:t>Desenler düşünceli bir şekilde uygulanmalıdır; </a:t>
            </a:r>
            <a:r>
              <a:rPr b="1"/>
              <a:t>aşırı mühendislik</a:t>
            </a:r>
            <a:r>
              <a:rPr/>
              <a:t> ve </a:t>
            </a:r>
            <a:r>
              <a:rPr b="1"/>
              <a:t>yanlış kullanım</a:t>
            </a:r>
            <a:r>
              <a:rPr/>
              <a:t> gerçek risklerdir.</a:t>
            </a:r>
          </a:p>
          <a:p>
            <a:pPr lvl="0"/>
            <a:r>
              <a:rPr/>
              <a:t>Bu haftada </a:t>
            </a:r>
            <a:r>
              <a:rPr b="1"/>
              <a:t>5 Yaratımsal Desen</a:t>
            </a:r>
            <a:r>
              <a:rPr/>
              <a:t>e odaklanıyoruz: Factory Method, Abstract Factory, Builder, Prototype ve Singleton.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B: Factory Method (Fabrika Yöntemi) Deseni</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Deseni - Genel Bakış</a:t>
            </a:r>
          </a:p>
        </p:txBody>
      </p:sp>
      <p:sp>
        <p:nvSpPr>
          <p:cNvPr id="3" name="Content Placeholder 2"/>
          <p:cNvSpPr>
            <a:spLocks noGrp="1"/>
          </p:cNvSpPr>
          <p:nvPr>
            <p:ph idx="1"/>
          </p:nvPr>
        </p:nvSpPr>
        <p:spPr/>
        <p:txBody>
          <a:bodyPr/>
          <a:lstStyle/>
          <a:p>
            <a:pPr lvl="0"/>
            <a:r>
              <a:rPr b="1"/>
              <a:t>Diğer Adı</a:t>
            </a:r>
            <a:r>
              <a:rPr/>
              <a:t>: Virtual Constructor (Sanal Yapıcı)</a:t>
            </a:r>
          </a:p>
          <a:p>
            <a:pPr lvl="0"/>
            <a:r>
              <a:rPr b="1"/>
              <a:t>Kategori</a:t>
            </a:r>
            <a:r>
              <a:rPr/>
              <a:t>: Yaratımsal Desen (Creational Pattern)</a:t>
            </a:r>
          </a:p>
          <a:p>
            <a:pPr lvl="0"/>
            <a:r>
              <a:rPr b="1"/>
              <a:t>Karmaşıklık</a:t>
            </a:r>
            <a:r>
              <a:rPr/>
              <a:t>: Düşük</a:t>
            </a:r>
          </a:p>
          <a:p>
            <a:pPr lvl="0"/>
            <a:r>
              <a:rPr b="1"/>
              <a:t>Popülerlik</a:t>
            </a:r>
            <a:r>
              <a:rPr/>
              <a:t>: Yüksek</a:t>
            </a:r>
          </a:p>
          <a:p>
            <a:pPr lvl="0" indent="0" marL="0">
              <a:buNone/>
            </a:pPr>
            <a:r>
              <a:rPr b="1"/>
              <a:t>Amaç</a:t>
            </a:r>
            <a:r>
              <a:rPr/>
              <a:t>: Factory Method (Fabrika Yöntemi), bir üst sınıfta nesne oluşturmak için bir arayüz sağlayan, ancak alt sınıfların oluşturulacak nesnelerin türünü değiştirmesine izin veren bir yaratımsal tasarım desenidir.</a:t>
            </a:r>
          </a:p>
          <a:p>
            <a:pPr lvl="0" indent="0" marL="0">
              <a:buNone/>
            </a:pPr>
            <a:r>
              <a:rPr/>
              <a:t>Referans: </a:t>
            </a:r>
            <a:r>
              <a:rPr>
                <a:hlinkClick r:id="rId2"/>
              </a:rPr>
              <a:t>RefactoringGuru - Factory Method</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Problem</a:t>
            </a:r>
          </a:p>
        </p:txBody>
      </p:sp>
      <p:sp>
        <p:nvSpPr>
          <p:cNvPr id="3" name="Content Placeholder 2"/>
          <p:cNvSpPr>
            <a:spLocks noGrp="1"/>
          </p:cNvSpPr>
          <p:nvPr>
            <p:ph idx="1"/>
          </p:nvPr>
        </p:nvSpPr>
        <p:spPr/>
        <p:txBody>
          <a:bodyPr/>
          <a:lstStyle/>
          <a:p>
            <a:pPr lvl="0" indent="0" marL="0">
              <a:buNone/>
            </a:pPr>
            <a:r>
              <a:rPr/>
              <a:t>Bir lojistik yönetim uygulaması oluşturduğunuzu düşünün. Uygulamanızın ilk sürümü yalnızca kamyonla taşımacılığı destekleyebilir, bu nedenle kodunuzun büyük kısmı </a:t>
            </a:r>
            <a:r>
              <a:rPr>
                <a:latin typeface="Courier"/>
              </a:rPr>
              <a:t>Truck</a:t>
            </a:r>
            <a:r>
              <a:rPr/>
              <a:t> sınıfının içinde bulunur.</a:t>
            </a:r>
          </a:p>
          <a:p>
            <a:pPr lvl="0" indent="0" marL="0">
              <a:buNone/>
            </a:pPr>
            <a:r>
              <a:rPr/>
              <a:t>Bir süre sonra uygulamanız oldukça popüler olur. Her gün deniz taşımacılığı şirketlerinden deniz lojistiğini uygulamaya dahil etme talepleri alırsınız.</a:t>
            </a:r>
          </a:p>
          <a:p>
            <a:pPr lvl="0" indent="0" marL="0">
              <a:buNone/>
            </a:pPr>
            <a:r>
              <a:rPr b="1">
                <a:latin typeface="Courier"/>
              </a:rPr>
              <a:t>Ship</a:t>
            </a:r>
            <a:r>
              <a:rPr b="1"/>
              <a:t> sınıfını doğrudan eklerseniz ne olur?</a:t>
            </a:r>
          </a:p>
          <a:p>
            <a:pPr lvl="0"/>
            <a:r>
              <a:rPr/>
              <a:t>Kodun geri kalanı zaten mevcut sınıflara bağlıysa yeni bir sınıf eklemek o kadar basit değildir.</a:t>
            </a:r>
          </a:p>
          <a:p>
            <a:pPr lvl="0"/>
            <a:r>
              <a:rPr/>
              <a:t>Kodunuzun büyük kısmı </a:t>
            </a:r>
            <a:r>
              <a:rPr>
                <a:latin typeface="Courier"/>
              </a:rPr>
              <a:t>Truck</a:t>
            </a:r>
            <a:r>
              <a:rPr/>
              <a:t> sınıfına bağlıdır.</a:t>
            </a:r>
          </a:p>
          <a:p>
            <a:pPr lvl="0"/>
            <a:r>
              <a:rPr>
                <a:latin typeface="Courier"/>
              </a:rPr>
              <a:t>Ship</a:t>
            </a:r>
            <a:r>
              <a:rPr/>
              <a:t> eklemek tüm kod tabanında değişiklik yapmayı gerektirir.</a:t>
            </a:r>
          </a:p>
          <a:p>
            <a:pPr lvl="0"/>
            <a:r>
              <a:rPr/>
              <a:t>Daha sonra başka bir taşıma türü eklemek, tüm bu değişiklikleri yeniden yapmayı gerektirir.</a:t>
            </a:r>
          </a:p>
          <a:p>
            <a:pPr lvl="0"/>
            <a:r>
              <a:rPr/>
              <a:t>Sonuç: taşıma nesnelerinin sınıfına göre davranışı değiştiren koşullarla dolu oldukça çirkin bir kod.</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Çözüm</a:t>
            </a:r>
          </a:p>
        </p:txBody>
      </p:sp>
      <p:sp>
        <p:nvSpPr>
          <p:cNvPr id="3" name="Content Placeholder 2"/>
          <p:cNvSpPr>
            <a:spLocks noGrp="1"/>
          </p:cNvSpPr>
          <p:nvPr>
            <p:ph idx="1"/>
          </p:nvPr>
        </p:nvSpPr>
        <p:spPr/>
        <p:txBody>
          <a:bodyPr/>
          <a:lstStyle/>
          <a:p>
            <a:pPr lvl="0" indent="0" marL="0">
              <a:buNone/>
            </a:pPr>
            <a:r>
              <a:rPr/>
              <a:t>Factory Method deseni, doğrudan nesne oluşturma çağrılarını (</a:t>
            </a:r>
            <a:r>
              <a:rPr>
                <a:latin typeface="Courier"/>
              </a:rPr>
              <a:t>new</a:t>
            </a:r>
            <a:r>
              <a:rPr/>
              <a:t> operatörü kullanarak) özel bir </a:t>
            </a:r>
            <a:r>
              <a:rPr b="1"/>
              <a:t>fabrika yöntemine</a:t>
            </a:r>
            <a:r>
              <a:rPr/>
              <a:t> yapılan çağrılarla değiştirmenizi önerir.</a:t>
            </a:r>
          </a:p>
          <a:p>
            <a:pPr lvl="0"/>
            <a:r>
              <a:rPr/>
              <a:t>Nesneler hala </a:t>
            </a:r>
            <a:r>
              <a:rPr>
                <a:latin typeface="Courier"/>
              </a:rPr>
              <a:t>new</a:t>
            </a:r>
            <a:r>
              <a:rPr/>
              <a:t> operatörü ile oluşturulur, ancak bu işlem fabrika yöntemi içinden çağrılır.</a:t>
            </a:r>
          </a:p>
          <a:p>
            <a:pPr lvl="0"/>
            <a:r>
              <a:rPr/>
              <a:t>Bir fabrika yöntemi tarafından döndürülen nesneler genellikle </a:t>
            </a:r>
            <a:r>
              <a:rPr b="1"/>
              <a:t>ürünler (products)</a:t>
            </a:r>
            <a:r>
              <a:rPr/>
              <a:t> olarak adlandırılır.</a:t>
            </a:r>
          </a:p>
          <a:p>
            <a:pPr lvl="0" indent="0" marL="0">
              <a:buNone/>
            </a:pPr>
            <a:r>
              <a:rPr b="1"/>
              <a:t>Temel içgörü</a:t>
            </a:r>
            <a:r>
              <a:rPr/>
              <a:t>: Alt sınıflar, oluşturulan ürünlerin sınıfını değiştirmek için fabrika yöntemini geçersiz kılabilir (override).</a:t>
            </a:r>
          </a:p>
          <a:p>
            <a:pPr lvl="0"/>
            <a:r>
              <a:rPr/>
              <a:t>Küçük bir sınırlama vardır: alt sınıflar, yalnızca bu ürünlerin </a:t>
            </a:r>
            <a:r>
              <a:rPr b="1"/>
              <a:t>ortak bir temel sınıfı veya arayüzü</a:t>
            </a:r>
            <a:r>
              <a:rPr/>
              <a:t> varsa farklı türde ürünler döndürebilir.</a:t>
            </a:r>
          </a:p>
          <a:p>
            <a:pPr lvl="0"/>
            <a:r>
              <a:rPr/>
              <a:t>Ayrıca, temel sınıftaki fabrika yönteminin dönüş türü bu arayüz olarak bildirilmelidir.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Çözüm Diyagramı</a:t>
            </a:r>
          </a:p>
        </p:txBody>
      </p:sp>
      <p:sp>
        <p:nvSpPr>
          <p:cNvPr id="3" name="Content Placeholder 2"/>
          <p:cNvSpPr>
            <a:spLocks noGrp="1"/>
          </p:cNvSpPr>
          <p:nvPr>
            <p:ph idx="1"/>
          </p:nvPr>
        </p:nvSpPr>
        <p:spPr/>
        <p:txBody>
          <a:bodyPr/>
          <a:lstStyle/>
          <a:p>
            <a:pPr lvl="0" indent="0">
              <a:buNone/>
            </a:pPr>
            <a:r>
              <a:rPr>
                <a:latin typeface="Courier"/>
              </a:rPr>
              <a:t>                    Creator
              ┌─────────────────┐
              │ someOperation() │
              │ createProduct() │──── Product p = createProduct()
              └────────┬────────┘
                       │
           ┌───────────┴───────────┐
           │                       │
  ConcreteCreatorA          ConcreteCreatorB
  ┌────────────────┐       ┌────────────────┐
  │createProduct() │       │createProduct() │
  │ return new     │       │ return new     │
  │ ConcreteA()    │       │ ConcreteB()    │
  └────────────────┘       └────────────────┘</a:t>
            </a:r>
          </a:p>
          <a:p>
            <a:pPr lvl="0"/>
            <a:r>
              <a:rPr>
                <a:latin typeface="Courier"/>
              </a:rPr>
              <a:t>Creator</a:t>
            </a:r>
            <a:r>
              <a:rPr/>
              <a:t> sınıfı </a:t>
            </a:r>
            <a:r>
              <a:rPr>
                <a:latin typeface="Courier"/>
              </a:rPr>
              <a:t>createProduct()</a:t>
            </a:r>
            <a:r>
              <a:rPr/>
              <a:t> fabrika yöntemine sahiptir.</a:t>
            </a:r>
          </a:p>
          <a:p>
            <a:pPr lvl="0"/>
            <a:r>
              <a:rPr/>
              <a:t>Her </a:t>
            </a:r>
            <a:r>
              <a:rPr>
                <a:latin typeface="Courier"/>
              </a:rPr>
              <a:t>ConcreteCreator</a:t>
            </a:r>
            <a:r>
              <a:rPr/>
              <a:t> farklı bir ürün türü döndürmek için fabrika yöntemini geçersiz kılar.</a:t>
            </a:r>
          </a:p>
          <a:p>
            <a:pPr lvl="0"/>
            <a:r>
              <a:rPr/>
              <a:t>Tüm ürünler aynı arayüzü uygular.</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Yapı</a:t>
            </a:r>
          </a:p>
        </p:txBody>
      </p:sp>
      <p:sp>
        <p:nvSpPr>
          <p:cNvPr id="3" name="Content Placeholder 2"/>
          <p:cNvSpPr>
            <a:spLocks noGrp="1"/>
          </p:cNvSpPr>
          <p:nvPr>
            <p:ph idx="1"/>
          </p:nvPr>
        </p:nvSpPr>
        <p:spPr/>
        <p:txBody>
          <a:bodyPr/>
          <a:lstStyle/>
          <a:p>
            <a:pPr lvl="0" indent="0" marL="0">
              <a:buNone/>
            </a:pPr>
            <a:r>
              <a:rPr/>
              <a:t>Factory Method deseninin dört temel katılımcısı vardır:</a:t>
            </a:r>
          </a:p>
          <a:p>
            <a:pPr lvl="0" indent="-342900" marL="342900">
              <a:buAutoNum type="arabicPeriod"/>
            </a:pPr>
            <a:r>
              <a:rPr b="1"/>
              <a:t>Product (Ürün)</a:t>
            </a:r>
            <a:r>
              <a:rPr/>
              <a:t> (Arayüz/Soyut Sınıf)</a:t>
            </a:r>
          </a:p>
          <a:p>
            <a:pPr lvl="1"/>
            <a:r>
              <a:rPr/>
              <a:t>Fabrika yönteminin üretebileceği tüm nesneler için ortak arayüzü bildirir.</a:t>
            </a:r>
          </a:p>
          <a:p>
            <a:pPr lvl="0" indent="-342900" marL="342900">
              <a:buAutoNum type="arabicPeriod"/>
            </a:pPr>
            <a:r>
              <a:rPr b="1"/>
              <a:t>Concrete Products (Somut Ürünler)</a:t>
            </a:r>
          </a:p>
          <a:p>
            <a:pPr lvl="1"/>
            <a:r>
              <a:rPr/>
              <a:t>Ürün arayüzünün farklı uygulamaları.</a:t>
            </a:r>
          </a:p>
          <a:p>
            <a:pPr lvl="0" indent="-342900" marL="342900">
              <a:buAutoNum type="arabicPeriod"/>
            </a:pPr>
            <a:r>
              <a:rPr b="1"/>
              <a:t>Creator (Yaratıcı)</a:t>
            </a:r>
            <a:r>
              <a:rPr/>
              <a:t> (Soyut Sınıf)</a:t>
            </a:r>
          </a:p>
          <a:p>
            <a:pPr lvl="1"/>
            <a:r>
              <a:rPr/>
              <a:t>Yeni ürün nesneleri döndüren fabrika yöntemini bildirir. Dönüş türü ürün arayüzüyle eşleşmelidir.</a:t>
            </a:r>
          </a:p>
          <a:p>
            <a:pPr lvl="1"/>
            <a:r>
              <a:rPr/>
              <a:t>Ürün nesnelerine dayanan bazı temel iş mantığı içerebilir.</a:t>
            </a:r>
          </a:p>
          <a:p>
            <a:pPr lvl="0" indent="-342900" marL="342900">
              <a:buAutoNum type="arabicPeriod"/>
            </a:pPr>
            <a:r>
              <a:rPr b="1"/>
              <a:t>Concrete Creators (Somut Yaratıcılar)</a:t>
            </a:r>
          </a:p>
          <a:p>
            <a:pPr lvl="1"/>
            <a:r>
              <a:rPr/>
              <a:t>Farklı türde ürün döndürmek için temel fabrika yöntemini geçersiz kılar.</a:t>
            </a:r>
          </a:p>
          <a:p>
            <a:pPr lvl="1"/>
            <a:r>
              <a:rPr/>
              <a:t>Fabrika yönteminin her zaman yeni örnekler oluşturması gerekmez; ayrıca bir önbellekten, nesne havuzundan veya başka bir kaynaktan mevcut nesneleri de döndürebilir.</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Factory Method - Sınıf Diyagramı</a:t>
            </a:r>
          </a:p>
        </p:txBody>
      </p:sp>
      <p:pic>
        <p:nvPicPr>
          <p:cNvPr descr="assets/factory-method-structure.png" id="0" name="Picture 1"/>
          <p:cNvPicPr>
            <a:picLocks noGrp="1" noChangeAspect="1"/>
          </p:cNvPicPr>
          <p:nvPr/>
        </p:nvPicPr>
        <p:blipFill>
          <a:blip r:embed="rId2"/>
          <a:stretch>
            <a:fillRect/>
          </a:stretch>
        </p:blipFill>
        <p:spPr bwMode="auto">
          <a:xfrm>
            <a:off x="3568700" y="368300"/>
            <a:ext cx="5105400" cy="354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Sözde Kod</a:t>
            </a:r>
          </a:p>
        </p:txBody>
      </p:sp>
      <p:sp>
        <p:nvSpPr>
          <p:cNvPr id="3" name="Content Placeholder 2"/>
          <p:cNvSpPr>
            <a:spLocks noGrp="1"/>
          </p:cNvSpPr>
          <p:nvPr>
            <p:ph idx="1"/>
          </p:nvPr>
        </p:nvSpPr>
        <p:spPr/>
        <p:txBody>
          <a:bodyPr/>
          <a:lstStyle/>
          <a:p>
            <a:pPr lvl="0" indent="0" marL="0">
              <a:buNone/>
            </a:pPr>
            <a:r>
              <a:rPr/>
              <a:t>Bu örnek, Factory Method’un istemci kodunu somut UI sınıflarına bağlamadan çapraz platform UI elemanları oluşturmak için nasıl kullanılabileceğini göstermektedir.</a:t>
            </a:r>
          </a:p>
          <a:p>
            <a:pPr lvl="0" indent="0">
              <a:buNone/>
            </a:pPr>
            <a:r>
              <a:rPr>
                <a:latin typeface="Courier"/>
              </a:rPr>
              <a:t>// The creator class declares the factory method
// that must return an object of a product class.
class Dialog is
    abstract method createButton(): Button
    method render() is
        Button okButton = createButton()
        okButton.onClick(closeDialog)
        okButton.render()
// Concrete creators override the factory method
class WindowsDialog extends Dialog is
    method createButton(): Button is
        return new WindowsButton()
class WebDialog extends Dialog is
    method createButton(): Button is
        return new HTMLButton()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Sözde Kod (devam)</a:t>
            </a:r>
          </a:p>
        </p:txBody>
      </p:sp>
      <p:sp>
        <p:nvSpPr>
          <p:cNvPr id="3" name="Content Placeholder 2"/>
          <p:cNvSpPr>
            <a:spLocks noGrp="1"/>
          </p:cNvSpPr>
          <p:nvPr>
            <p:ph idx="1"/>
          </p:nvPr>
        </p:nvSpPr>
        <p:spPr/>
        <p:txBody>
          <a:bodyPr/>
          <a:lstStyle/>
          <a:p>
            <a:pPr lvl="0" indent="0">
              <a:buNone/>
            </a:pPr>
            <a:r>
              <a:rPr>
                <a:latin typeface="Courier"/>
              </a:rPr>
              <a:t>// The product interface declares the operations
// that all concrete products must implement.
interface Button is
    method render()
    method onClick(f)
// Concrete products provide various implementations.
class WindowsButton implements Button is
    method render(a, b) is
        // Render a button in Windows style.
    method onClick(f) is
        // Bind a native OS click event.
class HTMLButton implements Button is
    method render(a, b) is
        // Return an HTML representation of a button.
    method onClick(f) is
        // Bind a web browser click event.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Sözde Kod (devam)</a:t>
            </a:r>
          </a:p>
        </p:txBody>
      </p:sp>
      <p:sp>
        <p:nvSpPr>
          <p:cNvPr id="3" name="Content Placeholder 2"/>
          <p:cNvSpPr>
            <a:spLocks noGrp="1"/>
          </p:cNvSpPr>
          <p:nvPr>
            <p:ph idx="1"/>
          </p:nvPr>
        </p:nvSpPr>
        <p:spPr/>
        <p:txBody>
          <a:bodyPr/>
          <a:lstStyle/>
          <a:p>
            <a:pPr lvl="0" indent="0">
              <a:buNone/>
            </a:pPr>
            <a:r>
              <a:rPr>
                <a:latin typeface="Courier"/>
              </a:rPr>
              <a:t>class Application is
    field dialog: Dialog
    // The application picks a creator's type depending
    // on the current configuration or environment.
    method initialize() is
        config = readApplicationConfigFile()
        if (config.OS == "Windows") then
            dialog = new WindowsDialog()
        else if (config.OS == "Web") then
            dialog = new WebDialog()
        else
            throw new Exception("Error! Unknown OS.")
    // The client code works with an instance of a
    // concrete creator, albeit through its base interface.
    method main() is
        this.initialize()
        dialog.render()</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Factory Method - Sıralama Diyagramı</a:t>
            </a:r>
          </a:p>
        </p:txBody>
      </p:sp>
      <p:pic>
        <p:nvPicPr>
          <p:cNvPr descr="assets/factory-method-sequence.png" id="0" name="Picture 1"/>
          <p:cNvPicPr>
            <a:picLocks noGrp="1" noChangeAspect="1"/>
          </p:cNvPicPr>
          <p:nvPr/>
        </p:nvPicPr>
        <p:blipFill>
          <a:blip r:embed="rId2"/>
          <a:stretch>
            <a:fillRect/>
          </a:stretch>
        </p:blipFill>
        <p:spPr bwMode="auto">
          <a:xfrm>
            <a:off x="4000500" y="203200"/>
            <a:ext cx="4241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Uygulanabilirlik</a:t>
            </a:r>
          </a:p>
        </p:txBody>
      </p:sp>
      <p:sp>
        <p:nvSpPr>
          <p:cNvPr id="3" name="Content Placeholder 2"/>
          <p:cNvSpPr>
            <a:spLocks noGrp="1"/>
          </p:cNvSpPr>
          <p:nvPr>
            <p:ph idx="1"/>
          </p:nvPr>
        </p:nvSpPr>
        <p:spPr/>
        <p:txBody>
          <a:bodyPr/>
          <a:lstStyle/>
          <a:p>
            <a:pPr lvl="0" indent="0" marL="0">
              <a:buNone/>
            </a:pPr>
            <a:r>
              <a:rPr/>
              <a:t>Factory Method desenini şu durumlarda kullanın:</a:t>
            </a:r>
          </a:p>
          <a:p>
            <a:pPr lvl="0" indent="-342900" marL="342900">
              <a:buAutoNum type="arabicPeriod"/>
            </a:pPr>
            <a:r>
              <a:rPr b="1"/>
              <a:t>Kodunuzun çalışması gereken nesnelerin kesin türlerini ve bağımlılıklarını önceden bilmediğinizde.</a:t>
            </a:r>
          </a:p>
          <a:p>
            <a:pPr lvl="1"/>
            <a:r>
              <a:rPr/>
              <a:t>Factory Method, ürün oluşturma kodunu ürünü gerçekten kullanan koddan ayırır. Bu nedenle ürün oluşturma kodunu, kodun geri kalanından bağımsız olarak genişletmek daha kolaydır.</a:t>
            </a:r>
          </a:p>
          <a:p>
            <a:pPr lvl="0" indent="-342900" marL="342900">
              <a:buAutoNum type="arabicPeriod"/>
            </a:pPr>
            <a:r>
              <a:rPr b="1"/>
              <a:t>Kütüphanenizin veya çerçevenizin kullanıcılarına iç bileşenlerini genişletme yolu sağlamak istediğinizde.</a:t>
            </a:r>
          </a:p>
          <a:p>
            <a:pPr lvl="1"/>
            <a:r>
              <a:rPr/>
              <a:t>Kullanıcılar çerçeve sınıflarınızı alt sınıflayabilir ve kendi türleriyle genişletmek için fabrika yöntemlerini geçersiz kılabilir.</a:t>
            </a:r>
          </a:p>
          <a:p>
            <a:pPr lvl="0" indent="-342900" marL="342900">
              <a:buAutoNum type="arabicPeriod"/>
            </a:pPr>
            <a:r>
              <a:rPr b="1"/>
              <a:t>Her seferinde yeniden oluşturmak yerine mevcut nesneleri yeniden kullanarak sistem kaynaklarını tasarruf etmek istediğinizde.</a:t>
            </a:r>
          </a:p>
          <a:p>
            <a:pPr lvl="1"/>
            <a:r>
              <a:rPr/>
              <a:t>Yeni nesneler oluşturmanın yanı sıra mevcut olanları yeniden kullanabilen düzenli bir yönteme ihtiyacınız var. Bu, tam da bir fabrika yöntemine benzer.</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Nasıl Uygulanır</a:t>
            </a:r>
          </a:p>
        </p:txBody>
      </p:sp>
      <p:sp>
        <p:nvSpPr>
          <p:cNvPr id="3" name="Content Placeholder 2"/>
          <p:cNvSpPr>
            <a:spLocks noGrp="1"/>
          </p:cNvSpPr>
          <p:nvPr>
            <p:ph idx="1"/>
          </p:nvPr>
        </p:nvSpPr>
        <p:spPr/>
        <p:txBody>
          <a:bodyPr/>
          <a:lstStyle/>
          <a:p>
            <a:pPr lvl="0" indent="-342900" marL="342900">
              <a:buAutoNum type="arabicPeriod"/>
            </a:pPr>
            <a:r>
              <a:rPr b="1"/>
              <a:t>Tüm ürünleri aynı arayüzü takip ettirin.</a:t>
            </a:r>
            <a:r>
              <a:rPr/>
              <a:t> Bu arayüz, her üründe anlamlı olan yöntemleri bildirmelidir.</a:t>
            </a:r>
          </a:p>
          <a:p>
            <a:pPr lvl="0" indent="-342900" marL="342900">
              <a:buAutoNum type="arabicPeriod"/>
            </a:pPr>
            <a:r>
              <a:rPr b="1"/>
              <a:t>Yaratıcı sınıfın içine boş bir fabrika yöntemi ekleyin.</a:t>
            </a:r>
            <a:r>
              <a:rPr/>
              <a:t> Yöntemin dönüş türü ortak ürün arayüzüyle eşleşmelidir.</a:t>
            </a:r>
          </a:p>
          <a:p>
            <a:pPr lvl="0" indent="-342900" marL="342900">
              <a:buAutoNum type="arabicPeriod"/>
            </a:pPr>
            <a:r>
              <a:rPr b="1"/>
              <a:t>Yaratıcının kodunda, ürün yapıcılarına yapılan tüm referansları bulun.</a:t>
            </a:r>
            <a:r>
              <a:rPr/>
              <a:t> Bunları tek tek fabrika yöntemine yapılan çağrılarla değiştirin ve ürün oluşturma kodunu fabrika yöntemine çıkarın.</a:t>
            </a:r>
          </a:p>
          <a:p>
            <a:pPr lvl="0" indent="-342900" marL="342900">
              <a:buAutoNum type="arabicPeriod"/>
            </a:pPr>
            <a:r>
              <a:rPr b="1"/>
              <a:t>Fabrika yönteminde listelenen her ürün türü için bir somut yaratıcı alt sınıf kümesi oluşturun.</a:t>
            </a:r>
            <a:r>
              <a:rPr/>
              <a:t> Alt sınıflarda fabrika yöntemini geçersiz kılın ve temel yöntemden uygun oluşturma kodu parçalarını çıkarın.</a:t>
            </a:r>
          </a:p>
          <a:p>
            <a:pPr lvl="0" indent="-342900" marL="342900">
              <a:buAutoNum type="arabicPeriod"/>
            </a:pPr>
            <a:r>
              <a:rPr b="1"/>
              <a:t>Çok fazla ürün türü varsa</a:t>
            </a:r>
            <a:r>
              <a:rPr/>
              <a:t> ve hepsi için alt sınıf oluşturmak mantıklı değilse, alt sınıflarda temel sınıftaki kontrol parametresini yeniden kullanabilirsiniz.</a:t>
            </a:r>
          </a:p>
          <a:p>
            <a:pPr lvl="0" indent="-342900" marL="342900">
              <a:buAutoNum type="arabicPeriod"/>
            </a:pPr>
            <a:r>
              <a:rPr b="1"/>
              <a:t>Tüm çıkarmalardan sonra temel fabrika yöntemi boş kaldıysa</a:t>
            </a:r>
            <a:r>
              <a:rPr/>
              <a:t>, onu soyut yapabilirsiniz. Geriye kalan bir şey varsa, bunu yöntemin varsayılan davranışı yapabilirsiniz.</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Artılar ve Eksiler</a:t>
            </a:r>
          </a:p>
        </p:txBody>
      </p:sp>
      <p:sp>
        <p:nvSpPr>
          <p:cNvPr id="3" name="Content Placeholder 2"/>
          <p:cNvSpPr>
            <a:spLocks noGrp="1"/>
          </p:cNvSpPr>
          <p:nvPr>
            <p:ph idx="1"/>
          </p:nvPr>
        </p:nvSpPr>
        <p:spPr/>
        <p:txBody>
          <a:bodyPr/>
          <a:lstStyle/>
          <a:p>
            <a:pPr lvl="0" indent="0" marL="0">
              <a:spcBef>
                <a:spcPts val="3000"/>
              </a:spcBef>
              <a:buNone/>
            </a:pPr>
            <a:r>
              <a:rPr b="1"/>
              <a:t>Artılar</a:t>
            </a:r>
          </a:p>
          <a:p>
            <a:pPr lvl="0"/>
            <a:r>
              <a:rPr b="1"/>
              <a:t>Sıkı bağımlılıktan kaçınır</a:t>
            </a:r>
            <a:r>
              <a:rPr/>
              <a:t>: yaratıcı ile somut ürünler arasında.</a:t>
            </a:r>
          </a:p>
          <a:p>
            <a:pPr lvl="0"/>
            <a:r>
              <a:rPr b="1"/>
              <a:t>Tek Sorumluluk İlkesi (SRP)</a:t>
            </a:r>
            <a:r>
              <a:rPr/>
              <a:t>: Ürün oluşturma kodunu programda tek bir yere taşıyabilirsiniz, bu da kodun desteklenmesini kolaylaştırır.</a:t>
            </a:r>
          </a:p>
          <a:p>
            <a:pPr lvl="0"/>
            <a:r>
              <a:rPr b="1"/>
              <a:t>Açık/Kapalı İlkesi (OCP)</a:t>
            </a:r>
            <a:r>
              <a:rPr/>
              <a:t>: Mevcut istemci kodunu bozmadan programa yeni ürün türleri ekleyebilirsiniz.</a:t>
            </a:r>
          </a:p>
          <a:p>
            <a:pPr lvl="0" indent="0" marL="0">
              <a:spcBef>
                <a:spcPts val="3000"/>
              </a:spcBef>
              <a:buNone/>
            </a:pPr>
            <a:r>
              <a:rPr b="1"/>
              <a:t>Eksiler</a:t>
            </a:r>
          </a:p>
          <a:p>
            <a:pPr lvl="0"/>
            <a:r>
              <a:rPr b="1"/>
              <a:t>Kod karmaşıklığı artar</a:t>
            </a:r>
            <a:r>
              <a:rPr/>
              <a:t>: Deseni uygulamak için birçok yeni alt sınıf tanıtmanız gerektiğinden kod daha karmaşık hale gelebilir. En iyi senaryo, deseni mevcut bir yaratıcı sınıf hiyerarşisine dahil ettiğiniz zamandır.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Diğer Desenlerle İlişkiler</a:t>
            </a:r>
          </a:p>
        </p:txBody>
      </p:sp>
      <p:sp>
        <p:nvSpPr>
          <p:cNvPr id="3" name="Content Placeholder 2"/>
          <p:cNvSpPr>
            <a:spLocks noGrp="1"/>
          </p:cNvSpPr>
          <p:nvPr>
            <p:ph idx="1"/>
          </p:nvPr>
        </p:nvSpPr>
        <p:spPr/>
        <p:txBody>
          <a:bodyPr/>
          <a:lstStyle/>
          <a:p>
            <a:pPr lvl="0"/>
            <a:r>
              <a:rPr/>
              <a:t>Birçok tasarım </a:t>
            </a:r>
            <a:r>
              <a:rPr b="1"/>
              <a:t>Factory Method</a:t>
            </a:r>
            <a:r>
              <a:rPr/>
              <a:t> ile başlar (daha az karmaşık, alt sınıflar aracılığıyla daha fazla özelleştirilebilir) ve </a:t>
            </a:r>
            <a:r>
              <a:rPr b="1"/>
              <a:t>Abstract Factory</a:t>
            </a:r>
            <a:r>
              <a:rPr/>
              <a:t>, </a:t>
            </a:r>
            <a:r>
              <a:rPr b="1"/>
              <a:t>Prototype</a:t>
            </a:r>
            <a:r>
              <a:rPr/>
              <a:t> veya </a:t>
            </a:r>
            <a:r>
              <a:rPr b="1"/>
              <a:t>Builder</a:t>
            </a:r>
            <a:r>
              <a:rPr/>
              <a:t>’a doğru evrilir (daha esnek, ancak daha karmaşık).</a:t>
            </a:r>
          </a:p>
          <a:p>
            <a:pPr lvl="0"/>
            <a:r>
              <a:rPr b="1"/>
              <a:t>Abstract Factory</a:t>
            </a:r>
            <a:r>
              <a:rPr/>
              <a:t> sınıfları genellikle bir dizi </a:t>
            </a:r>
            <a:r>
              <a:rPr b="1"/>
              <a:t>Factory Method</a:t>
            </a:r>
            <a:r>
              <a:rPr/>
              <a:t> üzerine kurulur, ancak bu sınıflardaki yöntemleri oluşturmak için </a:t>
            </a:r>
            <a:r>
              <a:rPr b="1"/>
              <a:t>Prototype</a:t>
            </a:r>
            <a:r>
              <a:rPr/>
              <a:t> da kullanabilirsiniz.</a:t>
            </a:r>
          </a:p>
          <a:p>
            <a:pPr lvl="0"/>
            <a:r>
              <a:rPr/>
              <a:t>Koleksiyon alt sınıflarının koleksiyonlarla uyumlu farklı türde yineleyiciler döndürmesini sağlamak için </a:t>
            </a:r>
            <a:r>
              <a:rPr b="1"/>
              <a:t>Factory Method</a:t>
            </a:r>
            <a:r>
              <a:rPr/>
              <a:t>’u </a:t>
            </a:r>
            <a:r>
              <a:rPr b="1"/>
              <a:t>Iterator</a:t>
            </a:r>
            <a:r>
              <a:rPr/>
              <a:t> ile birlikte kullanabilirsiniz.</a:t>
            </a:r>
          </a:p>
          <a:p>
            <a:pPr lvl="0"/>
            <a:r>
              <a:rPr b="1"/>
              <a:t>Prototype</a:t>
            </a:r>
            <a:r>
              <a:rPr/>
              <a:t> kalıtıma dayalı değildir, bu nedenle dezavantajları yoktur. Öte yandan, Prototype, klonlanan nesnenin karmaşık bir başlatılmasını gerektirir. </a:t>
            </a:r>
            <a:r>
              <a:rPr b="1"/>
              <a:t>Factory Method</a:t>
            </a:r>
            <a:r>
              <a:rPr/>
              <a:t> kalıtıma dayalıdır ancak bir başlatma adımı gerektirmez.</a:t>
            </a:r>
          </a:p>
          <a:p>
            <a:pPr lvl="0"/>
            <a:r>
              <a:rPr b="1"/>
              <a:t>Factory Method</a:t>
            </a:r>
            <a:r>
              <a:rPr/>
              <a:t>, </a:t>
            </a:r>
            <a:r>
              <a:rPr b="1"/>
              <a:t>Template Method</a:t>
            </a:r>
            <a:r>
              <a:rPr/>
              <a:t>’un bir özelleştirmesidir. Aynı zamanda, bir Factory Method büyük bir Template Method’da bir adım olarak hizmet edebilir.</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Java Kod Örneği</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Product interface</a:t>
            </a:r>
            <a:br/>
            <a:r>
              <a:rPr b="1">
                <a:solidFill>
                  <a:srgbClr val="007020"/>
                </a:solidFill>
                <a:latin typeface="Courier"/>
              </a:rPr>
              <a:t>interface</a:t>
            </a:r>
            <a:r>
              <a:rPr>
                <a:latin typeface="Courier"/>
              </a:rPr>
              <a:t> Transport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deliver</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Products</a:t>
            </a:r>
            <a:br/>
            <a:r>
              <a:rPr b="1">
                <a:solidFill>
                  <a:srgbClr val="007020"/>
                </a:solidFill>
                <a:latin typeface="Courier"/>
              </a:rPr>
              <a:t>class</a:t>
            </a:r>
            <a:r>
              <a:rPr>
                <a:latin typeface="Courier"/>
              </a:rPr>
              <a:t> Truck </a:t>
            </a:r>
            <a:r>
              <a:rPr b="1">
                <a:solidFill>
                  <a:srgbClr val="007020"/>
                </a:solidFill>
                <a:latin typeface="Courier"/>
              </a:rPr>
              <a:t>implements</a:t>
            </a:r>
            <a:r>
              <a:rPr>
                <a:latin typeface="Courier"/>
              </a:rPr>
              <a:t> Transport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deliver</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"Delivering by land in a truck."</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Ship </a:t>
            </a:r>
            <a:r>
              <a:rPr b="1">
                <a:solidFill>
                  <a:srgbClr val="007020"/>
                </a:solidFill>
                <a:latin typeface="Courier"/>
              </a:rPr>
              <a:t>implements</a:t>
            </a:r>
            <a:r>
              <a:rPr>
                <a:latin typeface="Courier"/>
              </a:rPr>
              <a:t> Transport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deliver</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"Delivering by sea in a ship."</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Creator (abstract)</a:t>
            </a:r>
            <a:br/>
            <a:r>
              <a:rPr b="1">
                <a:solidFill>
                  <a:srgbClr val="007020"/>
                </a:solidFill>
                <a:latin typeface="Courier"/>
              </a:rPr>
              <a:t>abstract</a:t>
            </a:r>
            <a:r>
              <a:rPr>
                <a:latin typeface="Courier"/>
              </a:rPr>
              <a:t> </a:t>
            </a:r>
            <a:r>
              <a:rPr b="1">
                <a:solidFill>
                  <a:srgbClr val="007020"/>
                </a:solidFill>
                <a:latin typeface="Courier"/>
              </a:rPr>
              <a:t>class</a:t>
            </a:r>
            <a:r>
              <a:rPr>
                <a:latin typeface="Courier"/>
              </a:rPr>
              <a:t> Logistics </a:t>
            </a:r>
            <a:r>
              <a:rPr>
                <a:solidFill>
                  <a:srgbClr val="666666"/>
                </a:solidFill>
                <a:latin typeface="Courier"/>
              </a:rPr>
              <a:t>{</a:t>
            </a:r>
            <a:br/>
            <a:r>
              <a:rPr>
                <a:latin typeface="Courier"/>
              </a:rPr>
              <a:t>    </a:t>
            </a:r>
            <a:r>
              <a:rPr i="1">
                <a:solidFill>
                  <a:srgbClr val="60A0B0"/>
                </a:solidFill>
                <a:latin typeface="Courier"/>
              </a:rPr>
              <a:t>// Factory Method</a:t>
            </a:r>
            <a:br/>
            <a:r>
              <a:rPr>
                <a:latin typeface="Courier"/>
              </a:rPr>
              <a:t>    </a:t>
            </a:r>
            <a:r>
              <a:rPr b="1">
                <a:solidFill>
                  <a:srgbClr val="007020"/>
                </a:solidFill>
                <a:latin typeface="Courier"/>
              </a:rPr>
              <a:t>public</a:t>
            </a:r>
            <a:r>
              <a:rPr>
                <a:latin typeface="Courier"/>
              </a:rPr>
              <a:t> </a:t>
            </a:r>
            <a:r>
              <a:rPr b="1">
                <a:solidFill>
                  <a:srgbClr val="007020"/>
                </a:solidFill>
                <a:latin typeface="Courier"/>
              </a:rPr>
              <a:t>abstract</a:t>
            </a:r>
            <a:r>
              <a:rPr>
                <a:latin typeface="Courier"/>
              </a:rPr>
              <a:t> Transport </a:t>
            </a:r>
            <a:r>
              <a:rPr>
                <a:solidFill>
                  <a:srgbClr val="06287E"/>
                </a:solidFill>
                <a:latin typeface="Courier"/>
              </a:rPr>
              <a:t>createTransport</a:t>
            </a:r>
            <a:r>
              <a:rPr>
                <a:solidFill>
                  <a:srgbClr val="666666"/>
                </a:solidFill>
                <a:latin typeface="Courier"/>
              </a:rPr>
              <a:t>();</a:t>
            </a:r>
            <a:br/>
            <a:br/>
            <a:r>
              <a:rPr>
                <a:latin typeface="Courier"/>
              </a:rPr>
              <a:t>    </a:t>
            </a:r>
            <a:r>
              <a:rPr i="1">
                <a:solidFill>
                  <a:srgbClr val="60A0B0"/>
                </a:solidFill>
                <a:latin typeface="Courier"/>
              </a:rPr>
              <a:t>// Business logic that uses the factory method</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planDelivery</a:t>
            </a:r>
            <a:r>
              <a:rPr>
                <a:solidFill>
                  <a:srgbClr val="666666"/>
                </a:solidFill>
                <a:latin typeface="Courier"/>
              </a:rPr>
              <a:t>()</a:t>
            </a:r>
            <a:r>
              <a:rPr>
                <a:latin typeface="Courier"/>
              </a:rPr>
              <a:t> </a:t>
            </a:r>
            <a:r>
              <a:rPr>
                <a:solidFill>
                  <a:srgbClr val="666666"/>
                </a:solidFill>
                <a:latin typeface="Courier"/>
              </a:rPr>
              <a:t>{</a:t>
            </a:r>
            <a:br/>
            <a:r>
              <a:rPr>
                <a:latin typeface="Courier"/>
              </a:rPr>
              <a:t>        Transport transport </a:t>
            </a:r>
            <a:r>
              <a:rPr>
                <a:solidFill>
                  <a:srgbClr val="666666"/>
                </a:solidFill>
                <a:latin typeface="Courier"/>
              </a:rPr>
              <a:t>=</a:t>
            </a:r>
            <a:r>
              <a:rPr>
                <a:latin typeface="Courier"/>
              </a:rPr>
              <a:t> </a:t>
            </a:r>
            <a:r>
              <a:rPr>
                <a:solidFill>
                  <a:srgbClr val="06287E"/>
                </a:solidFill>
                <a:latin typeface="Courier"/>
              </a:rPr>
              <a:t>createTransport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"Planning delivery..."</a:t>
            </a:r>
            <a:r>
              <a:rPr>
                <a:solidFill>
                  <a:srgbClr val="666666"/>
                </a:solidFill>
                <a:latin typeface="Courier"/>
              </a:rPr>
              <a:t>);</a:t>
            </a:r>
            <a:br/>
            <a:r>
              <a:rPr>
                <a:latin typeface="Courier"/>
              </a:rPr>
              <a:t>        transport</a:t>
            </a:r>
            <a:r>
              <a:rPr>
                <a:solidFill>
                  <a:srgbClr val="666666"/>
                </a:solidFill>
                <a:latin typeface="Courier"/>
              </a:rPr>
              <a:t>.</a:t>
            </a:r>
            <a:r>
              <a:rPr>
                <a:solidFill>
                  <a:srgbClr val="06287E"/>
                </a:solidFill>
                <a:latin typeface="Courier"/>
              </a:rPr>
              <a:t>deliver</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Creators</a:t>
            </a:r>
            <a:br/>
            <a:r>
              <a:rPr b="1">
                <a:solidFill>
                  <a:srgbClr val="007020"/>
                </a:solidFill>
                <a:latin typeface="Courier"/>
              </a:rPr>
              <a:t>class</a:t>
            </a:r>
            <a:r>
              <a:rPr>
                <a:latin typeface="Courier"/>
              </a:rPr>
              <a:t> RoadLogistics </a:t>
            </a:r>
            <a:r>
              <a:rPr b="1">
                <a:solidFill>
                  <a:srgbClr val="007020"/>
                </a:solidFill>
                <a:latin typeface="Courier"/>
              </a:rPr>
              <a:t>extends</a:t>
            </a:r>
            <a:r>
              <a:rPr>
                <a:latin typeface="Courier"/>
              </a:rPr>
              <a:t> Logistics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Transport </a:t>
            </a:r>
            <a:r>
              <a:rPr>
                <a:solidFill>
                  <a:srgbClr val="06287E"/>
                </a:solidFill>
                <a:latin typeface="Courier"/>
              </a:rPr>
              <a:t>createTransport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Truck</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SeaLogistics </a:t>
            </a:r>
            <a:r>
              <a:rPr b="1">
                <a:solidFill>
                  <a:srgbClr val="007020"/>
                </a:solidFill>
                <a:latin typeface="Courier"/>
              </a:rPr>
              <a:t>extends</a:t>
            </a:r>
            <a:r>
              <a:rPr>
                <a:latin typeface="Courier"/>
              </a:rPr>
              <a:t> Logistics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Transport </a:t>
            </a:r>
            <a:r>
              <a:rPr>
                <a:solidFill>
                  <a:srgbClr val="06287E"/>
                </a:solidFill>
                <a:latin typeface="Courier"/>
              </a:rPr>
              <a:t>createTransport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Ship</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Factory Method (Fabrika Yöntemi)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FactoryMethodDemo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Logistics logistics</a:t>
            </a:r>
            <a:r>
              <a:rPr>
                <a:solidFill>
                  <a:srgbClr val="666666"/>
                </a:solidFill>
                <a:latin typeface="Courier"/>
              </a:rPr>
              <a:t>;</a:t>
            </a:r>
            <a:br/>
            <a:br/>
            <a:r>
              <a:rPr>
                <a:latin typeface="Courier"/>
              </a:rPr>
              <a:t>        </a:t>
            </a:r>
            <a:r>
              <a:rPr i="1">
                <a:solidFill>
                  <a:srgbClr val="60A0B0"/>
                </a:solidFill>
                <a:latin typeface="Courier"/>
              </a:rPr>
              <a:t>// Configuration determines which factory to use</a:t>
            </a:r>
            <a:br/>
            <a:r>
              <a:rPr>
                <a:latin typeface="Courier"/>
              </a:rPr>
              <a:t>        </a:t>
            </a:r>
            <a:r>
              <a:rPr>
                <a:solidFill>
                  <a:srgbClr val="008000"/>
                </a:solidFill>
                <a:latin typeface="Courier"/>
              </a:rPr>
              <a:t>String</a:t>
            </a:r>
            <a:r>
              <a:rPr>
                <a:latin typeface="Courier"/>
              </a:rPr>
              <a:t> transportType </a:t>
            </a:r>
            <a:r>
              <a:rPr>
                <a:solidFill>
                  <a:srgbClr val="666666"/>
                </a:solidFill>
                <a:latin typeface="Courier"/>
              </a:rPr>
              <a:t>=</a:t>
            </a:r>
            <a:r>
              <a:rPr>
                <a:latin typeface="Courier"/>
              </a:rPr>
              <a:t> </a:t>
            </a:r>
            <a:r>
              <a:rPr>
                <a:solidFill>
                  <a:srgbClr val="4070A0"/>
                </a:solidFill>
                <a:latin typeface="Courier"/>
              </a:rPr>
              <a:t>"sea"</a:t>
            </a:r>
            <a:r>
              <a:rPr>
                <a:solidFill>
                  <a:srgbClr val="666666"/>
                </a:solidFill>
                <a:latin typeface="Courier"/>
              </a:rPr>
              <a:t>;</a:t>
            </a:r>
            <a:r>
              <a:rPr>
                <a:latin typeface="Courier"/>
              </a:rPr>
              <a:t> </a:t>
            </a:r>
            <a:r>
              <a:rPr i="1">
                <a:solidFill>
                  <a:srgbClr val="60A0B0"/>
                </a:solidFill>
                <a:latin typeface="Courier"/>
              </a:rPr>
              <a:t>// could come from config</a:t>
            </a:r>
            <a:b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transportType</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"road"</a:t>
            </a:r>
            <a:r>
              <a:rPr>
                <a:solidFill>
                  <a:srgbClr val="666666"/>
                </a:solidFill>
                <a:latin typeface="Courier"/>
              </a:rPr>
              <a:t>))</a:t>
            </a:r>
            <a:r>
              <a:rPr>
                <a:latin typeface="Courier"/>
              </a:rPr>
              <a:t> </a:t>
            </a:r>
            <a:r>
              <a:rPr>
                <a:solidFill>
                  <a:srgbClr val="666666"/>
                </a:solidFill>
                <a:latin typeface="Courier"/>
              </a:rPr>
              <a:t>{</a:t>
            </a:r>
            <a:br/>
            <a:r>
              <a:rPr>
                <a:latin typeface="Courier"/>
              </a:rPr>
              <a:t>            logistics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RoadLogistics</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transportType</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"sea"</a:t>
            </a:r>
            <a:r>
              <a:rPr>
                <a:solidFill>
                  <a:srgbClr val="666666"/>
                </a:solidFill>
                <a:latin typeface="Courier"/>
              </a:rPr>
              <a:t>))</a:t>
            </a:r>
            <a:r>
              <a:rPr>
                <a:latin typeface="Courier"/>
              </a:rPr>
              <a:t> </a:t>
            </a:r>
            <a:r>
              <a:rPr>
                <a:solidFill>
                  <a:srgbClr val="666666"/>
                </a:solidFill>
                <a:latin typeface="Courier"/>
              </a:rPr>
              <a:t>{</a:t>
            </a:r>
            <a:br/>
            <a:r>
              <a:rPr>
                <a:latin typeface="Courier"/>
              </a:rPr>
              <a:t>            logistics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SeaLogistics</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a:t>
            </a:r>
            <a:r>
              <a:rPr b="1">
                <a:solidFill>
                  <a:srgbClr val="007020"/>
                </a:solidFill>
                <a:latin typeface="Courier"/>
              </a:rPr>
              <a:t>throw</a:t>
            </a:r>
            <a:r>
              <a:rPr>
                <a:latin typeface="Courier"/>
              </a:rPr>
              <a:t> </a:t>
            </a:r>
            <a:r>
              <a:rPr b="1">
                <a:solidFill>
                  <a:srgbClr val="007020"/>
                </a:solidFill>
                <a:latin typeface="Courier"/>
              </a:rPr>
              <a:t>new</a:t>
            </a:r>
            <a:r>
              <a:rPr>
                <a:latin typeface="Courier"/>
              </a:rPr>
              <a:t> </a:t>
            </a:r>
            <a:r>
              <a:rPr>
                <a:solidFill>
                  <a:srgbClr val="008000"/>
                </a:solidFill>
                <a:latin typeface="Courier"/>
              </a:rPr>
              <a:t>IllegalArgumentException</a:t>
            </a:r>
            <a:r>
              <a:rPr>
                <a:solidFill>
                  <a:srgbClr val="666666"/>
                </a:solidFill>
                <a:latin typeface="Courier"/>
              </a:rPr>
              <a:t>(</a:t>
            </a:r>
            <a:br/>
            <a:r>
              <a:rPr>
                <a:latin typeface="Courier"/>
              </a:rPr>
              <a:t>                </a:t>
            </a:r>
            <a:r>
              <a:rPr>
                <a:solidFill>
                  <a:srgbClr val="4070A0"/>
                </a:solidFill>
                <a:latin typeface="Courier"/>
              </a:rPr>
              <a:t>"Unknown transport type: "</a:t>
            </a:r>
            <a:r>
              <a:rPr>
                <a:latin typeface="Courier"/>
              </a:rPr>
              <a:t> </a:t>
            </a:r>
            <a:r>
              <a:rPr>
                <a:solidFill>
                  <a:srgbClr val="666666"/>
                </a:solidFill>
                <a:latin typeface="Courier"/>
              </a:rPr>
              <a:t>+</a:t>
            </a:r>
            <a:r>
              <a:rPr>
                <a:latin typeface="Courier"/>
              </a:rPr>
              <a:t> transportType</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Client works with the abstract creator</a:t>
            </a:r>
            <a:br/>
            <a:r>
              <a:rPr>
                <a:latin typeface="Courier"/>
              </a:rPr>
              <a:t>        logistics</a:t>
            </a:r>
            <a:r>
              <a:rPr>
                <a:solidFill>
                  <a:srgbClr val="666666"/>
                </a:solidFill>
                <a:latin typeface="Courier"/>
              </a:rPr>
              <a:t>.</a:t>
            </a:r>
            <a:r>
              <a:rPr>
                <a:solidFill>
                  <a:srgbClr val="06287E"/>
                </a:solidFill>
                <a:latin typeface="Courier"/>
              </a:rPr>
              <a:t>planDelivery</a:t>
            </a:r>
            <a:r>
              <a:rPr>
                <a:solidFill>
                  <a:srgbClr val="666666"/>
                </a:solidFill>
                <a:latin typeface="Courier"/>
              </a:rPr>
              <a:t>();</a:t>
            </a:r>
            <a:br/>
            <a:r>
              <a:rPr>
                <a:latin typeface="Courier"/>
              </a:rPr>
              <a:t>        </a:t>
            </a:r>
            <a:r>
              <a:rPr i="1">
                <a:solidFill>
                  <a:srgbClr val="60A0B0"/>
                </a:solidFill>
                <a:latin typeface="Courier"/>
              </a:rPr>
              <a:t>// Output: Planning delivery...</a:t>
            </a:r>
            <a:br/>
            <a:r>
              <a:rPr>
                <a:latin typeface="Courier"/>
              </a:rPr>
              <a:t>        </a:t>
            </a:r>
            <a:r>
              <a:rPr i="1">
                <a:solidFill>
                  <a:srgbClr val="60A0B0"/>
                </a:solidFill>
                <a:latin typeface="Courier"/>
              </a:rPr>
              <a:t>//         Delivering by sea in a ship.</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B: Özet</a:t>
            </a:r>
          </a:p>
        </p:txBody>
      </p:sp>
      <p:sp>
        <p:nvSpPr>
          <p:cNvPr id="3" name="Content Placeholder 2"/>
          <p:cNvSpPr>
            <a:spLocks noGrp="1"/>
          </p:cNvSpPr>
          <p:nvPr>
            <p:ph idx="1"/>
          </p:nvPr>
        </p:nvSpPr>
        <p:spPr/>
        <p:txBody>
          <a:bodyPr/>
          <a:lstStyle/>
          <a:p>
            <a:pPr lvl="0"/>
            <a:r>
              <a:rPr b="1"/>
              <a:t>Factory Method (Fabrika Yöntemi)</a:t>
            </a:r>
            <a:r>
              <a:rPr/>
              <a:t>, bir üst sınıfta nesne oluşturmak için bir arayüz sağlar, ancak alt sınıfların oluşturulan nesnelerin türünü değiştirmesine izin verir.</a:t>
            </a:r>
          </a:p>
          <a:p>
            <a:pPr lvl="0"/>
            <a:r>
              <a:rPr/>
              <a:t>Yaratıcı kod ile somut ürün sınıfları arasındaki </a:t>
            </a:r>
            <a:r>
              <a:rPr b="1"/>
              <a:t>sıkı bağımlılık</a:t>
            </a:r>
            <a:r>
              <a:rPr/>
              <a:t> sorununu çözer.</a:t>
            </a:r>
          </a:p>
          <a:p>
            <a:pPr lvl="0"/>
            <a:r>
              <a:rPr/>
              <a:t>Desen </a:t>
            </a:r>
            <a:r>
              <a:rPr b="1"/>
              <a:t>dört katılımcı</a:t>
            </a:r>
            <a:r>
              <a:rPr/>
              <a:t> kullanır: Product (Ürün) arayüzü, Concrete Products (Somut Ürünler), Creator (Yaratıcı) sınıfı ve Concrete Creators (Somut Yaratıcılar).</a:t>
            </a:r>
          </a:p>
          <a:p>
            <a:pPr lvl="0"/>
            <a:r>
              <a:rPr/>
              <a:t>Factory Method, </a:t>
            </a:r>
            <a:r>
              <a:rPr b="1"/>
              <a:t>Açık/Kapalı İlkesini</a:t>
            </a:r>
            <a:r>
              <a:rPr/>
              <a:t> (mevcut kodu değiştirmeden yeni ürünler) ve </a:t>
            </a:r>
            <a:r>
              <a:rPr b="1"/>
              <a:t>Tek Sorumluluk İlkesini</a:t>
            </a:r>
            <a:r>
              <a:rPr/>
              <a:t> (merkezi oluşturma mantığı) destekler.</a:t>
            </a:r>
          </a:p>
          <a:p>
            <a:pPr lvl="0"/>
            <a:r>
              <a:rPr/>
              <a:t>Genellikle Abstract Factory veya Prototype gibi daha karmaşık desenler için </a:t>
            </a:r>
            <a:r>
              <a:rPr b="1"/>
              <a:t>başlangıç noktasıdır</a:t>
            </a:r>
            <a:r>
              <a:rPr/>
              <a:t>.</a:t>
            </a:r>
          </a:p>
          <a:p>
            <a:pPr lvl="0"/>
            <a:r>
              <a:rPr/>
              <a:t>Ana ödünleşim, kod tabanındaki </a:t>
            </a:r>
            <a:r>
              <a:rPr b="1"/>
              <a:t>artan alt sınıf sayısıdır</a:t>
            </a:r>
            <a:r>
              <a:rPr/>
              <a:t>.</a:t>
            </a:r>
          </a:p>
          <a:p>
            <a:pPr lvl="0"/>
            <a:r>
              <a:rPr/>
              <a:t>Factory Method, </a:t>
            </a:r>
            <a:r>
              <a:rPr b="1"/>
              <a:t>Template Method</a:t>
            </a:r>
            <a:r>
              <a:rPr/>
              <a:t> deseninin bir özelleştirmesidir.</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C: Abstract Factory (Soyut Fabrika) Deseni</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Deseni - Genel Bakış</a:t>
            </a:r>
          </a:p>
        </p:txBody>
      </p:sp>
      <p:sp>
        <p:nvSpPr>
          <p:cNvPr id="3" name="Content Placeholder 2"/>
          <p:cNvSpPr>
            <a:spLocks noGrp="1"/>
          </p:cNvSpPr>
          <p:nvPr>
            <p:ph idx="1"/>
          </p:nvPr>
        </p:nvSpPr>
        <p:spPr/>
        <p:txBody>
          <a:bodyPr/>
          <a:lstStyle/>
          <a:p>
            <a:pPr lvl="0"/>
            <a:r>
              <a:rPr b="1"/>
              <a:t>Kategori</a:t>
            </a:r>
            <a:r>
              <a:rPr/>
              <a:t>: Yaratımsal Desen (Creational Pattern)</a:t>
            </a:r>
          </a:p>
          <a:p>
            <a:pPr lvl="0"/>
            <a:r>
              <a:rPr b="1"/>
              <a:t>Karmaşıklık</a:t>
            </a:r>
            <a:r>
              <a:rPr/>
              <a:t>: Orta</a:t>
            </a:r>
          </a:p>
          <a:p>
            <a:pPr lvl="0"/>
            <a:r>
              <a:rPr b="1"/>
              <a:t>Popülerlik</a:t>
            </a:r>
            <a:r>
              <a:rPr/>
              <a:t>: Yüksek</a:t>
            </a:r>
          </a:p>
          <a:p>
            <a:pPr lvl="0" indent="0" marL="0">
              <a:buNone/>
            </a:pPr>
            <a:r>
              <a:rPr b="1"/>
              <a:t>Amaç</a:t>
            </a:r>
            <a:r>
              <a:rPr/>
              <a:t>: Abstract Factory (Soyut Fabrika), somut sınıflarını belirtmeden </a:t>
            </a:r>
            <a:r>
              <a:rPr b="1"/>
              <a:t>ilişkili nesne aileleri</a:t>
            </a:r>
            <a:r>
              <a:rPr/>
              <a:t> üretmenizi sağlayan bir yaratımsal tasarım desenidir.</a:t>
            </a:r>
          </a:p>
          <a:p>
            <a:pPr lvl="0" indent="0" marL="0">
              <a:buNone/>
            </a:pPr>
            <a:r>
              <a:rPr/>
              <a:t>Referans: </a:t>
            </a:r>
            <a:r>
              <a:rPr>
                <a:hlinkClick r:id="rId2"/>
              </a:rPr>
              <a:t>RefactoringGuru - Abstract Factory</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Problem</a:t>
            </a:r>
          </a:p>
        </p:txBody>
      </p:sp>
      <p:sp>
        <p:nvSpPr>
          <p:cNvPr id="3" name="Content Placeholder 2"/>
          <p:cNvSpPr>
            <a:spLocks noGrp="1"/>
          </p:cNvSpPr>
          <p:nvPr>
            <p:ph idx="1"/>
          </p:nvPr>
        </p:nvSpPr>
        <p:spPr/>
        <p:txBody>
          <a:bodyPr/>
          <a:lstStyle/>
          <a:p>
            <a:pPr lvl="0" indent="0" marL="0">
              <a:buNone/>
            </a:pPr>
            <a:r>
              <a:rPr/>
              <a:t>Bir mobilya mağazası simülatörü oluşturduğunuzu düşünün. Kodunuz şunları temsil eden sınıflardan oluşur:</a:t>
            </a:r>
          </a:p>
          <a:p>
            <a:pPr lvl="0"/>
            <a:r>
              <a:rPr/>
              <a:t>İlişkili ürünlerden oluşan bir aile, örneğin: </a:t>
            </a:r>
            <a:r>
              <a:rPr>
                <a:latin typeface="Courier"/>
              </a:rPr>
              <a:t>Chair</a:t>
            </a:r>
            <a:r>
              <a:rPr/>
              <a:t> + </a:t>
            </a:r>
            <a:r>
              <a:rPr>
                <a:latin typeface="Courier"/>
              </a:rPr>
              <a:t>Sofa</a:t>
            </a:r>
            <a:r>
              <a:rPr/>
              <a:t> + </a:t>
            </a:r>
            <a:r>
              <a:rPr>
                <a:latin typeface="Courier"/>
              </a:rPr>
              <a:t>CoffeeTable</a:t>
            </a:r>
            <a:r>
              <a:rPr/>
              <a:t>.</a:t>
            </a:r>
          </a:p>
          <a:p>
            <a:pPr lvl="0"/>
            <a:r>
              <a:rPr/>
              <a:t>Bu ailenin birkaç varyantı. Örneğin, </a:t>
            </a:r>
            <a:r>
              <a:rPr>
                <a:latin typeface="Courier"/>
              </a:rPr>
              <a:t>Chair</a:t>
            </a:r>
            <a:r>
              <a:rPr/>
              <a:t> + </a:t>
            </a:r>
            <a:r>
              <a:rPr>
                <a:latin typeface="Courier"/>
              </a:rPr>
              <a:t>Sofa</a:t>
            </a:r>
            <a:r>
              <a:rPr/>
              <a:t> + </a:t>
            </a:r>
            <a:r>
              <a:rPr>
                <a:latin typeface="Courier"/>
              </a:rPr>
              <a:t>CoffeeTable</a:t>
            </a:r>
            <a:r>
              <a:rPr/>
              <a:t> ürünleri şu varyantlarda mevcuttur: </a:t>
            </a:r>
            <a:r>
              <a:rPr b="1"/>
              <a:t>Modern</a:t>
            </a:r>
            <a:r>
              <a:rPr/>
              <a:t>, </a:t>
            </a:r>
            <a:r>
              <a:rPr b="1"/>
              <a:t>Victorian</a:t>
            </a:r>
            <a:r>
              <a:rPr/>
              <a:t>, </a:t>
            </a:r>
            <a:r>
              <a:rPr b="1"/>
              <a:t>ArtDeco</a:t>
            </a:r>
            <a:r>
              <a:rPr/>
              <a:t>.</a:t>
            </a:r>
          </a:p>
          <a:p>
            <a:pPr lvl="0" indent="0" marL="0">
              <a:buNone/>
            </a:pPr>
            <a:r>
              <a:rPr/>
              <a:t>Ürünlerin aynı ailedeki diğer nesnelerle eşleşmesi için bireysel mobilya nesneleri oluşturmanın bir yoluna ihtiyacınız var. Müşteriler uyumsuz mobilya aldıklarında oldukça kızarlar.</a:t>
            </a:r>
          </a:p>
          <a:p>
            <a:pPr lvl="0" indent="0" marL="0">
              <a:buNone/>
            </a:pPr>
            <a:r>
              <a:rPr b="1"/>
              <a:t>Doğrudan oluşturmayla ilgili sorunlar:</a:t>
            </a:r>
          </a:p>
          <a:p>
            <a:pPr lvl="0"/>
            <a:r>
              <a:rPr/>
              <a:t>Yeni ürünler veya ürün aileleri eklerken mevcut kodu değiştirmek istemezsiniz.</a:t>
            </a:r>
          </a:p>
          <a:p>
            <a:pPr lvl="0"/>
            <a:r>
              <a:rPr/>
              <a:t>Mobilya satıcıları kataloglarını çok sık günceller ve her seferinde çekirdek kodu değiştirmek istemezsiniz.</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Çözüm</a:t>
            </a:r>
          </a:p>
        </p:txBody>
      </p:sp>
      <p:sp>
        <p:nvSpPr>
          <p:cNvPr id="3" name="Content Placeholder 2"/>
          <p:cNvSpPr>
            <a:spLocks noGrp="1"/>
          </p:cNvSpPr>
          <p:nvPr>
            <p:ph idx="1"/>
          </p:nvPr>
        </p:nvSpPr>
        <p:spPr/>
        <p:txBody>
          <a:bodyPr/>
          <a:lstStyle/>
          <a:p>
            <a:pPr lvl="0" indent="0" marL="0">
              <a:buNone/>
            </a:pPr>
            <a:r>
              <a:rPr/>
              <a:t>Abstract Factory deseni şunları önerir:</a:t>
            </a:r>
          </a:p>
          <a:p>
            <a:pPr lvl="0" indent="-342900" marL="342900">
              <a:buAutoNum type="arabicPeriod"/>
            </a:pPr>
            <a:r>
              <a:rPr b="1"/>
              <a:t>Her farklı ürün için açıkça arayüzler bildirin</a:t>
            </a:r>
            <a:r>
              <a:rPr/>
              <a:t> (örn., </a:t>
            </a:r>
            <a:r>
              <a:rPr>
                <a:latin typeface="Courier"/>
              </a:rPr>
              <a:t>Chair</a:t>
            </a:r>
            <a:r>
              <a:rPr/>
              <a:t>, </a:t>
            </a:r>
            <a:r>
              <a:rPr>
                <a:latin typeface="Courier"/>
              </a:rPr>
              <a:t>Sofa</a:t>
            </a:r>
            <a:r>
              <a:rPr/>
              <a:t>, </a:t>
            </a:r>
            <a:r>
              <a:rPr>
                <a:latin typeface="Courier"/>
              </a:rPr>
              <a:t>CoffeeTable</a:t>
            </a:r>
            <a:r>
              <a:rPr/>
              <a:t>).</a:t>
            </a:r>
          </a:p>
          <a:p>
            <a:pPr lvl="0" indent="-342900" marL="342900">
              <a:buAutoNum type="arabicPeriod"/>
            </a:pPr>
            <a:r>
              <a:rPr b="1"/>
              <a:t>Tüm ürün varyantlarını</a:t>
            </a:r>
            <a:r>
              <a:rPr/>
              <a:t> bu arayüzleri takip ettirin. Örneğin, tüm sandalye varyantları </a:t>
            </a:r>
            <a:r>
              <a:rPr>
                <a:latin typeface="Courier"/>
              </a:rPr>
              <a:t>Chair</a:t>
            </a:r>
            <a:r>
              <a:rPr/>
              <a:t> arayüzünü uygular; tüm sehpalar </a:t>
            </a:r>
            <a:r>
              <a:rPr>
                <a:latin typeface="Courier"/>
              </a:rPr>
              <a:t>CoffeeTable</a:t>
            </a:r>
            <a:r>
              <a:rPr/>
              <a:t> arayüzünü uygular vb.</a:t>
            </a:r>
          </a:p>
          <a:p>
            <a:pPr lvl="0" indent="-342900" marL="342900">
              <a:buAutoNum type="arabicPeriod"/>
            </a:pPr>
            <a:r>
              <a:rPr b="1"/>
              <a:t>Abstract Factory’yi bildirin</a:t>
            </a:r>
            <a:r>
              <a:rPr/>
              <a:t> – ürün ailesinin parçası olan tüm ürünler için oluşturma yöntemlerinin bir listesini içeren bir arayüz (örn., </a:t>
            </a:r>
            <a:r>
              <a:rPr>
                <a:latin typeface="Courier"/>
              </a:rPr>
              <a:t>createChair</a:t>
            </a:r>
            <a:r>
              <a:rPr/>
              <a:t>, </a:t>
            </a:r>
            <a:r>
              <a:rPr>
                <a:latin typeface="Courier"/>
              </a:rPr>
              <a:t>createSofa</a:t>
            </a:r>
            <a:r>
              <a:rPr/>
              <a:t>, </a:t>
            </a:r>
            <a:r>
              <a:rPr>
                <a:latin typeface="Courier"/>
              </a:rPr>
              <a:t>createCoffeeTable</a:t>
            </a:r>
            <a:r>
              <a:rPr/>
              <a:t>).</a:t>
            </a:r>
          </a:p>
          <a:p>
            <a:pPr lvl="0" indent="-342900" marL="342900">
              <a:buAutoNum type="arabicPeriod"/>
            </a:pPr>
            <a:r>
              <a:rPr b="1"/>
              <a:t>Her ürün ailesi varyantı için ayrı fabrika sınıfları oluşturun.</a:t>
            </a:r>
            <a:r>
              <a:rPr/>
              <a:t> Bir fabrika, belirli bir türde ürünler döndüren bir sınıftır. Örneğin, </a:t>
            </a:r>
            <a:r>
              <a:rPr>
                <a:latin typeface="Courier"/>
              </a:rPr>
              <a:t>ModernFurnitureFactory</a:t>
            </a:r>
            <a:r>
              <a:rPr/>
              <a:t> yalnızca </a:t>
            </a:r>
            <a:r>
              <a:rPr>
                <a:latin typeface="Courier"/>
              </a:rPr>
              <a:t>ModernChair</a:t>
            </a:r>
            <a:r>
              <a:rPr/>
              <a:t>, </a:t>
            </a:r>
            <a:r>
              <a:rPr>
                <a:latin typeface="Courier"/>
              </a:rPr>
              <a:t>ModernSofa</a:t>
            </a:r>
            <a:r>
              <a:rPr/>
              <a:t> ve </a:t>
            </a:r>
            <a:r>
              <a:rPr>
                <a:latin typeface="Courier"/>
              </a:rPr>
              <a:t>ModernCoffeeTable</a:t>
            </a:r>
            <a:r>
              <a:rPr/>
              <a:t> nesneleri oluşturabilir.</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Çözüm Diyagramı</a:t>
            </a:r>
          </a:p>
        </p:txBody>
      </p:sp>
      <p:sp>
        <p:nvSpPr>
          <p:cNvPr id="3" name="Content Placeholder 2"/>
          <p:cNvSpPr>
            <a:spLocks noGrp="1"/>
          </p:cNvSpPr>
          <p:nvPr>
            <p:ph idx="1"/>
          </p:nvPr>
        </p:nvSpPr>
        <p:spPr/>
        <p:txBody>
          <a:bodyPr/>
          <a:lstStyle/>
          <a:p>
            <a:pPr lvl="0" indent="0">
              <a:buNone/>
            </a:pPr>
            <a:r>
              <a:rPr>
                <a:latin typeface="Courier"/>
              </a:rPr>
              <a:t>         AbstractFactory
    ┌──────────────────────┐
    │ createChair()        │
    │ createSofa()         │
    │ createCoffeeTable()  │
    └──────────┬───────────┘
               │
    ┌──────────┴──────────────────┐
    │                             │
ModernFactory              VictorianFactory
┌──────────────┐          ┌──────────────┐
│createChair() │          │createChair() │
│  → ModernCh  │          │  → VictorCh  │
│createSofa()  │          │createSofa()  │
│  → ModernSf  │          │  → VictorSf  │
└──────────────┘          └──────────────┘</a:t>
            </a:r>
          </a:p>
          <a:p>
            <a:pPr lvl="0" indent="0" marL="0">
              <a:buNone/>
            </a:pPr>
            <a:r>
              <a:rPr/>
              <a:t>İstemci kodu, fabrikalar ve ürünlerle yalnızca soyut arayüzleri aracılığıyla çalışır. Bu, istemci kodunu değiştirmeden fabrika türünü (ve dolayısıyla ürün varyantını) değiştirmenize olanak tanır.</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Yapı</a:t>
            </a:r>
          </a:p>
        </p:txBody>
      </p:sp>
      <p:sp>
        <p:nvSpPr>
          <p:cNvPr id="3" name="Content Placeholder 2"/>
          <p:cNvSpPr>
            <a:spLocks noGrp="1"/>
          </p:cNvSpPr>
          <p:nvPr>
            <p:ph idx="1"/>
          </p:nvPr>
        </p:nvSpPr>
        <p:spPr/>
        <p:txBody>
          <a:bodyPr/>
          <a:lstStyle/>
          <a:p>
            <a:pPr lvl="0" indent="0" marL="0">
              <a:buNone/>
            </a:pPr>
            <a:r>
              <a:rPr/>
              <a:t>Abstract Factory deseninin beş temel katılımcısı vardır:</a:t>
            </a:r>
          </a:p>
          <a:p>
            <a:pPr lvl="0" indent="-342900" marL="342900">
              <a:buAutoNum type="arabicPeriod"/>
            </a:pPr>
            <a:r>
              <a:rPr b="1"/>
              <a:t>Abstract Products (Soyut Ürünler)</a:t>
            </a:r>
            <a:r>
              <a:rPr/>
              <a:t>: bir ürün ailesini oluşturan farklı ancak ilişkili ürün kümesi için arayüzler bildirir.</a:t>
            </a:r>
          </a:p>
          <a:p>
            <a:pPr lvl="0" indent="-342900" marL="342900">
              <a:buAutoNum type="arabicPeriod"/>
            </a:pPr>
            <a:r>
              <a:rPr b="1"/>
              <a:t>Concrete Products (Somut Ürünler)</a:t>
            </a:r>
            <a:r>
              <a:rPr/>
              <a:t>: soyut ürünlerin varyantlara göre gruplandırılmış çeşitli uygulamalarıdır. Her soyut ürün (sandalye/kanepe) tüm verilen varyantlarda (Victorian/Modern) uygulanmalıdır.</a:t>
            </a:r>
          </a:p>
          <a:p>
            <a:pPr lvl="0" indent="-342900" marL="342900">
              <a:buAutoNum type="arabicPeriod"/>
            </a:pPr>
            <a:r>
              <a:rPr b="1"/>
              <a:t>Abstract Factory (Soyut Fabrika)</a:t>
            </a:r>
            <a:r>
              <a:rPr/>
              <a:t> arayüzü: her bir soyut ürünü oluşturmak için bir dizi yöntem bildirir.</a:t>
            </a:r>
          </a:p>
          <a:p>
            <a:pPr lvl="0" indent="-342900" marL="342900">
              <a:buAutoNum type="arabicPeriod"/>
            </a:pPr>
            <a:r>
              <a:rPr b="1"/>
              <a:t>Concrete Factories (Somut Fabrikalar)</a:t>
            </a:r>
            <a:r>
              <a:rPr/>
              <a:t>: soyut fabrikanın oluşturma yöntemlerini uygular. Her somut fabrika belirli bir ürün varyantına karşılık gelir ve yalnızca bu ürün varyantlarını oluşturur.</a:t>
            </a:r>
          </a:p>
          <a:p>
            <a:pPr lvl="0" indent="-342900" marL="342900">
              <a:buAutoNum type="arabicPeriod"/>
            </a:pPr>
            <a:r>
              <a:rPr b="1"/>
              <a:t>Client (İstemci)</a:t>
            </a:r>
            <a:r>
              <a:rPr/>
              <a:t>: hem fabrikalar hem de ürünlerle soyut arayüzler aracılığıyla çalışır. Bu, istemcinin somut sınıflara bağlanmadan herhangi bir fabrika/ürün varyantıyla çalışmasına olanak tanır.</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Factory - Sınıf Diyagramı</a:t>
            </a:r>
          </a:p>
        </p:txBody>
      </p:sp>
      <p:pic>
        <p:nvPicPr>
          <p:cNvPr descr="assets/abstract-factory-structure.png" id="0" name="Picture 1"/>
          <p:cNvPicPr>
            <a:picLocks noGrp="1" noChangeAspect="1"/>
          </p:cNvPicPr>
          <p:nvPr/>
        </p:nvPicPr>
        <p:blipFill>
          <a:blip r:embed="rId2"/>
          <a:stretch>
            <a:fillRect/>
          </a:stretch>
        </p:blipFill>
        <p:spPr bwMode="auto">
          <a:xfrm>
            <a:off x="3568700" y="685800"/>
            <a:ext cx="5105400" cy="2908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Sözde Kod</a:t>
            </a:r>
          </a:p>
        </p:txBody>
      </p:sp>
      <p:sp>
        <p:nvSpPr>
          <p:cNvPr id="3" name="Content Placeholder 2"/>
          <p:cNvSpPr>
            <a:spLocks noGrp="1"/>
          </p:cNvSpPr>
          <p:nvPr>
            <p:ph idx="1"/>
          </p:nvPr>
        </p:nvSpPr>
        <p:spPr/>
        <p:txBody>
          <a:bodyPr/>
          <a:lstStyle/>
          <a:p>
            <a:pPr lvl="0" indent="0" marL="0">
              <a:buNone/>
            </a:pPr>
            <a:r>
              <a:rPr/>
              <a:t>Bu örnek, Abstract Factory deseninin istemci kodunu somut UI sınıflarına bağlamadan çapraz platform UI elemanları oluşturmak için nasıl kullanılabileceğini göstermektedir.</a:t>
            </a:r>
          </a:p>
          <a:p>
            <a:pPr lvl="0" indent="0">
              <a:buNone/>
            </a:pPr>
            <a:r>
              <a:rPr>
                <a:latin typeface="Courier"/>
              </a:rPr>
              <a:t>// The abstract factory interface declares a set of methods
// that return different abstract products.
interface GUIFactory is
    method createButton(): Button
    method createCheckbox(): Checkbox
// Concrete factories produce a family of products that
// belong to a single variant.
class WinFactory implements GUIFactory is
    method createButton(): Button is
        return new WinButton()
    method createCheckbox(): Checkbox is
        return new WinCheckbox()
class MacFactory implements GUIFactory is
    method createButton(): Button is
        return new MacButton()
    method createCheckbox(): Checkbox is
        return new MacCheckbox()</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Sözde Kod (devam)</a:t>
            </a:r>
          </a:p>
        </p:txBody>
      </p:sp>
      <p:sp>
        <p:nvSpPr>
          <p:cNvPr id="3" name="Content Placeholder 2"/>
          <p:cNvSpPr>
            <a:spLocks noGrp="1"/>
          </p:cNvSpPr>
          <p:nvPr>
            <p:ph idx="1"/>
          </p:nvPr>
        </p:nvSpPr>
        <p:spPr/>
        <p:txBody>
          <a:bodyPr/>
          <a:lstStyle/>
          <a:p>
            <a:pPr lvl="0" indent="0">
              <a:buNone/>
            </a:pPr>
            <a:r>
              <a:rPr>
                <a:latin typeface="Courier"/>
              </a:rPr>
              <a:t>// Each distinct product of a product family should
// have a base interface.
interface Button is
    method paint()
// Each concrete product is created in a corresponding
// concrete factory.
class WinButton implements Button is
    method paint() is
        // Render a button in Windows style.
class MacButton implements Button is
    method paint() is
        // Render a button in macOS style.
interface Checkbox is
    method paint()
class WinCheckbox implements Checkbox is
    method paint() is
        // Render a checkbox in Windows style.
class MacCheckbox implements Checkbox is
    method paint() is
        // Render a checkbox in macOS style.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Sözde Kod (devam)</a:t>
            </a:r>
          </a:p>
        </p:txBody>
      </p:sp>
      <p:sp>
        <p:nvSpPr>
          <p:cNvPr id="3" name="Content Placeholder 2"/>
          <p:cNvSpPr>
            <a:spLocks noGrp="1"/>
          </p:cNvSpPr>
          <p:nvPr>
            <p:ph idx="1"/>
          </p:nvPr>
        </p:nvSpPr>
        <p:spPr/>
        <p:txBody>
          <a:bodyPr/>
          <a:lstStyle/>
          <a:p>
            <a:pPr lvl="0" indent="0">
              <a:buNone/>
            </a:pPr>
            <a:r>
              <a:rPr>
                <a:latin typeface="Courier"/>
              </a:rPr>
              <a:t>// The client code works with factories and products
// only through abstract types: GUIFactory, Button, Checkbox.
class Application is
    private field factory: GUIFactory
    private field button: Button
    constructor Application(factory: GUIFactory) is
        this.factory = factory
    method createUI() is
        this.button = factory.createButton()
    method paint() is
        button.paint()
// The application picks the factory type depending on
// the current configuration or environment settings.
class ApplicationConfigurator is
    method main() is
        config = readApplicationConfigFile()
        if (config.OS == "Windows") then
            factory = new WinFactory()
        else if (config.OS == "Mac") then
            factory = new MacFactory()
        else
            throw new Exception("Error! Unknown OS.")
        Application app = new Application(factory)</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Factory - Sıralama Diyagramı</a:t>
            </a:r>
          </a:p>
        </p:txBody>
      </p:sp>
      <p:pic>
        <p:nvPicPr>
          <p:cNvPr descr="assets/abstract-factory-sequence.png" id="0" name="Picture 1"/>
          <p:cNvPicPr>
            <a:picLocks noGrp="1" noChangeAspect="1"/>
          </p:cNvPicPr>
          <p:nvPr/>
        </p:nvPicPr>
        <p:blipFill>
          <a:blip r:embed="rId2"/>
          <a:stretch>
            <a:fillRect/>
          </a:stretch>
        </p:blipFill>
        <p:spPr bwMode="auto">
          <a:xfrm>
            <a:off x="4318000" y="203200"/>
            <a:ext cx="3606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Uygulanabilirlik</a:t>
            </a:r>
          </a:p>
        </p:txBody>
      </p:sp>
      <p:sp>
        <p:nvSpPr>
          <p:cNvPr id="3" name="Content Placeholder 2"/>
          <p:cNvSpPr>
            <a:spLocks noGrp="1"/>
          </p:cNvSpPr>
          <p:nvPr>
            <p:ph idx="1"/>
          </p:nvPr>
        </p:nvSpPr>
        <p:spPr/>
        <p:txBody>
          <a:bodyPr/>
          <a:lstStyle/>
          <a:p>
            <a:pPr lvl="0" indent="0" marL="0">
              <a:buNone/>
            </a:pPr>
            <a:r>
              <a:rPr/>
              <a:t>Abstract Factory desenini şu durumlarda kullanın:</a:t>
            </a:r>
          </a:p>
          <a:p>
            <a:pPr lvl="0" indent="-342900" marL="342900">
              <a:buAutoNum type="arabicPeriod"/>
            </a:pPr>
            <a:r>
              <a:rPr b="1"/>
              <a:t>Kodunuzun çeşitli ilişkili ürün aileleriyle çalışması gerektiğinde</a:t>
            </a:r>
            <a:r>
              <a:rPr/>
              <a:t>, ancak bu ürünlerin somut sınıflarına bağımlı olmak istemediğinizde – önceden bilinmeyebilirler veya gelecekteki genişletilebilirliğe izin vermek isteyebilirsiniz.</a:t>
            </a:r>
          </a:p>
          <a:p>
            <a:pPr lvl="1"/>
            <a:r>
              <a:rPr/>
              <a:t>Abstract Factory, ürün ailesinin her sınıfından nesne oluşturmak için bir arayüz sağlar. Kodunuz nesneleri bu arayüz aracılığıyla oluşturduğu sürece, uygulamanız tarafından zaten oluşturulan ürünlerle eşleşmeyen yanlış bir ürün varyantı oluşturma konusunda endişelenmenize gerek yoktur.</a:t>
            </a:r>
          </a:p>
          <a:p>
            <a:pPr lvl="0" indent="-342900" marL="342900">
              <a:buAutoNum type="arabicPeriod"/>
            </a:pPr>
            <a:r>
              <a:rPr b="1"/>
              <a:t>Bir sınıfın birincil sorumluluğunu bulanıklaştıran bir dizi Factory Method’a sahip olduğunuzda.</a:t>
            </a:r>
          </a:p>
          <a:p>
            <a:pPr lvl="1"/>
            <a:r>
              <a:rPr/>
              <a:t>İyi tasarlanmış bir programda, her sınıf yalnızca bir şeyden sorumludur (SRP). Bir sınıf birden fazla ürün türüyle ilgilendiğinde, fabrika yöntemlerini bağımsız bir fabrika sınıfına veya tam kapsamlı bir Abstract Factory uygulamasına çıkarmaya değer olabilir.</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Nasıl Uygulanır</a:t>
            </a:r>
          </a:p>
        </p:txBody>
      </p:sp>
      <p:sp>
        <p:nvSpPr>
          <p:cNvPr id="3" name="Content Placeholder 2"/>
          <p:cNvSpPr>
            <a:spLocks noGrp="1"/>
          </p:cNvSpPr>
          <p:nvPr>
            <p:ph idx="1"/>
          </p:nvPr>
        </p:nvSpPr>
        <p:spPr/>
        <p:txBody>
          <a:bodyPr/>
          <a:lstStyle/>
          <a:p>
            <a:pPr lvl="0" indent="-342900" marL="342900">
              <a:buAutoNum type="arabicPeriod"/>
            </a:pPr>
            <a:r>
              <a:rPr b="1"/>
              <a:t>Farklı ürün türleri ile bu ürünlerin varyantlarının bir matrisini çıkarın.</a:t>
            </a:r>
          </a:p>
          <a:p>
            <a:pPr lvl="0" indent="-342900" marL="342900">
              <a:buAutoNum type="arabicPeriod"/>
            </a:pPr>
            <a:r>
              <a:rPr b="1"/>
              <a:t>Tüm ürün türleri için soyut ürün arayüzleri bildirin.</a:t>
            </a:r>
            <a:r>
              <a:rPr/>
              <a:t> Ardından tüm somut ürün sınıflarının bu arayüzleri uygulamasını sağlayın.</a:t>
            </a:r>
          </a:p>
          <a:p>
            <a:pPr lvl="0" indent="-342900" marL="342900">
              <a:buAutoNum type="arabicPeriod"/>
            </a:pPr>
            <a:r>
              <a:rPr b="1"/>
              <a:t>Tüm soyut ürünler için bir dizi oluşturma yöntemi içeren soyut fabrika arayüzünü bildirin.</a:t>
            </a:r>
          </a:p>
          <a:p>
            <a:pPr lvl="0" indent="-342900" marL="342900">
              <a:buAutoNum type="arabicPeriod"/>
            </a:pPr>
            <a:r>
              <a:rPr b="1"/>
              <a:t>Her ürün varyantı için bir somut fabrika sınıfı kümesi uygulayın.</a:t>
            </a:r>
          </a:p>
          <a:p>
            <a:pPr lvl="0" indent="-342900" marL="342900">
              <a:buAutoNum type="arabicPeriod"/>
            </a:pPr>
            <a:r>
              <a:rPr b="1"/>
              <a:t>Uygulamada bir yerde fabrika başlatma kodu oluşturun.</a:t>
            </a:r>
            <a:r>
              <a:rPr/>
              <a:t> Uygulama yapılandırmasına veya mevcut ortama bağlı olarak somut fabrika sınıflarından birini örneklemelidir. Bu fabrika nesnesini ürün oluşturan tüm sınıflara iletin.</a:t>
            </a:r>
          </a:p>
          <a:p>
            <a:pPr lvl="0" indent="-342900" marL="342900">
              <a:buAutoNum type="arabicPeriod"/>
            </a:pPr>
            <a:r>
              <a:rPr b="1"/>
              <a:t>Kodu tarayın</a:t>
            </a:r>
            <a:r>
              <a:rPr/>
              <a:t> ve ürün yapıcılarına yapılan tüm doğrudan çağrıları bulun. Bunları fabrika nesnesindeki uygun oluşturma yöntemi çağrılarıyla değiştirin.</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Artılar ve Eksiler</a:t>
            </a:r>
          </a:p>
        </p:txBody>
      </p:sp>
      <p:sp>
        <p:nvSpPr>
          <p:cNvPr id="3" name="Content Placeholder 2"/>
          <p:cNvSpPr>
            <a:spLocks noGrp="1"/>
          </p:cNvSpPr>
          <p:nvPr>
            <p:ph idx="1"/>
          </p:nvPr>
        </p:nvSpPr>
        <p:spPr/>
        <p:txBody>
          <a:bodyPr/>
          <a:lstStyle/>
          <a:p>
            <a:pPr lvl="0" indent="0" marL="0">
              <a:spcBef>
                <a:spcPts val="3000"/>
              </a:spcBef>
              <a:buNone/>
            </a:pPr>
            <a:r>
              <a:rPr b="1"/>
              <a:t>Artılar</a:t>
            </a:r>
          </a:p>
          <a:p>
            <a:pPr lvl="0"/>
            <a:r>
              <a:rPr b="1"/>
              <a:t>Uyumluluk garantisi</a:t>
            </a:r>
            <a:r>
              <a:rPr/>
              <a:t>: Bir fabrikadan aldığınız ürünlerin birbirleriyle uyumlu olduğundan emin olabilirsiniz.</a:t>
            </a:r>
          </a:p>
          <a:p>
            <a:pPr lvl="0"/>
            <a:r>
              <a:rPr b="1"/>
              <a:t>Sıkı bağımlılıktan kaçınır</a:t>
            </a:r>
            <a:r>
              <a:rPr/>
              <a:t>: somut ürünler ve istemci kodu arasında.</a:t>
            </a:r>
          </a:p>
          <a:p>
            <a:pPr lvl="0"/>
            <a:r>
              <a:rPr b="1"/>
              <a:t>Tek Sorumluluk İlkesi (SRP)</a:t>
            </a:r>
            <a:r>
              <a:rPr/>
              <a:t>: Ürün oluşturma kodunu tek bir yere çıkarabilirsiniz, bu da kodun desteklenmesini kolaylaştırır.</a:t>
            </a:r>
          </a:p>
          <a:p>
            <a:pPr lvl="0"/>
            <a:r>
              <a:rPr b="1"/>
              <a:t>Açık/Kapalı İlkesi (OCP)</a:t>
            </a:r>
            <a:r>
              <a:rPr/>
              <a:t>: Mevcut istemci kodunu bozmadan yeni ürün varyantları ekleyebilirsiniz.</a:t>
            </a:r>
          </a:p>
          <a:p>
            <a:pPr lvl="0" indent="0" marL="0">
              <a:spcBef>
                <a:spcPts val="3000"/>
              </a:spcBef>
              <a:buNone/>
            </a:pPr>
            <a:r>
              <a:rPr b="1"/>
              <a:t>Eksiler</a:t>
            </a:r>
          </a:p>
          <a:p>
            <a:pPr lvl="0"/>
            <a:r>
              <a:rPr b="1"/>
              <a:t>Artan karmaşıklık</a:t>
            </a:r>
            <a:r>
              <a:rPr/>
              <a:t>: Desenle birlikte çok sayıda yeni arayüz ve sınıf tanıtıldığından kod olması gerekenden daha karmaşık hale gelebilir.</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Diğer Desenlerle İlişkiler</a:t>
            </a:r>
          </a:p>
        </p:txBody>
      </p:sp>
      <p:sp>
        <p:nvSpPr>
          <p:cNvPr id="3" name="Content Placeholder 2"/>
          <p:cNvSpPr>
            <a:spLocks noGrp="1"/>
          </p:cNvSpPr>
          <p:nvPr>
            <p:ph idx="1"/>
          </p:nvPr>
        </p:nvSpPr>
        <p:spPr/>
        <p:txBody>
          <a:bodyPr/>
          <a:lstStyle/>
          <a:p>
            <a:pPr lvl="0"/>
            <a:r>
              <a:rPr/>
              <a:t>Birçok tasarım </a:t>
            </a:r>
            <a:r>
              <a:rPr b="1"/>
              <a:t>Factory Method</a:t>
            </a:r>
            <a:r>
              <a:rPr/>
              <a:t> ile başlar (daha az karmaşık, alt sınıflar aracılığıyla daha fazla özelleştirilebilir) ve </a:t>
            </a:r>
            <a:r>
              <a:rPr b="1"/>
              <a:t>Abstract Factory</a:t>
            </a:r>
            <a:r>
              <a:rPr/>
              <a:t>, </a:t>
            </a:r>
            <a:r>
              <a:rPr b="1"/>
              <a:t>Prototype</a:t>
            </a:r>
            <a:r>
              <a:rPr/>
              <a:t> veya </a:t>
            </a:r>
            <a:r>
              <a:rPr b="1"/>
              <a:t>Builder</a:t>
            </a:r>
            <a:r>
              <a:rPr/>
              <a:t>’a doğru evrilir (daha esnek, ancak daha karmaşık).</a:t>
            </a:r>
          </a:p>
          <a:p>
            <a:pPr lvl="0"/>
            <a:r>
              <a:rPr b="1"/>
              <a:t>Builder</a:t>
            </a:r>
            <a:r>
              <a:rPr/>
              <a:t> karmaşık nesneleri adım adım oluşturmaya odaklanır. </a:t>
            </a:r>
            <a:r>
              <a:rPr b="1"/>
              <a:t>Abstract Factory</a:t>
            </a:r>
            <a:r>
              <a:rPr/>
              <a:t> ilişkili nesne aileleri oluşturmada uzmanlaşır. Abstract Factory ürünü hemen döndürürken, Builder ürünü almadan önce bazı ek inşa adımları çalıştırmanıza izin verir.</a:t>
            </a:r>
          </a:p>
          <a:p>
            <a:pPr lvl="0"/>
            <a:r>
              <a:rPr b="1"/>
              <a:t>Abstract Factory</a:t>
            </a:r>
            <a:r>
              <a:rPr/>
              <a:t> sınıfları genellikle bir dizi </a:t>
            </a:r>
            <a:r>
              <a:rPr b="1"/>
              <a:t>Factory Method</a:t>
            </a:r>
            <a:r>
              <a:rPr/>
              <a:t> üzerine kurulur, ancak bu sınıflardaki yöntemleri oluşturmak için </a:t>
            </a:r>
            <a:r>
              <a:rPr b="1"/>
              <a:t>Prototype</a:t>
            </a:r>
            <a:r>
              <a:rPr/>
              <a:t> da kullanabilirsiniz.</a:t>
            </a:r>
          </a:p>
          <a:p>
            <a:pPr lvl="0"/>
            <a:r>
              <a:rPr b="1"/>
              <a:t>Abstract Factory</a:t>
            </a:r>
            <a:r>
              <a:rPr/>
              <a:t>, alt sistem nesnelerinin nasıl oluşturulduğunu istemci kodundan gizlemek istediğinizde </a:t>
            </a:r>
            <a:r>
              <a:rPr b="1"/>
              <a:t>Facade</a:t>
            </a:r>
            <a:r>
              <a:rPr/>
              <a:t>’a alternatif olarak hizmet edebilir.</a:t>
            </a:r>
          </a:p>
          <a:p>
            <a:pPr lvl="0"/>
            <a:r>
              <a:rPr b="1"/>
              <a:t>Abstract Factory</a:t>
            </a:r>
            <a:r>
              <a:rPr/>
              <a:t>’yi </a:t>
            </a:r>
            <a:r>
              <a:rPr b="1"/>
              <a:t>Bridge</a:t>
            </a:r>
            <a:r>
              <a:rPr/>
              <a:t> ile birlikte kullanabilirsiniz. Bu eşleştirme, Bridge tarafından tanımlanan bazı soyutlamaların yalnızca belirli uygulamalarla çalışabildiği durumlarda faydalıdır.</a:t>
            </a:r>
          </a:p>
          <a:p>
            <a:pPr lvl="0"/>
            <a:r>
              <a:rPr b="1"/>
              <a:t>Abstract Factories</a:t>
            </a:r>
            <a:r>
              <a:rPr/>
              <a:t>, </a:t>
            </a:r>
            <a:r>
              <a:rPr b="1"/>
              <a:t>Builders</a:t>
            </a:r>
            <a:r>
              <a:rPr/>
              <a:t> ve </a:t>
            </a:r>
            <a:r>
              <a:rPr b="1"/>
              <a:t>Prototypes</a:t>
            </a:r>
            <a:r>
              <a:rPr/>
              <a:t>’ın tümü </a:t>
            </a:r>
            <a:r>
              <a:rPr b="1"/>
              <a:t>Singletons</a:t>
            </a:r>
            <a:r>
              <a:rPr/>
              <a:t> olarak uygulanabilir.</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Java Kod Örneği</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Abstract Products</a:t>
            </a:r>
            <a:br/>
            <a:r>
              <a:rPr b="1">
                <a:solidFill>
                  <a:srgbClr val="007020"/>
                </a:solidFill>
                <a:latin typeface="Courier"/>
              </a:rPr>
              <a:t>interface</a:t>
            </a:r>
            <a:r>
              <a:rPr>
                <a:latin typeface="Courier"/>
              </a:rPr>
              <a:t> Chair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sitOn</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br/>
            <a:r>
              <a:rPr>
                <a:solidFill>
                  <a:srgbClr val="666666"/>
                </a:solidFill>
                <a:latin typeface="Courier"/>
              </a:rPr>
              <a:t>}</a:t>
            </a:r>
            <a:br/>
            <a:br/>
            <a:r>
              <a:rPr b="1">
                <a:solidFill>
                  <a:srgbClr val="007020"/>
                </a:solidFill>
                <a:latin typeface="Courier"/>
              </a:rPr>
              <a:t>interface</a:t>
            </a:r>
            <a:r>
              <a:rPr>
                <a:latin typeface="Courier"/>
              </a:rPr>
              <a:t> Sofa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lieOn</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br/>
            <a:r>
              <a:rPr>
                <a:solidFill>
                  <a:srgbClr val="666666"/>
                </a:solidFill>
                <a:latin typeface="Courier"/>
              </a:rPr>
              <a:t>}</a:t>
            </a:r>
            <a:br/>
            <a:br/>
            <a:r>
              <a:rPr b="1">
                <a:solidFill>
                  <a:srgbClr val="007020"/>
                </a:solidFill>
                <a:latin typeface="Courier"/>
              </a:rPr>
              <a:t>interface</a:t>
            </a:r>
            <a:r>
              <a:rPr>
                <a:latin typeface="Courier"/>
              </a:rPr>
              <a:t> CoffeeTable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placeItems</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br/>
            <a:r>
              <a:rPr>
                <a:solidFill>
                  <a:srgbClr val="666666"/>
                </a:solidFill>
                <a:latin typeface="Courier"/>
              </a:rPr>
              <a:t>}</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Products - Modern Family</a:t>
            </a:r>
            <a:br/>
            <a:r>
              <a:rPr b="1">
                <a:solidFill>
                  <a:srgbClr val="007020"/>
                </a:solidFill>
                <a:latin typeface="Courier"/>
              </a:rPr>
              <a:t>class</a:t>
            </a:r>
            <a:r>
              <a:rPr>
                <a:latin typeface="Courier"/>
              </a:rPr>
              <a:t> ModernChair </a:t>
            </a:r>
            <a:r>
              <a:rPr b="1">
                <a:solidFill>
                  <a:srgbClr val="007020"/>
                </a:solidFill>
                <a:latin typeface="Courier"/>
              </a:rPr>
              <a:t>implements</a:t>
            </a:r>
            <a:r>
              <a:rPr>
                <a:latin typeface="Courier"/>
              </a:rPr>
              <a:t> Chair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sitOn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"Sitting on a modern chair."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"Modern"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ModernSofa </a:t>
            </a:r>
            <a:r>
              <a:rPr b="1">
                <a:solidFill>
                  <a:srgbClr val="007020"/>
                </a:solidFill>
                <a:latin typeface="Courier"/>
              </a:rPr>
              <a:t>implements</a:t>
            </a:r>
            <a:r>
              <a:rPr>
                <a:latin typeface="Courier"/>
              </a:rPr>
              <a:t> Sofa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lieOn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"Lying on a modern sofa."</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"Modern"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ModernCoffeeTable </a:t>
            </a:r>
            <a:r>
              <a:rPr b="1">
                <a:solidFill>
                  <a:srgbClr val="007020"/>
                </a:solidFill>
                <a:latin typeface="Courier"/>
              </a:rPr>
              <a:t>implements</a:t>
            </a:r>
            <a:r>
              <a:rPr>
                <a:latin typeface="Courier"/>
              </a:rPr>
              <a:t> CoffeeTable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placeItems</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"Placing items on modern table."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"Modern"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Products - Victorian Family</a:t>
            </a:r>
            <a:br/>
            <a:r>
              <a:rPr b="1">
                <a:solidFill>
                  <a:srgbClr val="007020"/>
                </a:solidFill>
                <a:latin typeface="Courier"/>
              </a:rPr>
              <a:t>class</a:t>
            </a:r>
            <a:r>
              <a:rPr>
                <a:latin typeface="Courier"/>
              </a:rPr>
              <a:t> VictorianChair </a:t>
            </a:r>
            <a:r>
              <a:rPr b="1">
                <a:solidFill>
                  <a:srgbClr val="007020"/>
                </a:solidFill>
                <a:latin typeface="Courier"/>
              </a:rPr>
              <a:t>implements</a:t>
            </a:r>
            <a:r>
              <a:rPr>
                <a:latin typeface="Courier"/>
              </a:rPr>
              <a:t> Chair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sitOn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"Sitting on a Victorian chair."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"Victorian"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VictorianSofa </a:t>
            </a:r>
            <a:r>
              <a:rPr b="1">
                <a:solidFill>
                  <a:srgbClr val="007020"/>
                </a:solidFill>
                <a:latin typeface="Courier"/>
              </a:rPr>
              <a:t>implements</a:t>
            </a:r>
            <a:r>
              <a:rPr>
                <a:latin typeface="Courier"/>
              </a:rPr>
              <a:t> Sofa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lieOn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"Lying on a Victorian sofa."</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"Victorian"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VictorianCoffeeTable </a:t>
            </a:r>
            <a:r>
              <a:rPr b="1">
                <a:solidFill>
                  <a:srgbClr val="007020"/>
                </a:solidFill>
                <a:latin typeface="Courier"/>
              </a:rPr>
              <a:t>implements</a:t>
            </a:r>
            <a:r>
              <a:rPr>
                <a:latin typeface="Courier"/>
              </a:rPr>
              <a:t> CoffeeTable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placeItems</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"Placing items on Victorian table."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getStyle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a:solidFill>
                  <a:srgbClr val="4070A0"/>
                </a:solidFill>
                <a:latin typeface="Courier"/>
              </a:rPr>
              <a:t>"Victorian"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Abstract Factory</a:t>
            </a:r>
            <a:br/>
            <a:r>
              <a:rPr b="1">
                <a:solidFill>
                  <a:srgbClr val="007020"/>
                </a:solidFill>
                <a:latin typeface="Courier"/>
              </a:rPr>
              <a:t>interface</a:t>
            </a:r>
            <a:r>
              <a:rPr>
                <a:latin typeface="Courier"/>
              </a:rPr>
              <a:t> FurnitureFactory </a:t>
            </a:r>
            <a:r>
              <a:rPr>
                <a:solidFill>
                  <a:srgbClr val="666666"/>
                </a:solidFill>
                <a:latin typeface="Courier"/>
              </a:rPr>
              <a:t>{</a:t>
            </a:r>
            <a:br/>
            <a:r>
              <a:rPr>
                <a:latin typeface="Courier"/>
              </a:rPr>
              <a:t>    Chair </a:t>
            </a:r>
            <a:r>
              <a:rPr>
                <a:solidFill>
                  <a:srgbClr val="06287E"/>
                </a:solidFill>
                <a:latin typeface="Courier"/>
              </a:rPr>
              <a:t>createChair</a:t>
            </a:r>
            <a:r>
              <a:rPr>
                <a:solidFill>
                  <a:srgbClr val="666666"/>
                </a:solidFill>
                <a:latin typeface="Courier"/>
              </a:rPr>
              <a:t>();</a:t>
            </a:r>
            <a:br/>
            <a:r>
              <a:rPr>
                <a:latin typeface="Courier"/>
              </a:rPr>
              <a:t>    Sofa </a:t>
            </a:r>
            <a:r>
              <a:rPr>
                <a:solidFill>
                  <a:srgbClr val="06287E"/>
                </a:solidFill>
                <a:latin typeface="Courier"/>
              </a:rPr>
              <a:t>createSofa</a:t>
            </a:r>
            <a:r>
              <a:rPr>
                <a:solidFill>
                  <a:srgbClr val="666666"/>
                </a:solidFill>
                <a:latin typeface="Courier"/>
              </a:rPr>
              <a:t>();</a:t>
            </a:r>
            <a:br/>
            <a:r>
              <a:rPr>
                <a:latin typeface="Courier"/>
              </a:rPr>
              <a:t>    CoffeeTable </a:t>
            </a:r>
            <a:r>
              <a:rPr>
                <a:solidFill>
                  <a:srgbClr val="06287E"/>
                </a:solidFill>
                <a:latin typeface="Courier"/>
              </a:rPr>
              <a:t>createCoffeeTable</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Factories</a:t>
            </a:r>
            <a:br/>
            <a:r>
              <a:rPr b="1">
                <a:solidFill>
                  <a:srgbClr val="007020"/>
                </a:solidFill>
                <a:latin typeface="Courier"/>
              </a:rPr>
              <a:t>class</a:t>
            </a:r>
            <a:r>
              <a:rPr>
                <a:latin typeface="Courier"/>
              </a:rPr>
              <a:t> ModernFurnitureFactory </a:t>
            </a:r>
            <a:r>
              <a:rPr b="1">
                <a:solidFill>
                  <a:srgbClr val="007020"/>
                </a:solidFill>
                <a:latin typeface="Courier"/>
              </a:rPr>
              <a:t>implements</a:t>
            </a:r>
            <a:r>
              <a:rPr>
                <a:latin typeface="Courier"/>
              </a:rPr>
              <a:t> FurnitureFactory </a:t>
            </a:r>
            <a:r>
              <a:rPr>
                <a:solidFill>
                  <a:srgbClr val="666666"/>
                </a:solidFill>
                <a:latin typeface="Courier"/>
              </a:rPr>
              <a:t>{</a:t>
            </a:r>
            <a:br/>
            <a:r>
              <a:rPr>
                <a:latin typeface="Courier"/>
              </a:rPr>
              <a:t>    </a:t>
            </a:r>
            <a:r>
              <a:rPr b="1">
                <a:solidFill>
                  <a:srgbClr val="007020"/>
                </a:solidFill>
                <a:latin typeface="Courier"/>
              </a:rPr>
              <a:t>public</a:t>
            </a:r>
            <a:r>
              <a:rPr>
                <a:latin typeface="Courier"/>
              </a:rPr>
              <a:t> Chair </a:t>
            </a:r>
            <a:r>
              <a:rPr>
                <a:solidFill>
                  <a:srgbClr val="06287E"/>
                </a:solidFill>
                <a:latin typeface="Courier"/>
              </a:rPr>
              <a:t>createChair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ModernChair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Sofa </a:t>
            </a:r>
            <a:r>
              <a:rPr>
                <a:solidFill>
                  <a:srgbClr val="06287E"/>
                </a:solidFill>
                <a:latin typeface="Courier"/>
              </a:rPr>
              <a:t>createSofa</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ModernSofa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CoffeeTable </a:t>
            </a:r>
            <a:r>
              <a:rPr>
                <a:solidFill>
                  <a:srgbClr val="06287E"/>
                </a:solidFill>
                <a:latin typeface="Courier"/>
              </a:rPr>
              <a:t>createCoffeeTable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ModernCoffeeTable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class</a:t>
            </a:r>
            <a:r>
              <a:rPr>
                <a:latin typeface="Courier"/>
              </a:rPr>
              <a:t> VictorianFurnitureFactory </a:t>
            </a:r>
            <a:r>
              <a:rPr b="1">
                <a:solidFill>
                  <a:srgbClr val="007020"/>
                </a:solidFill>
                <a:latin typeface="Courier"/>
              </a:rPr>
              <a:t>implements</a:t>
            </a:r>
            <a:r>
              <a:rPr>
                <a:latin typeface="Courier"/>
              </a:rPr>
              <a:t> FurnitureFactory </a:t>
            </a:r>
            <a:r>
              <a:rPr>
                <a:solidFill>
                  <a:srgbClr val="666666"/>
                </a:solidFill>
                <a:latin typeface="Courier"/>
              </a:rPr>
              <a:t>{</a:t>
            </a:r>
            <a:br/>
            <a:r>
              <a:rPr>
                <a:latin typeface="Courier"/>
              </a:rPr>
              <a:t>    </a:t>
            </a:r>
            <a:r>
              <a:rPr b="1">
                <a:solidFill>
                  <a:srgbClr val="007020"/>
                </a:solidFill>
                <a:latin typeface="Courier"/>
              </a:rPr>
              <a:t>public</a:t>
            </a:r>
            <a:r>
              <a:rPr>
                <a:latin typeface="Courier"/>
              </a:rPr>
              <a:t> Chair </a:t>
            </a:r>
            <a:r>
              <a:rPr>
                <a:solidFill>
                  <a:srgbClr val="06287E"/>
                </a:solidFill>
                <a:latin typeface="Courier"/>
              </a:rPr>
              <a:t>createChair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VictorianChair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Sofa </a:t>
            </a:r>
            <a:r>
              <a:rPr>
                <a:solidFill>
                  <a:srgbClr val="06287E"/>
                </a:solidFill>
                <a:latin typeface="Courier"/>
              </a:rPr>
              <a:t>createSofa</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VictorianSofa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CoffeeTable </a:t>
            </a:r>
            <a:r>
              <a:rPr>
                <a:solidFill>
                  <a:srgbClr val="06287E"/>
                </a:solidFill>
                <a:latin typeface="Courier"/>
              </a:rPr>
              <a:t>createCoffeeTable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VictorianCoffeeTable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Abstract Factory (Soyut Fabrika)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AbstractFactoryDemo </a:t>
            </a:r>
            <a:r>
              <a:rPr>
                <a:solidFill>
                  <a:srgbClr val="666666"/>
                </a:solidFill>
                <a:latin typeface="Courier"/>
              </a:rPr>
              <a:t>{</a:t>
            </a:r>
            <a:br/>
            <a:r>
              <a:rPr>
                <a:latin typeface="Courier"/>
              </a:rPr>
              <a:t>    </a:t>
            </a:r>
            <a:r>
              <a:rPr b="1">
                <a:solidFill>
                  <a:srgbClr val="007020"/>
                </a:solidFill>
                <a:latin typeface="Courier"/>
              </a:rPr>
              <a:t>private</a:t>
            </a:r>
            <a:r>
              <a:rPr>
                <a:latin typeface="Courier"/>
              </a:rPr>
              <a:t> Chair chair</a:t>
            </a:r>
            <a:r>
              <a:rPr>
                <a:solidFill>
                  <a:srgbClr val="666666"/>
                </a:solidFill>
                <a:latin typeface="Courier"/>
              </a:rPr>
              <a:t>;</a:t>
            </a:r>
            <a:br/>
            <a:r>
              <a:rPr>
                <a:latin typeface="Courier"/>
              </a:rPr>
              <a:t>    </a:t>
            </a:r>
            <a:r>
              <a:rPr b="1">
                <a:solidFill>
                  <a:srgbClr val="007020"/>
                </a:solidFill>
                <a:latin typeface="Courier"/>
              </a:rPr>
              <a:t>private</a:t>
            </a:r>
            <a:r>
              <a:rPr>
                <a:latin typeface="Courier"/>
              </a:rPr>
              <a:t> Sofa sofa</a:t>
            </a:r>
            <a:r>
              <a:rPr>
                <a:solidFill>
                  <a:srgbClr val="666666"/>
                </a:solidFill>
                <a:latin typeface="Courier"/>
              </a:rPr>
              <a:t>;</a:t>
            </a:r>
            <a:br/>
            <a:r>
              <a:rPr>
                <a:latin typeface="Courier"/>
              </a:rPr>
              <a:t>    </a:t>
            </a:r>
            <a:r>
              <a:rPr b="1">
                <a:solidFill>
                  <a:srgbClr val="007020"/>
                </a:solidFill>
                <a:latin typeface="Courier"/>
              </a:rPr>
              <a:t>private</a:t>
            </a:r>
            <a:r>
              <a:rPr>
                <a:latin typeface="Courier"/>
              </a:rPr>
              <a:t> CoffeeTable table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AbstractFactoryDemo</a:t>
            </a:r>
            <a:r>
              <a:rPr>
                <a:solidFill>
                  <a:srgbClr val="666666"/>
                </a:solidFill>
                <a:latin typeface="Courier"/>
              </a:rPr>
              <a:t>(</a:t>
            </a:r>
            <a:r>
              <a:rPr>
                <a:latin typeface="Courier"/>
              </a:rPr>
              <a:t>FurnitureFactory factory</a:t>
            </a:r>
            <a:r>
              <a:rPr>
                <a:solidFill>
                  <a:srgbClr val="666666"/>
                </a:solidFill>
                <a:latin typeface="Courier"/>
              </a:rPr>
              <a:t>)</a:t>
            </a:r>
            <a:r>
              <a:rPr>
                <a:latin typeface="Courier"/>
              </a:rPr>
              <a:t> </a:t>
            </a:r>
            <a:r>
              <a:rPr>
                <a:solidFill>
                  <a:srgbClr val="666666"/>
                </a:solidFill>
                <a:latin typeface="Courier"/>
              </a:rPr>
              <a:t>{</a:t>
            </a:r>
            <a:br/>
            <a:r>
              <a:rPr>
                <a:latin typeface="Courier"/>
              </a:rPr>
              <a:t>        chair </a:t>
            </a:r>
            <a:r>
              <a:rPr>
                <a:solidFill>
                  <a:srgbClr val="666666"/>
                </a:solidFill>
                <a:latin typeface="Courier"/>
              </a:rPr>
              <a:t>=</a:t>
            </a:r>
            <a:r>
              <a:rPr>
                <a:latin typeface="Courier"/>
              </a:rPr>
              <a:t> factory</a:t>
            </a:r>
            <a:r>
              <a:rPr>
                <a:solidFill>
                  <a:srgbClr val="666666"/>
                </a:solidFill>
                <a:latin typeface="Courier"/>
              </a:rPr>
              <a:t>.</a:t>
            </a:r>
            <a:r>
              <a:rPr>
                <a:solidFill>
                  <a:srgbClr val="06287E"/>
                </a:solidFill>
                <a:latin typeface="Courier"/>
              </a:rPr>
              <a:t>createChair</a:t>
            </a:r>
            <a:r>
              <a:rPr>
                <a:solidFill>
                  <a:srgbClr val="666666"/>
                </a:solidFill>
                <a:latin typeface="Courier"/>
              </a:rPr>
              <a:t>();</a:t>
            </a:r>
            <a:br/>
            <a:r>
              <a:rPr>
                <a:latin typeface="Courier"/>
              </a:rPr>
              <a:t>        sofa </a:t>
            </a:r>
            <a:r>
              <a:rPr>
                <a:solidFill>
                  <a:srgbClr val="666666"/>
                </a:solidFill>
                <a:latin typeface="Courier"/>
              </a:rPr>
              <a:t>=</a:t>
            </a:r>
            <a:r>
              <a:rPr>
                <a:latin typeface="Courier"/>
              </a:rPr>
              <a:t> factory</a:t>
            </a:r>
            <a:r>
              <a:rPr>
                <a:solidFill>
                  <a:srgbClr val="666666"/>
                </a:solidFill>
                <a:latin typeface="Courier"/>
              </a:rPr>
              <a:t>.</a:t>
            </a:r>
            <a:r>
              <a:rPr>
                <a:solidFill>
                  <a:srgbClr val="06287E"/>
                </a:solidFill>
                <a:latin typeface="Courier"/>
              </a:rPr>
              <a:t>createSofa</a:t>
            </a:r>
            <a:r>
              <a:rPr>
                <a:solidFill>
                  <a:srgbClr val="666666"/>
                </a:solidFill>
                <a:latin typeface="Courier"/>
              </a:rPr>
              <a:t>();</a:t>
            </a:r>
            <a:br/>
            <a:r>
              <a:rPr>
                <a:latin typeface="Courier"/>
              </a:rPr>
              <a:t>        table </a:t>
            </a:r>
            <a:r>
              <a:rPr>
                <a:solidFill>
                  <a:srgbClr val="666666"/>
                </a:solidFill>
                <a:latin typeface="Courier"/>
              </a:rPr>
              <a:t>=</a:t>
            </a:r>
            <a:r>
              <a:rPr>
                <a:latin typeface="Courier"/>
              </a:rPr>
              <a:t> factory</a:t>
            </a:r>
            <a:r>
              <a:rPr>
                <a:solidFill>
                  <a:srgbClr val="666666"/>
                </a:solidFill>
                <a:latin typeface="Courier"/>
              </a:rPr>
              <a:t>.</a:t>
            </a:r>
            <a:r>
              <a:rPr>
                <a:solidFill>
                  <a:srgbClr val="06287E"/>
                </a:solidFill>
                <a:latin typeface="Courier"/>
              </a:rPr>
              <a:t>createCoffeeTable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describeFurniture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"Style: "</a:t>
            </a:r>
            <a:r>
              <a:rPr>
                <a:latin typeface="Courier"/>
              </a:rPr>
              <a:t> </a:t>
            </a:r>
            <a:r>
              <a:rPr>
                <a:solidFill>
                  <a:srgbClr val="666666"/>
                </a:solidFill>
                <a:latin typeface="Courier"/>
              </a:rPr>
              <a:t>+</a:t>
            </a:r>
            <a:r>
              <a:rPr>
                <a:latin typeface="Courier"/>
              </a:rPr>
              <a:t> chair</a:t>
            </a:r>
            <a:r>
              <a:rPr>
                <a:solidFill>
                  <a:srgbClr val="666666"/>
                </a:solidFill>
                <a:latin typeface="Courier"/>
              </a:rPr>
              <a:t>.</a:t>
            </a:r>
            <a:r>
              <a:rPr>
                <a:solidFill>
                  <a:srgbClr val="06287E"/>
                </a:solidFill>
                <a:latin typeface="Courier"/>
              </a:rPr>
              <a:t>getStyle</a:t>
            </a:r>
            <a:r>
              <a:rPr>
                <a:solidFill>
                  <a:srgbClr val="666666"/>
                </a:solidFill>
                <a:latin typeface="Courier"/>
              </a:rPr>
              <a:t>());</a:t>
            </a:r>
            <a:br/>
            <a:r>
              <a:rPr>
                <a:latin typeface="Courier"/>
              </a:rPr>
              <a:t>        chair</a:t>
            </a:r>
            <a:r>
              <a:rPr>
                <a:solidFill>
                  <a:srgbClr val="666666"/>
                </a:solidFill>
                <a:latin typeface="Courier"/>
              </a:rPr>
              <a:t>.</a:t>
            </a:r>
            <a:r>
              <a:rPr>
                <a:solidFill>
                  <a:srgbClr val="06287E"/>
                </a:solidFill>
                <a:latin typeface="Courier"/>
              </a:rPr>
              <a:t>sitOn</a:t>
            </a:r>
            <a:r>
              <a:rPr>
                <a:solidFill>
                  <a:srgbClr val="666666"/>
                </a:solidFill>
                <a:latin typeface="Courier"/>
              </a:rPr>
              <a:t>();</a:t>
            </a:r>
            <a:br/>
            <a:r>
              <a:rPr>
                <a:latin typeface="Courier"/>
              </a:rPr>
              <a:t>        sofa</a:t>
            </a:r>
            <a:r>
              <a:rPr>
                <a:solidFill>
                  <a:srgbClr val="666666"/>
                </a:solidFill>
                <a:latin typeface="Courier"/>
              </a:rPr>
              <a:t>.</a:t>
            </a:r>
            <a:r>
              <a:rPr>
                <a:solidFill>
                  <a:srgbClr val="06287E"/>
                </a:solidFill>
                <a:latin typeface="Courier"/>
              </a:rPr>
              <a:t>lieOn</a:t>
            </a:r>
            <a:r>
              <a:rPr>
                <a:solidFill>
                  <a:srgbClr val="666666"/>
                </a:solidFill>
                <a:latin typeface="Courier"/>
              </a:rPr>
              <a:t>();</a:t>
            </a:r>
            <a:br/>
            <a:r>
              <a:rPr>
                <a:latin typeface="Courier"/>
              </a:rPr>
              <a:t>        table</a:t>
            </a:r>
            <a:r>
              <a:rPr>
                <a:solidFill>
                  <a:srgbClr val="666666"/>
                </a:solidFill>
                <a:latin typeface="Courier"/>
              </a:rPr>
              <a:t>.</a:t>
            </a:r>
            <a:r>
              <a:rPr>
                <a:solidFill>
                  <a:srgbClr val="06287E"/>
                </a:solidFill>
                <a:latin typeface="Courier"/>
              </a:rPr>
              <a:t>placeItems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Use Modern furniture</a:t>
            </a:r>
            <a:br/>
            <a:r>
              <a:rPr>
                <a:latin typeface="Courier"/>
              </a:rPr>
              <a:t>        FurnitureFactory factory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ModernFurnitureFactory</a:t>
            </a:r>
            <a:r>
              <a:rPr>
                <a:solidFill>
                  <a:srgbClr val="666666"/>
                </a:solidFill>
                <a:latin typeface="Courier"/>
              </a:rPr>
              <a:t>();</a:t>
            </a:r>
            <a:br/>
            <a:r>
              <a:rPr>
                <a:latin typeface="Courier"/>
              </a:rPr>
              <a:t>        AbstractFactoryDemo room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AbstractFactoryDemo</a:t>
            </a:r>
            <a:r>
              <a:rPr>
                <a:solidFill>
                  <a:srgbClr val="666666"/>
                </a:solidFill>
                <a:latin typeface="Courier"/>
              </a:rPr>
              <a:t>(</a:t>
            </a:r>
            <a:r>
              <a:rPr>
                <a:latin typeface="Courier"/>
              </a:rPr>
              <a:t>factory</a:t>
            </a:r>
            <a:r>
              <a:rPr>
                <a:solidFill>
                  <a:srgbClr val="666666"/>
                </a:solidFill>
                <a:latin typeface="Courier"/>
              </a:rPr>
              <a:t>);</a:t>
            </a:r>
            <a:br/>
            <a:r>
              <a:rPr>
                <a:latin typeface="Courier"/>
              </a:rPr>
              <a:t>        room</a:t>
            </a:r>
            <a:r>
              <a:rPr>
                <a:solidFill>
                  <a:srgbClr val="666666"/>
                </a:solidFill>
                <a:latin typeface="Courier"/>
              </a:rPr>
              <a:t>.</a:t>
            </a:r>
            <a:r>
              <a:rPr>
                <a:solidFill>
                  <a:srgbClr val="06287E"/>
                </a:solidFill>
                <a:latin typeface="Courier"/>
              </a:rPr>
              <a:t>describeFurniture</a:t>
            </a:r>
            <a:r>
              <a:rPr>
                <a:solidFill>
                  <a:srgbClr val="666666"/>
                </a:solidFill>
                <a:latin typeface="Courier"/>
              </a:rPr>
              <a:t>();</a:t>
            </a:r>
            <a:br/>
            <a:r>
              <a:rPr>
                <a:latin typeface="Courier"/>
              </a:rPr>
              <a:t>        </a:t>
            </a:r>
            <a:r>
              <a:rPr i="1">
                <a:solidFill>
                  <a:srgbClr val="60A0B0"/>
                </a:solidFill>
                <a:latin typeface="Courier"/>
              </a:rPr>
              <a:t>// Output: Style: Modern</a:t>
            </a:r>
            <a:br/>
            <a:r>
              <a:rPr>
                <a:latin typeface="Courier"/>
              </a:rPr>
              <a:t>        </a:t>
            </a:r>
            <a:r>
              <a:rPr i="1">
                <a:solidFill>
                  <a:srgbClr val="60A0B0"/>
                </a:solidFill>
                <a:latin typeface="Courier"/>
              </a:rPr>
              <a:t>//         Sitting on a modern chair.</a:t>
            </a:r>
            <a:br/>
            <a:r>
              <a:rPr>
                <a:latin typeface="Courier"/>
              </a:rPr>
              <a:t>        </a:t>
            </a:r>
            <a:r>
              <a:rPr i="1">
                <a:solidFill>
                  <a:srgbClr val="60A0B0"/>
                </a:solidFill>
                <a:latin typeface="Courier"/>
              </a:rPr>
              <a:t>//         Lying on a modern sofa.</a:t>
            </a:r>
            <a:br/>
            <a:r>
              <a:rPr>
                <a:latin typeface="Courier"/>
              </a:rPr>
              <a:t>        </a:t>
            </a:r>
            <a:r>
              <a:rPr i="1">
                <a:solidFill>
                  <a:srgbClr val="60A0B0"/>
                </a:solidFill>
                <a:latin typeface="Courier"/>
              </a:rPr>
              <a:t>//         Placing items on modern table.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C: Özet</a:t>
            </a:r>
          </a:p>
        </p:txBody>
      </p:sp>
      <p:sp>
        <p:nvSpPr>
          <p:cNvPr id="3" name="Content Placeholder 2"/>
          <p:cNvSpPr>
            <a:spLocks noGrp="1"/>
          </p:cNvSpPr>
          <p:nvPr>
            <p:ph idx="1"/>
          </p:nvPr>
        </p:nvSpPr>
        <p:spPr/>
        <p:txBody>
          <a:bodyPr/>
          <a:lstStyle/>
          <a:p>
            <a:pPr lvl="0"/>
            <a:r>
              <a:rPr b="1"/>
              <a:t>Abstract Factory (Soyut Fabrika)</a:t>
            </a:r>
            <a:r>
              <a:rPr/>
              <a:t>, somut sınıflarını belirtmeden ilişkili nesne aileleri üretmenizi sağlar.</a:t>
            </a:r>
          </a:p>
          <a:p>
            <a:pPr lvl="0"/>
            <a:r>
              <a:rPr/>
              <a:t>Bir aile içinde </a:t>
            </a:r>
            <a:r>
              <a:rPr b="1"/>
              <a:t>ürün uyumluluğunu</a:t>
            </a:r>
            <a:r>
              <a:rPr/>
              <a:t> sağlama sorununu çözer (örn., Modern sandalye + Modern kanepe, asla stilleri karıştırmamak).</a:t>
            </a:r>
          </a:p>
          <a:p>
            <a:pPr lvl="0"/>
            <a:r>
              <a:rPr/>
              <a:t>Desen </a:t>
            </a:r>
            <a:r>
              <a:rPr b="1"/>
              <a:t>beş katılımcı</a:t>
            </a:r>
            <a:r>
              <a:rPr/>
              <a:t> kullanır: Abstract Products (Soyut Ürünler), Concrete Products (Somut Ürünler), Abstract Factory (Soyut Fabrika), Concrete Factories (Somut Fabrikalar) ve Client (İstemci).</a:t>
            </a:r>
          </a:p>
          <a:p>
            <a:pPr lvl="0"/>
            <a:r>
              <a:rPr b="1"/>
              <a:t>OCP</a:t>
            </a:r>
            <a:r>
              <a:rPr/>
              <a:t>’yi (mevcut kodu değiştirmeden yeni aileler ekleme) ve </a:t>
            </a:r>
            <a:r>
              <a:rPr b="1"/>
              <a:t>SRP</a:t>
            </a:r>
            <a:r>
              <a:rPr/>
              <a:t>’yi (ürün oluşturma merkezileştirilmiş) destekler.</a:t>
            </a:r>
          </a:p>
          <a:p>
            <a:pPr lvl="0"/>
            <a:r>
              <a:rPr/>
              <a:t>Abstract Factory genellikle dahili olarak </a:t>
            </a:r>
            <a:r>
              <a:rPr b="1"/>
              <a:t>Factory Methods</a:t>
            </a:r>
            <a:r>
              <a:rPr/>
              <a:t> kullanılarak uygulanır ve oluşturma için </a:t>
            </a:r>
            <a:r>
              <a:rPr b="1"/>
              <a:t>Prototype</a:t>
            </a:r>
            <a:r>
              <a:rPr/>
              <a:t> da kullanılabilir.</a:t>
            </a:r>
          </a:p>
          <a:p>
            <a:pPr lvl="0"/>
            <a:r>
              <a:rPr/>
              <a:t>Ana ödünleşim </a:t>
            </a:r>
            <a:r>
              <a:rPr b="1"/>
              <a:t>artan arayüz ve sınıf sayısıdır</a:t>
            </a:r>
            <a:r>
              <a:rPr/>
              <a:t>.</a:t>
            </a:r>
          </a:p>
          <a:p>
            <a:pPr lvl="0"/>
            <a:r>
              <a:rPr/>
              <a:t>Abstract Factories, Builders ve Prototypes’ın tümü </a:t>
            </a:r>
            <a:r>
              <a:rPr b="1"/>
              <a:t>Singletons</a:t>
            </a:r>
            <a:r>
              <a:rPr/>
              <a:t> olarak uygulanabilir.</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D: Builder (İnşaatçı) Deseni</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Deseni - Genel Bakış</a:t>
            </a:r>
          </a:p>
        </p:txBody>
      </p:sp>
      <p:sp>
        <p:nvSpPr>
          <p:cNvPr id="3" name="Content Placeholder 2"/>
          <p:cNvSpPr>
            <a:spLocks noGrp="1"/>
          </p:cNvSpPr>
          <p:nvPr>
            <p:ph idx="1"/>
          </p:nvPr>
        </p:nvSpPr>
        <p:spPr/>
        <p:txBody>
          <a:bodyPr/>
          <a:lstStyle/>
          <a:p>
            <a:pPr lvl="0"/>
            <a:r>
              <a:rPr b="1"/>
              <a:t>Kategori</a:t>
            </a:r>
            <a:r>
              <a:rPr/>
              <a:t>: Yaratımsal Desen (Creational Pattern)</a:t>
            </a:r>
          </a:p>
          <a:p>
            <a:pPr lvl="0"/>
            <a:r>
              <a:rPr b="1"/>
              <a:t>Karmaşıklık</a:t>
            </a:r>
            <a:r>
              <a:rPr/>
              <a:t>: Orta</a:t>
            </a:r>
          </a:p>
          <a:p>
            <a:pPr lvl="0"/>
            <a:r>
              <a:rPr b="1"/>
              <a:t>Popülerlik</a:t>
            </a:r>
            <a:r>
              <a:rPr/>
              <a:t>: Yüksek</a:t>
            </a:r>
          </a:p>
          <a:p>
            <a:pPr lvl="0" indent="0" marL="0">
              <a:buNone/>
            </a:pPr>
            <a:r>
              <a:rPr b="1"/>
              <a:t>Amaç</a:t>
            </a:r>
            <a:r>
              <a:rPr/>
              <a:t>: Builder (İnşaatçı), karmaşık nesneleri adım adım oluşturmanıza olanak tanıyan bir yaratımsal tasarım desenidir. Desen, aynı oluşturma kodunu kullanarak bir nesnenin farklı türlerini ve temsillerini üretmenize izin verir.</a:t>
            </a:r>
          </a:p>
          <a:p>
            <a:pPr lvl="0" indent="0" marL="0">
              <a:buNone/>
            </a:pPr>
            <a:r>
              <a:rPr/>
              <a:t>Referans: </a:t>
            </a:r>
            <a:r>
              <a:rPr>
                <a:hlinkClick r:id="rId2"/>
              </a:rPr>
              <a:t>RefactoringGuru - Builder</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Problem (Alt Sınıf Patlaması)</a:t>
            </a:r>
          </a:p>
        </p:txBody>
      </p:sp>
      <p:sp>
        <p:nvSpPr>
          <p:cNvPr id="3" name="Content Placeholder 2"/>
          <p:cNvSpPr>
            <a:spLocks noGrp="1"/>
          </p:cNvSpPr>
          <p:nvPr>
            <p:ph idx="1"/>
          </p:nvPr>
        </p:nvSpPr>
        <p:spPr/>
        <p:txBody>
          <a:bodyPr/>
          <a:lstStyle/>
          <a:p>
            <a:pPr lvl="0" indent="0" marL="0">
              <a:buNone/>
            </a:pPr>
            <a:r>
              <a:rPr/>
              <a:t>Birçok alanın ve iç içe geçmiş nesnelerin zahmetli, adım adım başlatılmasını gerektiren karmaşık bir nesne düşünün. Bu tür başlatma kodu genellikle çok sayıda parametreli devasa bir yapıcının içine gömülür. Hatta daha kötüsü: istemci kodunun her yerine dağılmıştır.</a:t>
            </a:r>
          </a:p>
          <a:p>
            <a:pPr lvl="0" indent="0" marL="0">
              <a:buNone/>
            </a:pPr>
            <a:r>
              <a:rPr b="1"/>
              <a:t>Örnek</a:t>
            </a:r>
            <a:r>
              <a:rPr/>
              <a:t>: Bir </a:t>
            </a:r>
            <a:r>
              <a:rPr>
                <a:latin typeface="Courier"/>
              </a:rPr>
              <a:t>House</a:t>
            </a:r>
            <a:r>
              <a:rPr/>
              <a:t> nesnesi oluşturmak.</a:t>
            </a:r>
          </a:p>
          <a:p>
            <a:pPr lvl="0"/>
            <a:r>
              <a:rPr/>
              <a:t>Basit bir evin duvarlara, zemine, kapıya, pencerelere ve çatıya ihtiyacı vardır.</a:t>
            </a:r>
          </a:p>
          <a:p>
            <a:pPr lvl="0"/>
            <a:r>
              <a:rPr/>
              <a:t>Peki ya arka bahçesi, yüzme havuzu, garajı ve diğer güzellikleri olan daha büyük, daha aydınlık bir ev istiyorsanız?</a:t>
            </a:r>
          </a:p>
          <a:p>
            <a:pPr lvl="0" indent="0" marL="0">
              <a:buNone/>
            </a:pPr>
            <a:r>
              <a:rPr/>
              <a:t>En basit çözüm, temel </a:t>
            </a:r>
            <a:r>
              <a:rPr>
                <a:latin typeface="Courier"/>
              </a:rPr>
              <a:t>House</a:t>
            </a:r>
            <a:r>
              <a:rPr/>
              <a:t> sınıfını genişletmek ve her parametre kombinasyonu için alt sınıflar oluşturmaktır. Ancak sonunda </a:t>
            </a:r>
            <a:r>
              <a:rPr b="1"/>
              <a:t>önemli sayıda alt sınıfla</a:t>
            </a:r>
            <a:r>
              <a:rPr/>
              <a:t> karşı karşıya kalırsınız. Herhangi bir yeni parametre, bu hiyerarşiyi daha da büyütmeyi gerektirecektir.</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Problem (Teleskopik Yapıcı)</a:t>
            </a:r>
          </a:p>
        </p:txBody>
      </p:sp>
      <p:sp>
        <p:nvSpPr>
          <p:cNvPr id="3" name="Content Placeholder 2"/>
          <p:cNvSpPr>
            <a:spLocks noGrp="1"/>
          </p:cNvSpPr>
          <p:nvPr>
            <p:ph idx="1"/>
          </p:nvPr>
        </p:nvSpPr>
        <p:spPr/>
        <p:txBody>
          <a:bodyPr/>
          <a:lstStyle/>
          <a:p>
            <a:pPr lvl="0" indent="0" marL="0">
              <a:buNone/>
            </a:pPr>
            <a:r>
              <a:rPr/>
              <a:t>Alt sınıf üretmeyi içermeyen başka bir yaklaşım da vardır. Ev nesnesini kontrol eden tüm olası parametrelerle doğrudan temel </a:t>
            </a:r>
            <a:r>
              <a:rPr>
                <a:latin typeface="Courier"/>
              </a:rPr>
              <a:t>House</a:t>
            </a:r>
            <a:r>
              <a:rPr/>
              <a:t> sınıfında devasa bir yapıcı oluşturabilirsiniz.</a:t>
            </a:r>
          </a:p>
          <a:p>
            <a:pPr lvl="0" indent="0">
              <a:buNone/>
            </a:pPr>
            <a:r>
              <a:rPr i="1">
                <a:solidFill>
                  <a:srgbClr val="60A0B0"/>
                </a:solidFill>
                <a:latin typeface="Courier"/>
              </a:rPr>
              <a:t>// Telescoping constructor anti-pattern</a:t>
            </a:r>
            <a:br/>
            <a:r>
              <a:rPr b="1">
                <a:solidFill>
                  <a:srgbClr val="007020"/>
                </a:solidFill>
                <a:latin typeface="Courier"/>
              </a:rPr>
              <a:t>class</a:t>
            </a:r>
            <a:r>
              <a:rPr>
                <a:latin typeface="Courier"/>
              </a:rPr>
              <a:t> House </a:t>
            </a:r>
            <a:r>
              <a:rPr>
                <a:solidFill>
                  <a:srgbClr val="666666"/>
                </a:solidFill>
                <a:latin typeface="Courier"/>
              </a:rPr>
              <a:t>{</a:t>
            </a:r>
            <a:br/>
            <a:r>
              <a:rPr>
                <a:latin typeface="Courier"/>
              </a:rPr>
              <a:t>    </a:t>
            </a:r>
            <a:r>
              <a:rPr>
                <a:solidFill>
                  <a:srgbClr val="06287E"/>
                </a:solidFill>
                <a:latin typeface="Courier"/>
              </a:rPr>
              <a:t>House</a:t>
            </a:r>
            <a:r>
              <a:rPr>
                <a:solidFill>
                  <a:srgbClr val="666666"/>
                </a:solidFill>
                <a:latin typeface="Courier"/>
              </a:rPr>
              <a:t>(</a:t>
            </a:r>
            <a:r>
              <a:rPr>
                <a:solidFill>
                  <a:srgbClr val="902000"/>
                </a:solidFill>
                <a:latin typeface="Courier"/>
              </a:rPr>
              <a:t>int</a:t>
            </a:r>
            <a:r>
              <a:rPr>
                <a:latin typeface="Courier"/>
              </a:rPr>
              <a:t> windows</a:t>
            </a:r>
            <a:r>
              <a:rPr>
                <a:solidFill>
                  <a:srgbClr val="666666"/>
                </a:solidFill>
                <a:latin typeface="Courier"/>
              </a:rPr>
              <a:t>,</a:t>
            </a:r>
            <a:r>
              <a:rPr>
                <a:latin typeface="Courier"/>
              </a:rPr>
              <a:t> </a:t>
            </a:r>
            <a:r>
              <a:rPr>
                <a:solidFill>
                  <a:srgbClr val="902000"/>
                </a:solidFill>
                <a:latin typeface="Courier"/>
              </a:rPr>
              <a:t>int</a:t>
            </a:r>
            <a:r>
              <a:rPr>
                <a:latin typeface="Courier"/>
              </a:rPr>
              <a:t> doors</a:t>
            </a:r>
            <a:r>
              <a:rPr>
                <a:solidFill>
                  <a:srgbClr val="666666"/>
                </a:solidFill>
                <a:latin typeface="Courier"/>
              </a:rPr>
              <a:t>,</a:t>
            </a:r>
            <a:r>
              <a:rPr>
                <a:latin typeface="Courier"/>
              </a:rPr>
              <a:t> </a:t>
            </a:r>
            <a:r>
              <a:rPr>
                <a:solidFill>
                  <a:srgbClr val="902000"/>
                </a:solidFill>
                <a:latin typeface="Courier"/>
              </a:rPr>
              <a:t>int</a:t>
            </a:r>
            <a:r>
              <a:rPr>
                <a:latin typeface="Courier"/>
              </a:rPr>
              <a:t> rooms</a:t>
            </a:r>
            <a:r>
              <a:rPr>
                <a:solidFill>
                  <a:srgbClr val="666666"/>
                </a:solidFill>
                <a:latin typeface="Courier"/>
              </a:rPr>
              <a:t>,</a:t>
            </a:r>
            <a:br/>
            <a:r>
              <a:rPr>
                <a:latin typeface="Courier"/>
              </a:rPr>
              <a:t>          </a:t>
            </a:r>
            <a:r>
              <a:rPr>
                <a:solidFill>
                  <a:srgbClr val="902000"/>
                </a:solidFill>
                <a:latin typeface="Courier"/>
              </a:rPr>
              <a:t>boolean</a:t>
            </a:r>
            <a:r>
              <a:rPr>
                <a:latin typeface="Courier"/>
              </a:rPr>
              <a:t> hasGarage</a:t>
            </a:r>
            <a:r>
              <a:rPr>
                <a:solidFill>
                  <a:srgbClr val="666666"/>
                </a:solidFill>
                <a:latin typeface="Courier"/>
              </a:rPr>
              <a:t>,</a:t>
            </a:r>
            <a:r>
              <a:rPr>
                <a:latin typeface="Courier"/>
              </a:rPr>
              <a:t> </a:t>
            </a:r>
            <a:r>
              <a:rPr>
                <a:solidFill>
                  <a:srgbClr val="902000"/>
                </a:solidFill>
                <a:latin typeface="Courier"/>
              </a:rPr>
              <a:t>boolean</a:t>
            </a:r>
            <a:r>
              <a:rPr>
                <a:latin typeface="Courier"/>
              </a:rPr>
              <a:t> hasSwimPool</a:t>
            </a:r>
            <a:r>
              <a:rPr>
                <a:solidFill>
                  <a:srgbClr val="666666"/>
                </a:solidFill>
                <a:latin typeface="Courier"/>
              </a:rPr>
              <a:t>,</a:t>
            </a:r>
            <a:br/>
            <a:r>
              <a:rPr>
                <a:latin typeface="Courier"/>
              </a:rPr>
              <a:t>          </a:t>
            </a:r>
            <a:r>
              <a:rPr>
                <a:solidFill>
                  <a:srgbClr val="902000"/>
                </a:solidFill>
                <a:latin typeface="Courier"/>
              </a:rPr>
              <a:t>boolean</a:t>
            </a:r>
            <a:r>
              <a:rPr>
                <a:latin typeface="Courier"/>
              </a:rPr>
              <a:t> hasStatues</a:t>
            </a:r>
            <a:r>
              <a:rPr>
                <a:solidFill>
                  <a:srgbClr val="666666"/>
                </a:solidFill>
                <a:latin typeface="Courier"/>
              </a:rPr>
              <a:t>,</a:t>
            </a:r>
            <a:r>
              <a:rPr>
                <a:latin typeface="Courier"/>
              </a:rPr>
              <a:t> </a:t>
            </a:r>
            <a:r>
              <a:rPr>
                <a:solidFill>
                  <a:srgbClr val="902000"/>
                </a:solidFill>
                <a:latin typeface="Courier"/>
              </a:rPr>
              <a:t>boolean</a:t>
            </a:r>
            <a:r>
              <a:rPr>
                <a:latin typeface="Courier"/>
              </a:rPr>
              <a:t> hasGarden</a:t>
            </a:r>
            <a:r>
              <a:rPr>
                <a:solidFill>
                  <a:srgbClr val="666666"/>
                </a:solidFill>
                <a:latin typeface="Courier"/>
              </a:rPr>
              <a:t>,</a:t>
            </a:r>
            <a:br/>
            <a:r>
              <a:rPr>
                <a:latin typeface="Courier"/>
              </a:rPr>
              <a:t>          </a:t>
            </a:r>
            <a:r>
              <a:rPr>
                <a:solidFill>
                  <a:srgbClr val="902000"/>
                </a:solidFill>
                <a:latin typeface="Courier"/>
              </a:rPr>
              <a:t>boolean</a:t>
            </a:r>
            <a:r>
              <a:rPr>
                <a:latin typeface="Courier"/>
              </a:rPr>
              <a:t> hasYard</a:t>
            </a:r>
            <a:r>
              <a:rPr>
                <a:solidFill>
                  <a:srgbClr val="666666"/>
                </a:solidFill>
                <a:latin typeface="Courier"/>
              </a:rPr>
              <a:t>,</a:t>
            </a:r>
            <a:r>
              <a:rPr>
                <a:latin typeface="Courier"/>
              </a:rPr>
              <a:t> </a:t>
            </a:r>
            <a:r>
              <a:rPr>
                <a:solidFill>
                  <a:srgbClr val="902000"/>
                </a:solidFill>
                <a:latin typeface="Courier"/>
              </a:rPr>
              <a:t>boolean</a:t>
            </a:r>
            <a:r>
              <a:rPr>
                <a:latin typeface="Courier"/>
              </a:rPr>
              <a:t> hasFence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Client code - very hard to read</a:t>
            </a:r>
            <a:br/>
            <a:r>
              <a:rPr b="1">
                <a:solidFill>
                  <a:srgbClr val="007020"/>
                </a:solidFill>
                <a:latin typeface="Courier"/>
              </a:rPr>
              <a:t>new</a:t>
            </a:r>
            <a:r>
              <a:rPr>
                <a:latin typeface="Courier"/>
              </a:rPr>
              <a:t> </a:t>
            </a:r>
            <a:r>
              <a:rPr>
                <a:solidFill>
                  <a:srgbClr val="06287E"/>
                </a:solidFill>
                <a:latin typeface="Courier"/>
              </a:rPr>
              <a:t>House</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p>
          <a:p>
            <a:pPr lvl="0" indent="0" marL="0">
              <a:buNone/>
            </a:pPr>
            <a:r>
              <a:rPr/>
              <a:t>Çoğu durumda, </a:t>
            </a:r>
            <a:r>
              <a:rPr b="1"/>
              <a:t>parametrelerin büyük kısmı kullanılmayacak</a:t>
            </a:r>
            <a:r>
              <a:rPr/>
              <a:t> ve yapıcı çağrıları oldukça çirkin olacaktır.</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Çözüm</a:t>
            </a:r>
          </a:p>
        </p:txBody>
      </p:sp>
      <p:sp>
        <p:nvSpPr>
          <p:cNvPr id="3" name="Content Placeholder 2"/>
          <p:cNvSpPr>
            <a:spLocks noGrp="1"/>
          </p:cNvSpPr>
          <p:nvPr>
            <p:ph idx="1"/>
          </p:nvPr>
        </p:nvSpPr>
        <p:spPr/>
        <p:txBody>
          <a:bodyPr/>
          <a:lstStyle/>
          <a:p>
            <a:pPr lvl="0" indent="0" marL="0">
              <a:buNone/>
            </a:pPr>
            <a:r>
              <a:rPr/>
              <a:t>Builder deseni, nesne oluşturma kodunu kendi sınıfından çıkarıp </a:t>
            </a:r>
            <a:r>
              <a:rPr b="1"/>
              <a:t>builder (inşaatçı)</a:t>
            </a:r>
            <a:r>
              <a:rPr/>
              <a:t> adı verilen ayrı nesnelere taşımanızı önerir.</a:t>
            </a:r>
          </a:p>
          <a:p>
            <a:pPr lvl="0" indent="0" marL="0">
              <a:buNone/>
            </a:pPr>
            <a:r>
              <a:rPr/>
              <a:t>Desen, nesne oluşturmayı bir dizi adım halinde düzenler (</a:t>
            </a:r>
            <a:r>
              <a:rPr>
                <a:latin typeface="Courier"/>
              </a:rPr>
              <a:t>buildWalls</a:t>
            </a:r>
            <a:r>
              <a:rPr/>
              <a:t>, </a:t>
            </a:r>
            <a:r>
              <a:rPr>
                <a:latin typeface="Courier"/>
              </a:rPr>
              <a:t>buildDoor</a:t>
            </a:r>
            <a:r>
              <a:rPr/>
              <a:t> vb.). Bir nesne oluşturmak için bir builder nesnesi üzerinde bu adımlardan bir dizi çalıştırırsınız. Önemli olan şudur: </a:t>
            </a:r>
            <a:r>
              <a:rPr b="1"/>
              <a:t>tüm adımları çağırmanız gerekmez</a:t>
            </a:r>
            <a:r>
              <a:rPr/>
              <a:t>. Yalnızca bir nesnenin belirli bir yapılandırmasını üretmek için gerekli olan adımları çağırabilirsiniz.</a:t>
            </a:r>
          </a:p>
          <a:p>
            <a:pPr lvl="0" indent="0" marL="0">
              <a:buNone/>
            </a:pPr>
            <a:r>
              <a:rPr b="1"/>
              <a:t>Director (Yönetici)</a:t>
            </a:r>
            <a:r>
              <a:rPr/>
              <a:t> (isteğe bağlı): Builder adımlarına yapılan bir dizi çağrıyı </a:t>
            </a:r>
            <a:r>
              <a:rPr b="1"/>
              <a:t>director</a:t>
            </a:r>
            <a:r>
              <a:rPr/>
              <a:t> adı verilen ayrı bir sınıfa daha fazla çıkarabilirsiniz. Director, inşa adımlarının hangi sırayla çalıştırılacağını tanımlarken, builder bu adımların uygulamasını sağlar.</a:t>
            </a:r>
          </a:p>
          <a:p>
            <a:pPr lvl="0"/>
            <a:r>
              <a:rPr/>
              <a:t>Bir director sınıfına sahip olmak kesinlikle gerekli değildir.</a:t>
            </a:r>
          </a:p>
          <a:p>
            <a:pPr lvl="0"/>
            <a:r>
              <a:rPr/>
              <a:t>Ancak director sınıfı, çeşitli oluşturma rutinlerini koyarak programınız genelinde yeniden kullanabilmeniz için iyi bir yer olabilir.</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Yapı</a:t>
            </a:r>
          </a:p>
        </p:txBody>
      </p:sp>
      <p:sp>
        <p:nvSpPr>
          <p:cNvPr id="3" name="Content Placeholder 2"/>
          <p:cNvSpPr>
            <a:spLocks noGrp="1"/>
          </p:cNvSpPr>
          <p:nvPr>
            <p:ph idx="1"/>
          </p:nvPr>
        </p:nvSpPr>
        <p:spPr/>
        <p:txBody>
          <a:bodyPr/>
          <a:lstStyle/>
          <a:p>
            <a:pPr lvl="0" indent="0" marL="0">
              <a:buNone/>
            </a:pPr>
            <a:r>
              <a:rPr/>
              <a:t>Builder deseninin beş temel katılımcısı vardır:</a:t>
            </a:r>
          </a:p>
          <a:p>
            <a:pPr lvl="0" indent="-342900" marL="342900">
              <a:buAutoNum type="arabicPeriod"/>
            </a:pPr>
            <a:r>
              <a:rPr b="1"/>
              <a:t>Builder Interface (İnşaatçı Arayüzü)</a:t>
            </a:r>
            <a:r>
              <a:rPr/>
              <a:t>: tüm builder türleri için ortak olan ürün oluşturma adımlarını bildirir.</a:t>
            </a:r>
          </a:p>
          <a:p>
            <a:pPr lvl="0" indent="-342900" marL="342900">
              <a:buAutoNum type="arabicPeriod"/>
            </a:pPr>
            <a:r>
              <a:rPr b="1"/>
              <a:t>Concrete Builders (Somut İnşaatçılar)</a:t>
            </a:r>
            <a:r>
              <a:rPr/>
              <a:t>: oluşturma adımlarının farklı uygulamalarını sağlar. Somut builder’lar ortak arayüzü takip etmeyen ürünler üretebilir.</a:t>
            </a:r>
          </a:p>
          <a:p>
            <a:pPr lvl="0" indent="-342900" marL="342900">
              <a:buAutoNum type="arabicPeriod"/>
            </a:pPr>
            <a:r>
              <a:rPr b="1"/>
              <a:t>Products (Ürünler)</a:t>
            </a:r>
            <a:r>
              <a:rPr/>
              <a:t>: elde edilen nesnelerdir. Farklı builder’lar tarafından oluşturulan ürünlerin aynı sınıf hiyerarşisine veya arayüze ait olması gerekmez.</a:t>
            </a:r>
          </a:p>
          <a:p>
            <a:pPr lvl="0" indent="-342900" marL="342900">
              <a:buAutoNum type="arabicPeriod"/>
            </a:pPr>
            <a:r>
              <a:rPr b="1"/>
              <a:t>Director (Yönetici)</a:t>
            </a:r>
            <a:r>
              <a:rPr/>
              <a:t> (isteğe bağlı): oluşturma adımlarının hangi sırayla çağrılacağını tanımlar, böylece belirli ürün yapılandırmalarını oluşturabilir ve yeniden kullanabilirsiniz.</a:t>
            </a:r>
          </a:p>
          <a:p>
            <a:pPr lvl="0" indent="-342900" marL="342900">
              <a:buAutoNum type="arabicPeriod"/>
            </a:pPr>
            <a:r>
              <a:rPr b="1"/>
              <a:t>Client (İstemci)</a:t>
            </a:r>
            <a:r>
              <a:rPr/>
              <a:t>: builder nesnelerinden birini director ile ilişkilendirmelidir (veya builder’ı doğrudan kullanır). Genellikle bu işlem, director’ın yapıcısının parametreleri aracılığıyla yalnızca bir kez yapılır.</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Builder - Sınıf Diyagramı</a:t>
            </a:r>
          </a:p>
        </p:txBody>
      </p:sp>
      <p:pic>
        <p:nvPicPr>
          <p:cNvPr descr="assets/builder-structure.png" id="0" name="Picture 1"/>
          <p:cNvPicPr>
            <a:picLocks noGrp="1" noChangeAspect="1"/>
          </p:cNvPicPr>
          <p:nvPr/>
        </p:nvPicPr>
        <p:blipFill>
          <a:blip r:embed="rId2"/>
          <a:stretch>
            <a:fillRect/>
          </a:stretch>
        </p:blipFill>
        <p:spPr bwMode="auto">
          <a:xfrm>
            <a:off x="4699000" y="203200"/>
            <a:ext cx="2844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Sözde Kod</a:t>
            </a:r>
          </a:p>
        </p:txBody>
      </p:sp>
      <p:sp>
        <p:nvSpPr>
          <p:cNvPr id="3" name="Content Placeholder 2"/>
          <p:cNvSpPr>
            <a:spLocks noGrp="1"/>
          </p:cNvSpPr>
          <p:nvPr>
            <p:ph idx="1"/>
          </p:nvPr>
        </p:nvSpPr>
        <p:spPr/>
        <p:txBody>
          <a:bodyPr/>
          <a:lstStyle/>
          <a:p>
            <a:pPr lvl="0" indent="0" marL="0">
              <a:buNone/>
            </a:pPr>
            <a:r>
              <a:rPr/>
              <a:t>Bu örnek, Builder deseninin aynı inşa adımlarını kullanarak farklı ürün türleri (Car ve Manual) oluşturmak için nasıl kullanılabileceğini göstermektedir.</a:t>
            </a:r>
          </a:p>
          <a:p>
            <a:pPr lvl="0" indent="0">
              <a:buNone/>
            </a:pPr>
            <a:r>
              <a:rPr>
                <a:latin typeface="Courier"/>
              </a:rPr>
              <a:t>// The builder interface specifies methods for creating
// the different parts of the product objects.
interface Builder is
    method reset()
    method setSeats(number)
    method setEngine(engine: Engine)
    method setTripComputer()
    method setGPS()
// Concrete builders implement the builder interface
// and provide specific implementations of building steps.
class CarBuilder implements Builder is
    private field car: Car
    method reset() is
        this.car = new Car()
    method setSeats(number) is
        // Set the number of seats in the car.
    method setEngine(engine: Engine) is
        // Install a given engine.
    method setTripComputer() is
        // Install a trip computer.
    method setGPS() is
        // Install a GPS.
    method getProduct(): Car is
        product = this.car
        this.reset()
        return product</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Sözde Kod (devam)</a:t>
            </a:r>
          </a:p>
        </p:txBody>
      </p:sp>
      <p:sp>
        <p:nvSpPr>
          <p:cNvPr id="3" name="Content Placeholder 2"/>
          <p:cNvSpPr>
            <a:spLocks noGrp="1"/>
          </p:cNvSpPr>
          <p:nvPr>
            <p:ph idx="1"/>
          </p:nvPr>
        </p:nvSpPr>
        <p:spPr/>
        <p:txBody>
          <a:bodyPr/>
          <a:lstStyle/>
          <a:p>
            <a:pPr lvl="0" indent="0">
              <a:buNone/>
            </a:pPr>
            <a:r>
              <a:rPr>
                <a:latin typeface="Courier"/>
              </a:rPr>
              <a:t>// Unlike other creational patterns, Builder lets you
// construct unrelated products with the same process.
class CarManualBuilder implements Builder is
    private field manual: Manual
    method reset() is
        this.manual = new Manual()
    method setSeats(number) is
        // Document car seat features.
    method setEngine(engine: Engine) is
        // Add engine instructions.
    method setTripComputer() is
        // Add trip computer instructions.
    method setGPS() is
        // Add GPS instructions.
    method getProduct(): Manual is
        // Return the manual and reset the builder.
// The director is only responsible for executing the
// building steps in a particular sequence.
class Director is
    method constructSportsCar(builder: Builder) is
        builder.reset()
        builder.setSeats(2)
        builder.setEngine(new SportEngine())
        builder.setTripComputer()
        builder.setGPS()
    method constructSUV(builder: Builder) is
        builder.reset()
        builder.setSeats(4)
        builder.setEngine(new SUVEngine())
        builder.setGPS()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Sözde Kod (devam)</a:t>
            </a:r>
          </a:p>
        </p:txBody>
      </p:sp>
      <p:sp>
        <p:nvSpPr>
          <p:cNvPr id="3" name="Content Placeholder 2"/>
          <p:cNvSpPr>
            <a:spLocks noGrp="1"/>
          </p:cNvSpPr>
          <p:nvPr>
            <p:ph idx="1"/>
          </p:nvPr>
        </p:nvSpPr>
        <p:spPr/>
        <p:txBody>
          <a:bodyPr/>
          <a:lstStyle/>
          <a:p>
            <a:pPr lvl="0" indent="0">
              <a:buNone/>
            </a:pPr>
            <a:r>
              <a:rPr>
                <a:latin typeface="Courier"/>
              </a:rPr>
              <a:t>// The client code creates a builder object, passes it
// to the director and then initiates the construction.
class Application is
    method makeCar() is
        director = new Director()
        // Get a car
        CarBuilder builder = new CarBuilder()
        director.constructSportsCar(builder)
        Car car = builder.getProduct()
        // Get a car manual for the same config
        CarManualBuilder manualBuilder = new CarManualBuilder()
        director.constructSportsCar(manualBuilder)
        Manual manual = manualBuilder.getProduct()
        // The final product is retrieved from the builder
        // because the director is not aware of and not
        // dependent on concrete builders and products.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Builder - Sıralama Diyagramı</a:t>
            </a:r>
          </a:p>
        </p:txBody>
      </p:sp>
      <p:pic>
        <p:nvPicPr>
          <p:cNvPr descr="assets/builder-sequence.png" id="0" name="Picture 1"/>
          <p:cNvPicPr>
            <a:picLocks noGrp="1" noChangeAspect="1"/>
          </p:cNvPicPr>
          <p:nvPr/>
        </p:nvPicPr>
        <p:blipFill>
          <a:blip r:embed="rId2"/>
          <a:stretch>
            <a:fillRect/>
          </a:stretch>
        </p:blipFill>
        <p:spPr bwMode="auto">
          <a:xfrm>
            <a:off x="4978400" y="203200"/>
            <a:ext cx="228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Uygulanabilirlik</a:t>
            </a:r>
          </a:p>
        </p:txBody>
      </p:sp>
      <p:sp>
        <p:nvSpPr>
          <p:cNvPr id="3" name="Content Placeholder 2"/>
          <p:cNvSpPr>
            <a:spLocks noGrp="1"/>
          </p:cNvSpPr>
          <p:nvPr>
            <p:ph idx="1"/>
          </p:nvPr>
        </p:nvSpPr>
        <p:spPr/>
        <p:txBody>
          <a:bodyPr/>
          <a:lstStyle/>
          <a:p>
            <a:pPr lvl="0" indent="0" marL="0">
              <a:buNone/>
            </a:pPr>
            <a:r>
              <a:rPr/>
              <a:t>Builder desenini şu durumlarda kullanın:</a:t>
            </a:r>
          </a:p>
          <a:p>
            <a:pPr lvl="0" indent="-342900" marL="342900">
              <a:buAutoNum type="arabicPeriod"/>
            </a:pPr>
            <a:r>
              <a:rPr b="1"/>
              <a:t>“Teleskopik yapıcı”dan kurtulmak istediğinizde.</a:t>
            </a:r>
          </a:p>
          <a:p>
            <a:pPr lvl="1"/>
            <a:r>
              <a:rPr/>
              <a:t>Builder deseni, nesneleri adım adım, yalnızca gerçekten ihtiyaç duyduğunuz adımları kullanarak oluşturmanıza olanak tanır. Deseni uyguladıktan sonra yapıcılarınıza düzinelerce parametre tıkıştırmanız gerekmez.</a:t>
            </a:r>
          </a:p>
          <a:p>
            <a:pPr lvl="0" indent="-342900" marL="342900">
              <a:buAutoNum type="arabicPeriod"/>
            </a:pPr>
            <a:r>
              <a:rPr b="1"/>
              <a:t>Kodunuzun bir ürünün farklı temsillerini oluşturabilmesini istediğinizde</a:t>
            </a:r>
            <a:r>
              <a:rPr/>
              <a:t> (örn., taş ve ahşap evler).</a:t>
            </a:r>
          </a:p>
          <a:p>
            <a:pPr lvl="1"/>
            <a:r>
              <a:rPr/>
              <a:t>Builder deseni, ürünün çeşitli temsillerinin oluşturulması yalnızca ayrıntılarda farklılık gösteren benzer adımları içerdiğinde uygulanabilir.</a:t>
            </a:r>
          </a:p>
          <a:p>
            <a:pPr lvl="1"/>
            <a:r>
              <a:rPr/>
              <a:t>Temel builder arayüzü tüm olası oluşturma adımlarını tanımlar ve somut builder’lar ürünün belirli temsillerini oluşturmak için bu adımları uygular.</a:t>
            </a:r>
          </a:p>
          <a:p>
            <a:pPr lvl="0" indent="-342900" marL="342900">
              <a:buAutoNum type="arabicPeriod"/>
            </a:pPr>
            <a:r>
              <a:rPr b="1"/>
              <a:t>Composite (Bileşik) ağaçları veya diğer karmaşık nesneleri oluşturmak istediğinizde.</a:t>
            </a:r>
          </a:p>
          <a:p>
            <a:pPr lvl="1"/>
            <a:r>
              <a:rPr/>
              <a:t>Builder deseni, ürünleri adım adım oluşturmanıza olanak tanır. Son ürünü bozmadan bazı adımların çalıştırılmasını erteleyebilirsiniz. Hatta adımları özyinelemeli olarak bile çağırabilirsiniz, bu da bir nesne ağacı oluşturmanız gerektiğinde kullanışlı olur.</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Nasıl Uygulanır</a:t>
            </a:r>
          </a:p>
        </p:txBody>
      </p:sp>
      <p:sp>
        <p:nvSpPr>
          <p:cNvPr id="3" name="Content Placeholder 2"/>
          <p:cNvSpPr>
            <a:spLocks noGrp="1"/>
          </p:cNvSpPr>
          <p:nvPr>
            <p:ph idx="1"/>
          </p:nvPr>
        </p:nvSpPr>
        <p:spPr/>
        <p:txBody>
          <a:bodyPr/>
          <a:lstStyle/>
          <a:p>
            <a:pPr lvl="0" indent="-342900" marL="342900">
              <a:buAutoNum type="arabicPeriod"/>
            </a:pPr>
            <a:r>
              <a:rPr b="1"/>
              <a:t>Mevcut tüm ürün temsilleri için ortak oluşturma adımlarını net bir şekilde tanımlayabildiğinizden emin olun.</a:t>
            </a:r>
            <a:r>
              <a:rPr/>
              <a:t> Aksi takdirde deseni uygulamaya devam edemezsiniz.</a:t>
            </a:r>
          </a:p>
          <a:p>
            <a:pPr lvl="0" indent="-342900" marL="342900">
              <a:buAutoNum type="arabicPeriod"/>
            </a:pPr>
            <a:r>
              <a:rPr b="1"/>
              <a:t>Bu adımları</a:t>
            </a:r>
            <a:r>
              <a:rPr/>
              <a:t> temel builder arayüzünde bildirin.</a:t>
            </a:r>
          </a:p>
          <a:p>
            <a:pPr lvl="0" indent="-342900" marL="342900">
              <a:buAutoNum type="arabicPeriod"/>
            </a:pPr>
            <a:r>
              <a:rPr b="1"/>
              <a:t>Her ürün temsili için bir somut builder sınıfı oluşturun</a:t>
            </a:r>
            <a:r>
              <a:rPr/>
              <a:t> ve oluşturma adımlarını uygulayın.</a:t>
            </a:r>
          </a:p>
          <a:p>
            <a:pPr lvl="1"/>
            <a:r>
              <a:rPr/>
              <a:t>Oluşturma sonucunu almak için bir yöntem uygulamayı unutmayın. Bu yöntem, çeşitli builder’lar ortak bir arayüze sahip olmayan ürünler oluşturabileceğinden, builder arayüzünde bildirilemez.</a:t>
            </a:r>
          </a:p>
          <a:p>
            <a:pPr lvl="0" indent="-342900" marL="342900">
              <a:buAutoNum type="arabicPeriod"/>
            </a:pPr>
            <a:r>
              <a:rPr b="1"/>
              <a:t>Bir director sınıfı oluşturmayı düşünün.</a:t>
            </a:r>
            <a:r>
              <a:rPr/>
              <a:t> Aynı builder nesnesini kullanarak bir ürünü oluşturmanın çeşitli yollarını kapsülleyebilir.</a:t>
            </a:r>
          </a:p>
          <a:p>
            <a:pPr lvl="0" indent="-342900" marL="342900">
              <a:buAutoNum type="arabicPeriod"/>
            </a:pPr>
            <a:r>
              <a:rPr b="1"/>
              <a:t>İstemci kodu hem builder hem de director nesnelerini oluşturur.</a:t>
            </a:r>
            <a:r>
              <a:rPr/>
              <a:t> Oluşturma başlamadan önce, istemci director’a bir builder nesnesi iletmelidir. Genellikle istemci bunu, director’ın yapıcısının parametreleri veya bir setter yöntemi aracılığıyla yalnızca bir kez yapar.</a:t>
            </a:r>
          </a:p>
          <a:p>
            <a:pPr lvl="0" indent="-342900" marL="342900">
              <a:buAutoNum type="arabicPeriod"/>
            </a:pPr>
            <a:r>
              <a:rPr b="1"/>
              <a:t>Oluşturma sonucu, yalnızca tüm ürünler aynı arayüzü takip ediyorsa doğrudan builder’dan alınabilir.</a:t>
            </a:r>
            <a:r>
              <a:rPr/>
              <a:t> Aksi takdirde istemci sonucu builder’dan almalıdır.</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Artılar ve Eksiler</a:t>
            </a:r>
          </a:p>
        </p:txBody>
      </p:sp>
      <p:sp>
        <p:nvSpPr>
          <p:cNvPr id="3" name="Content Placeholder 2"/>
          <p:cNvSpPr>
            <a:spLocks noGrp="1"/>
          </p:cNvSpPr>
          <p:nvPr>
            <p:ph idx="1"/>
          </p:nvPr>
        </p:nvSpPr>
        <p:spPr/>
        <p:txBody>
          <a:bodyPr/>
          <a:lstStyle/>
          <a:p>
            <a:pPr lvl="0" indent="0" marL="0">
              <a:spcBef>
                <a:spcPts val="3000"/>
              </a:spcBef>
              <a:buNone/>
            </a:pPr>
            <a:r>
              <a:rPr b="1"/>
              <a:t>Artılar</a:t>
            </a:r>
          </a:p>
          <a:p>
            <a:pPr lvl="0"/>
            <a:r>
              <a:rPr b="1"/>
              <a:t>Adım adım oluşturma</a:t>
            </a:r>
            <a:r>
              <a:rPr/>
              <a:t>: Nesneleri adım adım oluşturabilir, oluşturma adımlarını erteleyebilir veya adımları özyinelemeli olarak çalıştırabilirsiniz.</a:t>
            </a:r>
          </a:p>
          <a:p>
            <a:pPr lvl="0"/>
            <a:r>
              <a:rPr b="1"/>
              <a:t>Yeniden kullanılabilir oluşturma kodu</a:t>
            </a:r>
            <a:r>
              <a:rPr/>
              <a:t>: Ürünlerin çeşitli temsillerini oluştururken aynı oluşturma kodunu yeniden kullanabilirsiniz.</a:t>
            </a:r>
          </a:p>
          <a:p>
            <a:pPr lvl="0"/>
            <a:r>
              <a:rPr b="1"/>
              <a:t>Tek Sorumluluk İlkesi (SRP)</a:t>
            </a:r>
            <a:r>
              <a:rPr/>
              <a:t>: Karmaşık oluşturma kodunu ürünün iş mantığından izole edebilirsiniz.</a:t>
            </a:r>
          </a:p>
          <a:p>
            <a:pPr lvl="0" indent="0" marL="0">
              <a:spcBef>
                <a:spcPts val="3000"/>
              </a:spcBef>
              <a:buNone/>
            </a:pPr>
            <a:r>
              <a:rPr b="1"/>
              <a:t>Eksiler</a:t>
            </a:r>
          </a:p>
          <a:p>
            <a:pPr lvl="0"/>
            <a:r>
              <a:rPr b="1"/>
              <a:t>Artan karmaşıklık</a:t>
            </a:r>
            <a:r>
              <a:rPr/>
              <a:t>: Desen birden fazla yeni sınıf oluşturmayı gerektirdiğinden kodun genel karmaşıklığı artar.</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Diğer Desenlerle İlişkiler</a:t>
            </a:r>
          </a:p>
        </p:txBody>
      </p:sp>
      <p:sp>
        <p:nvSpPr>
          <p:cNvPr id="3" name="Content Placeholder 2"/>
          <p:cNvSpPr>
            <a:spLocks noGrp="1"/>
          </p:cNvSpPr>
          <p:nvPr>
            <p:ph idx="1"/>
          </p:nvPr>
        </p:nvSpPr>
        <p:spPr/>
        <p:txBody>
          <a:bodyPr/>
          <a:lstStyle/>
          <a:p>
            <a:pPr lvl="0"/>
            <a:r>
              <a:rPr/>
              <a:t>Birçok tasarım </a:t>
            </a:r>
            <a:r>
              <a:rPr b="1"/>
              <a:t>Factory Method</a:t>
            </a:r>
            <a:r>
              <a:rPr/>
              <a:t> ile başlar (daha az karmaşık, alt sınıflar aracılığıyla daha fazla özelleştirilebilir) ve </a:t>
            </a:r>
            <a:r>
              <a:rPr b="1"/>
              <a:t>Abstract Factory</a:t>
            </a:r>
            <a:r>
              <a:rPr/>
              <a:t>, </a:t>
            </a:r>
            <a:r>
              <a:rPr b="1"/>
              <a:t>Prototype</a:t>
            </a:r>
            <a:r>
              <a:rPr/>
              <a:t> veya </a:t>
            </a:r>
            <a:r>
              <a:rPr b="1"/>
              <a:t>Builder</a:t>
            </a:r>
            <a:r>
              <a:rPr/>
              <a:t>’a doğru evrilir (daha esnek, ancak daha karmaşık).</a:t>
            </a:r>
          </a:p>
          <a:p>
            <a:pPr lvl="0"/>
            <a:r>
              <a:rPr b="1"/>
              <a:t>Builder</a:t>
            </a:r>
            <a:r>
              <a:rPr/>
              <a:t> karmaşık nesneleri adım adım oluşturmaya odaklanır. </a:t>
            </a:r>
            <a:r>
              <a:rPr b="1"/>
              <a:t>Abstract Factory</a:t>
            </a:r>
            <a:r>
              <a:rPr/>
              <a:t> ilişkili nesne aileleri oluşturmada uzmanlaşır. Abstract Factory ürünü hemen döndürürken, Builder ürünü almadan önce bazı ek inşa adımları çalıştırmanıza izin verir.</a:t>
            </a:r>
          </a:p>
          <a:p>
            <a:pPr lvl="0"/>
            <a:r>
              <a:rPr/>
              <a:t>Karmaşık </a:t>
            </a:r>
            <a:r>
              <a:rPr b="1"/>
              <a:t>Composite</a:t>
            </a:r>
            <a:r>
              <a:rPr/>
              <a:t> ağaçları oluştururken </a:t>
            </a:r>
            <a:r>
              <a:rPr b="1"/>
              <a:t>Builder</a:t>
            </a:r>
            <a:r>
              <a:rPr/>
              <a:t> kullanabilirsiniz çünkü oluşturma adımlarını özyinelemeli çalışacak şekilde programlayabilirsiniz.</a:t>
            </a:r>
          </a:p>
          <a:p>
            <a:pPr lvl="0"/>
            <a:r>
              <a:rPr b="1"/>
              <a:t>Builder</a:t>
            </a:r>
            <a:r>
              <a:rPr/>
              <a:t>’ı </a:t>
            </a:r>
            <a:r>
              <a:rPr b="1"/>
              <a:t>Bridge</a:t>
            </a:r>
            <a:r>
              <a:rPr/>
              <a:t> ile birleştirebilirsiniz: director sınıfı soyutlama rolünü oynarken, farklı builder’lar uygulama rolünü üstlenir.</a:t>
            </a:r>
          </a:p>
          <a:p>
            <a:pPr lvl="0"/>
            <a:r>
              <a:rPr b="1"/>
              <a:t>Abstract Factories</a:t>
            </a:r>
            <a:r>
              <a:rPr/>
              <a:t>, </a:t>
            </a:r>
            <a:r>
              <a:rPr b="1"/>
              <a:t>Builders</a:t>
            </a:r>
            <a:r>
              <a:rPr/>
              <a:t> ve </a:t>
            </a:r>
            <a:r>
              <a:rPr b="1"/>
              <a:t>Prototypes</a:t>
            </a:r>
            <a:r>
              <a:rPr/>
              <a:t>’ın tümü </a:t>
            </a:r>
            <a:r>
              <a:rPr b="1"/>
              <a:t>Singletons</a:t>
            </a:r>
            <a:r>
              <a:rPr/>
              <a:t> olarak uygulanabilir.</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Java Kod Örneği</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Product class</a:t>
            </a:r>
            <a:br/>
            <a:r>
              <a:rPr b="1">
                <a:solidFill>
                  <a:srgbClr val="007020"/>
                </a:solidFill>
                <a:latin typeface="Courier"/>
              </a:rPr>
              <a:t>class</a:t>
            </a:r>
            <a:r>
              <a:rPr>
                <a:latin typeface="Courier"/>
              </a:rPr>
              <a:t> Car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seats</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engineType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hasTripComputer</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hasGPS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setSeats</a:t>
            </a:r>
            <a:r>
              <a:rPr>
                <a:solidFill>
                  <a:srgbClr val="666666"/>
                </a:solidFill>
                <a:latin typeface="Courier"/>
              </a:rPr>
              <a:t>(</a:t>
            </a:r>
            <a:r>
              <a:rPr>
                <a:solidFill>
                  <a:srgbClr val="902000"/>
                </a:solidFill>
                <a:latin typeface="Courier"/>
              </a:rPr>
              <a:t>int</a:t>
            </a:r>
            <a:r>
              <a:rPr>
                <a:latin typeface="Courier"/>
              </a:rPr>
              <a:t> seats</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seats</a:t>
            </a:r>
            <a:r>
              <a:rPr>
                <a:latin typeface="Courier"/>
              </a:rPr>
              <a:t> </a:t>
            </a:r>
            <a:r>
              <a:rPr>
                <a:solidFill>
                  <a:srgbClr val="666666"/>
                </a:solidFill>
                <a:latin typeface="Courier"/>
              </a:rPr>
              <a:t>=</a:t>
            </a:r>
            <a:r>
              <a:rPr>
                <a:latin typeface="Courier"/>
              </a:rPr>
              <a:t> seats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setEngineType</a:t>
            </a:r>
            <a:r>
              <a:rPr>
                <a:solidFill>
                  <a:srgbClr val="666666"/>
                </a:solidFill>
                <a:latin typeface="Courier"/>
              </a:rPr>
              <a:t>(</a:t>
            </a:r>
            <a:r>
              <a:rPr>
                <a:solidFill>
                  <a:srgbClr val="008000"/>
                </a:solidFill>
                <a:latin typeface="Courier"/>
              </a:rPr>
              <a:t>String</a:t>
            </a:r>
            <a:r>
              <a:rPr>
                <a:latin typeface="Courier"/>
              </a:rPr>
              <a:t> type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engineType</a:t>
            </a:r>
            <a:r>
              <a:rPr>
                <a:latin typeface="Courier"/>
              </a:rPr>
              <a:t> </a:t>
            </a:r>
            <a:r>
              <a:rPr>
                <a:solidFill>
                  <a:srgbClr val="666666"/>
                </a:solidFill>
                <a:latin typeface="Courier"/>
              </a:rPr>
              <a:t>=</a:t>
            </a:r>
            <a:r>
              <a:rPr>
                <a:latin typeface="Courier"/>
              </a:rPr>
              <a:t> type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setTripComputer</a:t>
            </a:r>
            <a:r>
              <a:rPr>
                <a:solidFill>
                  <a:srgbClr val="666666"/>
                </a:solidFill>
                <a:latin typeface="Courier"/>
              </a:rPr>
              <a:t>(</a:t>
            </a:r>
            <a:r>
              <a:rPr>
                <a:solidFill>
                  <a:srgbClr val="902000"/>
                </a:solidFill>
                <a:latin typeface="Courier"/>
              </a:rPr>
              <a:t>boolean</a:t>
            </a:r>
            <a:r>
              <a:rPr>
                <a:latin typeface="Courier"/>
              </a:rPr>
              <a:t> has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hasTripComputer</a:t>
            </a:r>
            <a:r>
              <a:rPr>
                <a:latin typeface="Courier"/>
              </a:rPr>
              <a:t> </a:t>
            </a:r>
            <a:r>
              <a:rPr>
                <a:solidFill>
                  <a:srgbClr val="666666"/>
                </a:solidFill>
                <a:latin typeface="Courier"/>
              </a:rPr>
              <a:t>=</a:t>
            </a:r>
            <a:r>
              <a:rPr>
                <a:latin typeface="Courier"/>
              </a:rPr>
              <a:t> has</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setGPS</a:t>
            </a:r>
            <a:r>
              <a:rPr>
                <a:solidFill>
                  <a:srgbClr val="666666"/>
                </a:solidFill>
                <a:latin typeface="Courier"/>
              </a:rPr>
              <a:t>(</a:t>
            </a:r>
            <a:r>
              <a:rPr>
                <a:solidFill>
                  <a:srgbClr val="902000"/>
                </a:solidFill>
                <a:latin typeface="Courier"/>
              </a:rPr>
              <a:t>boolean</a:t>
            </a:r>
            <a:r>
              <a:rPr>
                <a:latin typeface="Courier"/>
              </a:rPr>
              <a:t> has</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hasGPS</a:t>
            </a:r>
            <a:r>
              <a:rPr>
                <a:latin typeface="Courier"/>
              </a:rPr>
              <a:t> </a:t>
            </a:r>
            <a:r>
              <a:rPr>
                <a:solidFill>
                  <a:srgbClr val="666666"/>
                </a:solidFill>
                <a:latin typeface="Courier"/>
              </a:rPr>
              <a:t>=</a:t>
            </a:r>
            <a:r>
              <a:rPr>
                <a:latin typeface="Courier"/>
              </a:rPr>
              <a:t> has</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"Car{seats="</a:t>
            </a:r>
            <a:r>
              <a:rPr>
                <a:latin typeface="Courier"/>
              </a:rPr>
              <a:t> </a:t>
            </a:r>
            <a:r>
              <a:rPr>
                <a:solidFill>
                  <a:srgbClr val="666666"/>
                </a:solidFill>
                <a:latin typeface="Courier"/>
              </a:rPr>
              <a:t>+</a:t>
            </a:r>
            <a:r>
              <a:rPr>
                <a:latin typeface="Courier"/>
              </a:rPr>
              <a:t> seats</a:t>
            </a:r>
            <a:br/>
            <a:r>
              <a:rPr>
                <a:latin typeface="Courier"/>
              </a:rPr>
              <a:t>            </a:t>
            </a:r>
            <a:r>
              <a:rPr>
                <a:solidFill>
                  <a:srgbClr val="666666"/>
                </a:solidFill>
                <a:latin typeface="Courier"/>
              </a:rPr>
              <a:t>+</a:t>
            </a:r>
            <a:r>
              <a:rPr>
                <a:latin typeface="Courier"/>
              </a:rPr>
              <a:t> </a:t>
            </a:r>
            <a:r>
              <a:rPr>
                <a:solidFill>
                  <a:srgbClr val="4070A0"/>
                </a:solidFill>
                <a:latin typeface="Courier"/>
              </a:rPr>
              <a:t>", engine='"</a:t>
            </a:r>
            <a:r>
              <a:rPr>
                <a:latin typeface="Courier"/>
              </a:rPr>
              <a:t> </a:t>
            </a:r>
            <a:r>
              <a:rPr>
                <a:solidFill>
                  <a:srgbClr val="666666"/>
                </a:solidFill>
                <a:latin typeface="Courier"/>
              </a:rPr>
              <a:t>+</a:t>
            </a:r>
            <a:r>
              <a:rPr>
                <a:latin typeface="Courier"/>
              </a:rPr>
              <a:t> engineType </a:t>
            </a:r>
            <a:r>
              <a:rPr>
                <a:solidFill>
                  <a:srgbClr val="666666"/>
                </a:solidFill>
                <a:latin typeface="Courier"/>
              </a:rPr>
              <a:t>+</a:t>
            </a:r>
            <a:r>
              <a:rPr>
                <a:latin typeface="Courier"/>
              </a:rPr>
              <a:t> </a:t>
            </a:r>
            <a:r>
              <a:rPr>
                <a:solidFill>
                  <a:srgbClr val="4070A0"/>
                </a:solidFill>
                <a:latin typeface="Courier"/>
              </a:rPr>
              <a:t>"'"</a:t>
            </a:r>
            <a:br/>
            <a:r>
              <a:rPr>
                <a:latin typeface="Courier"/>
              </a:rPr>
              <a:t>            </a:t>
            </a:r>
            <a:r>
              <a:rPr>
                <a:solidFill>
                  <a:srgbClr val="666666"/>
                </a:solidFill>
                <a:latin typeface="Courier"/>
              </a:rPr>
              <a:t>+</a:t>
            </a:r>
            <a:r>
              <a:rPr>
                <a:latin typeface="Courier"/>
              </a:rPr>
              <a:t> </a:t>
            </a:r>
            <a:r>
              <a:rPr>
                <a:solidFill>
                  <a:srgbClr val="4070A0"/>
                </a:solidFill>
                <a:latin typeface="Courier"/>
              </a:rPr>
              <a:t>", tripComputer="</a:t>
            </a:r>
            <a:r>
              <a:rPr>
                <a:latin typeface="Courier"/>
              </a:rPr>
              <a:t> </a:t>
            </a:r>
            <a:r>
              <a:rPr>
                <a:solidFill>
                  <a:srgbClr val="666666"/>
                </a:solidFill>
                <a:latin typeface="Courier"/>
              </a:rPr>
              <a:t>+</a:t>
            </a:r>
            <a:r>
              <a:rPr>
                <a:latin typeface="Courier"/>
              </a:rPr>
              <a:t> hasTripComputer</a:t>
            </a:r>
            <a:br/>
            <a:r>
              <a:rPr>
                <a:latin typeface="Courier"/>
              </a:rPr>
              <a:t>            </a:t>
            </a:r>
            <a:r>
              <a:rPr>
                <a:solidFill>
                  <a:srgbClr val="666666"/>
                </a:solidFill>
                <a:latin typeface="Courier"/>
              </a:rPr>
              <a:t>+</a:t>
            </a:r>
            <a:r>
              <a:rPr>
                <a:latin typeface="Courier"/>
              </a:rPr>
              <a:t> </a:t>
            </a:r>
            <a:r>
              <a:rPr>
                <a:solidFill>
                  <a:srgbClr val="4070A0"/>
                </a:solidFill>
                <a:latin typeface="Courier"/>
              </a:rPr>
              <a:t>", GPS="</a:t>
            </a:r>
            <a:r>
              <a:rPr>
                <a:latin typeface="Courier"/>
              </a:rPr>
              <a:t> </a:t>
            </a:r>
            <a:r>
              <a:rPr>
                <a:solidFill>
                  <a:srgbClr val="666666"/>
                </a:solidFill>
                <a:latin typeface="Courier"/>
              </a:rPr>
              <a:t>+</a:t>
            </a:r>
            <a:r>
              <a:rPr>
                <a:latin typeface="Courier"/>
              </a:rPr>
              <a:t> hasGPS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Builder interface</a:t>
            </a:r>
            <a:br/>
            <a:r>
              <a:rPr b="1">
                <a:solidFill>
                  <a:srgbClr val="007020"/>
                </a:solidFill>
                <a:latin typeface="Courier"/>
              </a:rPr>
              <a:t>interface</a:t>
            </a:r>
            <a:r>
              <a:rPr>
                <a:latin typeface="Courier"/>
              </a:rPr>
              <a:t> CarBuilder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reset</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setSeats</a:t>
            </a:r>
            <a:r>
              <a:rPr>
                <a:solidFill>
                  <a:srgbClr val="666666"/>
                </a:solidFill>
                <a:latin typeface="Courier"/>
              </a:rPr>
              <a:t>(</a:t>
            </a:r>
            <a:r>
              <a:rPr>
                <a:solidFill>
                  <a:srgbClr val="902000"/>
                </a:solidFill>
                <a:latin typeface="Courier"/>
              </a:rPr>
              <a:t>int</a:t>
            </a:r>
            <a:r>
              <a:rPr>
                <a:latin typeface="Courier"/>
              </a:rPr>
              <a:t> number</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setEngine</a:t>
            </a:r>
            <a:r>
              <a:rPr>
                <a:solidFill>
                  <a:srgbClr val="666666"/>
                </a:solidFill>
                <a:latin typeface="Courier"/>
              </a:rPr>
              <a:t>(</a:t>
            </a:r>
            <a:r>
              <a:rPr>
                <a:solidFill>
                  <a:srgbClr val="008000"/>
                </a:solidFill>
                <a:latin typeface="Courier"/>
              </a:rPr>
              <a:t>String</a:t>
            </a:r>
            <a:r>
              <a:rPr>
                <a:latin typeface="Courier"/>
              </a:rPr>
              <a:t> engineType</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setTripComputer</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setGPS</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Builder</a:t>
            </a:r>
            <a:br/>
            <a:r>
              <a:rPr b="1">
                <a:solidFill>
                  <a:srgbClr val="007020"/>
                </a:solidFill>
                <a:latin typeface="Courier"/>
              </a:rPr>
              <a:t>class</a:t>
            </a:r>
            <a:r>
              <a:rPr>
                <a:latin typeface="Courier"/>
              </a:rPr>
              <a:t> SportsCarBuilder </a:t>
            </a:r>
            <a:r>
              <a:rPr b="1">
                <a:solidFill>
                  <a:srgbClr val="007020"/>
                </a:solidFill>
                <a:latin typeface="Courier"/>
              </a:rPr>
              <a:t>implements</a:t>
            </a:r>
            <a:r>
              <a:rPr>
                <a:latin typeface="Courier"/>
              </a:rPr>
              <a:t> CarBuilder </a:t>
            </a:r>
            <a:r>
              <a:rPr>
                <a:solidFill>
                  <a:srgbClr val="666666"/>
                </a:solidFill>
                <a:latin typeface="Courier"/>
              </a:rPr>
              <a:t>{</a:t>
            </a:r>
            <a:br/>
            <a:r>
              <a:rPr>
                <a:latin typeface="Courier"/>
              </a:rPr>
              <a:t>    </a:t>
            </a:r>
            <a:r>
              <a:rPr b="1">
                <a:solidFill>
                  <a:srgbClr val="007020"/>
                </a:solidFill>
                <a:latin typeface="Courier"/>
              </a:rPr>
              <a:t>private</a:t>
            </a:r>
            <a:r>
              <a:rPr>
                <a:latin typeface="Courier"/>
              </a:rPr>
              <a:t> Car car</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SportsCarBuilder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reset</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reset</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car</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Car</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setSeats</a:t>
            </a:r>
            <a:r>
              <a:rPr>
                <a:solidFill>
                  <a:srgbClr val="666666"/>
                </a:solidFill>
                <a:latin typeface="Courier"/>
              </a:rPr>
              <a:t>(</a:t>
            </a:r>
            <a:r>
              <a:rPr>
                <a:solidFill>
                  <a:srgbClr val="902000"/>
                </a:solidFill>
                <a:latin typeface="Courier"/>
              </a:rPr>
              <a:t>int</a:t>
            </a:r>
            <a:r>
              <a:rPr>
                <a:latin typeface="Courier"/>
              </a:rPr>
              <a:t> number</a:t>
            </a:r>
            <a:r>
              <a:rPr>
                <a:solidFill>
                  <a:srgbClr val="666666"/>
                </a:solidFill>
                <a:latin typeface="Courier"/>
              </a:rPr>
              <a:t>)</a:t>
            </a:r>
            <a:r>
              <a:rPr>
                <a:latin typeface="Courier"/>
              </a:rPr>
              <a:t> </a:t>
            </a:r>
            <a:r>
              <a:rPr>
                <a:solidFill>
                  <a:srgbClr val="666666"/>
                </a:solidFill>
                <a:latin typeface="Courier"/>
              </a:rPr>
              <a:t>{</a:t>
            </a:r>
            <a:br/>
            <a:r>
              <a:rPr>
                <a:latin typeface="Courier"/>
              </a:rPr>
              <a:t>        car</a:t>
            </a:r>
            <a:r>
              <a:rPr>
                <a:solidFill>
                  <a:srgbClr val="666666"/>
                </a:solidFill>
                <a:latin typeface="Courier"/>
              </a:rPr>
              <a:t>.</a:t>
            </a:r>
            <a:r>
              <a:rPr>
                <a:solidFill>
                  <a:srgbClr val="06287E"/>
                </a:solidFill>
                <a:latin typeface="Courier"/>
              </a:rPr>
              <a:t>setSeats</a:t>
            </a:r>
            <a:r>
              <a:rPr>
                <a:solidFill>
                  <a:srgbClr val="666666"/>
                </a:solidFill>
                <a:latin typeface="Courier"/>
              </a:rPr>
              <a:t>(</a:t>
            </a:r>
            <a:r>
              <a:rPr>
                <a:latin typeface="Courier"/>
              </a:rPr>
              <a:t>number</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setEngine</a:t>
            </a:r>
            <a:r>
              <a:rPr>
                <a:solidFill>
                  <a:srgbClr val="666666"/>
                </a:solidFill>
                <a:latin typeface="Courier"/>
              </a:rPr>
              <a:t>(</a:t>
            </a:r>
            <a:r>
              <a:rPr>
                <a:solidFill>
                  <a:srgbClr val="008000"/>
                </a:solidFill>
                <a:latin typeface="Courier"/>
              </a:rPr>
              <a:t>String</a:t>
            </a:r>
            <a:r>
              <a:rPr>
                <a:latin typeface="Courier"/>
              </a:rPr>
              <a:t> engineType</a:t>
            </a:r>
            <a:r>
              <a:rPr>
                <a:solidFill>
                  <a:srgbClr val="666666"/>
                </a:solidFill>
                <a:latin typeface="Courier"/>
              </a:rPr>
              <a:t>)</a:t>
            </a:r>
            <a:r>
              <a:rPr>
                <a:latin typeface="Courier"/>
              </a:rPr>
              <a:t> </a:t>
            </a:r>
            <a:r>
              <a:rPr>
                <a:solidFill>
                  <a:srgbClr val="666666"/>
                </a:solidFill>
                <a:latin typeface="Courier"/>
              </a:rPr>
              <a:t>{</a:t>
            </a:r>
            <a:br/>
            <a:r>
              <a:rPr>
                <a:latin typeface="Courier"/>
              </a:rPr>
              <a:t>        car</a:t>
            </a:r>
            <a:r>
              <a:rPr>
                <a:solidFill>
                  <a:srgbClr val="666666"/>
                </a:solidFill>
                <a:latin typeface="Courier"/>
              </a:rPr>
              <a:t>.</a:t>
            </a:r>
            <a:r>
              <a:rPr>
                <a:solidFill>
                  <a:srgbClr val="06287E"/>
                </a:solidFill>
                <a:latin typeface="Courier"/>
              </a:rPr>
              <a:t>setEngineType</a:t>
            </a:r>
            <a:r>
              <a:rPr>
                <a:solidFill>
                  <a:srgbClr val="666666"/>
                </a:solidFill>
                <a:latin typeface="Courier"/>
              </a:rPr>
              <a:t>(</a:t>
            </a:r>
            <a:r>
              <a:rPr>
                <a:latin typeface="Courier"/>
              </a:rPr>
              <a:t>engineType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setTripComputer</a:t>
            </a:r>
            <a:r>
              <a:rPr>
                <a:solidFill>
                  <a:srgbClr val="666666"/>
                </a:solidFill>
                <a:latin typeface="Courier"/>
              </a:rPr>
              <a:t>()</a:t>
            </a:r>
            <a:r>
              <a:rPr>
                <a:latin typeface="Courier"/>
              </a:rPr>
              <a:t> </a:t>
            </a:r>
            <a:r>
              <a:rPr>
                <a:solidFill>
                  <a:srgbClr val="666666"/>
                </a:solidFill>
                <a:latin typeface="Courier"/>
              </a:rPr>
              <a:t>{</a:t>
            </a:r>
            <a:br/>
            <a:r>
              <a:rPr>
                <a:latin typeface="Courier"/>
              </a:rPr>
              <a:t>        car</a:t>
            </a:r>
            <a:r>
              <a:rPr>
                <a:solidFill>
                  <a:srgbClr val="666666"/>
                </a:solidFill>
                <a:latin typeface="Courier"/>
              </a:rPr>
              <a:t>.</a:t>
            </a:r>
            <a:r>
              <a:rPr>
                <a:solidFill>
                  <a:srgbClr val="06287E"/>
                </a:solidFill>
                <a:latin typeface="Courier"/>
              </a:rPr>
              <a:t>setTripComputer</a:t>
            </a:r>
            <a:r>
              <a:rPr>
                <a:solidFill>
                  <a:srgbClr val="666666"/>
                </a:solidFill>
                <a:latin typeface="Courier"/>
              </a:rPr>
              <a:t>(</a:t>
            </a:r>
            <a:r>
              <a:rPr b="1">
                <a:solidFill>
                  <a:srgbClr val="007020"/>
                </a:solidFill>
                <a:latin typeface="Courier"/>
              </a:rPr>
              <a:t>true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setGPS</a:t>
            </a:r>
            <a:r>
              <a:rPr>
                <a:solidFill>
                  <a:srgbClr val="666666"/>
                </a:solidFill>
                <a:latin typeface="Courier"/>
              </a:rPr>
              <a:t>()</a:t>
            </a:r>
            <a:r>
              <a:rPr>
                <a:latin typeface="Courier"/>
              </a:rPr>
              <a:t> </a:t>
            </a:r>
            <a:r>
              <a:rPr>
                <a:solidFill>
                  <a:srgbClr val="666666"/>
                </a:solidFill>
                <a:latin typeface="Courier"/>
              </a:rPr>
              <a:t>{</a:t>
            </a:r>
            <a:r>
              <a:rPr>
                <a:latin typeface="Courier"/>
              </a:rPr>
              <a:t> car</a:t>
            </a:r>
            <a:r>
              <a:rPr>
                <a:solidFill>
                  <a:srgbClr val="666666"/>
                </a:solidFill>
                <a:latin typeface="Courier"/>
              </a:rPr>
              <a:t>.</a:t>
            </a:r>
            <a:r>
              <a:rPr>
                <a:solidFill>
                  <a:srgbClr val="06287E"/>
                </a:solidFill>
                <a:latin typeface="Courier"/>
              </a:rPr>
              <a:t>setGPS</a:t>
            </a:r>
            <a:r>
              <a:rPr>
                <a:solidFill>
                  <a:srgbClr val="666666"/>
                </a:solidFill>
                <a:latin typeface="Courier"/>
              </a:rPr>
              <a:t>(</a:t>
            </a:r>
            <a:r>
              <a:rPr b="1">
                <a:solidFill>
                  <a:srgbClr val="007020"/>
                </a:solidFill>
                <a:latin typeface="Courier"/>
              </a:rPr>
              <a:t>true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Car </a:t>
            </a:r>
            <a:r>
              <a:rPr>
                <a:solidFill>
                  <a:srgbClr val="06287E"/>
                </a:solidFill>
                <a:latin typeface="Courier"/>
              </a:rPr>
              <a:t>getProduct</a:t>
            </a:r>
            <a:r>
              <a:rPr>
                <a:solidFill>
                  <a:srgbClr val="666666"/>
                </a:solidFill>
                <a:latin typeface="Courier"/>
              </a:rPr>
              <a:t>()</a:t>
            </a:r>
            <a:r>
              <a:rPr>
                <a:latin typeface="Courier"/>
              </a:rPr>
              <a:t> </a:t>
            </a:r>
            <a:r>
              <a:rPr>
                <a:solidFill>
                  <a:srgbClr val="666666"/>
                </a:solidFill>
                <a:latin typeface="Courier"/>
              </a:rPr>
              <a:t>{</a:t>
            </a:r>
            <a:br/>
            <a:r>
              <a:rPr>
                <a:latin typeface="Courier"/>
              </a:rPr>
              <a:t>        Car product </a:t>
            </a:r>
            <a:r>
              <a:rPr>
                <a:solidFill>
                  <a:srgbClr val="666666"/>
                </a:solidFill>
                <a:latin typeface="Courier"/>
              </a:rPr>
              <a:t>=</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car</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reset</a:t>
            </a:r>
            <a:r>
              <a:rPr>
                <a:solidFill>
                  <a:srgbClr val="666666"/>
                </a:solidFill>
                <a:latin typeface="Courier"/>
              </a:rPr>
              <a:t>();</a:t>
            </a:r>
            <a:br/>
            <a:r>
              <a:rPr>
                <a:latin typeface="Courier"/>
              </a:rPr>
              <a:t>        </a:t>
            </a:r>
            <a:r>
              <a:rPr b="1">
                <a:solidFill>
                  <a:srgbClr val="007020"/>
                </a:solidFill>
                <a:latin typeface="Courier"/>
              </a:rPr>
              <a:t>return</a:t>
            </a:r>
            <a:r>
              <a:rPr>
                <a:latin typeface="Courier"/>
              </a:rPr>
              <a:t> product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Builder (İnşaatçı)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Director</a:t>
            </a:r>
            <a:br/>
            <a:r>
              <a:rPr b="1">
                <a:solidFill>
                  <a:srgbClr val="007020"/>
                </a:solidFill>
                <a:latin typeface="Courier"/>
              </a:rPr>
              <a:t>class</a:t>
            </a:r>
            <a:r>
              <a:rPr>
                <a:latin typeface="Courier"/>
              </a:rPr>
              <a:t> Director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constructSportsCar</a:t>
            </a:r>
            <a:r>
              <a:rPr>
                <a:solidFill>
                  <a:srgbClr val="666666"/>
                </a:solidFill>
                <a:latin typeface="Courier"/>
              </a:rPr>
              <a:t>(</a:t>
            </a:r>
            <a:r>
              <a:rPr>
                <a:latin typeface="Courier"/>
              </a:rPr>
              <a:t>CarBuilder builder</a:t>
            </a:r>
            <a:r>
              <a:rPr>
                <a:solidFill>
                  <a:srgbClr val="666666"/>
                </a:solidFill>
                <a:latin typeface="Courier"/>
              </a:rPr>
              <a:t>)</a:t>
            </a:r>
            <a:r>
              <a:rPr>
                <a:latin typeface="Courier"/>
              </a:rPr>
              <a:t> </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reset</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setSeats</a:t>
            </a:r>
            <a:r>
              <a:rPr>
                <a:solidFill>
                  <a:srgbClr val="666666"/>
                </a:solidFill>
                <a:latin typeface="Courier"/>
              </a:rPr>
              <a:t>(</a:t>
            </a:r>
            <a:r>
              <a:rPr>
                <a:solidFill>
                  <a:srgbClr val="40A070"/>
                </a:solidFill>
                <a:latin typeface="Courier"/>
              </a:rPr>
              <a:t>2</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setEngine</a:t>
            </a:r>
            <a:r>
              <a:rPr>
                <a:solidFill>
                  <a:srgbClr val="666666"/>
                </a:solidFill>
                <a:latin typeface="Courier"/>
              </a:rPr>
              <a:t>(</a:t>
            </a:r>
            <a:r>
              <a:rPr>
                <a:solidFill>
                  <a:srgbClr val="4070A0"/>
                </a:solidFill>
                <a:latin typeface="Courier"/>
              </a:rPr>
              <a:t>"V8 Sport Engine"</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setTripComputer</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setGPS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constructSUV</a:t>
            </a:r>
            <a:r>
              <a:rPr>
                <a:solidFill>
                  <a:srgbClr val="666666"/>
                </a:solidFill>
                <a:latin typeface="Courier"/>
              </a:rPr>
              <a:t>(</a:t>
            </a:r>
            <a:r>
              <a:rPr>
                <a:latin typeface="Courier"/>
              </a:rPr>
              <a:t>CarBuilder builder</a:t>
            </a:r>
            <a:r>
              <a:rPr>
                <a:solidFill>
                  <a:srgbClr val="666666"/>
                </a:solidFill>
                <a:latin typeface="Courier"/>
              </a:rPr>
              <a:t>)</a:t>
            </a:r>
            <a:r>
              <a:rPr>
                <a:latin typeface="Courier"/>
              </a:rPr>
              <a:t> </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reset</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setSeats</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setEngine</a:t>
            </a:r>
            <a:r>
              <a:rPr>
                <a:solidFill>
                  <a:srgbClr val="666666"/>
                </a:solidFill>
                <a:latin typeface="Courier"/>
              </a:rPr>
              <a:t>(</a:t>
            </a:r>
            <a:r>
              <a:rPr>
                <a:solidFill>
                  <a:srgbClr val="4070A0"/>
                </a:solidFill>
                <a:latin typeface="Courier"/>
              </a:rPr>
              <a:t>"V6 SUV Engine"</a:t>
            </a:r>
            <a:r>
              <a:rPr>
                <a:solidFill>
                  <a:srgbClr val="666666"/>
                </a:solidFill>
                <a:latin typeface="Courier"/>
              </a:rPr>
              <a:t>);</a:t>
            </a:r>
            <a:br/>
            <a:r>
              <a:rPr>
                <a:latin typeface="Courier"/>
              </a:rPr>
              <a:t>        builder</a:t>
            </a:r>
            <a:r>
              <a:rPr>
                <a:solidFill>
                  <a:srgbClr val="666666"/>
                </a:solidFill>
                <a:latin typeface="Courier"/>
              </a:rPr>
              <a:t>.</a:t>
            </a:r>
            <a:r>
              <a:rPr>
                <a:solidFill>
                  <a:srgbClr val="06287E"/>
                </a:solidFill>
                <a:latin typeface="Courier"/>
              </a:rPr>
              <a:t>setGPS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BuilderDemo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Director director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Director</a:t>
            </a:r>
            <a:r>
              <a:rPr>
                <a:solidFill>
                  <a:srgbClr val="666666"/>
                </a:solidFill>
                <a:latin typeface="Courier"/>
              </a:rPr>
              <a:t>();</a:t>
            </a:r>
            <a:br/>
            <a:r>
              <a:rPr>
                <a:latin typeface="Courier"/>
              </a:rPr>
              <a:t>        SportsCarBuilder builder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SportsCarBuilder</a:t>
            </a:r>
            <a:r>
              <a:rPr>
                <a:solidFill>
                  <a:srgbClr val="666666"/>
                </a:solidFill>
                <a:latin typeface="Courier"/>
              </a:rPr>
              <a:t>();</a:t>
            </a:r>
            <a:br/>
            <a:br/>
            <a:r>
              <a:rPr>
                <a:latin typeface="Courier"/>
              </a:rPr>
              <a:t>        director</a:t>
            </a:r>
            <a:r>
              <a:rPr>
                <a:solidFill>
                  <a:srgbClr val="666666"/>
                </a:solidFill>
                <a:latin typeface="Courier"/>
              </a:rPr>
              <a:t>.</a:t>
            </a:r>
            <a:r>
              <a:rPr>
                <a:solidFill>
                  <a:srgbClr val="06287E"/>
                </a:solidFill>
                <a:latin typeface="Courier"/>
              </a:rPr>
              <a:t>constructSportsCar</a:t>
            </a:r>
            <a:r>
              <a:rPr>
                <a:solidFill>
                  <a:srgbClr val="666666"/>
                </a:solidFill>
                <a:latin typeface="Courier"/>
              </a:rPr>
              <a:t>(</a:t>
            </a:r>
            <a:r>
              <a:rPr>
                <a:latin typeface="Courier"/>
              </a:rPr>
              <a:t>builder</a:t>
            </a:r>
            <a:r>
              <a:rPr>
                <a:solidFill>
                  <a:srgbClr val="666666"/>
                </a:solidFill>
                <a:latin typeface="Courier"/>
              </a:rPr>
              <a:t>);</a:t>
            </a:r>
            <a:br/>
            <a:r>
              <a:rPr>
                <a:latin typeface="Courier"/>
              </a:rPr>
              <a:t>        Car sportsCar </a:t>
            </a:r>
            <a:r>
              <a:rPr>
                <a:solidFill>
                  <a:srgbClr val="666666"/>
                </a:solidFill>
                <a:latin typeface="Courier"/>
              </a:rPr>
              <a:t>=</a:t>
            </a:r>
            <a:r>
              <a:rPr>
                <a:latin typeface="Courier"/>
              </a:rPr>
              <a:t> builder</a:t>
            </a:r>
            <a:r>
              <a:rPr>
                <a:solidFill>
                  <a:srgbClr val="666666"/>
                </a:solidFill>
                <a:latin typeface="Courier"/>
              </a:rPr>
              <a:t>.</a:t>
            </a:r>
            <a:r>
              <a:rPr>
                <a:solidFill>
                  <a:srgbClr val="06287E"/>
                </a:solidFill>
                <a:latin typeface="Courier"/>
              </a:rPr>
              <a:t>getProduct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"Sports Car: "</a:t>
            </a:r>
            <a:r>
              <a:rPr>
                <a:latin typeface="Courier"/>
              </a:rPr>
              <a:t> </a:t>
            </a:r>
            <a:r>
              <a:rPr>
                <a:solidFill>
                  <a:srgbClr val="666666"/>
                </a:solidFill>
                <a:latin typeface="Courier"/>
              </a:rPr>
              <a:t>+</a:t>
            </a:r>
            <a:r>
              <a:rPr>
                <a:latin typeface="Courier"/>
              </a:rPr>
              <a:t> sportsCar</a:t>
            </a:r>
            <a:r>
              <a:rPr>
                <a:solidFill>
                  <a:srgbClr val="666666"/>
                </a:solidFill>
                <a:latin typeface="Courier"/>
              </a:rPr>
              <a:t>);</a:t>
            </a:r>
            <a:br/>
            <a:br/>
            <a:r>
              <a:rPr>
                <a:latin typeface="Courier"/>
              </a:rPr>
              <a:t>        director</a:t>
            </a:r>
            <a:r>
              <a:rPr>
                <a:solidFill>
                  <a:srgbClr val="666666"/>
                </a:solidFill>
                <a:latin typeface="Courier"/>
              </a:rPr>
              <a:t>.</a:t>
            </a:r>
            <a:r>
              <a:rPr>
                <a:solidFill>
                  <a:srgbClr val="06287E"/>
                </a:solidFill>
                <a:latin typeface="Courier"/>
              </a:rPr>
              <a:t>constructSUV</a:t>
            </a:r>
            <a:r>
              <a:rPr>
                <a:solidFill>
                  <a:srgbClr val="666666"/>
                </a:solidFill>
                <a:latin typeface="Courier"/>
              </a:rPr>
              <a:t>(</a:t>
            </a:r>
            <a:r>
              <a:rPr>
                <a:latin typeface="Courier"/>
              </a:rPr>
              <a:t>builder</a:t>
            </a:r>
            <a:r>
              <a:rPr>
                <a:solidFill>
                  <a:srgbClr val="666666"/>
                </a:solidFill>
                <a:latin typeface="Courier"/>
              </a:rPr>
              <a:t>);</a:t>
            </a:r>
            <a:br/>
            <a:r>
              <a:rPr>
                <a:latin typeface="Courier"/>
              </a:rPr>
              <a:t>        Car suv </a:t>
            </a:r>
            <a:r>
              <a:rPr>
                <a:solidFill>
                  <a:srgbClr val="666666"/>
                </a:solidFill>
                <a:latin typeface="Courier"/>
              </a:rPr>
              <a:t>=</a:t>
            </a:r>
            <a:r>
              <a:rPr>
                <a:latin typeface="Courier"/>
              </a:rPr>
              <a:t> builder</a:t>
            </a:r>
            <a:r>
              <a:rPr>
                <a:solidFill>
                  <a:srgbClr val="666666"/>
                </a:solidFill>
                <a:latin typeface="Courier"/>
              </a:rPr>
              <a:t>.</a:t>
            </a:r>
            <a:r>
              <a:rPr>
                <a:solidFill>
                  <a:srgbClr val="06287E"/>
                </a:solidFill>
                <a:latin typeface="Courier"/>
              </a:rPr>
              <a:t>getProduct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"SUV: "</a:t>
            </a:r>
            <a:r>
              <a:rPr>
                <a:latin typeface="Courier"/>
              </a:rPr>
              <a:t> </a:t>
            </a:r>
            <a:r>
              <a:rPr>
                <a:solidFill>
                  <a:srgbClr val="666666"/>
                </a:solidFill>
                <a:latin typeface="Courier"/>
              </a:rPr>
              <a:t>+</a:t>
            </a:r>
            <a:r>
              <a:rPr>
                <a:latin typeface="Courier"/>
              </a:rPr>
              <a:t> suv</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D: Özet</a:t>
            </a:r>
          </a:p>
        </p:txBody>
      </p:sp>
      <p:sp>
        <p:nvSpPr>
          <p:cNvPr id="3" name="Content Placeholder 2"/>
          <p:cNvSpPr>
            <a:spLocks noGrp="1"/>
          </p:cNvSpPr>
          <p:nvPr>
            <p:ph idx="1"/>
          </p:nvPr>
        </p:nvSpPr>
        <p:spPr/>
        <p:txBody>
          <a:bodyPr/>
          <a:lstStyle/>
          <a:p>
            <a:pPr lvl="0"/>
            <a:r>
              <a:rPr b="1"/>
              <a:t>Builder (İnşaatçı)</a:t>
            </a:r>
            <a:r>
              <a:rPr/>
              <a:t>, karmaşık nesneleri adım adım, yalnızca ihtiyaç duyduğunuz adımları kullanarak oluşturmanıza olanak tanır.</a:t>
            </a:r>
          </a:p>
          <a:p>
            <a:pPr lvl="0"/>
            <a:r>
              <a:rPr b="1"/>
              <a:t>Teleskopik yapıcı</a:t>
            </a:r>
            <a:r>
              <a:rPr/>
              <a:t> sorununu ve </a:t>
            </a:r>
            <a:r>
              <a:rPr b="1"/>
              <a:t>alt sınıf patlaması</a:t>
            </a:r>
            <a:r>
              <a:rPr/>
              <a:t> sorununu çözer.</a:t>
            </a:r>
          </a:p>
          <a:p>
            <a:pPr lvl="0"/>
            <a:r>
              <a:rPr/>
              <a:t>Desen </a:t>
            </a:r>
            <a:r>
              <a:rPr b="1"/>
              <a:t>beş katılımcı</a:t>
            </a:r>
            <a:r>
              <a:rPr/>
              <a:t> kullanır: Builder Interface (İnşaatçı Arayüzü), Concrete Builders (Somut İnşaatçılar), Products (Ürünler), Director (Yönetici) ve Client (İstemci).</a:t>
            </a:r>
          </a:p>
          <a:p>
            <a:pPr lvl="0"/>
            <a:r>
              <a:rPr b="1"/>
              <a:t>Director</a:t>
            </a:r>
            <a:r>
              <a:rPr/>
              <a:t> isteğe bağlıdır ancak yaygın oluşturma rutinlerini kapsüllemek için faydalıdır.</a:t>
            </a:r>
          </a:p>
          <a:p>
            <a:pPr lvl="0"/>
            <a:r>
              <a:rPr/>
              <a:t>Builder, oluşturma mantığını iş mantığından izole ederek </a:t>
            </a:r>
            <a:r>
              <a:rPr b="1"/>
              <a:t>Tek Sorumluluk İlkesini</a:t>
            </a:r>
            <a:r>
              <a:rPr/>
              <a:t> destekler.</a:t>
            </a:r>
          </a:p>
          <a:p>
            <a:pPr lvl="0"/>
            <a:r>
              <a:rPr/>
              <a:t>Ana ödünleşim, birden fazla yeni sınıf nedeniyle </a:t>
            </a:r>
            <a:r>
              <a:rPr b="1"/>
              <a:t>artan kod karmaşıklığıdır</a:t>
            </a:r>
            <a:r>
              <a:rPr/>
              <a:t>.</a:t>
            </a:r>
          </a:p>
          <a:p>
            <a:pPr lvl="0"/>
            <a:r>
              <a:rPr/>
              <a:t>Builder, </a:t>
            </a:r>
            <a:r>
              <a:rPr b="1"/>
              <a:t>Composite</a:t>
            </a:r>
            <a:r>
              <a:rPr/>
              <a:t> (ağaç yapıları oluşturma için), </a:t>
            </a:r>
            <a:r>
              <a:rPr b="1"/>
              <a:t>Bridge</a:t>
            </a:r>
            <a:r>
              <a:rPr/>
              <a:t> ile birleştirilebilir ve </a:t>
            </a:r>
            <a:r>
              <a:rPr b="1"/>
              <a:t>Singleton</a:t>
            </a:r>
            <a:r>
              <a:rPr/>
              <a:t> olarak uygulanabilir.</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E: Prototype (Prototip) Deseni</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Deseni - Genel Bakış</a:t>
            </a:r>
          </a:p>
        </p:txBody>
      </p:sp>
      <p:sp>
        <p:nvSpPr>
          <p:cNvPr id="3" name="Content Placeholder 2"/>
          <p:cNvSpPr>
            <a:spLocks noGrp="1"/>
          </p:cNvSpPr>
          <p:nvPr>
            <p:ph idx="1"/>
          </p:nvPr>
        </p:nvSpPr>
        <p:spPr/>
        <p:txBody>
          <a:bodyPr/>
          <a:lstStyle/>
          <a:p>
            <a:pPr lvl="0"/>
            <a:r>
              <a:rPr b="1"/>
              <a:t>Diğer Adı</a:t>
            </a:r>
            <a:r>
              <a:rPr/>
              <a:t>: Clone (Klon)</a:t>
            </a:r>
          </a:p>
          <a:p>
            <a:pPr lvl="0"/>
            <a:r>
              <a:rPr b="1"/>
              <a:t>Kategori</a:t>
            </a:r>
            <a:r>
              <a:rPr/>
              <a:t>: Yaratımsal Desen (Creational Pattern)</a:t>
            </a:r>
          </a:p>
          <a:p>
            <a:pPr lvl="0"/>
            <a:r>
              <a:rPr b="1"/>
              <a:t>Karmaşıklık</a:t>
            </a:r>
            <a:r>
              <a:rPr/>
              <a:t>: Düşük</a:t>
            </a:r>
          </a:p>
          <a:p>
            <a:pPr lvl="0"/>
            <a:r>
              <a:rPr b="1"/>
              <a:t>Popülerlik</a:t>
            </a:r>
            <a:r>
              <a:rPr/>
              <a:t>: Orta</a:t>
            </a:r>
          </a:p>
          <a:p>
            <a:pPr lvl="0" indent="0" marL="0">
              <a:buNone/>
            </a:pPr>
            <a:r>
              <a:rPr b="1"/>
              <a:t>Amaç</a:t>
            </a:r>
            <a:r>
              <a:rPr/>
              <a:t>: Prototype (Prototip), kodunuzu sınıflarına bağımlı kılmadan mevcut nesneleri kopyalamanıza olanak tanıyan bir yaratımsal tasarım desenidir.</a:t>
            </a:r>
          </a:p>
          <a:p>
            <a:pPr lvl="0" indent="0" marL="0">
              <a:buNone/>
            </a:pPr>
            <a:r>
              <a:rPr/>
              <a:t>Referans: </a:t>
            </a:r>
            <a:r>
              <a:rPr>
                <a:hlinkClick r:id="rId2"/>
              </a:rPr>
              <a:t>RefactoringGuru - Prototype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Problem</a:t>
            </a:r>
          </a:p>
        </p:txBody>
      </p:sp>
      <p:sp>
        <p:nvSpPr>
          <p:cNvPr id="3" name="Content Placeholder 2"/>
          <p:cNvSpPr>
            <a:spLocks noGrp="1"/>
          </p:cNvSpPr>
          <p:nvPr>
            <p:ph idx="1"/>
          </p:nvPr>
        </p:nvSpPr>
        <p:spPr/>
        <p:txBody>
          <a:bodyPr/>
          <a:lstStyle/>
          <a:p>
            <a:pPr lvl="0" indent="0" marL="0">
              <a:buNone/>
            </a:pPr>
            <a:r>
              <a:rPr/>
              <a:t>Diyelim ki bir nesneniz var ve onun tam bir kopyasını oluşturmak istiyorsunuz. Bunu nasıl yapardınız?</a:t>
            </a:r>
          </a:p>
          <a:p>
            <a:pPr lvl="0" indent="-342900" marL="342900">
              <a:buAutoNum type="arabicPeriod"/>
            </a:pPr>
            <a:r>
              <a:rPr b="1"/>
              <a:t>İlk olarak</a:t>
            </a:r>
            <a:r>
              <a:rPr/>
              <a:t>, aynı sınıftan yeni bir nesne oluşturmanız gerekir.</a:t>
            </a:r>
          </a:p>
          <a:p>
            <a:pPr lvl="0" indent="-342900" marL="342900">
              <a:buAutoNum type="arabicPeriod"/>
            </a:pPr>
            <a:r>
              <a:rPr b="1"/>
              <a:t>Ardından</a:t>
            </a:r>
            <a:r>
              <a:rPr/>
              <a:t>, orijinal nesnenin tüm alanlarına gidip değerlerini yeni nesneye kopyalamanız gerekir.</a:t>
            </a:r>
          </a:p>
          <a:p>
            <a:pPr lvl="0" indent="0" marL="0">
              <a:buNone/>
            </a:pPr>
            <a:r>
              <a:rPr b="1"/>
              <a:t>Ancak sorunlar var:</a:t>
            </a:r>
          </a:p>
          <a:p>
            <a:pPr lvl="0"/>
            <a:r>
              <a:rPr b="1"/>
              <a:t>Tüm nesneler bu şekilde kopyalanamaz</a:t>
            </a:r>
            <a:r>
              <a:rPr/>
              <a:t> çünkü nesnenin bazı alanları özel (private) olabilir ve nesnenin dışından görünmez.</a:t>
            </a:r>
          </a:p>
          <a:p>
            <a:pPr lvl="0"/>
            <a:r>
              <a:rPr b="1"/>
              <a:t>Kodunuz kopyalanan nesnenin sınıfına bağımlı hale gelir.</a:t>
            </a:r>
            <a:r>
              <a:rPr/>
              <a:t> Bir kopya oluşturmak için nesnenin sınıfını bilmeniz gerekir, bu da kodunuzu o sınıfa bağımlı kılar.</a:t>
            </a:r>
          </a:p>
          <a:p>
            <a:pPr lvl="0"/>
            <a:r>
              <a:rPr b="1"/>
              <a:t>Bazen yalnızca nesnenin takip ettiği arayüzü bilirsiniz</a:t>
            </a:r>
            <a:r>
              <a:rPr/>
              <a:t>, somut sınıfını değil. Örneğin, bir yöntem bazı arayüzü takip eden herhangi bir nesneyi kabul ettiğinde, bu nesnelerin somut sınıflarını bilemezsiniz.</a:t>
            </a:r>
          </a:p>
          <a:p>
            <a:pPr lvl="0"/>
            <a:r>
              <a:rPr b="1"/>
              <a:t>Karmaşık yapılandırmalar</a:t>
            </a:r>
            <a:r>
              <a:rPr/>
              <a:t>: Bir nesne karmaşık iç duruma (bağlantılar, referanslar, önbellekler) sahip olduğunda, yalnızca sınıfını bilmek onu düzgün bir şekilde kopyalamak için yeterli değildir.</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Çözüm</a:t>
            </a:r>
          </a:p>
        </p:txBody>
      </p:sp>
      <p:sp>
        <p:nvSpPr>
          <p:cNvPr id="3" name="Content Placeholder 2"/>
          <p:cNvSpPr>
            <a:spLocks noGrp="1"/>
          </p:cNvSpPr>
          <p:nvPr>
            <p:ph idx="1"/>
          </p:nvPr>
        </p:nvSpPr>
        <p:spPr/>
        <p:txBody>
          <a:bodyPr/>
          <a:lstStyle/>
          <a:p>
            <a:pPr lvl="0" indent="0" marL="0">
              <a:buNone/>
            </a:pPr>
            <a:r>
              <a:rPr/>
              <a:t>Prototype deseni, klonlama sürecini klonlanan gerçek nesnelere devreder. Desen, klonlamayı destekleyen tüm nesneler için ortak bir arayüz bildirir. Bu arayüz, kodunuzu o nesnenin sınıfına bağlamadan bir nesneyi klonlamanıza olanak tanır. Genellikle bu tür bir arayüz yalnızca tek bir </a:t>
            </a:r>
            <a:r>
              <a:rPr>
                <a:latin typeface="Courier"/>
              </a:rPr>
              <a:t>clone</a:t>
            </a:r>
            <a:r>
              <a:rPr/>
              <a:t> yöntemi içerir.</a:t>
            </a:r>
          </a:p>
          <a:p>
            <a:pPr lvl="0" indent="0" marL="0">
              <a:buNone/>
            </a:pPr>
            <a:r>
              <a:rPr b="1"/>
              <a:t>Nasıl çalışır:</a:t>
            </a:r>
          </a:p>
          <a:p>
            <a:pPr lvl="0"/>
            <a:r>
              <a:rPr/>
              <a:t>Klonlamayı destekleyen bir nesneye </a:t>
            </a:r>
            <a:r>
              <a:rPr b="1"/>
              <a:t>prototip</a:t>
            </a:r>
            <a:r>
              <a:rPr/>
              <a:t> denir.</a:t>
            </a:r>
          </a:p>
          <a:p>
            <a:pPr lvl="0"/>
            <a:r>
              <a:rPr/>
              <a:t>Nesnelerinizin düzinelerce alanı ve yüzlerce olası yapılandırması olduğunda, onları klonlamak alt sınıflamaya alternatif olabilir.</a:t>
            </a:r>
          </a:p>
          <a:p>
            <a:pPr lvl="0"/>
            <a:r>
              <a:rPr/>
              <a:t>Çeşitli şekillerde yapılandırılmış bir dizi nesne oluşturursunuz. Yapılandırdığınız gibi bir nesneye ihtiyaç duyduğunuzda, sıfırdan yeni bir nesne oluşturmak yerine bir prototipi klonlarsınız.</a:t>
            </a:r>
          </a:p>
          <a:p>
            <a:pPr lvl="0" indent="0" marL="0">
              <a:buNone/>
            </a:pPr>
            <a:r>
              <a:rPr b="1"/>
              <a:t>Önceden oluşturulmuş prototipler</a:t>
            </a:r>
            <a:r>
              <a:rPr/>
              <a:t>: Desen, önceden oluşturulmuş prototip nesneler oluşturmanın bir yolunu sağlar. Bunu bir katalog benzeri olarak düşünebilirsiniz. Bu prototipler zaten yapılandırılmış karmaşık duruma sahip olabilir.</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Çözüm (devam)</a:t>
            </a:r>
          </a:p>
        </p:txBody>
      </p:sp>
      <p:sp>
        <p:nvSpPr>
          <p:cNvPr id="3" name="Content Placeholder 2"/>
          <p:cNvSpPr>
            <a:spLocks noGrp="1"/>
          </p:cNvSpPr>
          <p:nvPr>
            <p:ph idx="1"/>
          </p:nvPr>
        </p:nvSpPr>
        <p:spPr/>
        <p:txBody>
          <a:bodyPr/>
          <a:lstStyle/>
          <a:p>
            <a:pPr lvl="0" indent="0" marL="0">
              <a:buNone/>
            </a:pPr>
            <a:r>
              <a:rPr b="1"/>
              <a:t>Prototype Registry (Prototip Kayıt Defteri) (Önbellek)</a:t>
            </a:r>
            <a:r>
              <a:rPr/>
              <a:t>:</a:t>
            </a:r>
          </a:p>
          <a:p>
            <a:pPr lvl="0" indent="0" marL="0">
              <a:buNone/>
            </a:pPr>
            <a:r>
              <a:rPr/>
              <a:t>Desene isteğe bağlı bir ekleme, sık kullanılan prototiplere kolay erişim sağlayan bir </a:t>
            </a:r>
            <a:r>
              <a:rPr b="1"/>
              <a:t>Prototype Registry</a:t>
            </a:r>
            <a:r>
              <a:rPr/>
              <a:t>’dir. Kopyalanmaya hazır önceden oluşturulmuş nesneler kümesini depolar.</a:t>
            </a:r>
          </a:p>
          <a:p>
            <a:pPr lvl="0" indent="0" marL="0">
              <a:buNone/>
            </a:pPr>
            <a:r>
              <a:rPr/>
              <a:t>En basit prototip kayıt defteri bir </a:t>
            </a:r>
            <a:r>
              <a:rPr b="1"/>
              <a:t>isim -&gt; prototip</a:t>
            </a:r>
            <a:r>
              <a:rPr/>
              <a:t> hash haritasıdır. Ancak basit bir isimden daha iyi arama kriterlerine ihtiyacınız varsa, kayıt defterinin çok daha güçlü bir sürümünü oluşturabilirsiniz.</a:t>
            </a:r>
          </a:p>
          <a:p>
            <a:pPr lvl="0" indent="0">
              <a:buNone/>
            </a:pPr>
            <a:r>
              <a:rPr>
                <a:latin typeface="Courier"/>
              </a:rPr>
              <a:t>PrototypeRegistry
┌─────────────────────────────────┐
│  items: Map&lt;String, Prototype&gt;  │
│                                 │
│  addItem(id, prototype)         │
│  getById(id): Prototype         │
│  getByColor(color): Prototype   │
└─────────────────────────────────┘</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Yapı</a:t>
            </a:r>
          </a:p>
        </p:txBody>
      </p:sp>
      <p:sp>
        <p:nvSpPr>
          <p:cNvPr id="3" name="Content Placeholder 2"/>
          <p:cNvSpPr>
            <a:spLocks noGrp="1"/>
          </p:cNvSpPr>
          <p:nvPr>
            <p:ph idx="1"/>
          </p:nvPr>
        </p:nvSpPr>
        <p:spPr/>
        <p:txBody>
          <a:bodyPr/>
          <a:lstStyle/>
          <a:p>
            <a:pPr lvl="0" indent="0" marL="0">
              <a:buNone/>
            </a:pPr>
            <a:r>
              <a:rPr b="1"/>
              <a:t>Temel Uygulama:</a:t>
            </a:r>
          </a:p>
          <a:p>
            <a:pPr lvl="0" indent="-342900" marL="342900">
              <a:buAutoNum type="arabicPeriod"/>
            </a:pPr>
            <a:r>
              <a:rPr b="1"/>
              <a:t>Prototype Interface (Prototip Arayüzü)</a:t>
            </a:r>
            <a:r>
              <a:rPr/>
              <a:t>: klonlama yöntemlerini bildirir. Çoğu durumda tek bir </a:t>
            </a:r>
            <a:r>
              <a:rPr>
                <a:latin typeface="Courier"/>
              </a:rPr>
              <a:t>clone</a:t>
            </a:r>
            <a:r>
              <a:rPr/>
              <a:t> yöntemidir.</a:t>
            </a:r>
          </a:p>
          <a:p>
            <a:pPr lvl="0" indent="-342900" marL="342900">
              <a:buAutoNum type="arabicPeriod"/>
            </a:pPr>
            <a:r>
              <a:rPr b="1"/>
              <a:t>Concrete Prototype (Somut Prototip)</a:t>
            </a:r>
            <a:r>
              <a:rPr/>
              <a:t> sınıfı: klonlama yöntemini uygular. Orijinal nesnenin verilerini klona kopyalamanın yanı sıra, bu yöntem bağlantılı nesnelerin klonlanması, özyinelemeli bağımlılıkların çözülmesi vb. ile ilgili klonlama sürecinin bazı uç durumlarını da ele alabilir.</a:t>
            </a:r>
          </a:p>
          <a:p>
            <a:pPr lvl="0" indent="-342900" marL="342900">
              <a:buAutoNum type="arabicPeriod"/>
            </a:pPr>
            <a:r>
              <a:rPr b="1"/>
              <a:t>Client (İstemci)</a:t>
            </a:r>
            <a:r>
              <a:rPr/>
              <a:t>: prototip arayüzünü takip eden herhangi bir nesnenin bir kopyasını üretebilir.</a:t>
            </a:r>
          </a:p>
          <a:p>
            <a:pPr lvl="0" indent="0" marL="0">
              <a:buNone/>
            </a:pPr>
            <a:r>
              <a:rPr b="1"/>
              <a:t>Kayıt Defteri Uygulaması (varyant):</a:t>
            </a:r>
          </a:p>
          <a:p>
            <a:pPr lvl="0" indent="-342900" marL="342900">
              <a:buAutoNum startAt="4" type="arabicPeriod"/>
            </a:pPr>
            <a:r>
              <a:rPr b="1"/>
              <a:t>Prototype Registry (Prototip Kayıt Defteri)</a:t>
            </a:r>
            <a:r>
              <a:rPr/>
              <a:t>: sık kullanılan prototiplere kolay erişim sağlar. Kopyalanmaya hazır önceden oluşturulmuş nesneler kümesini depolar. En basit kayıt defteri bir </a:t>
            </a:r>
            <a:r>
              <a:rPr>
                <a:latin typeface="Courier"/>
              </a:rPr>
              <a:t>isim -&gt; prototip</a:t>
            </a:r>
            <a:r>
              <a:rPr/>
              <a:t> hash haritasıdır.</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Prototype - Sınıf Diyagramı</a:t>
            </a:r>
          </a:p>
        </p:txBody>
      </p:sp>
      <p:pic>
        <p:nvPicPr>
          <p:cNvPr descr="assets/prototype-structure.png" id="0" name="Picture 1"/>
          <p:cNvPicPr>
            <a:picLocks noGrp="1" noChangeAspect="1"/>
          </p:cNvPicPr>
          <p:nvPr/>
        </p:nvPicPr>
        <p:blipFill>
          <a:blip r:embed="rId2"/>
          <a:stretch>
            <a:fillRect/>
          </a:stretch>
        </p:blipFill>
        <p:spPr bwMode="auto">
          <a:xfrm>
            <a:off x="3568700" y="241300"/>
            <a:ext cx="5105400" cy="3784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Sözde Kod</a:t>
            </a:r>
          </a:p>
        </p:txBody>
      </p:sp>
      <p:sp>
        <p:nvSpPr>
          <p:cNvPr id="3" name="Content Placeholder 2"/>
          <p:cNvSpPr>
            <a:spLocks noGrp="1"/>
          </p:cNvSpPr>
          <p:nvPr>
            <p:ph idx="1"/>
          </p:nvPr>
        </p:nvSpPr>
        <p:spPr/>
        <p:txBody>
          <a:bodyPr/>
          <a:lstStyle/>
          <a:p>
            <a:pPr lvl="0" indent="0" marL="0">
              <a:buNone/>
            </a:pPr>
            <a:r>
              <a:rPr/>
              <a:t>Bu örnekte, Prototype deseni kodu sınıflarına bağlamadan geometrik nesnelerin tam kopyalarını üretmenize olanak tanır.</a:t>
            </a:r>
          </a:p>
          <a:p>
            <a:pPr lvl="0" indent="0">
              <a:buNone/>
            </a:pPr>
            <a:r>
              <a:rPr>
                <a:latin typeface="Courier"/>
              </a:rPr>
              <a:t>// Base prototype
abstract class Shape is
    field X: int
    field Y: int
    field color: string
    // A regular constructor
    constructor Shape() is
        // ...
    // The prototype constructor. A fresh object is
    // initialized with values from the existing object.
    constructor Shape(source: Shape) is
        this()
        this.X = source.X
        this.Y = source.Y
        this.color = source.color
    // The clone operation returns one of the Shape
    // subclasses.
    abstract method clone(): Shape</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Sözde Kod (devam)</a:t>
            </a:r>
          </a:p>
        </p:txBody>
      </p:sp>
      <p:sp>
        <p:nvSpPr>
          <p:cNvPr id="3" name="Content Placeholder 2"/>
          <p:cNvSpPr>
            <a:spLocks noGrp="1"/>
          </p:cNvSpPr>
          <p:nvPr>
            <p:ph idx="1"/>
          </p:nvPr>
        </p:nvSpPr>
        <p:spPr/>
        <p:txBody>
          <a:bodyPr/>
          <a:lstStyle/>
          <a:p>
            <a:pPr lvl="0" indent="0">
              <a:buNone/>
            </a:pPr>
            <a:r>
              <a:rPr>
                <a:latin typeface="Courier"/>
              </a:rPr>
              <a:t>class Rectangle extends Shape is
    field width: int
    field height: int
    constructor Rectangle(source: Rectangle) is
        super(source)
        this.width = source.width
        this.height = source.height
    method clone(): Shape is
        return new Rectangle(this)
class Circle extends Shape is
    field radius: int
    constructor Circle(source: Circle) is
        super(source)
        this.radius = source.radius
    method clone(): Shape is
        return new Circle(this)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Sözde Kod (devam)</a:t>
            </a:r>
          </a:p>
        </p:txBody>
      </p:sp>
      <p:sp>
        <p:nvSpPr>
          <p:cNvPr id="3" name="Content Placeholder 2"/>
          <p:cNvSpPr>
            <a:spLocks noGrp="1"/>
          </p:cNvSpPr>
          <p:nvPr>
            <p:ph idx="1"/>
          </p:nvPr>
        </p:nvSpPr>
        <p:spPr/>
        <p:txBody>
          <a:bodyPr/>
          <a:lstStyle/>
          <a:p>
            <a:pPr lvl="0" indent="0">
              <a:buNone/>
            </a:pPr>
            <a:r>
              <a:rPr>
                <a:latin typeface="Courier"/>
              </a:rPr>
              <a:t>// Somewhere in the client code.
class Application is
    field shapes: array of Shape
    constructor Application() is
        Circle circle = new Circle()
        circle.X = 10
        circle.Y = 10
        circle.radius = 20
        shapes.add(circle)
        Circle anotherCircle = circle.clone()
        shapes.add(anotherCircle)
        // anotherCircle is an exact copy of circle
        Rectangle rect = new Rectangle()
        rect.width = 10
        rect.height = 20
        shapes.add(rect)
    method businessLogic() is
        // Prototype rocks because it lets you produce
        // a copy of an object without knowing anything
        // about its type.
        Array shapesCopy = new Array of Shapes
        foreach (s in shapes) do
            shapesCopy.add(s.clone())
        // shapesCopy contains exact copies of shapes</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Prototype - Sıralama Diyagramı</a:t>
            </a:r>
          </a:p>
        </p:txBody>
      </p:sp>
      <p:pic>
        <p:nvPicPr>
          <p:cNvPr descr="assets/prototype-sequence.png" id="0" name="Picture 1"/>
          <p:cNvPicPr>
            <a:picLocks noGrp="1" noChangeAspect="1"/>
          </p:cNvPicPr>
          <p:nvPr/>
        </p:nvPicPr>
        <p:blipFill>
          <a:blip r:embed="rId2"/>
          <a:stretch>
            <a:fillRect/>
          </a:stretch>
        </p:blipFill>
        <p:spPr bwMode="auto">
          <a:xfrm>
            <a:off x="4610100" y="203200"/>
            <a:ext cx="3022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Uygulanabilirlik</a:t>
            </a:r>
          </a:p>
        </p:txBody>
      </p:sp>
      <p:sp>
        <p:nvSpPr>
          <p:cNvPr id="3" name="Content Placeholder 2"/>
          <p:cNvSpPr>
            <a:spLocks noGrp="1"/>
          </p:cNvSpPr>
          <p:nvPr>
            <p:ph idx="1"/>
          </p:nvPr>
        </p:nvSpPr>
        <p:spPr/>
        <p:txBody>
          <a:bodyPr/>
          <a:lstStyle/>
          <a:p>
            <a:pPr lvl="0" indent="0" marL="0">
              <a:buNone/>
            </a:pPr>
            <a:r>
              <a:rPr/>
              <a:t>Prototype desenini şu durumlarda kullanın:</a:t>
            </a:r>
          </a:p>
          <a:p>
            <a:pPr lvl="0" indent="-342900" marL="342900">
              <a:buAutoNum type="arabicPeriod"/>
            </a:pPr>
            <a:r>
              <a:rPr b="1"/>
              <a:t>Kodunuzun kopyalaması gereken nesnelerin somut sınıflarına bağımlı olmaması gerektiğinde.</a:t>
            </a:r>
          </a:p>
          <a:p>
            <a:pPr lvl="1"/>
            <a:r>
              <a:rPr/>
              <a:t>Bu durum, kodunuz 3. taraf kodundan bazı arayüzler aracılığıyla iletilen nesnelerle çalıştığında sıkça yaşanır. Bu nesnelerin somut sınıfları bilinmez ve istesaniz bile onlara bağımlı olamazsınız.</a:t>
            </a:r>
          </a:p>
          <a:p>
            <a:pPr lvl="1"/>
            <a:r>
              <a:rPr/>
              <a:t>Prototype deseni, istemci koduna klonlamayı destekleyen tüm nesnelerle çalışmak için genel bir arayüz sağlar. Bu arayüz, istemci kodunu klonladığı nesnelerin somut sınıflarından bağımsız kılar.</a:t>
            </a:r>
          </a:p>
          <a:p>
            <a:pPr lvl="0" indent="-342900" marL="342900">
              <a:buAutoNum type="arabicPeriod"/>
            </a:pPr>
            <a:r>
              <a:rPr b="1"/>
              <a:t>Yalnızca ilgili nesnelerini başlatma şekillerinde farklılık gösteren alt sınıf sayısını azaltmak istediğinizde.</a:t>
            </a:r>
          </a:p>
          <a:p>
            <a:pPr lvl="1"/>
            <a:r>
              <a:rPr/>
              <a:t>Birisi, belirli bir yapılandırmaya sahip nesneler oluşturabilmek için bu alt sınıfları oluşturmuş olabilir.</a:t>
            </a:r>
          </a:p>
          <a:p>
            <a:pPr lvl="1"/>
            <a:r>
              <a:rPr/>
              <a:t>Prototype deseni, çeşitli şekillerde yapılandırılmış önceden oluşturulmuş nesneler kümesini prototip olarak kullanmanıza olanak tanır. Bazı yapılandırmayla eşleşen bir alt sınıf örneklemek yerine, istemci uygun bir prototipi arayıp klonlayabilir.</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Nasıl Uygulanır</a:t>
            </a:r>
          </a:p>
        </p:txBody>
      </p:sp>
      <p:sp>
        <p:nvSpPr>
          <p:cNvPr id="3" name="Content Placeholder 2"/>
          <p:cNvSpPr>
            <a:spLocks noGrp="1"/>
          </p:cNvSpPr>
          <p:nvPr>
            <p:ph idx="1"/>
          </p:nvPr>
        </p:nvSpPr>
        <p:spPr/>
        <p:txBody>
          <a:bodyPr/>
          <a:lstStyle/>
          <a:p>
            <a:pPr lvl="0" indent="-342900" marL="342900">
              <a:buAutoNum type="arabicPeriod"/>
            </a:pPr>
            <a:r>
              <a:rPr b="1"/>
              <a:t>Prototip arayüzünü oluşturun</a:t>
            </a:r>
            <a:r>
              <a:rPr/>
              <a:t> ve </a:t>
            </a:r>
            <a:r>
              <a:rPr>
                <a:latin typeface="Courier"/>
              </a:rPr>
              <a:t>clone</a:t>
            </a:r>
            <a:r>
              <a:rPr/>
              <a:t> yöntemini bildirin. Veya mevcut bir sınıf hiyerarşiniz varsa, yöntemi tüm sınıflara ekleyin.</a:t>
            </a:r>
          </a:p>
          <a:p>
            <a:pPr lvl="0" indent="-342900" marL="342900">
              <a:buAutoNum type="arabicPeriod"/>
            </a:pPr>
            <a:r>
              <a:rPr b="1"/>
              <a:t>Bir prototip sınıfı, o sınıfın bir nesnesini argüman olarak kabul eden alternatif yapıcıyı tanımlamalıdır.</a:t>
            </a:r>
            <a:r>
              <a:rPr/>
              <a:t> Yapıcı, iletilen nesneden sınıfta tanımlanan tüm alanların değerlerini yeni oluşturulan örneğe kopyalamalıdır. Bir alt sınıfı değiştiriyorsanız, üst sınıfın özel alanlarının klonlanmasını ele almasına izin vermek için üst yapıcıyı çağırmalısınız.</a:t>
            </a:r>
          </a:p>
          <a:p>
            <a:pPr lvl="0" indent="-342900" marL="342900">
              <a:buAutoNum type="arabicPeriod"/>
            </a:pPr>
            <a:r>
              <a:rPr b="1"/>
              <a:t>Klonlama yöntemi genellikle tek bir satırdan oluşur</a:t>
            </a:r>
            <a:r>
              <a:rPr/>
              <a:t>: yapıcının prototipsel sürümüyle bir </a:t>
            </a:r>
            <a:r>
              <a:rPr>
                <a:latin typeface="Courier"/>
              </a:rPr>
              <a:t>new</a:t>
            </a:r>
            <a:r>
              <a:rPr/>
              <a:t> operatörü çalıştırmak. Not: her sınıf klonlama yöntemini açıkça geçersiz kılmalı ve </a:t>
            </a:r>
            <a:r>
              <a:rPr>
                <a:latin typeface="Courier"/>
              </a:rPr>
              <a:t>new</a:t>
            </a:r>
            <a:r>
              <a:rPr/>
              <a:t> operatörüyle birlikte kendi sınıf adını kullanmalıdır. Aksi takdirde, klonlama yöntemi bir üst sınıf nesnesi üretebilir.</a:t>
            </a:r>
          </a:p>
          <a:p>
            <a:pPr lvl="0" indent="-342900" marL="342900">
              <a:buAutoNum type="arabicPeriod"/>
            </a:pPr>
            <a:r>
              <a:rPr b="1"/>
              <a:t>İsteğe bağlı olarak, sık kullanılan prototiplerin bir kataloğunu depolamak için merkezi bir prototip kayıt defteri oluşturun.</a:t>
            </a:r>
          </a:p>
          <a:p>
            <a:pPr lvl="0" indent="-342900" marL="342900">
              <a:buAutoNum type="arabicPeriod"/>
            </a:pPr>
            <a:r>
              <a:rPr b="1"/>
              <a:t>Kayıt defterini yeni bir fabrika sınıfı olarak uygulayabilir</a:t>
            </a:r>
            <a:r>
              <a:rPr/>
              <a:t> veya prototipi almak için statik bir yönteme sahip temel prototip sınıfına koyabilirsiniz. Bu yöntem, istemci kodunun yönteme ilettiği arama kriterlerine dayalı olarak bir prototip aramalıdır.</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Artılar ve Eksiler</a:t>
            </a:r>
          </a:p>
        </p:txBody>
      </p:sp>
      <p:sp>
        <p:nvSpPr>
          <p:cNvPr id="3" name="Content Placeholder 2"/>
          <p:cNvSpPr>
            <a:spLocks noGrp="1"/>
          </p:cNvSpPr>
          <p:nvPr>
            <p:ph idx="1"/>
          </p:nvPr>
        </p:nvSpPr>
        <p:spPr/>
        <p:txBody>
          <a:bodyPr/>
          <a:lstStyle/>
          <a:p>
            <a:pPr lvl="0" indent="0" marL="0">
              <a:spcBef>
                <a:spcPts val="3000"/>
              </a:spcBef>
              <a:buNone/>
            </a:pPr>
            <a:r>
              <a:rPr b="1"/>
              <a:t>Artılar</a:t>
            </a:r>
          </a:p>
          <a:p>
            <a:pPr lvl="0"/>
            <a:r>
              <a:rPr b="1"/>
              <a:t>Somut sınıflarına bağlanmadan nesneleri klonlayın.</a:t>
            </a:r>
          </a:p>
          <a:p>
            <a:pPr lvl="0"/>
            <a:r>
              <a:rPr b="1"/>
              <a:t>Önceden oluşturulmuş prototipleri klonlama lehine tekrarlayan başlatma kodundan kurtulun.</a:t>
            </a:r>
          </a:p>
          <a:p>
            <a:pPr lvl="0"/>
            <a:r>
              <a:rPr b="1"/>
              <a:t>Karmaşık nesneleri daha rahat üretin</a:t>
            </a:r>
            <a:r>
              <a:rPr/>
              <a:t>: nesneler karmaşık iç duruma sahip olduğunda, klonlama sıfırdan oluşturmaktan daha hızlı ve kolaydır.</a:t>
            </a:r>
          </a:p>
          <a:p>
            <a:pPr lvl="0"/>
            <a:r>
              <a:rPr b="1"/>
              <a:t>Kalıtıma alternatif</a:t>
            </a:r>
            <a:r>
              <a:rPr/>
              <a:t>: Karmaşık nesneler için yapılandırma ön ayarlarıyla başa çıkmak için bir alternatif elde edersiniz. Her yapılandırma için alt sınıflar oluşturmak yerine, farklı yapılandırmalara sahip prototipler oluşturabilir ve onları klonlayabilirsiniz.</a:t>
            </a:r>
          </a:p>
          <a:p>
            <a:pPr lvl="0" indent="0" marL="0">
              <a:spcBef>
                <a:spcPts val="3000"/>
              </a:spcBef>
              <a:buNone/>
            </a:pPr>
            <a:r>
              <a:rPr b="1"/>
              <a:t>Eksiler</a:t>
            </a:r>
          </a:p>
          <a:p>
            <a:pPr lvl="0"/>
            <a:r>
              <a:rPr b="1"/>
              <a:t>Dairesel referanslara sahip karmaşık nesneleri klonlamak</a:t>
            </a:r>
            <a:r>
              <a:rPr/>
              <a:t> çok zor olabilir. Diğer nesnelere referanslar içeren nesnelerin derin klonlanması, dairesel bağımlılıkların dikkatli bir şekilde ele alınmasını gerektirir.</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Diğer Desenlerle İlişkiler</a:t>
            </a:r>
          </a:p>
        </p:txBody>
      </p:sp>
      <p:sp>
        <p:nvSpPr>
          <p:cNvPr id="3" name="Content Placeholder 2"/>
          <p:cNvSpPr>
            <a:spLocks noGrp="1"/>
          </p:cNvSpPr>
          <p:nvPr>
            <p:ph idx="1"/>
          </p:nvPr>
        </p:nvSpPr>
        <p:spPr/>
        <p:txBody>
          <a:bodyPr/>
          <a:lstStyle/>
          <a:p>
            <a:pPr lvl="0"/>
            <a:r>
              <a:rPr/>
              <a:t>Birçok tasarım </a:t>
            </a:r>
            <a:r>
              <a:rPr b="1"/>
              <a:t>Factory Method</a:t>
            </a:r>
            <a:r>
              <a:rPr/>
              <a:t> ile başlar (daha az karmaşık, alt sınıflar aracılığıyla daha fazla özelleştirilebilir) ve </a:t>
            </a:r>
            <a:r>
              <a:rPr b="1"/>
              <a:t>Abstract Factory</a:t>
            </a:r>
            <a:r>
              <a:rPr/>
              <a:t>, </a:t>
            </a:r>
            <a:r>
              <a:rPr b="1"/>
              <a:t>Prototype</a:t>
            </a:r>
            <a:r>
              <a:rPr/>
              <a:t> veya </a:t>
            </a:r>
            <a:r>
              <a:rPr b="1"/>
              <a:t>Builder</a:t>
            </a:r>
            <a:r>
              <a:rPr/>
              <a:t>’a doğru evrilir (daha esnek, ancak daha karmaşık).</a:t>
            </a:r>
          </a:p>
          <a:p>
            <a:pPr lvl="0"/>
            <a:r>
              <a:rPr b="1"/>
              <a:t>Abstract Factory</a:t>
            </a:r>
            <a:r>
              <a:rPr/>
              <a:t> sınıfları genellikle bir dizi </a:t>
            </a:r>
            <a:r>
              <a:rPr b="1"/>
              <a:t>Factory Method</a:t>
            </a:r>
            <a:r>
              <a:rPr/>
              <a:t> üzerine kurulur, ancak bu sınıflardaki yöntemleri oluşturmak için </a:t>
            </a:r>
            <a:r>
              <a:rPr b="1"/>
              <a:t>Prototype</a:t>
            </a:r>
            <a:r>
              <a:rPr/>
              <a:t> da kullanabilirsiniz.</a:t>
            </a:r>
          </a:p>
          <a:p>
            <a:pPr lvl="0"/>
            <a:r>
              <a:rPr b="1"/>
              <a:t>Prototype</a:t>
            </a:r>
            <a:r>
              <a:rPr/>
              <a:t>, </a:t>
            </a:r>
            <a:r>
              <a:rPr b="1"/>
              <a:t>Commands</a:t>
            </a:r>
            <a:r>
              <a:rPr/>
              <a:t>’ın kopyalarını geçmişe kaydetmeniz gerektiğinde yardımcı olabilir (Memento deseni alternatifi).</a:t>
            </a:r>
          </a:p>
          <a:p>
            <a:pPr lvl="0"/>
            <a:r>
              <a:rPr b="1"/>
              <a:t>Composite</a:t>
            </a:r>
            <a:r>
              <a:rPr/>
              <a:t> ve </a:t>
            </a:r>
            <a:r>
              <a:rPr b="1"/>
              <a:t>Decorator</a:t>
            </a:r>
            <a:r>
              <a:rPr/>
              <a:t>’ı yoğun kullanan tasarımlar genellikle </a:t>
            </a:r>
            <a:r>
              <a:rPr b="1"/>
              <a:t>Prototype</a:t>
            </a:r>
            <a:r>
              <a:rPr/>
              <a:t> kullanmaktan fayda görebilir. Deseni uygulamak, karmaşık yapıları sıfırdan yeniden oluşturmak yerine klonlamanıza olanak tanır.</a:t>
            </a:r>
          </a:p>
          <a:p>
            <a:pPr lvl="0"/>
            <a:r>
              <a:rPr b="1"/>
              <a:t>Prototype</a:t>
            </a:r>
            <a:r>
              <a:rPr/>
              <a:t> kalıtıma dayalı değildir, bu nedenle dezavantajları yoktur. Öte yandan, Prototype klonlanan nesnenin karmaşık bir başlatılmasını gerektirir. </a:t>
            </a:r>
            <a:r>
              <a:rPr b="1"/>
              <a:t>Factory Method</a:t>
            </a:r>
            <a:r>
              <a:rPr/>
              <a:t> kalıtıma dayalıdır ancak bir başlatma adımı gerektirmez.</a:t>
            </a:r>
          </a:p>
          <a:p>
            <a:pPr lvl="0"/>
            <a:r>
              <a:rPr/>
              <a:t>Bazen </a:t>
            </a:r>
            <a:r>
              <a:rPr b="1"/>
              <a:t>Prototype</a:t>
            </a:r>
            <a:r>
              <a:rPr/>
              <a:t>, </a:t>
            </a:r>
            <a:r>
              <a:rPr b="1"/>
              <a:t>Memento</a:t>
            </a:r>
            <a:r>
              <a:rPr/>
              <a:t>’ya daha basit bir alternatif olabilir. Bu, durumunu geçmişte saklamak istediğiniz nesne oldukça basitse ve dış kaynaklara bağlantıları yoksa veya bağlantılar kolayca yeniden kurulabiliyorsa işe yarar.</a:t>
            </a:r>
          </a:p>
          <a:p>
            <a:pPr lvl="0"/>
            <a:r>
              <a:rPr b="1"/>
              <a:t>Abstract Factories</a:t>
            </a:r>
            <a:r>
              <a:rPr/>
              <a:t>, </a:t>
            </a:r>
            <a:r>
              <a:rPr b="1"/>
              <a:t>Builders</a:t>
            </a:r>
            <a:r>
              <a:rPr/>
              <a:t> ve </a:t>
            </a:r>
            <a:r>
              <a:rPr b="1"/>
              <a:t>Prototypes</a:t>
            </a:r>
            <a:r>
              <a:rPr/>
              <a:t>’ın tümü </a:t>
            </a:r>
            <a:r>
              <a:rPr b="1"/>
              <a:t>Singletons</a:t>
            </a:r>
            <a:r>
              <a:rPr/>
              <a:t> olarak uygulanabilir.</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Java Kod Örneği</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Prototype interface</a:t>
            </a:r>
            <a:br/>
            <a:r>
              <a:rPr b="1">
                <a:solidFill>
                  <a:srgbClr val="007020"/>
                </a:solidFill>
                <a:latin typeface="Courier"/>
              </a:rPr>
              <a:t>interface</a:t>
            </a:r>
            <a:r>
              <a:rPr>
                <a:latin typeface="Courier"/>
              </a:rPr>
              <a:t> Prototype </a:t>
            </a:r>
            <a:r>
              <a:rPr>
                <a:solidFill>
                  <a:srgbClr val="666666"/>
                </a:solidFill>
                <a:latin typeface="Courier"/>
              </a:rPr>
              <a:t>{</a:t>
            </a:r>
            <a:br/>
            <a:r>
              <a:rPr>
                <a:latin typeface="Courier"/>
              </a:rPr>
              <a:t>    Prototype </a:t>
            </a:r>
            <a:r>
              <a:rPr>
                <a:solidFill>
                  <a:srgbClr val="06287E"/>
                </a:solidFill>
                <a:latin typeface="Courier"/>
              </a:rPr>
              <a:t>clone</a:t>
            </a:r>
            <a:r>
              <a:rPr>
                <a:solidFill>
                  <a:srgbClr val="666666"/>
                </a:solidFill>
                <a:latin typeface="Courier"/>
              </a:rPr>
              <a:t>();</a:t>
            </a:r>
            <a:br/>
            <a:r>
              <a:rPr>
                <a:solidFill>
                  <a:srgbClr val="666666"/>
                </a:solidFill>
                <a:latin typeface="Courier"/>
              </a:rPr>
              <a:t>}</a:t>
            </a:r>
            <a:br/>
            <a:br/>
            <a:r>
              <a:rPr i="1">
                <a:solidFill>
                  <a:srgbClr val="60A0B0"/>
                </a:solidFill>
                <a:latin typeface="Courier"/>
              </a:rPr>
              <a:t>// Abstract base class</a:t>
            </a:r>
            <a:br/>
            <a:r>
              <a:rPr b="1">
                <a:solidFill>
                  <a:srgbClr val="007020"/>
                </a:solidFill>
                <a:latin typeface="Courier"/>
              </a:rPr>
              <a:t>abstract</a:t>
            </a:r>
            <a:r>
              <a:rPr>
                <a:latin typeface="Courier"/>
              </a:rPr>
              <a:t> </a:t>
            </a:r>
            <a:r>
              <a:rPr b="1">
                <a:solidFill>
                  <a:srgbClr val="007020"/>
                </a:solidFill>
                <a:latin typeface="Courier"/>
              </a:rPr>
              <a:t>class</a:t>
            </a:r>
            <a:r>
              <a:rPr>
                <a:latin typeface="Courier"/>
              </a:rPr>
              <a:t> </a:t>
            </a:r>
            <a:r>
              <a:rPr>
                <a:solidFill>
                  <a:srgbClr val="008000"/>
                </a:solidFill>
                <a:latin typeface="Courier"/>
              </a:rPr>
              <a:t>Shape</a:t>
            </a:r>
            <a:r>
              <a:rPr>
                <a:latin typeface="Courier"/>
              </a:rPr>
              <a:t> </a:t>
            </a:r>
            <a:r>
              <a:rPr b="1">
                <a:solidFill>
                  <a:srgbClr val="007020"/>
                </a:solidFill>
                <a:latin typeface="Courier"/>
              </a:rPr>
              <a:t>implements</a:t>
            </a:r>
            <a:r>
              <a:rPr>
                <a:latin typeface="Courier"/>
              </a:rPr>
              <a:t> Prototype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x</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y</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color</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i="1">
                <a:solidFill>
                  <a:srgbClr val="60A0B0"/>
                </a:solidFill>
                <a:latin typeface="Courier"/>
              </a:rPr>
              <a:t>// Copy constructor</a:t>
            </a: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solidFill>
                  <a:srgbClr val="666666"/>
                </a:solidFill>
                <a:latin typeface="Courier"/>
              </a:rPr>
              <a:t>(</a:t>
            </a:r>
            <a:r>
              <a:rPr>
                <a:solidFill>
                  <a:srgbClr val="008000"/>
                </a:solidFill>
                <a:latin typeface="Courier"/>
              </a:rPr>
              <a:t>Shape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y</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color</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Prototype - Circle</a:t>
            </a:r>
            <a:br/>
            <a:r>
              <a:rPr b="1">
                <a:solidFill>
                  <a:srgbClr val="007020"/>
                </a:solidFill>
                <a:latin typeface="Courier"/>
              </a:rPr>
              <a:t>class</a:t>
            </a:r>
            <a:r>
              <a:rPr>
                <a:latin typeface="Courier"/>
              </a:rPr>
              <a:t> Circle </a:t>
            </a:r>
            <a:r>
              <a:rPr b="1">
                <a:solidFill>
                  <a:srgbClr val="007020"/>
                </a:solidFill>
                <a:latin typeface="Courier"/>
              </a:rPr>
              <a:t>extends</a:t>
            </a:r>
            <a:r>
              <a:rPr>
                <a:latin typeface="Courier"/>
              </a:rPr>
              <a:t> </a:t>
            </a:r>
            <a:r>
              <a:rPr>
                <a:solidFill>
                  <a:srgbClr val="008000"/>
                </a:solidFill>
                <a:latin typeface="Courier"/>
              </a:rPr>
              <a:t>Shape</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Circle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Circle</a:t>
            </a:r>
            <a:r>
              <a:rPr>
                <a:solidFill>
                  <a:srgbClr val="666666"/>
                </a:solidFill>
                <a:latin typeface="Courier"/>
              </a:rPr>
              <a:t>(</a:t>
            </a:r>
            <a:r>
              <a:rPr>
                <a:latin typeface="Courier"/>
              </a:rPr>
              <a:t>Circle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latin typeface="Courier"/>
              </a:rPr>
              <a:t> </a:t>
            </a:r>
            <a:r>
              <a:rPr>
                <a:solidFill>
                  <a:srgbClr val="06287E"/>
                </a:solidFill>
                <a:latin typeface="Courier"/>
              </a:rPr>
              <a:t>clone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Circle</a:t>
            </a:r>
            <a:r>
              <a:rPr>
                <a:solidFill>
                  <a:srgbClr val="666666"/>
                </a:solidFill>
                <a:latin typeface="Courier"/>
              </a:rPr>
              <a:t>(</a:t>
            </a:r>
            <a:r>
              <a:rPr b="1">
                <a:solidFill>
                  <a:srgbClr val="007020"/>
                </a:solidFill>
                <a:latin typeface="Courier"/>
              </a:rPr>
              <a:t>this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"Circle{x="</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y="</a:t>
            </a:r>
            <a:r>
              <a:rPr>
                <a:latin typeface="Courier"/>
              </a:rPr>
              <a:t> </a:t>
            </a:r>
            <a:r>
              <a:rPr>
                <a:solidFill>
                  <a:srgbClr val="666666"/>
                </a:solidFill>
                <a:latin typeface="Courier"/>
              </a:rPr>
              <a:t>+</a:t>
            </a:r>
            <a:r>
              <a:rPr>
                <a:latin typeface="Courier"/>
              </a:rPr>
              <a:t> y</a:t>
            </a:r>
            <a:br/>
            <a:r>
              <a:rPr>
                <a:latin typeface="Courier"/>
              </a:rPr>
              <a:t>            </a:t>
            </a:r>
            <a:r>
              <a:rPr>
                <a:solidFill>
                  <a:srgbClr val="666666"/>
                </a:solidFill>
                <a:latin typeface="Courier"/>
              </a:rPr>
              <a:t>+</a:t>
            </a:r>
            <a:r>
              <a:rPr>
                <a:latin typeface="Courier"/>
              </a:rPr>
              <a:t> </a:t>
            </a:r>
            <a:r>
              <a:rPr>
                <a:solidFill>
                  <a:srgbClr val="4070A0"/>
                </a:solidFill>
                <a:latin typeface="Courier"/>
              </a:rPr>
              <a:t>", color='"</a:t>
            </a:r>
            <a:r>
              <a:rPr>
                <a:latin typeface="Courier"/>
              </a:rPr>
              <a:t> </a:t>
            </a:r>
            <a:r>
              <a:rPr>
                <a:solidFill>
                  <a:srgbClr val="666666"/>
                </a:solidFill>
                <a:latin typeface="Courier"/>
              </a:rPr>
              <a:t>+</a:t>
            </a:r>
            <a:r>
              <a:rPr>
                <a:latin typeface="Courier"/>
              </a:rPr>
              <a:t> color </a:t>
            </a:r>
            <a:r>
              <a:rPr>
                <a:solidFill>
                  <a:srgbClr val="666666"/>
                </a:solidFill>
                <a:latin typeface="Courier"/>
              </a:rPr>
              <a:t>+</a:t>
            </a:r>
            <a:r>
              <a:rPr>
                <a:latin typeface="Courier"/>
              </a:rPr>
              <a:t> </a:t>
            </a:r>
            <a:r>
              <a:rPr>
                <a:solidFill>
                  <a:srgbClr val="4070A0"/>
                </a:solidFill>
                <a:latin typeface="Courier"/>
              </a:rPr>
              <a:t>"'"</a:t>
            </a:r>
            <a:br/>
            <a:r>
              <a:rPr>
                <a:latin typeface="Courier"/>
              </a:rPr>
              <a:t>            </a:t>
            </a:r>
            <a:r>
              <a:rPr>
                <a:solidFill>
                  <a:srgbClr val="666666"/>
                </a:solidFill>
                <a:latin typeface="Courier"/>
              </a:rPr>
              <a:t>+</a:t>
            </a:r>
            <a:r>
              <a:rPr>
                <a:latin typeface="Courier"/>
              </a:rPr>
              <a:t> </a:t>
            </a:r>
            <a:r>
              <a:rPr>
                <a:solidFill>
                  <a:srgbClr val="4070A0"/>
                </a:solidFill>
                <a:latin typeface="Courier"/>
              </a:rPr>
              <a:t>", radius="</a:t>
            </a:r>
            <a:r>
              <a:rPr>
                <a:latin typeface="Courier"/>
              </a:rPr>
              <a:t> </a:t>
            </a:r>
            <a:r>
              <a:rPr>
                <a:solidFill>
                  <a:srgbClr val="666666"/>
                </a:solidFill>
                <a:latin typeface="Courier"/>
              </a:rPr>
              <a:t>+</a:t>
            </a:r>
            <a:r>
              <a:rPr>
                <a:latin typeface="Courier"/>
              </a:rPr>
              <a:t> radius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Concrete Prototype - Rectangle</a:t>
            </a:r>
            <a:br/>
            <a:r>
              <a:rPr b="1">
                <a:solidFill>
                  <a:srgbClr val="007020"/>
                </a:solidFill>
                <a:latin typeface="Courier"/>
              </a:rPr>
              <a:t>class</a:t>
            </a:r>
            <a:r>
              <a:rPr>
                <a:latin typeface="Courier"/>
              </a:rPr>
              <a:t> </a:t>
            </a:r>
            <a:r>
              <a:rPr>
                <a:solidFill>
                  <a:srgbClr val="008000"/>
                </a:solidFill>
                <a:latin typeface="Courier"/>
              </a:rPr>
              <a:t>Rectangle</a:t>
            </a:r>
            <a:r>
              <a:rPr>
                <a:latin typeface="Courier"/>
              </a:rPr>
              <a:t> </a:t>
            </a:r>
            <a:r>
              <a:rPr b="1">
                <a:solidFill>
                  <a:srgbClr val="007020"/>
                </a:solidFill>
                <a:latin typeface="Courier"/>
              </a:rPr>
              <a:t>extends</a:t>
            </a:r>
            <a:r>
              <a:rPr>
                <a:latin typeface="Courier"/>
              </a:rPr>
              <a:t> </a:t>
            </a:r>
            <a:r>
              <a:rPr>
                <a:solidFill>
                  <a:srgbClr val="008000"/>
                </a:solidFill>
                <a:latin typeface="Courier"/>
              </a:rPr>
              <a:t>Shape</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width</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height</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Rectangle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Rectangle</a:t>
            </a:r>
            <a:r>
              <a:rPr>
                <a:solidFill>
                  <a:srgbClr val="666666"/>
                </a:solidFill>
                <a:latin typeface="Courier"/>
              </a:rPr>
              <a:t>(</a:t>
            </a:r>
            <a:r>
              <a:rPr>
                <a:solidFill>
                  <a:srgbClr val="008000"/>
                </a:solidFill>
                <a:latin typeface="Courier"/>
              </a:rPr>
              <a:t>Rectangle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width</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width</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height</a:t>
            </a:r>
            <a:r>
              <a:rPr>
                <a:latin typeface="Courier"/>
              </a:rPr>
              <a:t> </a:t>
            </a:r>
            <a:r>
              <a:rPr>
                <a:solidFill>
                  <a:srgbClr val="666666"/>
                </a:solidFill>
                <a:latin typeface="Courier"/>
              </a:rPr>
              <a:t>=</a:t>
            </a:r>
            <a:r>
              <a:rPr>
                <a:latin typeface="Courier"/>
              </a:rPr>
              <a:t> source</a:t>
            </a:r>
            <a:r>
              <a:rPr>
                <a:solidFill>
                  <a:srgbClr val="666666"/>
                </a:solidFill>
                <a:latin typeface="Courier"/>
              </a:rPr>
              <a:t>.</a:t>
            </a:r>
            <a:r>
              <a:rPr>
                <a:solidFill>
                  <a:srgbClr val="06287E"/>
                </a:solidFill>
                <a:latin typeface="Courier"/>
              </a:rPr>
              <a:t>height</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latin typeface="Courier"/>
              </a:rPr>
              <a:t> </a:t>
            </a:r>
            <a:r>
              <a:rPr>
                <a:solidFill>
                  <a:srgbClr val="06287E"/>
                </a:solidFill>
                <a:latin typeface="Courier"/>
              </a:rPr>
              <a:t>clone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Rectangle</a:t>
            </a:r>
            <a:r>
              <a:rPr>
                <a:solidFill>
                  <a:srgbClr val="666666"/>
                </a:solidFill>
                <a:latin typeface="Courier"/>
              </a:rPr>
              <a:t>(</a:t>
            </a:r>
            <a:r>
              <a:rPr b="1">
                <a:solidFill>
                  <a:srgbClr val="007020"/>
                </a:solidFill>
                <a:latin typeface="Courier"/>
              </a:rPr>
              <a:t>this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"Rectangle{x="</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y="</a:t>
            </a:r>
            <a:r>
              <a:rPr>
                <a:latin typeface="Courier"/>
              </a:rPr>
              <a:t> </a:t>
            </a:r>
            <a:r>
              <a:rPr>
                <a:solidFill>
                  <a:srgbClr val="666666"/>
                </a:solidFill>
                <a:latin typeface="Courier"/>
              </a:rPr>
              <a:t>+</a:t>
            </a:r>
            <a:r>
              <a:rPr>
                <a:latin typeface="Courier"/>
              </a:rPr>
              <a:t> y</a:t>
            </a:r>
            <a:br/>
            <a:r>
              <a:rPr>
                <a:latin typeface="Courier"/>
              </a:rPr>
              <a:t>            </a:t>
            </a:r>
            <a:r>
              <a:rPr>
                <a:solidFill>
                  <a:srgbClr val="666666"/>
                </a:solidFill>
                <a:latin typeface="Courier"/>
              </a:rPr>
              <a:t>+</a:t>
            </a:r>
            <a:r>
              <a:rPr>
                <a:latin typeface="Courier"/>
              </a:rPr>
              <a:t> </a:t>
            </a:r>
            <a:r>
              <a:rPr>
                <a:solidFill>
                  <a:srgbClr val="4070A0"/>
                </a:solidFill>
                <a:latin typeface="Courier"/>
              </a:rPr>
              <a:t>", color='"</a:t>
            </a:r>
            <a:r>
              <a:rPr>
                <a:latin typeface="Courier"/>
              </a:rPr>
              <a:t> </a:t>
            </a:r>
            <a:r>
              <a:rPr>
                <a:solidFill>
                  <a:srgbClr val="666666"/>
                </a:solidFill>
                <a:latin typeface="Courier"/>
              </a:rPr>
              <a:t>+</a:t>
            </a:r>
            <a:r>
              <a:rPr>
                <a:latin typeface="Courier"/>
              </a:rPr>
              <a:t> color </a:t>
            </a:r>
            <a:r>
              <a:rPr>
                <a:solidFill>
                  <a:srgbClr val="666666"/>
                </a:solidFill>
                <a:latin typeface="Courier"/>
              </a:rPr>
              <a:t>+</a:t>
            </a:r>
            <a:r>
              <a:rPr>
                <a:latin typeface="Courier"/>
              </a:rPr>
              <a:t> </a:t>
            </a:r>
            <a:r>
              <a:rPr>
                <a:solidFill>
                  <a:srgbClr val="4070A0"/>
                </a:solidFill>
                <a:latin typeface="Courier"/>
              </a:rPr>
              <a:t>"'"</a:t>
            </a:r>
            <a:br/>
            <a:r>
              <a:rPr>
                <a:latin typeface="Courier"/>
              </a:rPr>
              <a:t>            </a:t>
            </a:r>
            <a:r>
              <a:rPr>
                <a:solidFill>
                  <a:srgbClr val="666666"/>
                </a:solidFill>
                <a:latin typeface="Courier"/>
              </a:rPr>
              <a:t>+</a:t>
            </a:r>
            <a:r>
              <a:rPr>
                <a:latin typeface="Courier"/>
              </a:rPr>
              <a:t> </a:t>
            </a:r>
            <a:r>
              <a:rPr>
                <a:solidFill>
                  <a:srgbClr val="4070A0"/>
                </a:solidFill>
                <a:latin typeface="Courier"/>
              </a:rPr>
              <a:t>", width="</a:t>
            </a:r>
            <a:r>
              <a:rPr>
                <a:latin typeface="Courier"/>
              </a:rPr>
              <a:t> </a:t>
            </a:r>
            <a:r>
              <a:rPr>
                <a:solidFill>
                  <a:srgbClr val="666666"/>
                </a:solidFill>
                <a:latin typeface="Courier"/>
              </a:rPr>
              <a:t>+</a:t>
            </a:r>
            <a:r>
              <a:rPr>
                <a:latin typeface="Courier"/>
              </a:rPr>
              <a:t> width</a:t>
            </a:r>
            <a:br/>
            <a:r>
              <a:rPr>
                <a:latin typeface="Courier"/>
              </a:rPr>
              <a:t>            </a:t>
            </a:r>
            <a:r>
              <a:rPr>
                <a:solidFill>
                  <a:srgbClr val="666666"/>
                </a:solidFill>
                <a:latin typeface="Courier"/>
              </a:rPr>
              <a:t>+</a:t>
            </a:r>
            <a:r>
              <a:rPr>
                <a:latin typeface="Courier"/>
              </a:rPr>
              <a:t> </a:t>
            </a:r>
            <a:r>
              <a:rPr>
                <a:solidFill>
                  <a:srgbClr val="4070A0"/>
                </a:solidFill>
                <a:latin typeface="Courier"/>
              </a:rPr>
              <a:t>", height="</a:t>
            </a:r>
            <a:r>
              <a:rPr>
                <a:latin typeface="Courier"/>
              </a:rPr>
              <a:t> </a:t>
            </a:r>
            <a:r>
              <a:rPr>
                <a:solidFill>
                  <a:srgbClr val="666666"/>
                </a:solidFill>
                <a:latin typeface="Courier"/>
              </a:rPr>
              <a:t>+</a:t>
            </a:r>
            <a:r>
              <a:rPr>
                <a:latin typeface="Courier"/>
              </a:rPr>
              <a:t> height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Prototype Registry</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HashMap</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Map</a:t>
            </a:r>
            <a:r>
              <a:rPr>
                <a:solidFill>
                  <a:srgbClr val="666666"/>
                </a:solidFill>
                <a:latin typeface="Courier"/>
              </a:rPr>
              <a:t>;</a:t>
            </a:r>
            <a:br/>
            <a:br/>
            <a:r>
              <a:rPr b="1">
                <a:solidFill>
                  <a:srgbClr val="007020"/>
                </a:solidFill>
                <a:latin typeface="Courier"/>
              </a:rPr>
              <a:t>class</a:t>
            </a:r>
            <a:r>
              <a:rPr>
                <a:latin typeface="Courier"/>
              </a:rPr>
              <a:t> PrototypeRegistry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Shape</a:t>
            </a:r>
            <a:r>
              <a:rPr>
                <a:solidFill>
                  <a:srgbClr val="666666"/>
                </a:solidFill>
                <a:latin typeface="Courier"/>
              </a:rPr>
              <a:t>&gt;</a:t>
            </a:r>
            <a:r>
              <a:rPr>
                <a:latin typeface="Courier"/>
              </a:rPr>
              <a:t> items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addItem</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008000"/>
                </a:solidFill>
                <a:latin typeface="Courier"/>
              </a:rPr>
              <a:t>Shape</a:t>
            </a:r>
            <a:r>
              <a:rPr>
                <a:latin typeface="Courier"/>
              </a:rPr>
              <a:t> shape</a:t>
            </a:r>
            <a:r>
              <a:rPr>
                <a:solidFill>
                  <a:srgbClr val="666666"/>
                </a:solidFill>
                <a:latin typeface="Courier"/>
              </a:rPr>
              <a:t>)</a:t>
            </a:r>
            <a:r>
              <a:rPr>
                <a:latin typeface="Courier"/>
              </a:rPr>
              <a:t> </a:t>
            </a:r>
            <a:r>
              <a:rPr>
                <a:solidFill>
                  <a:srgbClr val="666666"/>
                </a:solidFill>
                <a:latin typeface="Courier"/>
              </a:rPr>
              <a:t>{</a:t>
            </a:r>
            <a:br/>
            <a:r>
              <a:rPr>
                <a:latin typeface="Courier"/>
              </a:rPr>
              <a:t>        items</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id</a:t>
            </a:r>
            <a:r>
              <a:rPr>
                <a:solidFill>
                  <a:srgbClr val="666666"/>
                </a:solidFill>
                <a:latin typeface="Courier"/>
              </a:rPr>
              <a:t>,</a:t>
            </a:r>
            <a:r>
              <a:rPr>
                <a:latin typeface="Courier"/>
              </a:rPr>
              <a:t> shape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Shape</a:t>
            </a:r>
            <a:r>
              <a:rPr>
                <a:latin typeface="Courier"/>
              </a:rPr>
              <a:t> </a:t>
            </a:r>
            <a:r>
              <a:rPr>
                <a:solidFill>
                  <a:srgbClr val="06287E"/>
                </a:solidFill>
                <a:latin typeface="Courier"/>
              </a:rPr>
              <a:t>getById</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666666"/>
                </a:solidFill>
                <a:latin typeface="Courier"/>
              </a:rPr>
              <a:t>(</a:t>
            </a:r>
            <a:r>
              <a:rPr>
                <a:solidFill>
                  <a:srgbClr val="008000"/>
                </a:solidFill>
                <a:latin typeface="Courier"/>
              </a:rPr>
              <a:t>Shape</a:t>
            </a:r>
            <a:r>
              <a:rPr>
                <a:solidFill>
                  <a:srgbClr val="666666"/>
                </a:solidFill>
                <a:latin typeface="Courier"/>
              </a:rPr>
              <a:t>)</a:t>
            </a:r>
            <a:r>
              <a:rPr>
                <a:latin typeface="Courier"/>
              </a:rPr>
              <a:t> items</a:t>
            </a:r>
            <a:r>
              <a:rPr>
                <a:solidFill>
                  <a:srgbClr val="666666"/>
                </a:solidFill>
                <a:latin typeface="Courier"/>
              </a:rPr>
              <a:t>.</a:t>
            </a:r>
            <a:r>
              <a:rPr>
                <a:solidFill>
                  <a:srgbClr val="06287E"/>
                </a:solidFill>
                <a:latin typeface="Courier"/>
              </a:rPr>
              <a:t>get</a:t>
            </a:r>
            <a:r>
              <a:rPr>
                <a:solidFill>
                  <a:srgbClr val="666666"/>
                </a:solidFill>
                <a:latin typeface="Courier"/>
              </a:rPr>
              <a:t>(</a:t>
            </a:r>
            <a:r>
              <a:rPr>
                <a:latin typeface="Courier"/>
              </a:rPr>
              <a:t>id</a:t>
            </a:r>
            <a:r>
              <a:rPr>
                <a:solidFill>
                  <a:srgbClr val="666666"/>
                </a:solidFill>
                <a:latin typeface="Courier"/>
              </a:rPr>
              <a:t>).</a:t>
            </a:r>
            <a:r>
              <a:rPr>
                <a:solidFill>
                  <a:srgbClr val="06287E"/>
                </a:solidFill>
                <a:latin typeface="Courier"/>
              </a:rPr>
              <a:t>clone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Prototype (Prototip) - Java Kod Örneği (devam)</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Client code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PrototypeDemo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Create original shapes</a:t>
            </a:r>
            <a:br/>
            <a:r>
              <a:rPr>
                <a:latin typeface="Courier"/>
              </a:rPr>
              <a:t>        Circle circle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Circle</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a:t>
            </a:r>
            <a:r>
              <a:rPr>
                <a:solidFill>
                  <a:srgbClr val="40A070"/>
                </a:solidFill>
                <a:latin typeface="Courier"/>
              </a:rPr>
              <a:t>15</a:t>
            </a:r>
            <a:r>
              <a:rPr>
                <a:solidFill>
                  <a:srgbClr val="666666"/>
                </a:solidFill>
                <a:latin typeface="Courier"/>
              </a:rPr>
              <a:t>;</a:t>
            </a:r>
            <a:br/>
            <a:r>
              <a:rPr>
                <a:latin typeface="Courier"/>
              </a:rPr>
              <a:t>        circle</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a:t>
            </a:r>
            <a:r>
              <a:rPr>
                <a:solidFill>
                  <a:srgbClr val="4070A0"/>
                </a:solidFill>
                <a:latin typeface="Courier"/>
              </a:rPr>
              <a:t>"red"</a:t>
            </a:r>
            <a:r>
              <a:rPr>
                <a:solidFill>
                  <a:srgbClr val="666666"/>
                </a:solidFill>
                <a:latin typeface="Courier"/>
              </a:rPr>
              <a:t>;</a:t>
            </a:r>
            <a:br/>
            <a:br/>
            <a:r>
              <a:rPr>
                <a:latin typeface="Courier"/>
              </a:rPr>
              <a:t>        </a:t>
            </a:r>
            <a:r>
              <a:rPr i="1">
                <a:solidFill>
                  <a:srgbClr val="60A0B0"/>
                </a:solidFill>
                <a:latin typeface="Courier"/>
              </a:rPr>
              <a:t>// Clone the circle</a:t>
            </a:r>
            <a:br/>
            <a:r>
              <a:rPr>
                <a:latin typeface="Courier"/>
              </a:rPr>
              <a:t>        Circle clonedCircle </a:t>
            </a:r>
            <a:r>
              <a:rPr>
                <a:solidFill>
                  <a:srgbClr val="666666"/>
                </a:solidFill>
                <a:latin typeface="Courier"/>
              </a:rPr>
              <a:t>=</a:t>
            </a:r>
            <a:r>
              <a:rPr>
                <a:latin typeface="Courier"/>
              </a:rPr>
              <a:t> </a:t>
            </a:r>
            <a:r>
              <a:rPr>
                <a:solidFill>
                  <a:srgbClr val="666666"/>
                </a:solidFill>
                <a:latin typeface="Courier"/>
              </a:rPr>
              <a:t>(</a:t>
            </a:r>
            <a:r>
              <a:rPr>
                <a:latin typeface="Courier"/>
              </a:rPr>
              <a:t>Circle</a:t>
            </a:r>
            <a:r>
              <a:rPr>
                <a:solidFill>
                  <a:srgbClr val="666666"/>
                </a:solidFill>
                <a:latin typeface="Courier"/>
              </a:rPr>
              <a:t>)</a:t>
            </a:r>
            <a:r>
              <a:rPr>
                <a:latin typeface="Courier"/>
              </a:rPr>
              <a:t> circle</a:t>
            </a:r>
            <a:r>
              <a:rPr>
                <a:solidFill>
                  <a:srgbClr val="666666"/>
                </a:solidFill>
                <a:latin typeface="Courier"/>
              </a:rPr>
              <a:t>.</a:t>
            </a:r>
            <a:r>
              <a:rPr>
                <a:solidFill>
                  <a:srgbClr val="06287E"/>
                </a:solidFill>
                <a:latin typeface="Courier"/>
              </a:rPr>
              <a:t>clone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"Original: "</a:t>
            </a:r>
            <a:r>
              <a:rPr>
                <a:latin typeface="Courier"/>
              </a:rPr>
              <a:t> </a:t>
            </a:r>
            <a:r>
              <a:rPr>
                <a:solidFill>
                  <a:srgbClr val="666666"/>
                </a:solidFill>
                <a:latin typeface="Courier"/>
              </a:rPr>
              <a:t>+</a:t>
            </a:r>
            <a:r>
              <a:rPr>
                <a:latin typeface="Courier"/>
              </a:rPr>
              <a:t> circle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"Clone:    "</a:t>
            </a:r>
            <a:r>
              <a:rPr>
                <a:latin typeface="Courier"/>
              </a:rPr>
              <a:t> </a:t>
            </a:r>
            <a:r>
              <a:rPr>
                <a:solidFill>
                  <a:srgbClr val="666666"/>
                </a:solidFill>
                <a:latin typeface="Courier"/>
              </a:rPr>
              <a:t>+</a:t>
            </a:r>
            <a:r>
              <a:rPr>
                <a:latin typeface="Courier"/>
              </a:rPr>
              <a:t> clonedCircle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"Same object? "</a:t>
            </a:r>
            <a:r>
              <a:rPr>
                <a:latin typeface="Courier"/>
              </a:rPr>
              <a:t> </a:t>
            </a:r>
            <a:r>
              <a:rPr>
                <a:solidFill>
                  <a:srgbClr val="666666"/>
                </a:solidFill>
                <a:latin typeface="Courier"/>
              </a:rPr>
              <a:t>+</a:t>
            </a:r>
            <a:br/>
            <a:r>
              <a:rPr>
                <a:latin typeface="Courier"/>
              </a:rPr>
              <a:t>            </a:t>
            </a:r>
            <a:r>
              <a:rPr>
                <a:solidFill>
                  <a:srgbClr val="666666"/>
                </a:solidFill>
                <a:latin typeface="Courier"/>
              </a:rPr>
              <a:t>(</a:t>
            </a:r>
            <a:r>
              <a:rPr>
                <a:latin typeface="Courier"/>
              </a:rPr>
              <a:t>circle </a:t>
            </a:r>
            <a:r>
              <a:rPr>
                <a:solidFill>
                  <a:srgbClr val="666666"/>
                </a:solidFill>
                <a:latin typeface="Courier"/>
              </a:rPr>
              <a:t>==</a:t>
            </a:r>
            <a:r>
              <a:rPr>
                <a:latin typeface="Courier"/>
              </a:rPr>
              <a:t> clonedCircle</a:t>
            </a:r>
            <a:r>
              <a:rPr>
                <a:solidFill>
                  <a:srgbClr val="666666"/>
                </a:solidFill>
                <a:latin typeface="Courier"/>
              </a:rPr>
              <a:t>));</a:t>
            </a:r>
            <a:r>
              <a:rPr>
                <a:latin typeface="Courier"/>
              </a:rPr>
              <a:t> </a:t>
            </a:r>
            <a:r>
              <a:rPr i="1">
                <a:solidFill>
                  <a:srgbClr val="60A0B0"/>
                </a:solidFill>
                <a:latin typeface="Courier"/>
              </a:rPr>
              <a:t>// false</a:t>
            </a:r>
            <a:br/>
            <a:br/>
            <a:r>
              <a:rPr>
                <a:latin typeface="Courier"/>
              </a:rPr>
              <a:t>        </a:t>
            </a:r>
            <a:r>
              <a:rPr i="1">
                <a:solidFill>
                  <a:srgbClr val="60A0B0"/>
                </a:solidFill>
                <a:latin typeface="Courier"/>
              </a:rPr>
              <a:t>// Use prototype registry</a:t>
            </a:r>
            <a:br/>
            <a:r>
              <a:rPr>
                <a:latin typeface="Courier"/>
              </a:rPr>
              <a:t>        PrototypeRegistry registry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PrototypeRegistry</a:t>
            </a:r>
            <a:r>
              <a:rPr>
                <a:solidFill>
                  <a:srgbClr val="666666"/>
                </a:solidFill>
                <a:latin typeface="Courier"/>
              </a:rPr>
              <a:t>();</a:t>
            </a:r>
            <a:br/>
            <a:r>
              <a:rPr>
                <a:latin typeface="Courier"/>
              </a:rPr>
              <a:t>        registry</a:t>
            </a:r>
            <a:r>
              <a:rPr>
                <a:solidFill>
                  <a:srgbClr val="666666"/>
                </a:solidFill>
                <a:latin typeface="Courier"/>
              </a:rPr>
              <a:t>.</a:t>
            </a:r>
            <a:r>
              <a:rPr>
                <a:solidFill>
                  <a:srgbClr val="06287E"/>
                </a:solidFill>
                <a:latin typeface="Courier"/>
              </a:rPr>
              <a:t>addItem</a:t>
            </a:r>
            <a:r>
              <a:rPr>
                <a:solidFill>
                  <a:srgbClr val="666666"/>
                </a:solidFill>
                <a:latin typeface="Courier"/>
              </a:rPr>
              <a:t>(</a:t>
            </a:r>
            <a:r>
              <a:rPr>
                <a:solidFill>
                  <a:srgbClr val="4070A0"/>
                </a:solidFill>
                <a:latin typeface="Courier"/>
              </a:rPr>
              <a:t>"big-red-circle"</a:t>
            </a:r>
            <a:r>
              <a:rPr>
                <a:solidFill>
                  <a:srgbClr val="666666"/>
                </a:solidFill>
                <a:latin typeface="Courier"/>
              </a:rPr>
              <a:t>,</a:t>
            </a:r>
            <a:r>
              <a:rPr>
                <a:latin typeface="Courier"/>
              </a:rPr>
              <a:t> circle</a:t>
            </a:r>
            <a:r>
              <a:rPr>
                <a:solidFill>
                  <a:srgbClr val="666666"/>
                </a:solidFill>
                <a:latin typeface="Courier"/>
              </a:rPr>
              <a:t>);</a:t>
            </a:r>
            <a:br/>
            <a:br/>
            <a:r>
              <a:rPr>
                <a:latin typeface="Courier"/>
              </a:rPr>
              <a:t>        </a:t>
            </a:r>
            <a:r>
              <a:rPr>
                <a:solidFill>
                  <a:srgbClr val="008000"/>
                </a:solidFill>
                <a:latin typeface="Courier"/>
              </a:rPr>
              <a:t>Rectangle</a:t>
            </a:r>
            <a:r>
              <a:rPr>
                <a:latin typeface="Courier"/>
              </a:rPr>
              <a:t> rect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Rectangle</a:t>
            </a:r>
            <a:r>
              <a:rPr>
                <a:solidFill>
                  <a:srgbClr val="666666"/>
                </a:solidFill>
                <a:latin typeface="Courier"/>
              </a:rPr>
              <a:t>();</a:t>
            </a:r>
            <a:br/>
            <a:r>
              <a:rPr>
                <a:latin typeface="Courier"/>
              </a:rPr>
              <a:t>        rect</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rect</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br/>
            <a:r>
              <a:rPr>
                <a:latin typeface="Courier"/>
              </a:rPr>
              <a:t>        rect</a:t>
            </a:r>
            <a:r>
              <a:rPr>
                <a:solidFill>
                  <a:srgbClr val="666666"/>
                </a:solidFill>
                <a:latin typeface="Courier"/>
              </a:rPr>
              <a:t>.</a:t>
            </a:r>
            <a:r>
              <a:rPr>
                <a:solidFill>
                  <a:srgbClr val="06287E"/>
                </a:solidFill>
                <a:latin typeface="Courier"/>
              </a:rPr>
              <a:t>width</a:t>
            </a:r>
            <a:r>
              <a:rPr>
                <a:latin typeface="Courier"/>
              </a:rPr>
              <a:t> </a:t>
            </a:r>
            <a:r>
              <a:rPr>
                <a:solidFill>
                  <a:srgbClr val="666666"/>
                </a:solidFill>
                <a:latin typeface="Courier"/>
              </a:rPr>
              <a:t>=</a:t>
            </a:r>
            <a:r>
              <a:rPr>
                <a:latin typeface="Courier"/>
              </a:rPr>
              <a:t> </a:t>
            </a:r>
            <a:r>
              <a:rPr>
                <a:solidFill>
                  <a:srgbClr val="40A070"/>
                </a:solidFill>
                <a:latin typeface="Courier"/>
              </a:rPr>
              <a:t>100</a:t>
            </a:r>
            <a:r>
              <a:rPr>
                <a:solidFill>
                  <a:srgbClr val="666666"/>
                </a:solidFill>
                <a:latin typeface="Courier"/>
              </a:rPr>
              <a:t>;</a:t>
            </a:r>
            <a:r>
              <a:rPr>
                <a:latin typeface="Courier"/>
              </a:rPr>
              <a:t> rect</a:t>
            </a:r>
            <a:r>
              <a:rPr>
                <a:solidFill>
                  <a:srgbClr val="666666"/>
                </a:solidFill>
                <a:latin typeface="Courier"/>
              </a:rPr>
              <a:t>.</a:t>
            </a:r>
            <a:r>
              <a:rPr>
                <a:solidFill>
                  <a:srgbClr val="06287E"/>
                </a:solidFill>
                <a:latin typeface="Courier"/>
              </a:rPr>
              <a:t>height</a:t>
            </a:r>
            <a:r>
              <a:rPr>
                <a:latin typeface="Courier"/>
              </a:rPr>
              <a:t> </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br/>
            <a:r>
              <a:rPr>
                <a:latin typeface="Courier"/>
              </a:rPr>
              <a:t>        rect</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a:t>
            </a:r>
            <a:r>
              <a:rPr>
                <a:solidFill>
                  <a:srgbClr val="4070A0"/>
                </a:solidFill>
                <a:latin typeface="Courier"/>
              </a:rPr>
              <a:t>"blue"</a:t>
            </a:r>
            <a:r>
              <a:rPr>
                <a:solidFill>
                  <a:srgbClr val="666666"/>
                </a:solidFill>
                <a:latin typeface="Courier"/>
              </a:rPr>
              <a:t>;</a:t>
            </a:r>
            <a:br/>
            <a:r>
              <a:rPr>
                <a:latin typeface="Courier"/>
              </a:rPr>
              <a:t>        registry</a:t>
            </a:r>
            <a:r>
              <a:rPr>
                <a:solidFill>
                  <a:srgbClr val="666666"/>
                </a:solidFill>
                <a:latin typeface="Courier"/>
              </a:rPr>
              <a:t>.</a:t>
            </a:r>
            <a:r>
              <a:rPr>
                <a:solidFill>
                  <a:srgbClr val="06287E"/>
                </a:solidFill>
                <a:latin typeface="Courier"/>
              </a:rPr>
              <a:t>addItem</a:t>
            </a:r>
            <a:r>
              <a:rPr>
                <a:solidFill>
                  <a:srgbClr val="666666"/>
                </a:solidFill>
                <a:latin typeface="Courier"/>
              </a:rPr>
              <a:t>(</a:t>
            </a:r>
            <a:r>
              <a:rPr>
                <a:solidFill>
                  <a:srgbClr val="4070A0"/>
                </a:solidFill>
                <a:latin typeface="Courier"/>
              </a:rPr>
              <a:t>"blue-rect"</a:t>
            </a:r>
            <a:r>
              <a:rPr>
                <a:solidFill>
                  <a:srgbClr val="666666"/>
                </a:solidFill>
                <a:latin typeface="Courier"/>
              </a:rPr>
              <a:t>,</a:t>
            </a:r>
            <a:r>
              <a:rPr>
                <a:latin typeface="Courier"/>
              </a:rPr>
              <a:t> rect</a:t>
            </a:r>
            <a:r>
              <a:rPr>
                <a:solidFill>
                  <a:srgbClr val="666666"/>
                </a:solidFill>
                <a:latin typeface="Courier"/>
              </a:rPr>
              <a:t>);</a:t>
            </a:r>
            <a:br/>
            <a:br/>
            <a:r>
              <a:rPr>
                <a:latin typeface="Courier"/>
              </a:rPr>
              <a:t>        </a:t>
            </a:r>
            <a:r>
              <a:rPr i="1">
                <a:solidFill>
                  <a:srgbClr val="60A0B0"/>
                </a:solidFill>
                <a:latin typeface="Courier"/>
              </a:rPr>
              <a:t>// Get clones from registry</a:t>
            </a:r>
            <a:br/>
            <a:r>
              <a:rPr>
                <a:latin typeface="Courier"/>
              </a:rPr>
              <a:t>        </a:t>
            </a:r>
            <a:r>
              <a:rPr>
                <a:solidFill>
                  <a:srgbClr val="008000"/>
                </a:solidFill>
                <a:latin typeface="Courier"/>
              </a:rPr>
              <a:t>Shape</a:t>
            </a:r>
            <a:r>
              <a:rPr>
                <a:latin typeface="Courier"/>
              </a:rPr>
              <a:t> s1 </a:t>
            </a:r>
            <a:r>
              <a:rPr>
                <a:solidFill>
                  <a:srgbClr val="666666"/>
                </a:solidFill>
                <a:latin typeface="Courier"/>
              </a:rPr>
              <a:t>=</a:t>
            </a:r>
            <a:r>
              <a:rPr>
                <a:latin typeface="Courier"/>
              </a:rPr>
              <a:t> registry</a:t>
            </a:r>
            <a:r>
              <a:rPr>
                <a:solidFill>
                  <a:srgbClr val="666666"/>
                </a:solidFill>
                <a:latin typeface="Courier"/>
              </a:rPr>
              <a:t>.</a:t>
            </a:r>
            <a:r>
              <a:rPr>
                <a:solidFill>
                  <a:srgbClr val="06287E"/>
                </a:solidFill>
                <a:latin typeface="Courier"/>
              </a:rPr>
              <a:t>getById</a:t>
            </a:r>
            <a:r>
              <a:rPr>
                <a:solidFill>
                  <a:srgbClr val="666666"/>
                </a:solidFill>
                <a:latin typeface="Courier"/>
              </a:rPr>
              <a:t>(</a:t>
            </a:r>
            <a:r>
              <a:rPr>
                <a:solidFill>
                  <a:srgbClr val="4070A0"/>
                </a:solidFill>
                <a:latin typeface="Courier"/>
              </a:rPr>
              <a:t>"big-red-circle"</a:t>
            </a:r>
            <a:r>
              <a:rPr>
                <a:solidFill>
                  <a:srgbClr val="666666"/>
                </a:solidFill>
                <a:latin typeface="Courier"/>
              </a:rPr>
              <a:t>);</a:t>
            </a:r>
            <a:br/>
            <a:r>
              <a:rPr>
                <a:latin typeface="Courier"/>
              </a:rPr>
              <a:t>        </a:t>
            </a:r>
            <a:r>
              <a:rPr>
                <a:solidFill>
                  <a:srgbClr val="008000"/>
                </a:solidFill>
                <a:latin typeface="Courier"/>
              </a:rPr>
              <a:t>Shape</a:t>
            </a:r>
            <a:r>
              <a:rPr>
                <a:latin typeface="Courier"/>
              </a:rPr>
              <a:t> s2 </a:t>
            </a:r>
            <a:r>
              <a:rPr>
                <a:solidFill>
                  <a:srgbClr val="666666"/>
                </a:solidFill>
                <a:latin typeface="Courier"/>
              </a:rPr>
              <a:t>=</a:t>
            </a:r>
            <a:r>
              <a:rPr>
                <a:latin typeface="Courier"/>
              </a:rPr>
              <a:t> registry</a:t>
            </a:r>
            <a:r>
              <a:rPr>
                <a:solidFill>
                  <a:srgbClr val="666666"/>
                </a:solidFill>
                <a:latin typeface="Courier"/>
              </a:rPr>
              <a:t>.</a:t>
            </a:r>
            <a:r>
              <a:rPr>
                <a:solidFill>
                  <a:srgbClr val="06287E"/>
                </a:solidFill>
                <a:latin typeface="Courier"/>
              </a:rPr>
              <a:t>getById</a:t>
            </a:r>
            <a:r>
              <a:rPr>
                <a:solidFill>
                  <a:srgbClr val="666666"/>
                </a:solidFill>
                <a:latin typeface="Courier"/>
              </a:rPr>
              <a:t>(</a:t>
            </a:r>
            <a:r>
              <a:rPr>
                <a:solidFill>
                  <a:srgbClr val="4070A0"/>
                </a:solidFill>
                <a:latin typeface="Courier"/>
              </a:rPr>
              <a:t>"blue-rect"</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"From registry: "</a:t>
            </a:r>
            <a:r>
              <a:rPr>
                <a:latin typeface="Courier"/>
              </a:rPr>
              <a:t> </a:t>
            </a:r>
            <a:r>
              <a:rPr>
                <a:solidFill>
                  <a:srgbClr val="666666"/>
                </a:solidFill>
                <a:latin typeface="Courier"/>
              </a:rPr>
              <a:t>+</a:t>
            </a:r>
            <a:r>
              <a:rPr>
                <a:latin typeface="Courier"/>
              </a:rPr>
              <a:t> s1</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"From registry: "</a:t>
            </a:r>
            <a:r>
              <a:rPr>
                <a:latin typeface="Courier"/>
              </a:rPr>
              <a:t> </a:t>
            </a:r>
            <a:r>
              <a:rPr>
                <a:solidFill>
                  <a:srgbClr val="666666"/>
                </a:solidFill>
                <a:latin typeface="Courier"/>
              </a:rPr>
              <a:t>+</a:t>
            </a:r>
            <a:r>
              <a:rPr>
                <a:latin typeface="Courier"/>
              </a:rPr>
              <a:t> s2</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E: Özet</a:t>
            </a:r>
          </a:p>
        </p:txBody>
      </p:sp>
      <p:sp>
        <p:nvSpPr>
          <p:cNvPr id="3" name="Content Placeholder 2"/>
          <p:cNvSpPr>
            <a:spLocks noGrp="1"/>
          </p:cNvSpPr>
          <p:nvPr>
            <p:ph idx="1"/>
          </p:nvPr>
        </p:nvSpPr>
        <p:spPr/>
        <p:txBody>
          <a:bodyPr/>
          <a:lstStyle/>
          <a:p>
            <a:pPr lvl="0"/>
            <a:r>
              <a:rPr b="1"/>
              <a:t>Prototype (Prototip)</a:t>
            </a:r>
            <a:r>
              <a:rPr/>
              <a:t> (</a:t>
            </a:r>
            <a:r>
              <a:rPr b="1"/>
              <a:t>Clone/Klon</a:t>
            </a:r>
            <a:r>
              <a:rPr/>
              <a:t> olarak da bilinir) kodunuzu sınıflarına bağımlı kılmadan mevcut nesneleri kopyalamanıza olanak tanır.</a:t>
            </a:r>
          </a:p>
          <a:p>
            <a:pPr lvl="0"/>
            <a:r>
              <a:rPr/>
              <a:t>Nesneleri kopyalarken </a:t>
            </a:r>
            <a:r>
              <a:rPr b="1"/>
              <a:t>sınıf bağımlılığı</a:t>
            </a:r>
            <a:r>
              <a:rPr/>
              <a:t> sorununu çözer ve dışarıdan erişilemeyen </a:t>
            </a:r>
            <a:r>
              <a:rPr b="1"/>
              <a:t>özel alanlar</a:t>
            </a:r>
            <a:r>
              <a:rPr/>
              <a:t> sorununu ele alır.</a:t>
            </a:r>
          </a:p>
          <a:p>
            <a:pPr lvl="0"/>
            <a:r>
              <a:rPr/>
              <a:t>Desen bir </a:t>
            </a:r>
            <a:r>
              <a:rPr b="1"/>
              <a:t>clone arayüzü</a:t>
            </a:r>
            <a:r>
              <a:rPr/>
              <a:t>, kopya yapıcılara sahip </a:t>
            </a:r>
            <a:r>
              <a:rPr b="1"/>
              <a:t>somut prototipler</a:t>
            </a:r>
            <a:r>
              <a:rPr/>
              <a:t> ve isteğe bağlı bir </a:t>
            </a:r>
            <a:r>
              <a:rPr b="1"/>
              <a:t>Prototype Registry (Prototip Kayıt Defteri)</a:t>
            </a:r>
            <a:r>
              <a:rPr/>
              <a:t> kullanır.</a:t>
            </a:r>
          </a:p>
          <a:p>
            <a:pPr lvl="0"/>
            <a:r>
              <a:rPr/>
              <a:t>Prototype, yapılandırma ön ayarlarıyla başa çıkmak için </a:t>
            </a:r>
            <a:r>
              <a:rPr b="1"/>
              <a:t>kalıtıma alternatiftir</a:t>
            </a:r>
            <a:r>
              <a:rPr/>
              <a:t>: alt sınıflar yerine, önceden yapılandırılmış prototipleri kullanın ve klonlayın.</a:t>
            </a:r>
          </a:p>
          <a:p>
            <a:pPr lvl="0"/>
            <a:r>
              <a:rPr/>
              <a:t>Ana zorluk, derin klonlama sırasında </a:t>
            </a:r>
            <a:r>
              <a:rPr b="1"/>
              <a:t>dairesel referansları</a:t>
            </a:r>
            <a:r>
              <a:rPr/>
              <a:t> ele almaktır.</a:t>
            </a:r>
          </a:p>
          <a:p>
            <a:pPr lvl="0"/>
            <a:r>
              <a:rPr/>
              <a:t>Prototype, karmaşık yapıları klonlamak için </a:t>
            </a:r>
            <a:r>
              <a:rPr b="1"/>
              <a:t>Composite</a:t>
            </a:r>
            <a:r>
              <a:rPr/>
              <a:t> ve </a:t>
            </a:r>
            <a:r>
              <a:rPr b="1"/>
              <a:t>Decorator</a:t>
            </a:r>
            <a:r>
              <a:rPr/>
              <a:t> desenleriyle birleştirilebilir.</a:t>
            </a:r>
          </a:p>
          <a:p>
            <a:pPr lvl="0"/>
            <a:r>
              <a:rPr b="1"/>
              <a:t>Factory Method</a:t>
            </a:r>
            <a:r>
              <a:rPr/>
              <a:t>’dan farklı olarak, Prototype </a:t>
            </a:r>
            <a:r>
              <a:rPr b="1"/>
              <a:t>kalıtıma dayalı değildir</a:t>
            </a:r>
            <a:r>
              <a:rPr/>
              <a:t> ancak klonlanan nesnenin uygun şekilde başlatılmasını gerektirir.</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F: Singleton (Tekil Nesne) Deseni</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Deseni - Genel Bakış</a:t>
            </a:r>
          </a:p>
        </p:txBody>
      </p:sp>
      <p:sp>
        <p:nvSpPr>
          <p:cNvPr id="3" name="Content Placeholder 2"/>
          <p:cNvSpPr>
            <a:spLocks noGrp="1"/>
          </p:cNvSpPr>
          <p:nvPr>
            <p:ph idx="1"/>
          </p:nvPr>
        </p:nvSpPr>
        <p:spPr/>
        <p:txBody>
          <a:bodyPr/>
          <a:lstStyle/>
          <a:p>
            <a:pPr lvl="0"/>
            <a:r>
              <a:rPr b="1"/>
              <a:t>Kategori</a:t>
            </a:r>
            <a:r>
              <a:rPr/>
              <a:t>: Yaratımsal Desen (Creational Pattern)</a:t>
            </a:r>
          </a:p>
          <a:p>
            <a:pPr lvl="0"/>
            <a:r>
              <a:rPr b="1"/>
              <a:t>Karmaşıklık</a:t>
            </a:r>
            <a:r>
              <a:rPr/>
              <a:t>: Düşük</a:t>
            </a:r>
          </a:p>
          <a:p>
            <a:pPr lvl="0"/>
            <a:r>
              <a:rPr b="1"/>
              <a:t>Popülerlik</a:t>
            </a:r>
            <a:r>
              <a:rPr/>
              <a:t>: Çok Yüksek (aynı zamanda tartışmalı)</a:t>
            </a:r>
          </a:p>
          <a:p>
            <a:pPr lvl="0" indent="0" marL="0">
              <a:buNone/>
            </a:pPr>
            <a:r>
              <a:rPr b="1"/>
              <a:t>Amaç</a:t>
            </a:r>
            <a:r>
              <a:rPr/>
              <a:t>: Singleton (Tekil Nesne), bir sınıfın yalnızca bir örneğe sahip olmasını sağlarken, bu örneğe global bir erişim noktası sunan bir yaratımsal tasarım desenidir.</a:t>
            </a:r>
          </a:p>
          <a:p>
            <a:pPr lvl="0" indent="0" marL="0">
              <a:buNone/>
            </a:pPr>
            <a:r>
              <a:rPr/>
              <a:t>Referans: </a:t>
            </a:r>
            <a:r>
              <a:rPr>
                <a:hlinkClick r:id="rId2"/>
              </a:rPr>
              <a:t>RefactoringGuru - Singleton</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Problem</a:t>
            </a:r>
          </a:p>
        </p:txBody>
      </p:sp>
      <p:sp>
        <p:nvSpPr>
          <p:cNvPr id="3" name="Content Placeholder 2"/>
          <p:cNvSpPr>
            <a:spLocks noGrp="1"/>
          </p:cNvSpPr>
          <p:nvPr>
            <p:ph idx="1"/>
          </p:nvPr>
        </p:nvSpPr>
        <p:spPr/>
        <p:txBody>
          <a:bodyPr/>
          <a:lstStyle/>
          <a:p>
            <a:pPr lvl="0" indent="0" marL="0">
              <a:buNone/>
            </a:pPr>
            <a:r>
              <a:rPr/>
              <a:t>Singleton deseni aynı anda iki sorunu çözer (Tek Sorumluluk İlkesini ihlal eder):</a:t>
            </a:r>
          </a:p>
          <a:p>
            <a:pPr lvl="0" indent="0" marL="0">
              <a:buNone/>
            </a:pPr>
            <a:r>
              <a:rPr b="1"/>
              <a:t>1. Bir sınıfın yalnızca tek bir örneğe sahip olmasını sağlamak.</a:t>
            </a:r>
          </a:p>
          <a:p>
            <a:pPr lvl="0"/>
            <a:r>
              <a:rPr/>
              <a:t>Neden birisi bir sınıfın kaç örneğe sahip olduğunu kontrol etmek istesin? En yaygın neden, paylaşılan bir kaynağa </a:t>
            </a:r>
            <a:r>
              <a:rPr b="1"/>
              <a:t>erişimi kontrol etmektir</a:t>
            </a:r>
            <a:r>
              <a:rPr/>
              <a:t> – örneğin, bir veritabanı veya bir dosya.</a:t>
            </a:r>
          </a:p>
          <a:p>
            <a:pPr lvl="0"/>
            <a:r>
              <a:rPr/>
              <a:t>Şöyle çalışır: bir nesne oluşturduğunuzu, ancak bir süre sonra yeni bir tane oluşturmaya karar verdiğinizi düşünün. Taze bir nesne almak yerine, zaten oluşturulmuş olanı alırsınız.</a:t>
            </a:r>
          </a:p>
          <a:p>
            <a:pPr lvl="0"/>
            <a:r>
              <a:rPr/>
              <a:t>Bu davranışın normal bir yapıcı ile uygulanmasının imkansız olduğunu unutmayın çünkü bir yapıcı çağrısı tasarım gereği her zaman yeni bir nesne döndürmelidir.</a:t>
            </a:r>
          </a:p>
          <a:p>
            <a:pPr lvl="0" indent="0" marL="0">
              <a:buNone/>
            </a:pPr>
            <a:r>
              <a:rPr b="1"/>
              <a:t>2. Bu örneğe global bir erişim noktası sağlamak.</a:t>
            </a:r>
          </a:p>
          <a:p>
            <a:pPr lvl="0"/>
            <a:r>
              <a:rPr/>
              <a:t>Global değişkenleri hatırlıyor musunuz? Çok kullanışlı olmalarına rağmen, çok güvensizlerdir çünkü herhangi bir kod potansiyel olarak bu değişkenlerin içeriğini üzerine yazabilir ve uygulamayı çökertebilir.</a:t>
            </a:r>
          </a:p>
          <a:p>
            <a:pPr lvl="0"/>
            <a:r>
              <a:rPr/>
              <a:t>Tıpkı bir global değişken gibi, Singleton deseni programın herhangi bir yerinden bir nesneye erişmenizi sağlar. Ancak ayrıca </a:t>
            </a:r>
            <a:r>
              <a:rPr b="1"/>
              <a:t>o örneğin başka kod tarafından üzerine yazılmasını da korur</a:t>
            </a:r>
            <a:r>
              <a:rPr/>
              <a:t>.</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Çözüm</a:t>
            </a:r>
          </a:p>
        </p:txBody>
      </p:sp>
      <p:sp>
        <p:nvSpPr>
          <p:cNvPr id="3" name="Content Placeholder 2"/>
          <p:cNvSpPr>
            <a:spLocks noGrp="1"/>
          </p:cNvSpPr>
          <p:nvPr>
            <p:ph idx="1"/>
          </p:nvPr>
        </p:nvSpPr>
        <p:spPr/>
        <p:txBody>
          <a:bodyPr/>
          <a:lstStyle/>
          <a:p>
            <a:pPr lvl="0" indent="0" marL="0">
              <a:buNone/>
            </a:pPr>
            <a:r>
              <a:rPr/>
              <a:t>Singleton’un tüm uygulamalarında iki ortak adım vardır:</a:t>
            </a:r>
          </a:p>
          <a:p>
            <a:pPr lvl="0" indent="-342900" marL="342900">
              <a:buAutoNum type="arabicPeriod"/>
            </a:pPr>
            <a:r>
              <a:rPr b="1"/>
              <a:t>Varsayılan yapıcıyı özel (private) yapın</a:t>
            </a:r>
            <a:r>
              <a:rPr/>
              <a:t>, diğer nesnelerin Singleton sınıfıyla </a:t>
            </a:r>
            <a:r>
              <a:rPr>
                <a:latin typeface="Courier"/>
              </a:rPr>
              <a:t>new</a:t>
            </a:r>
            <a:r>
              <a:rPr/>
              <a:t> operatörünü kullanmasını önlemek için.</a:t>
            </a:r>
          </a:p>
          <a:p>
            <a:pPr lvl="0" indent="-342900" marL="342900">
              <a:buAutoNum type="arabicPeriod"/>
            </a:pPr>
            <a:r>
              <a:rPr b="1"/>
              <a:t>Yapıcı görevi gören statik bir oluşturma yöntemi oluşturun.</a:t>
            </a:r>
            <a:r>
              <a:rPr/>
              <a:t> Bu yöntem, perde arkasında bir nesne oluşturmak için özel yapıcıyı çağırır ve onu statik bir alana kaydeder. Bu yönteme yapılan sonraki tüm çağrılar önbelleğe alınmış nesneyi döndürür.</a:t>
            </a:r>
          </a:p>
          <a:p>
            <a:pPr lvl="0" indent="0" marL="0">
              <a:buNone/>
            </a:pPr>
            <a:r>
              <a:rPr/>
              <a:t>Kodunuz Singleton sınıfına erişebiliyorsa, Singleton’un statik yöntemini çağırabilir. Böylece bu yöntem her çağrıldığında, her zaman aynı nesne döndürülür.</a:t>
            </a:r>
          </a:p>
          <a:p>
            <a:pPr lvl="0" indent="0">
              <a:buNone/>
            </a:pPr>
            <a:r>
              <a:rPr>
                <a:latin typeface="Courier"/>
              </a:rPr>
              <a:t>Singleton
┌──────────────────────────────────┐
│ - instance: Singleton (static)   │
│ - Singleton() (private)          │
│                                  │
│ + getInstance(): Singleton       │
│ + businessLogic()                │
└──────────────────────────────────┘</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Singleton (Tekil Nesne) - Yapı</a:t>
            </a:r>
          </a:p>
        </p:txBody>
      </p:sp>
      <p:sp>
        <p:nvSpPr>
          <p:cNvPr id="4" name="Text Placeholder 3"/>
          <p:cNvSpPr>
            <a:spLocks noGrp="1"/>
          </p:cNvSpPr>
          <p:nvPr>
            <p:ph idx="2" sz="half" type="body"/>
          </p:nvPr>
        </p:nvSpPr>
        <p:spPr/>
        <p:txBody>
          <a:bodyPr/>
          <a:lstStyle/>
          <a:p>
            <a:pPr lvl="0" indent="0" marL="0">
              <a:buNone/>
            </a:pPr>
            <a:r>
              <a:rPr b="1"/>
              <a:t>Singleton</a:t>
            </a:r>
            <a:r>
              <a:rPr/>
              <a:t> sınıfı, kendi sınıfının aynı örneğini döndüren statik </a:t>
            </a:r>
            <a:r>
              <a:rPr>
                <a:latin typeface="Courier"/>
              </a:rPr>
              <a:t>getInstance</a:t>
            </a:r>
            <a:r>
              <a:rPr/>
              <a:t> yöntemini bildirir.</a:t>
            </a:r>
          </a:p>
          <a:p>
            <a:pPr lvl="0"/>
            <a:r>
              <a:rPr/>
              <a:t>Singleton’un yapıcısı istemci kodundan gizlenmelidir.</a:t>
            </a:r>
          </a:p>
          <a:p>
            <a:pPr lvl="0"/>
            <a:r>
              <a:rPr>
                <a:latin typeface="Courier"/>
              </a:rPr>
              <a:t>getInstance</a:t>
            </a:r>
            <a:r>
              <a:rPr/>
              <a:t> yöntemini çağırmak, Singleton nesnesini almanın tek yolu olmalıdır.</a:t>
            </a:r>
          </a:p>
          <a:p>
            <a:pPr lvl="0" indent="0" marL="0">
              <a:buNone/>
            </a:pPr>
            <a:r>
              <a:rPr b="1"/>
              <a:t>Temel yapısal elemanlar: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273300"/>
                <a:gridCol w="2832100"/>
              </a:tblGrid>
              <a:tr h="0">
                <a:tc>
                  <a:txBody>
                    <a:bodyPr/>
                    <a:lstStyle/>
                    <a:p>
                      <a:pPr lvl="0" indent="0" marL="0">
                        <a:buNone/>
                      </a:pPr>
                      <a:r>
                        <a:rPr/>
                        <a:t>Eleman</a:t>
                      </a:r>
                    </a:p>
                  </a:txBody>
                  <a:tcPr/>
                </a:tc>
                <a:tc>
                  <a:txBody>
                    <a:bodyPr/>
                    <a:lstStyle/>
                    <a:p>
                      <a:pPr lvl="0" indent="0" marL="0">
                        <a:buNone/>
                      </a:pPr>
                      <a:r>
                        <a:rPr/>
                        <a:t>Açıklama</a:t>
                      </a:r>
                    </a:p>
                  </a:txBody>
                  <a:tcPr/>
                </a:tc>
              </a:tr>
              <a:tr h="0">
                <a:tc>
                  <a:txBody>
                    <a:bodyPr/>
                    <a:lstStyle/>
                    <a:p>
                      <a:pPr lvl="0" indent="0" marL="0">
                        <a:buNone/>
                      </a:pPr>
                      <a:r>
                        <a:rPr>
                          <a:latin typeface="Courier"/>
                        </a:rPr>
                        <a:t>- instance: Singleton</a:t>
                      </a:r>
                    </a:p>
                  </a:txBody>
                </a:tc>
                <a:tc>
                  <a:txBody>
                    <a:bodyPr/>
                    <a:lstStyle/>
                    <a:p>
                      <a:pPr lvl="0" indent="0" marL="0">
                        <a:buNone/>
                      </a:pPr>
                      <a:r>
                        <a:rPr/>
                        <a:t>Tekil örneği tutan statik alan</a:t>
                      </a:r>
                    </a:p>
                  </a:txBody>
                </a:tc>
              </a:tr>
              <a:tr h="0">
                <a:tc>
                  <a:txBody>
                    <a:bodyPr/>
                    <a:lstStyle/>
                    <a:p>
                      <a:pPr lvl="0" indent="0" marL="0">
                        <a:buNone/>
                      </a:pPr>
                      <a:r>
                        <a:rPr>
                          <a:latin typeface="Courier"/>
                        </a:rPr>
                        <a:t>- Singleton()</a:t>
                      </a:r>
                    </a:p>
                  </a:txBody>
                </a:tc>
                <a:tc>
                  <a:txBody>
                    <a:bodyPr/>
                    <a:lstStyle/>
                    <a:p>
                      <a:pPr lvl="0" indent="0" marL="0">
                        <a:buNone/>
                      </a:pPr>
                      <a:r>
                        <a:rPr/>
                        <a:t>Dışarıdan örneklemeyi engelleyen özel yapıcı</a:t>
                      </a:r>
                    </a:p>
                  </a:txBody>
                </a:tc>
              </a:tr>
              <a:tr h="0">
                <a:tc>
                  <a:txBody>
                    <a:bodyPr/>
                    <a:lstStyle/>
                    <a:p>
                      <a:pPr lvl="0" indent="0" marL="0">
                        <a:buNone/>
                      </a:pPr>
                      <a:r>
                        <a:rPr>
                          <a:latin typeface="Courier"/>
                        </a:rPr>
                        <a:t>+ getInstance()</a:t>
                      </a:r>
                    </a:p>
                  </a:txBody>
                </a:tc>
                <a:tc>
                  <a:txBody>
                    <a:bodyPr/>
                    <a:lstStyle/>
                    <a:p>
                      <a:pPr lvl="0" indent="0" marL="0">
                        <a:buNone/>
                      </a:pPr>
                      <a:r>
                        <a:rPr/>
                        <a:t>Tekil örneği döndüren genel statik yöntem</a:t>
                      </a:r>
                    </a:p>
                  </a:txBody>
                </a:tc>
              </a:tr>
              <a:tr h="0">
                <a:tc>
                  <a:txBody>
                    <a:bodyPr/>
                    <a:lstStyle/>
                    <a:p>
                      <a:pPr lvl="0" indent="0" marL="0">
                        <a:buNone/>
                      </a:pPr>
                      <a:r>
                        <a:rPr/>
                        <a:t>İş yöntemleri</a:t>
                      </a:r>
                    </a:p>
                  </a:txBody>
                </a:tc>
                <a:tc>
                  <a:txBody>
                    <a:bodyPr/>
                    <a:lstStyle/>
                    <a:p>
                      <a:pPr lvl="0" indent="0" marL="0">
                        <a:buNone/>
                      </a:pPr>
                      <a:r>
                        <a:rPr/>
                        <a:t>Singleton sınıfının sağlaması gereken herhangi bir yöntem</a:t>
                      </a:r>
                    </a:p>
                  </a:txBody>
                </a:tc>
              </a:tr>
            </a:tbl>
          </a:graphicData>
        </a:graphic>
      </p:graphicFrame>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Singleton - Sınıf Diyagramı</a:t>
            </a:r>
          </a:p>
        </p:txBody>
      </p:sp>
      <p:pic>
        <p:nvPicPr>
          <p:cNvPr descr="assets/singleton-structure.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Sözde Kod</a:t>
            </a:r>
          </a:p>
        </p:txBody>
      </p:sp>
      <p:sp>
        <p:nvSpPr>
          <p:cNvPr id="3" name="Content Placeholder 2"/>
          <p:cNvSpPr>
            <a:spLocks noGrp="1"/>
          </p:cNvSpPr>
          <p:nvPr>
            <p:ph idx="1"/>
          </p:nvPr>
        </p:nvSpPr>
        <p:spPr/>
        <p:txBody>
          <a:bodyPr/>
          <a:lstStyle/>
          <a:p>
            <a:pPr lvl="0" indent="0" marL="0">
              <a:buNone/>
            </a:pPr>
            <a:r>
              <a:rPr/>
              <a:t>Bu örnekte, veritabanı bağlantı sınıfı bir Singleton olarak hareket eder. Bu sınıfın genel bir yapıcısı yoktur, bu nedenle nesnesini almanın tek yolu </a:t>
            </a:r>
            <a:r>
              <a:rPr>
                <a:latin typeface="Courier"/>
              </a:rPr>
              <a:t>getInstance</a:t>
            </a:r>
            <a:r>
              <a:rPr/>
              <a:t> yöntemini çağırmaktır. Bu yöntem ilk oluşturulan nesneyi önbelleğe alır ve sonraki tüm çağrılarda onu döndürür.</a:t>
            </a:r>
          </a:p>
          <a:p>
            <a:pPr lvl="0" indent="0">
              <a:buNone/>
            </a:pPr>
            <a:r>
              <a:rPr>
                <a:latin typeface="Courier"/>
              </a:rPr>
              <a:t>class Database is
    // The field for storing the singleton instance
    // should be declared static.
    private static field instance: Database
    // The singleton's constructor should always be
    // private to prevent direct construction calls
    // with the `new` operator.
    private constructor Database() is
        // Some initialization code, such as the actual
        // connection to a database server.
    // The static method that controls the access to
    // the singleton instance.
    public static method getInstance() is
        if (Database.instance == null) then
            acquireThreadLock() and then
                // Ensure that the instance has not yet been
                // initialized by another thread.
                if (Database.instance == null) then
                    Database.instance = new Database()
        return Database.instance
    public method query(sql) is
        // All database queries go through this method.</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Singleton - Sıralama Diyagramı</a:t>
            </a:r>
          </a:p>
        </p:txBody>
      </p:sp>
      <p:pic>
        <p:nvPicPr>
          <p:cNvPr descr="assets/singleton-sequence.png" id="0" name="Picture 1"/>
          <p:cNvPicPr>
            <a:picLocks noGrp="1" noChangeAspect="1"/>
          </p:cNvPicPr>
          <p:nvPr/>
        </p:nvPicPr>
        <p:blipFill>
          <a:blip r:embed="rId2"/>
          <a:stretch>
            <a:fillRect/>
          </a:stretch>
        </p:blipFill>
        <p:spPr bwMode="auto">
          <a:xfrm>
            <a:off x="4572000" y="203200"/>
            <a:ext cx="3098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Singleton (Tekil Nesne) - İş Parçacığı Güvenliği Sorunu</a:t>
            </a:r>
          </a:p>
        </p:txBody>
      </p:sp>
      <p:sp>
        <p:nvSpPr>
          <p:cNvPr id="4" name="Text Placeholder 3"/>
          <p:cNvSpPr>
            <a:spLocks noGrp="1"/>
          </p:cNvSpPr>
          <p:nvPr>
            <p:ph idx="2" sz="half" type="body"/>
          </p:nvPr>
        </p:nvSpPr>
        <p:spPr/>
        <p:txBody>
          <a:bodyPr/>
          <a:lstStyle/>
          <a:p>
            <a:pPr lvl="0" indent="0" marL="0">
              <a:buNone/>
            </a:pPr>
            <a:r>
              <a:rPr b="1"/>
              <a:t>Basit uygulama iş parçacığı güvenli DEĞİLDİR:</a:t>
            </a:r>
          </a:p>
          <a:p>
            <a:pPr lvl="0" indent="0">
              <a:buNone/>
            </a:pPr>
            <a:r>
              <a:rPr>
                <a:latin typeface="Courier"/>
              </a:rPr>
              <a:t>// BROKEN: Race condition possible
public static Singleton getInstance() {
    if (instance == null) {          // Thread A checks
        // Thread B also checks - both see null!
        instance = new Singleton();  // Both create instances!
    }
    return instance;
}</a:t>
            </a:r>
          </a:p>
          <a:p>
            <a:pPr lvl="0" indent="0" marL="0">
              <a:buNone/>
            </a:pPr>
            <a:r>
              <a:rPr b="1"/>
              <a:t>Yarış koşulunun zaman çizelgesi:</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Zaman</a:t>
                      </a:r>
                    </a:p>
                  </a:txBody>
                  <a:tcPr/>
                </a:tc>
                <a:tc>
                  <a:txBody>
                    <a:bodyPr/>
                    <a:lstStyle/>
                    <a:p>
                      <a:pPr lvl="0" indent="0" marL="0">
                        <a:buNone/>
                      </a:pPr>
                      <a:r>
                        <a:rPr/>
                        <a:t>İş Parçacığı A</a:t>
                      </a:r>
                    </a:p>
                  </a:txBody>
                  <a:tcPr/>
                </a:tc>
                <a:tc>
                  <a:txBody>
                    <a:bodyPr/>
                    <a:lstStyle/>
                    <a:p>
                      <a:pPr lvl="0" indent="0" marL="0">
                        <a:buNone/>
                      </a:pPr>
                      <a:r>
                        <a:rPr/>
                        <a:t>İş Parçacığı B</a:t>
                      </a:r>
                    </a:p>
                  </a:txBody>
                  <a:tcPr/>
                </a:tc>
              </a:tr>
              <a:tr h="0">
                <a:tc>
                  <a:txBody>
                    <a:bodyPr/>
                    <a:lstStyle/>
                    <a:p>
                      <a:pPr lvl="0" indent="0" marL="0">
                        <a:buNone/>
                      </a:pPr>
                      <a:r>
                        <a:rPr/>
                        <a:t>T1</a:t>
                      </a:r>
                    </a:p>
                  </a:txBody>
                </a:tc>
                <a:tc>
                  <a:txBody>
                    <a:bodyPr/>
                    <a:lstStyle/>
                    <a:p>
                      <a:pPr lvl="0" indent="0" marL="0">
                        <a:buNone/>
                      </a:pPr>
                      <a:r>
                        <a:rPr>
                          <a:latin typeface="Courier"/>
                        </a:rPr>
                        <a:t>instance == null</a:t>
                      </a:r>
                      <a:r>
                        <a:rPr/>
                        <a:t> kontrol eder (true)</a:t>
                      </a:r>
                    </a:p>
                  </a:txBody>
                </a:tc>
                <a:tc>
                  <a:txBody>
                    <a:bodyPr/>
                    <a:lstStyle/>
                    <a:p>
                      <a:pPr lvl="0" indent="0" marL="0">
                        <a:buNone/>
                      </a:pPr>
                      <a:r>
                        <a:rPr/>
                        <a:t>–</a:t>
                      </a:r>
                    </a:p>
                  </a:txBody>
                </a:tc>
              </a:tr>
              <a:tr h="0">
                <a:tc>
                  <a:txBody>
                    <a:bodyPr/>
                    <a:lstStyle/>
                    <a:p>
                      <a:pPr lvl="0" indent="0" marL="0">
                        <a:buNone/>
                      </a:pPr>
                      <a:r>
                        <a:rPr/>
                        <a:t>T2</a:t>
                      </a:r>
                    </a:p>
                  </a:txBody>
                </a:tc>
                <a:tc>
                  <a:txBody>
                    <a:bodyPr/>
                    <a:lstStyle/>
                    <a:p>
                      <a:pPr lvl="0" indent="0" marL="0">
                        <a:buNone/>
                      </a:pPr>
                      <a:r>
                        <a:rPr/>
                        <a:t>–</a:t>
                      </a:r>
                    </a:p>
                  </a:txBody>
                </a:tc>
                <a:tc>
                  <a:txBody>
                    <a:bodyPr/>
                    <a:lstStyle/>
                    <a:p>
                      <a:pPr lvl="0" indent="0" marL="0">
                        <a:buNone/>
                      </a:pPr>
                      <a:r>
                        <a:rPr>
                          <a:latin typeface="Courier"/>
                        </a:rPr>
                        <a:t>instance == null</a:t>
                      </a:r>
                      <a:r>
                        <a:rPr/>
                        <a:t> kontrol eder (true)</a:t>
                      </a:r>
                    </a:p>
                  </a:txBody>
                </a:tc>
              </a:tr>
              <a:tr h="0">
                <a:tc>
                  <a:txBody>
                    <a:bodyPr/>
                    <a:lstStyle/>
                    <a:p>
                      <a:pPr lvl="0" indent="0" marL="0">
                        <a:buNone/>
                      </a:pPr>
                      <a:r>
                        <a:rPr/>
                        <a:t>T3</a:t>
                      </a:r>
                    </a:p>
                  </a:txBody>
                </a:tc>
                <a:tc>
                  <a:txBody>
                    <a:bodyPr/>
                    <a:lstStyle/>
                    <a:p>
                      <a:pPr lvl="0" indent="0" marL="0">
                        <a:buNone/>
                      </a:pPr>
                      <a:r>
                        <a:rPr/>
                        <a:t>Yeni örnek oluşturur</a:t>
                      </a:r>
                    </a:p>
                  </a:txBody>
                </a:tc>
                <a:tc>
                  <a:txBody>
                    <a:bodyPr/>
                    <a:lstStyle/>
                    <a:p>
                      <a:pPr lvl="0" indent="0" marL="0">
                        <a:buNone/>
                      </a:pPr>
                      <a:r>
                        <a:rPr/>
                        <a:t>–</a:t>
                      </a:r>
                    </a:p>
                  </a:txBody>
                </a:tc>
              </a:tr>
              <a:tr h="0">
                <a:tc>
                  <a:txBody>
                    <a:bodyPr/>
                    <a:lstStyle/>
                    <a:p>
                      <a:pPr lvl="0" indent="0" marL="0">
                        <a:buNone/>
                      </a:pPr>
                      <a:r>
                        <a:rPr/>
                        <a:t>T4</a:t>
                      </a:r>
                    </a:p>
                  </a:txBody>
                </a:tc>
                <a:tc>
                  <a:txBody>
                    <a:bodyPr/>
                    <a:lstStyle/>
                    <a:p>
                      <a:pPr lvl="0" indent="0" marL="0">
                        <a:buNone/>
                      </a:pPr>
                      <a:r>
                        <a:rPr/>
                        <a:t>–</a:t>
                      </a:r>
                    </a:p>
                  </a:txBody>
                </a:tc>
                <a:tc>
                  <a:txBody>
                    <a:bodyPr/>
                    <a:lstStyle/>
                    <a:p>
                      <a:pPr lvl="0" indent="0" marL="0">
                        <a:buNone/>
                      </a:pPr>
                      <a:r>
                        <a:rPr/>
                        <a:t>BAŞKA bir yeni örnek oluşturur</a:t>
                      </a:r>
                    </a:p>
                  </a:txBody>
                </a:tc>
              </a:tr>
              <a:tr h="0">
                <a:tc>
                  <a:txBody>
                    <a:bodyPr/>
                    <a:lstStyle/>
                    <a:p>
                      <a:pPr lvl="0" indent="0" marL="0">
                        <a:buNone/>
                      </a:pPr>
                      <a:r>
                        <a:rPr/>
                        <a:t>T5</a:t>
                      </a:r>
                    </a:p>
                  </a:txBody>
                </a:tc>
                <a:tc>
                  <a:txBody>
                    <a:bodyPr/>
                    <a:lstStyle/>
                    <a:p>
                      <a:pPr lvl="0" indent="0" marL="0">
                        <a:buNone/>
                      </a:pPr>
                      <a:r>
                        <a:rPr/>
                        <a:t>İki farklı örnek mevcut!</a:t>
                      </a:r>
                    </a:p>
                  </a:txBody>
                </a:tc>
                <a:tc>
                  <a:txBody>
                    <a:bodyPr/>
                    <a:lstStyle/>
                    <a:p>
                      <a:pPr lvl="0" indent="0" marL="0">
                        <a:buNone/>
                      </a:pPr>
                      <a:r>
                        <a:rPr/>
                        <a:t>Singleton ihlal edildi!</a:t>
                      </a:r>
                    </a:p>
                  </a:txBody>
                </a:tc>
              </a:tr>
            </a:tbl>
          </a:graphicData>
        </a:graphic>
      </p:graphicFrame>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Uygulanabilirlik</a:t>
            </a:r>
          </a:p>
        </p:txBody>
      </p:sp>
      <p:sp>
        <p:nvSpPr>
          <p:cNvPr id="3" name="Content Placeholder 2"/>
          <p:cNvSpPr>
            <a:spLocks noGrp="1"/>
          </p:cNvSpPr>
          <p:nvPr>
            <p:ph idx="1"/>
          </p:nvPr>
        </p:nvSpPr>
        <p:spPr/>
        <p:txBody>
          <a:bodyPr/>
          <a:lstStyle/>
          <a:p>
            <a:pPr lvl="0" indent="0" marL="0">
              <a:buNone/>
            </a:pPr>
            <a:r>
              <a:rPr/>
              <a:t>Singleton desenini şu durumlarda kullanın:</a:t>
            </a:r>
          </a:p>
          <a:p>
            <a:pPr lvl="0" indent="-342900" marL="342900">
              <a:buAutoNum type="arabicPeriod"/>
            </a:pPr>
            <a:r>
              <a:rPr b="1"/>
              <a:t>Programınızdaki bir sınıfın tüm istemciler için yalnızca tek bir örneği olması gerektiğinde</a:t>
            </a:r>
            <a:r>
              <a:rPr/>
              <a:t>; örneğin, programın farklı bölümleri tarafından paylaşılan tek bir veritabanı nesnesi.</a:t>
            </a:r>
          </a:p>
          <a:p>
            <a:pPr lvl="1"/>
            <a:r>
              <a:rPr/>
              <a:t>Singleton deseni, özel oluşturma yöntemi dışında bir sınıfın nesnelerini oluşturmanın diğer tüm yollarını devre dışı bırakır. Bu yöntem ya yeni bir nesne oluşturur ya da zaten oluşturulmuşsa mevcut olanı döndürür.</a:t>
            </a:r>
          </a:p>
          <a:p>
            <a:pPr lvl="0" indent="-342900" marL="342900">
              <a:buAutoNum type="arabicPeriod"/>
            </a:pPr>
            <a:r>
              <a:rPr b="1"/>
              <a:t>Global değişkenler üzerinde daha sıkı kontrol ihtiyacınız olduğunda.</a:t>
            </a:r>
          </a:p>
          <a:p>
            <a:pPr lvl="1"/>
            <a:r>
              <a:rPr/>
              <a:t>Global değişkenlerin aksine, Singleton deseni bir sınıfın yalnızca bir örneği olduğunu garanti eder. Singleton sınıfının kendisi dışında hiçbir şey önbelleğe alınmış örneği değiştiremez.</a:t>
            </a:r>
          </a:p>
          <a:p>
            <a:pPr lvl="1"/>
            <a:r>
              <a:rPr/>
              <a:t>Bu sınırlamayı her zaman ayarlayabileceğinizi ve herhangi bir sayıda Singleton örneği oluşturmaya izin verebileceğinizi unutmayın. Değiştirilmesi gereken tek kod parçası </a:t>
            </a:r>
            <a:r>
              <a:rPr>
                <a:latin typeface="Courier"/>
              </a:rPr>
              <a:t>getInstance</a:t>
            </a:r>
            <a:r>
              <a:rPr/>
              <a:t> yönteminin gövdesidir.</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Nasıl Uygulanır</a:t>
            </a:r>
          </a:p>
        </p:txBody>
      </p:sp>
      <p:sp>
        <p:nvSpPr>
          <p:cNvPr id="3" name="Content Placeholder 2"/>
          <p:cNvSpPr>
            <a:spLocks noGrp="1"/>
          </p:cNvSpPr>
          <p:nvPr>
            <p:ph idx="1"/>
          </p:nvPr>
        </p:nvSpPr>
        <p:spPr/>
        <p:txBody>
          <a:bodyPr/>
          <a:lstStyle/>
          <a:p>
            <a:pPr lvl="0" indent="-342900" marL="342900">
              <a:buAutoNum type="arabicPeriod"/>
            </a:pPr>
            <a:r>
              <a:rPr b="1"/>
              <a:t>Singleton örneğini depolamak için sınıfa özel bir statik alan ekleyin.</a:t>
            </a:r>
          </a:p>
          <a:p>
            <a:pPr lvl="0" indent="-342900" marL="342900">
              <a:buAutoNum type="arabicPeriod"/>
            </a:pPr>
            <a:r>
              <a:rPr b="1"/>
              <a:t>Singleton örneğini almak için genel bir statik oluşturma yöntemi bildirin.</a:t>
            </a:r>
          </a:p>
          <a:p>
            <a:pPr lvl="0" indent="-342900" marL="342900">
              <a:buAutoNum type="arabicPeriod"/>
            </a:pPr>
            <a:r>
              <a:rPr b="1"/>
              <a:t>Statik yöntemin içinde “tembel başlatma” uygulayın.</a:t>
            </a:r>
            <a:r>
              <a:rPr/>
              <a:t> İlk çağrısında yeni bir nesne oluşturmalı ve onu statik alana koymalıdır. Yöntem, sonraki tüm çağrılarda her zaman bu örneği döndürmelidir.</a:t>
            </a:r>
          </a:p>
          <a:p>
            <a:pPr lvl="0" indent="-342900" marL="342900">
              <a:buAutoNum type="arabicPeriod"/>
            </a:pPr>
            <a:r>
              <a:rPr b="1"/>
              <a:t>Sınıfın yapıcısını özel yapın.</a:t>
            </a:r>
            <a:r>
              <a:rPr/>
              <a:t> Sınıfın statik yöntemi hala yapıcıyı çağırabilecek, ancak diğer nesneler çağıramayacaktır.</a:t>
            </a:r>
          </a:p>
          <a:p>
            <a:pPr lvl="0" indent="-342900" marL="342900">
              <a:buAutoNum type="arabicPeriod"/>
            </a:pPr>
            <a:r>
              <a:rPr b="1"/>
              <a:t>İstemci kodunu gözden geçirin</a:t>
            </a:r>
            <a:r>
              <a:rPr/>
              <a:t> ve singleton’un yapıcısına yapılan tüm doğrudan çağrıları statik oluşturma yöntemi çağrılarıyla değiştirin.</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Artılar ve Eksiler</a:t>
            </a:r>
          </a:p>
        </p:txBody>
      </p:sp>
      <p:sp>
        <p:nvSpPr>
          <p:cNvPr id="3" name="Content Placeholder 2"/>
          <p:cNvSpPr>
            <a:spLocks noGrp="1"/>
          </p:cNvSpPr>
          <p:nvPr>
            <p:ph idx="1"/>
          </p:nvPr>
        </p:nvSpPr>
        <p:spPr/>
        <p:txBody>
          <a:bodyPr/>
          <a:lstStyle/>
          <a:p>
            <a:pPr lvl="0" indent="0" marL="0">
              <a:spcBef>
                <a:spcPts val="3000"/>
              </a:spcBef>
              <a:buNone/>
            </a:pPr>
            <a:r>
              <a:rPr b="1"/>
              <a:t>Artılar</a:t>
            </a:r>
          </a:p>
          <a:p>
            <a:pPr lvl="0"/>
            <a:r>
              <a:rPr b="1"/>
              <a:t>Tekil örnek garantisi</a:t>
            </a:r>
            <a:r>
              <a:rPr/>
              <a:t>: Bir sınıfın yalnızca tek bir örneği olduğundan emin olabilirsiniz.</a:t>
            </a:r>
          </a:p>
          <a:p>
            <a:pPr lvl="0"/>
            <a:r>
              <a:rPr b="1"/>
              <a:t>Global erişim noktası</a:t>
            </a:r>
            <a:r>
              <a:rPr/>
              <a:t>: Bu örneğe global bir erişim noktası elde edersiniz.</a:t>
            </a:r>
          </a:p>
          <a:p>
            <a:pPr lvl="0"/>
            <a:r>
              <a:rPr b="1"/>
              <a:t>Tembel başlatma (Lazy initialization)</a:t>
            </a:r>
            <a:r>
              <a:rPr/>
              <a:t>: Singleton nesnesi yalnızca ilk kez talep edildiğinde başlatılır, hiç kullanılmazsa kaynaklar tasarruf edilir.</a:t>
            </a:r>
          </a:p>
          <a:p>
            <a:pPr lvl="0" indent="0" marL="0">
              <a:spcBef>
                <a:spcPts val="3000"/>
              </a:spcBef>
              <a:buNone/>
            </a:pPr>
            <a:r>
              <a:rPr b="1"/>
              <a:t>Eksiler</a:t>
            </a:r>
          </a:p>
          <a:p>
            <a:pPr lvl="0"/>
            <a:r>
              <a:rPr b="1"/>
              <a:t>Tek Sorumluluk İlkesini (SRP) ihlal eder</a:t>
            </a:r>
            <a:r>
              <a:rPr/>
              <a:t>: Desen aynı anda iki sorunu çözer (tekil örnek + global erişim).</a:t>
            </a:r>
          </a:p>
          <a:p>
            <a:pPr lvl="0"/>
            <a:r>
              <a:rPr b="1"/>
              <a:t>Kötü tasarımı maskeleyebilir</a:t>
            </a:r>
            <a:r>
              <a:rPr/>
              <a:t>: Örneğin, programın bileşenlerinin birbirleri hakkında çok fazla bilgi sahibi olduğu durumlarda.</a:t>
            </a:r>
          </a:p>
          <a:p>
            <a:pPr lvl="0"/>
            <a:r>
              <a:rPr b="1"/>
              <a:t>Çok iş parçacıklı ortamda özel işlem gerektirir</a:t>
            </a:r>
            <a:r>
              <a:rPr/>
              <a:t>: böylece birden fazla iş parçacığı singleton nesnesini birkaç kez oluşturmaz.</a:t>
            </a:r>
          </a:p>
          <a:p>
            <a:pPr lvl="0"/>
            <a:r>
              <a:rPr b="1"/>
              <a:t>Birim test etmesi zor</a:t>
            </a:r>
            <a:r>
              <a:rPr/>
              <a:t>: Singleton’un yapıcısı özeldir ve statik yöntemleri geçersiz kılmak çoğu dilde imkansızdır. Singleton’u taklit etmek için yaratıcı bir yol düşünmeniz gerekir. Ya da testleri yazmayın. Ya da Singleton desenini kullanmayın.</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Diğer Desenlerle İlişkiler</a:t>
            </a:r>
          </a:p>
        </p:txBody>
      </p:sp>
      <p:sp>
        <p:nvSpPr>
          <p:cNvPr id="3" name="Content Placeholder 2"/>
          <p:cNvSpPr>
            <a:spLocks noGrp="1"/>
          </p:cNvSpPr>
          <p:nvPr>
            <p:ph idx="1"/>
          </p:nvPr>
        </p:nvSpPr>
        <p:spPr/>
        <p:txBody>
          <a:bodyPr/>
          <a:lstStyle/>
          <a:p>
            <a:pPr lvl="0"/>
            <a:r>
              <a:rPr/>
              <a:t>Bir </a:t>
            </a:r>
            <a:r>
              <a:rPr b="1"/>
              <a:t>Facade</a:t>
            </a:r>
            <a:r>
              <a:rPr/>
              <a:t> sınıfı genellikle bir </a:t>
            </a:r>
            <a:r>
              <a:rPr b="1"/>
              <a:t>Singleton</a:t>
            </a:r>
            <a:r>
              <a:rPr/>
              <a:t>’a dönüştürülebilir çünkü çoğu durumda tek bir facade nesnesi yeterlidir.</a:t>
            </a:r>
          </a:p>
          <a:p>
            <a:pPr lvl="0"/>
            <a:r>
              <a:rPr/>
              <a:t>Tüm nesnelerin paylaşılan durumlarını tek bir flyweight nesnesine indirgemeyi başarırsanız, </a:t>
            </a:r>
            <a:r>
              <a:rPr b="1"/>
              <a:t>Flyweight</a:t>
            </a:r>
            <a:r>
              <a:rPr/>
              <a:t> </a:t>
            </a:r>
            <a:r>
              <a:rPr b="1"/>
              <a:t>Singleton</a:t>
            </a:r>
            <a:r>
              <a:rPr/>
              <a:t>’a benzeyecektir. Ancak iki temel fark vardır:</a:t>
            </a:r>
          </a:p>
          <a:p>
            <a:pPr lvl="1" indent="-342900" marL="685800">
              <a:buAutoNum type="arabicPeriod"/>
            </a:pPr>
            <a:r>
              <a:rPr/>
              <a:t>Yalnızca bir Singleton örneği olmalıdır, oysa bir Flyweight sınıfı farklı iç durumlara sahip birden fazla örneğe sahip olabilir.</a:t>
            </a:r>
          </a:p>
          <a:p>
            <a:pPr lvl="1" indent="-342900" marL="685800">
              <a:buAutoNum type="arabicPeriod"/>
            </a:pPr>
            <a:r>
              <a:rPr/>
              <a:t>Singleton nesnesi değiştirilebilir (mutable). Flyweight nesneleri değiştirilemez (immutable).</a:t>
            </a:r>
          </a:p>
          <a:p>
            <a:pPr lvl="0"/>
            <a:r>
              <a:rPr b="1"/>
              <a:t>Abstract Factories</a:t>
            </a:r>
            <a:r>
              <a:rPr/>
              <a:t>, </a:t>
            </a:r>
            <a:r>
              <a:rPr b="1"/>
              <a:t>Builders</a:t>
            </a:r>
            <a:r>
              <a:rPr/>
              <a:t> ve </a:t>
            </a:r>
            <a:r>
              <a:rPr b="1"/>
              <a:t>Prototypes</a:t>
            </a:r>
            <a:r>
              <a:rPr/>
              <a:t>’ın tümü </a:t>
            </a:r>
            <a:r>
              <a:rPr b="1"/>
              <a:t>Singletons</a:t>
            </a:r>
            <a:r>
              <a:rPr/>
              <a:t> olarak uygulanabilir.</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Java Kod Örneği (Basit)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Simple but NOT thread-safe Singleton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NaiveSingleton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static</a:t>
            </a:r>
            <a:r>
              <a:rPr>
                <a:latin typeface="Courier"/>
              </a:rPr>
              <a:t> NaiveSingleton instance</a:t>
            </a:r>
            <a:r>
              <a:rPr>
                <a:solidFill>
                  <a:srgbClr val="666666"/>
                </a:solidFill>
                <a:latin typeface="Courier"/>
              </a:rPr>
              <a:t>;</a:t>
            </a:r>
            <a:br/>
            <a:br/>
            <a:r>
              <a:rPr>
                <a:latin typeface="Courier"/>
              </a:rPr>
              <a:t>    </a:t>
            </a:r>
            <a:r>
              <a:rPr i="1">
                <a:solidFill>
                  <a:srgbClr val="60A0B0"/>
                </a:solidFill>
                <a:latin typeface="Courier"/>
              </a:rPr>
              <a:t>// Private constructor</a:t>
            </a:r>
            <a:br/>
            <a:r>
              <a:rPr>
                <a:latin typeface="Courier"/>
              </a:rPr>
              <a:t>    </a:t>
            </a:r>
            <a:r>
              <a:rPr b="1">
                <a:solidFill>
                  <a:srgbClr val="007020"/>
                </a:solidFill>
                <a:latin typeface="Courier"/>
              </a:rPr>
              <a:t>private</a:t>
            </a:r>
            <a:r>
              <a:rPr>
                <a:latin typeface="Courier"/>
              </a:rPr>
              <a:t> </a:t>
            </a:r>
            <a:r>
              <a:rPr>
                <a:solidFill>
                  <a:srgbClr val="06287E"/>
                </a:solidFill>
                <a:latin typeface="Courier"/>
              </a:rPr>
              <a:t>NaiveSingleton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Initialization code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"Singleton instance created."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Static accessor method</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NaiveSingleton </a:t>
            </a:r>
            <a:r>
              <a:rPr>
                <a:solidFill>
                  <a:srgbClr val="06287E"/>
                </a:solidFill>
                <a:latin typeface="Courier"/>
              </a:rPr>
              <a:t>getInstance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instance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instance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NaiveSingleton</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instance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doSomething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"Singleton is working."</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a:p>
            <a:pPr lvl="0" indent="0" marL="0">
              <a:buNone/>
            </a:pPr>
            <a:r>
              <a:rPr b="1"/>
              <a:t>Uyarı</a:t>
            </a:r>
            <a:r>
              <a:rPr/>
              <a:t>: Bu uygulama iş parçacığı güvenli DEĞİLDİR. Birden fazla iş parçacığı birden fazla örnek oluşturabilir.</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Java Kod Örneği (İş Parçacığı Güvenli)</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Thread-safe Singleton with double-checked locking</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ThreadSafeSingleton </a:t>
            </a:r>
            <a:r>
              <a:rPr>
                <a:solidFill>
                  <a:srgbClr val="666666"/>
                </a:solidFill>
                <a:latin typeface="Courier"/>
              </a:rPr>
              <a:t>{</a:t>
            </a:r>
            <a:br/>
            <a:r>
              <a:rPr>
                <a:latin typeface="Courier"/>
              </a:rPr>
              <a:t>    </a:t>
            </a:r>
            <a:r>
              <a:rPr i="1">
                <a:solidFill>
                  <a:srgbClr val="60A0B0"/>
                </a:solidFill>
                <a:latin typeface="Courier"/>
              </a:rPr>
              <a:t>// volatile ensures visibility across threads</a:t>
            </a:r>
            <a:br/>
            <a:r>
              <a:rPr>
                <a:latin typeface="Courier"/>
              </a:rPr>
              <a:t>    </a:t>
            </a:r>
            <a:r>
              <a:rPr b="1">
                <a:solidFill>
                  <a:srgbClr val="007020"/>
                </a:solidFill>
                <a:latin typeface="Courier"/>
              </a:rPr>
              <a:t>private</a:t>
            </a:r>
            <a:r>
              <a:rPr>
                <a:latin typeface="Courier"/>
              </a:rPr>
              <a:t> </a:t>
            </a:r>
            <a:r>
              <a:rPr>
                <a:solidFill>
                  <a:srgbClr val="902000"/>
                </a:solidFill>
                <a:latin typeface="Courier"/>
              </a:rPr>
              <a:t>static</a:t>
            </a:r>
            <a:r>
              <a:rPr>
                <a:latin typeface="Courier"/>
              </a:rPr>
              <a:t> </a:t>
            </a:r>
            <a:r>
              <a:rPr b="1">
                <a:solidFill>
                  <a:srgbClr val="007020"/>
                </a:solidFill>
                <a:latin typeface="Courier"/>
              </a:rPr>
              <a:t>volatile</a:t>
            </a:r>
            <a:r>
              <a:rPr>
                <a:latin typeface="Courier"/>
              </a:rPr>
              <a:t> ThreadSafeSingleton instance</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data</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6287E"/>
                </a:solidFill>
                <a:latin typeface="Courier"/>
              </a:rPr>
              <a:t>ThreadSafeSingleton</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data</a:t>
            </a:r>
            <a:r>
              <a:rPr>
                <a:latin typeface="Courier"/>
              </a:rPr>
              <a:t> </a:t>
            </a:r>
            <a:r>
              <a:rPr>
                <a:solidFill>
                  <a:srgbClr val="666666"/>
                </a:solidFill>
                <a:latin typeface="Courier"/>
              </a:rPr>
              <a:t>=</a:t>
            </a:r>
            <a:r>
              <a:rPr>
                <a:latin typeface="Courier"/>
              </a:rPr>
              <a:t> data</a:t>
            </a:r>
            <a:r>
              <a:rPr>
                <a:solidFill>
                  <a:srgbClr val="666666"/>
                </a:solidFill>
                <a:latin typeface="Courier"/>
              </a:rPr>
              <a:t>;</a:t>
            </a:r>
            <a:br/>
            <a:r>
              <a:rPr>
                <a:latin typeface="Courier"/>
              </a:rPr>
              <a:t>        </a:t>
            </a:r>
            <a:r>
              <a:rPr i="1">
                <a:solidFill>
                  <a:srgbClr val="60A0B0"/>
                </a:solidFill>
                <a:latin typeface="Courier"/>
              </a:rPr>
              <a:t>// Simulate slow initialization</a:t>
            </a:r>
            <a:br/>
            <a:r>
              <a:rPr>
                <a:latin typeface="Courier"/>
              </a:rPr>
              <a:t>        </a:t>
            </a:r>
            <a:r>
              <a:rPr b="1">
                <a:solidFill>
                  <a:srgbClr val="007020"/>
                </a:solidFill>
                <a:latin typeface="Courier"/>
              </a:rPr>
              <a:t>try</a:t>
            </a:r>
            <a:r>
              <a:rPr>
                <a:latin typeface="Courier"/>
              </a:rPr>
              <a:t> </a:t>
            </a:r>
            <a:r>
              <a:rPr>
                <a:solidFill>
                  <a:srgbClr val="666666"/>
                </a:solidFill>
                <a:latin typeface="Courier"/>
              </a:rPr>
              <a:t>{</a:t>
            </a:r>
            <a:br/>
            <a:r>
              <a:rPr>
                <a:latin typeface="Courier"/>
              </a:rPr>
              <a:t>            </a:t>
            </a:r>
            <a:r>
              <a:rPr>
                <a:solidFill>
                  <a:srgbClr val="008000"/>
                </a:solidFill>
                <a:latin typeface="Courier"/>
              </a:rPr>
              <a:t>Thread</a:t>
            </a:r>
            <a:r>
              <a:rPr>
                <a:solidFill>
                  <a:srgbClr val="666666"/>
                </a:solidFill>
                <a:latin typeface="Courier"/>
              </a:rPr>
              <a:t>.</a:t>
            </a:r>
            <a:r>
              <a:rPr>
                <a:solidFill>
                  <a:srgbClr val="06287E"/>
                </a:solidFill>
                <a:latin typeface="Courier"/>
              </a:rPr>
              <a:t>sleep</a:t>
            </a:r>
            <a:r>
              <a:rPr>
                <a:solidFill>
                  <a:srgbClr val="666666"/>
                </a:solidFill>
                <a:latin typeface="Courier"/>
              </a:rPr>
              <a:t>(</a:t>
            </a:r>
            <a:r>
              <a:rPr>
                <a:solidFill>
                  <a:srgbClr val="40A070"/>
                </a:solidFill>
                <a:latin typeface="Courier"/>
              </a:rPr>
              <a:t>1000</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r>
              <a:rPr>
                <a:solidFill>
                  <a:srgbClr val="008000"/>
                </a:solidFill>
                <a:latin typeface="Courier"/>
              </a:rPr>
              <a:t>InterruptedException</a:t>
            </a:r>
            <a:r>
              <a:rPr>
                <a:latin typeface="Courier"/>
              </a:rPr>
              <a:t> e</a:t>
            </a:r>
            <a:r>
              <a:rPr>
                <a:solidFill>
                  <a:srgbClr val="666666"/>
                </a:solidFill>
                <a:latin typeface="Courier"/>
              </a:rPr>
              <a:t>)</a:t>
            </a:r>
            <a:r>
              <a:rPr>
                <a:latin typeface="Courier"/>
              </a:rPr>
              <a:t> </a:t>
            </a:r>
            <a:r>
              <a:rPr>
                <a:solidFill>
                  <a:srgbClr val="666666"/>
                </a:solidFill>
                <a:latin typeface="Courier"/>
              </a:rPr>
              <a:t>{</a:t>
            </a:r>
            <a:br/>
            <a:r>
              <a:rPr>
                <a:latin typeface="Courier"/>
              </a:rPr>
              <a:t>            e</a:t>
            </a:r>
            <a:r>
              <a:rPr>
                <a:solidFill>
                  <a:srgbClr val="666666"/>
                </a:solidFill>
                <a:latin typeface="Courier"/>
              </a:rPr>
              <a:t>.</a:t>
            </a:r>
            <a:r>
              <a:rPr>
                <a:solidFill>
                  <a:srgbClr val="06287E"/>
                </a:solidFill>
                <a:latin typeface="Courier"/>
              </a:rPr>
              <a:t>printStackTrace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i="1">
                <a:solidFill>
                  <a:srgbClr val="60A0B0"/>
                </a:solidFill>
                <a:latin typeface="Courier"/>
              </a:rPr>
              <a:t>// Double-checked locking</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ThreadSafeSingleton </a:t>
            </a:r>
            <a:r>
              <a:rPr>
                <a:solidFill>
                  <a:srgbClr val="06287E"/>
                </a:solidFill>
                <a:latin typeface="Courier"/>
              </a:rPr>
              <a:t>getInstance</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ThreadSafeSingleton result </a:t>
            </a:r>
            <a:r>
              <a:rPr>
                <a:solidFill>
                  <a:srgbClr val="666666"/>
                </a:solidFill>
                <a:latin typeface="Courier"/>
              </a:rPr>
              <a:t>=</a:t>
            </a:r>
            <a:r>
              <a:rPr>
                <a:latin typeface="Courier"/>
              </a:rPr>
              <a:t> instance</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result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r>
              <a:rPr>
                <a:latin typeface="Courier"/>
              </a:rPr>
              <a:t>  </a:t>
            </a:r>
            <a:r>
              <a:rPr i="1">
                <a:solidFill>
                  <a:srgbClr val="60A0B0"/>
                </a:solidFill>
                <a:latin typeface="Courier"/>
              </a:rPr>
              <a:t>// Fast path: no locking needed</a:t>
            </a:r>
            <a:br/>
            <a:r>
              <a:rPr>
                <a:latin typeface="Courier"/>
              </a:rPr>
              <a:t>        </a:t>
            </a:r>
            <a:r>
              <a:rPr>
                <a:solidFill>
                  <a:srgbClr val="666666"/>
                </a:solidFill>
                <a:latin typeface="Courier"/>
              </a:rPr>
              <a:t>}</a:t>
            </a:r>
            <a:br/>
            <a:r>
              <a:rPr>
                <a:latin typeface="Courier"/>
              </a:rPr>
              <a:t>        </a:t>
            </a:r>
            <a:r>
              <a:rPr b="1">
                <a:solidFill>
                  <a:srgbClr val="007020"/>
                </a:solidFill>
                <a:latin typeface="Courier"/>
              </a:rPr>
              <a:t>synchronized</a:t>
            </a:r>
            <a:r>
              <a:rPr>
                <a:latin typeface="Courier"/>
              </a:rPr>
              <a:t> </a:t>
            </a:r>
            <a:r>
              <a:rPr>
                <a:solidFill>
                  <a:srgbClr val="666666"/>
                </a:solidFill>
                <a:latin typeface="Courier"/>
              </a:rPr>
              <a:t>(</a:t>
            </a:r>
            <a:r>
              <a:rPr>
                <a:latin typeface="Courier"/>
              </a:rPr>
              <a:t>ThreadSafeSingleton</a:t>
            </a:r>
            <a:r>
              <a:rPr>
                <a:solidFill>
                  <a:srgbClr val="666666"/>
                </a:solidFill>
                <a:latin typeface="Courier"/>
              </a:rPr>
              <a:t>.</a:t>
            </a:r>
            <a:r>
              <a:rPr>
                <a:solidFill>
                  <a:srgbClr val="06287E"/>
                </a:solidFill>
                <a:latin typeface="Courier"/>
              </a:rPr>
              <a:t>class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instance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instance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ThreadSafeSingleton</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instance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getData</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Java Kod Örneği (Enum Tabanlı)</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simplest and most effective Singleton in Java</a:t>
            </a:r>
            <a:br/>
            <a:r>
              <a:rPr i="1">
                <a:solidFill>
                  <a:srgbClr val="60A0B0"/>
                </a:solidFill>
                <a:latin typeface="Courier"/>
              </a:rPr>
              <a:t>// Joshua Bloch recommends this approach in Effective Java</a:t>
            </a:r>
            <a:br/>
            <a:r>
              <a:rPr b="1">
                <a:solidFill>
                  <a:srgbClr val="007020"/>
                </a:solidFill>
                <a:latin typeface="Courier"/>
              </a:rPr>
              <a:t>public</a:t>
            </a:r>
            <a:r>
              <a:rPr>
                <a:latin typeface="Courier"/>
              </a:rPr>
              <a:t> </a:t>
            </a:r>
            <a:r>
              <a:rPr b="1">
                <a:solidFill>
                  <a:srgbClr val="007020"/>
                </a:solidFill>
                <a:latin typeface="Courier"/>
              </a:rPr>
              <a:t>enum</a:t>
            </a:r>
            <a:r>
              <a:rPr>
                <a:latin typeface="Courier"/>
              </a:rPr>
              <a:t> DatabaseConnection </a:t>
            </a:r>
            <a:r>
              <a:rPr>
                <a:solidFill>
                  <a:srgbClr val="666666"/>
                </a:solidFill>
                <a:latin typeface="Courier"/>
              </a:rPr>
              <a:t>{</a:t>
            </a:r>
            <a:br/>
            <a:r>
              <a:rPr>
                <a:latin typeface="Courier"/>
              </a:rPr>
              <a:t>    INSTANCE</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connectionString</a:t>
            </a:r>
            <a:r>
              <a:rPr>
                <a:solidFill>
                  <a:srgbClr val="666666"/>
                </a:solidFill>
                <a:latin typeface="Courier"/>
              </a:rPr>
              <a:t>;</a:t>
            </a:r>
            <a:br/>
            <a:br/>
            <a:r>
              <a:rPr>
                <a:latin typeface="Courier"/>
              </a:rPr>
              <a:t>    </a:t>
            </a:r>
            <a:r>
              <a:rPr>
                <a:solidFill>
                  <a:srgbClr val="06287E"/>
                </a:solidFill>
                <a:latin typeface="Courier"/>
              </a:rPr>
              <a:t>DatabaseConnection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Initialization happens once, guaranteed by JVM</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connectionString</a:t>
            </a:r>
            <a:r>
              <a:rPr>
                <a:latin typeface="Courier"/>
              </a:rPr>
              <a:t> </a:t>
            </a:r>
            <a:r>
              <a:rPr>
                <a:solidFill>
                  <a:srgbClr val="666666"/>
                </a:solidFill>
                <a:latin typeface="Courier"/>
              </a:rPr>
              <a:t>=</a:t>
            </a:r>
            <a:r>
              <a:rPr>
                <a:latin typeface="Courier"/>
              </a:rPr>
              <a:t> </a:t>
            </a:r>
            <a:r>
              <a:rPr>
                <a:solidFill>
                  <a:srgbClr val="4070A0"/>
                </a:solidFill>
                <a:latin typeface="Courier"/>
              </a:rPr>
              <a:t>"jdbc:mysql://localhost:3306/mydb"</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"Database connection initialized."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query</a:t>
            </a:r>
            <a:r>
              <a:rPr>
                <a:solidFill>
                  <a:srgbClr val="666666"/>
                </a:solidFill>
                <a:latin typeface="Courier"/>
              </a:rPr>
              <a:t>(</a:t>
            </a:r>
            <a:r>
              <a:rPr>
                <a:solidFill>
                  <a:srgbClr val="008000"/>
                </a:solidFill>
                <a:latin typeface="Courier"/>
              </a:rPr>
              <a:t>String</a:t>
            </a:r>
            <a:r>
              <a:rPr>
                <a:latin typeface="Courier"/>
              </a:rPr>
              <a:t> sql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"Executing query: "</a:t>
            </a:r>
            <a:r>
              <a:rPr>
                <a:latin typeface="Courier"/>
              </a:rPr>
              <a:t> </a:t>
            </a:r>
            <a:r>
              <a:rPr>
                <a:solidFill>
                  <a:srgbClr val="666666"/>
                </a:solidFill>
                <a:latin typeface="Courier"/>
              </a:rPr>
              <a:t>+</a:t>
            </a:r>
            <a:r>
              <a:rPr>
                <a:latin typeface="Courier"/>
              </a:rPr>
              <a:t> sql</a:t>
            </a:r>
            <a:br/>
            <a:r>
              <a:rPr>
                <a:latin typeface="Courier"/>
              </a:rPr>
              <a:t>            </a:t>
            </a:r>
            <a:r>
              <a:rPr>
                <a:solidFill>
                  <a:srgbClr val="666666"/>
                </a:solidFill>
                <a:latin typeface="Courier"/>
              </a:rPr>
              <a:t>+</a:t>
            </a:r>
            <a:r>
              <a:rPr>
                <a:latin typeface="Courier"/>
              </a:rPr>
              <a:t> </a:t>
            </a:r>
            <a:r>
              <a:rPr>
                <a:solidFill>
                  <a:srgbClr val="4070A0"/>
                </a:solidFill>
                <a:latin typeface="Courier"/>
              </a:rPr>
              <a:t>" on "</a:t>
            </a:r>
            <a:r>
              <a:rPr>
                <a:latin typeface="Courier"/>
              </a:rPr>
              <a:t> </a:t>
            </a:r>
            <a:r>
              <a:rPr>
                <a:solidFill>
                  <a:srgbClr val="666666"/>
                </a:solidFill>
                <a:latin typeface="Courier"/>
              </a:rPr>
              <a:t>+</a:t>
            </a:r>
            <a:r>
              <a:rPr>
                <a:latin typeface="Courier"/>
              </a:rPr>
              <a:t> connectionString</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setConnectionString</a:t>
            </a:r>
            <a:r>
              <a:rPr>
                <a:solidFill>
                  <a:srgbClr val="666666"/>
                </a:solidFill>
                <a:latin typeface="Courier"/>
              </a:rPr>
              <a:t>(</a:t>
            </a:r>
            <a:r>
              <a:rPr>
                <a:solidFill>
                  <a:srgbClr val="008000"/>
                </a:solidFill>
                <a:latin typeface="Courier"/>
              </a:rPr>
              <a:t>String</a:t>
            </a:r>
            <a:r>
              <a:rPr>
                <a:latin typeface="Courier"/>
              </a:rPr>
              <a:t> conn</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connectionString</a:t>
            </a:r>
            <a:r>
              <a:rPr>
                <a:latin typeface="Courier"/>
              </a:rPr>
              <a:t> </a:t>
            </a:r>
            <a:r>
              <a:rPr>
                <a:solidFill>
                  <a:srgbClr val="666666"/>
                </a:solidFill>
                <a:latin typeface="Courier"/>
              </a:rPr>
              <a:t>=</a:t>
            </a:r>
            <a:r>
              <a:rPr>
                <a:latin typeface="Courier"/>
              </a:rPr>
              <a:t> conn</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Usage</a:t>
            </a:r>
            <a:br/>
            <a:r>
              <a:rPr b="1">
                <a:solidFill>
                  <a:srgbClr val="007020"/>
                </a:solidFill>
                <a:latin typeface="Courier"/>
              </a:rPr>
              <a:t>class</a:t>
            </a:r>
            <a:r>
              <a:rPr>
                <a:latin typeface="Courier"/>
              </a:rPr>
              <a:t> EnumSingletonDemo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DatabaseConnection db </a:t>
            </a:r>
            <a:r>
              <a:rPr>
                <a:solidFill>
                  <a:srgbClr val="666666"/>
                </a:solidFill>
                <a:latin typeface="Courier"/>
              </a:rPr>
              <a:t>=</a:t>
            </a:r>
            <a:r>
              <a:rPr>
                <a:latin typeface="Courier"/>
              </a:rPr>
              <a:t> DatabaseConnection</a:t>
            </a:r>
            <a:r>
              <a:rPr>
                <a:solidFill>
                  <a:srgbClr val="666666"/>
                </a:solidFill>
                <a:latin typeface="Courier"/>
              </a:rPr>
              <a:t>.</a:t>
            </a:r>
            <a:r>
              <a:rPr>
                <a:solidFill>
                  <a:srgbClr val="06287E"/>
                </a:solidFill>
                <a:latin typeface="Courier"/>
              </a:rPr>
              <a:t>INSTANCE</a:t>
            </a:r>
            <a:r>
              <a:rPr>
                <a:solidFill>
                  <a:srgbClr val="666666"/>
                </a:solidFill>
                <a:latin typeface="Courier"/>
              </a:rPr>
              <a:t>;</a:t>
            </a:r>
            <a:br/>
            <a:r>
              <a:rPr>
                <a:latin typeface="Courier"/>
              </a:rPr>
              <a:t>        db</a:t>
            </a:r>
            <a:r>
              <a:rPr>
                <a:solidFill>
                  <a:srgbClr val="666666"/>
                </a:solidFill>
                <a:latin typeface="Courier"/>
              </a:rPr>
              <a:t>.</a:t>
            </a:r>
            <a:r>
              <a:rPr>
                <a:solidFill>
                  <a:srgbClr val="06287E"/>
                </a:solidFill>
                <a:latin typeface="Courier"/>
              </a:rPr>
              <a:t>query</a:t>
            </a:r>
            <a:r>
              <a:rPr>
                <a:solidFill>
                  <a:srgbClr val="666666"/>
                </a:solidFill>
                <a:latin typeface="Courier"/>
              </a:rPr>
              <a:t>(</a:t>
            </a:r>
            <a:r>
              <a:rPr>
                <a:solidFill>
                  <a:srgbClr val="4070A0"/>
                </a:solidFill>
                <a:latin typeface="Courier"/>
              </a:rPr>
              <a:t>"SELECT * FROM users"</a:t>
            </a:r>
            <a:r>
              <a:rPr>
                <a:solidFill>
                  <a:srgbClr val="666666"/>
                </a:solidFill>
                <a:latin typeface="Courier"/>
              </a:rPr>
              <a:t>);</a:t>
            </a:r>
            <a:br/>
            <a:br/>
            <a:r>
              <a:rPr>
                <a:latin typeface="Courier"/>
              </a:rPr>
              <a:t>        </a:t>
            </a:r>
            <a:r>
              <a:rPr i="1">
                <a:solidFill>
                  <a:srgbClr val="60A0B0"/>
                </a:solidFill>
                <a:latin typeface="Courier"/>
              </a:rPr>
              <a:t>// Same instance everywhere</a:t>
            </a:r>
            <a:br/>
            <a:r>
              <a:rPr>
                <a:latin typeface="Courier"/>
              </a:rPr>
              <a:t>        DatabaseConnection db2 </a:t>
            </a:r>
            <a:r>
              <a:rPr>
                <a:solidFill>
                  <a:srgbClr val="666666"/>
                </a:solidFill>
                <a:latin typeface="Courier"/>
              </a:rPr>
              <a:t>=</a:t>
            </a:r>
            <a:r>
              <a:rPr>
                <a:latin typeface="Courier"/>
              </a:rPr>
              <a:t> DatabaseConnection</a:t>
            </a:r>
            <a:r>
              <a:rPr>
                <a:solidFill>
                  <a:srgbClr val="666666"/>
                </a:solidFill>
                <a:latin typeface="Courier"/>
              </a:rPr>
              <a:t>.</a:t>
            </a:r>
            <a:r>
              <a:rPr>
                <a:solidFill>
                  <a:srgbClr val="06287E"/>
                </a:solidFill>
                <a:latin typeface="Courier"/>
              </a:rPr>
              <a:t>INSTANCE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"Same? "</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db </a:t>
            </a:r>
            <a:r>
              <a:rPr>
                <a:solidFill>
                  <a:srgbClr val="666666"/>
                </a:solidFill>
                <a:latin typeface="Courier"/>
              </a:rPr>
              <a:t>==</a:t>
            </a:r>
            <a:r>
              <a:rPr>
                <a:latin typeface="Courier"/>
              </a:rPr>
              <a:t> db2</a:t>
            </a:r>
            <a:r>
              <a:rPr>
                <a:solidFill>
                  <a:srgbClr val="666666"/>
                </a:solidFill>
                <a:latin typeface="Courier"/>
              </a:rPr>
              <a:t>));</a:t>
            </a:r>
            <a:r>
              <a:rPr>
                <a:latin typeface="Courier"/>
              </a:rPr>
              <a:t> </a:t>
            </a:r>
            <a:r>
              <a:rPr i="1">
                <a:solidFill>
                  <a:srgbClr val="60A0B0"/>
                </a:solidFill>
                <a:latin typeface="Courier"/>
              </a:rPr>
              <a:t>// true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Java Kod Örneği (Kapsamlı Demo)</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Comprehensive Singleton demonstration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SingletonDemo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Test thread-safe singleton</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 Thread-Safe Singleton ---"</a:t>
            </a:r>
            <a:r>
              <a:rPr>
                <a:solidFill>
                  <a:srgbClr val="666666"/>
                </a:solidFill>
                <a:latin typeface="Courier"/>
              </a:rPr>
              <a:t>);</a:t>
            </a:r>
            <a:br/>
            <a:br/>
            <a:r>
              <a:rPr>
                <a:latin typeface="Courier"/>
              </a:rPr>
              <a:t>        </a:t>
            </a:r>
            <a:r>
              <a:rPr>
                <a:solidFill>
                  <a:srgbClr val="008000"/>
                </a:solidFill>
                <a:latin typeface="Courier"/>
              </a:rPr>
              <a:t>Thread</a:t>
            </a:r>
            <a:r>
              <a:rPr>
                <a:latin typeface="Courier"/>
              </a:rPr>
              <a:t> t1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Thread</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br/>
            <a:r>
              <a:rPr>
                <a:latin typeface="Courier"/>
              </a:rPr>
              <a:t>            ThreadSafeSingleton s </a:t>
            </a:r>
            <a:r>
              <a:rPr>
                <a:solidFill>
                  <a:srgbClr val="666666"/>
                </a:solidFill>
                <a:latin typeface="Courier"/>
              </a:rPr>
              <a:t>=</a:t>
            </a:r>
            <a:br/>
            <a:r>
              <a:rPr>
                <a:latin typeface="Courier"/>
              </a:rPr>
              <a:t>                ThreadSafeSingleton</a:t>
            </a:r>
            <a:r>
              <a:rPr>
                <a:solidFill>
                  <a:srgbClr val="666666"/>
                </a:solidFill>
                <a:latin typeface="Courier"/>
              </a:rPr>
              <a:t>.</a:t>
            </a:r>
            <a:r>
              <a:rPr>
                <a:solidFill>
                  <a:srgbClr val="06287E"/>
                </a:solidFill>
                <a:latin typeface="Courier"/>
              </a:rPr>
              <a:t>getInstance</a:t>
            </a:r>
            <a:r>
              <a:rPr>
                <a:solidFill>
                  <a:srgbClr val="666666"/>
                </a:solidFill>
                <a:latin typeface="Courier"/>
              </a:rPr>
              <a:t>(</a:t>
            </a:r>
            <a:r>
              <a:rPr>
                <a:solidFill>
                  <a:srgbClr val="4070A0"/>
                </a:solidFill>
                <a:latin typeface="Courier"/>
              </a:rPr>
              <a:t>"Thread-1"</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"T1 data: "</a:t>
            </a:r>
            <a:r>
              <a:rPr>
                <a:latin typeface="Courier"/>
              </a:rPr>
              <a:t> </a:t>
            </a:r>
            <a:r>
              <a:rPr>
                <a:solidFill>
                  <a:srgbClr val="666666"/>
                </a:solidFill>
                <a:latin typeface="Courier"/>
              </a:rPr>
              <a:t>+</a:t>
            </a:r>
            <a:r>
              <a:rPr>
                <a:latin typeface="Courier"/>
              </a:rPr>
              <a:t> s</a:t>
            </a:r>
            <a:r>
              <a:rPr>
                <a:solidFill>
                  <a:srgbClr val="666666"/>
                </a:solidFill>
                <a:latin typeface="Courier"/>
              </a:rPr>
              <a:t>.</a:t>
            </a:r>
            <a:r>
              <a:rPr>
                <a:solidFill>
                  <a:srgbClr val="06287E"/>
                </a:solidFill>
                <a:latin typeface="Courier"/>
              </a:rPr>
              <a:t>getData</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008000"/>
                </a:solidFill>
                <a:latin typeface="Courier"/>
              </a:rPr>
              <a:t>Thread</a:t>
            </a:r>
            <a:r>
              <a:rPr>
                <a:latin typeface="Courier"/>
              </a:rPr>
              <a:t> t2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Thread</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br/>
            <a:r>
              <a:rPr>
                <a:latin typeface="Courier"/>
              </a:rPr>
              <a:t>            ThreadSafeSingleton s </a:t>
            </a:r>
            <a:r>
              <a:rPr>
                <a:solidFill>
                  <a:srgbClr val="666666"/>
                </a:solidFill>
                <a:latin typeface="Courier"/>
              </a:rPr>
              <a:t>=</a:t>
            </a:r>
            <a:br/>
            <a:r>
              <a:rPr>
                <a:latin typeface="Courier"/>
              </a:rPr>
              <a:t>                ThreadSafeSingleton</a:t>
            </a:r>
            <a:r>
              <a:rPr>
                <a:solidFill>
                  <a:srgbClr val="666666"/>
                </a:solidFill>
                <a:latin typeface="Courier"/>
              </a:rPr>
              <a:t>.</a:t>
            </a:r>
            <a:r>
              <a:rPr>
                <a:solidFill>
                  <a:srgbClr val="06287E"/>
                </a:solidFill>
                <a:latin typeface="Courier"/>
              </a:rPr>
              <a:t>getInstance</a:t>
            </a:r>
            <a:r>
              <a:rPr>
                <a:solidFill>
                  <a:srgbClr val="666666"/>
                </a:solidFill>
                <a:latin typeface="Courier"/>
              </a:rPr>
              <a:t>(</a:t>
            </a:r>
            <a:r>
              <a:rPr>
                <a:solidFill>
                  <a:srgbClr val="4070A0"/>
                </a:solidFill>
                <a:latin typeface="Courier"/>
              </a:rPr>
              <a:t>"Thread-2"</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"T2 data: "</a:t>
            </a:r>
            <a:r>
              <a:rPr>
                <a:latin typeface="Courier"/>
              </a:rPr>
              <a:t> </a:t>
            </a:r>
            <a:r>
              <a:rPr>
                <a:solidFill>
                  <a:srgbClr val="666666"/>
                </a:solidFill>
                <a:latin typeface="Courier"/>
              </a:rPr>
              <a:t>+</a:t>
            </a:r>
            <a:r>
              <a:rPr>
                <a:latin typeface="Courier"/>
              </a:rPr>
              <a:t> s</a:t>
            </a:r>
            <a:r>
              <a:rPr>
                <a:solidFill>
                  <a:srgbClr val="666666"/>
                </a:solidFill>
                <a:latin typeface="Courier"/>
              </a:rPr>
              <a:t>.</a:t>
            </a:r>
            <a:r>
              <a:rPr>
                <a:solidFill>
                  <a:srgbClr val="06287E"/>
                </a:solidFill>
                <a:latin typeface="Courier"/>
              </a:rPr>
              <a:t>getData</a:t>
            </a:r>
            <a:r>
              <a:rPr>
                <a:solidFill>
                  <a:srgbClr val="666666"/>
                </a:solidFill>
                <a:latin typeface="Courier"/>
              </a:rPr>
              <a:t>());</a:t>
            </a:r>
            <a:br/>
            <a:r>
              <a:rPr>
                <a:latin typeface="Courier"/>
              </a:rPr>
              <a:t>        </a:t>
            </a:r>
            <a:r>
              <a:rPr>
                <a:solidFill>
                  <a:srgbClr val="666666"/>
                </a:solidFill>
                <a:latin typeface="Courier"/>
              </a:rPr>
              <a:t>});</a:t>
            </a:r>
            <a:br/>
            <a:br/>
            <a:r>
              <a:rPr>
                <a:latin typeface="Courier"/>
              </a:rPr>
              <a:t>        t1</a:t>
            </a:r>
            <a:r>
              <a:rPr>
                <a:solidFill>
                  <a:srgbClr val="666666"/>
                </a:solidFill>
                <a:latin typeface="Courier"/>
              </a:rPr>
              <a:t>.</a:t>
            </a:r>
            <a:r>
              <a:rPr>
                <a:solidFill>
                  <a:srgbClr val="06287E"/>
                </a:solidFill>
                <a:latin typeface="Courier"/>
              </a:rPr>
              <a:t>start</a:t>
            </a:r>
            <a:r>
              <a:rPr>
                <a:solidFill>
                  <a:srgbClr val="666666"/>
                </a:solidFill>
                <a:latin typeface="Courier"/>
              </a:rPr>
              <a:t>();</a:t>
            </a:r>
            <a:br/>
            <a:r>
              <a:rPr>
                <a:latin typeface="Courier"/>
              </a:rPr>
              <a:t>        t2</a:t>
            </a:r>
            <a:r>
              <a:rPr>
                <a:solidFill>
                  <a:srgbClr val="666666"/>
                </a:solidFill>
                <a:latin typeface="Courier"/>
              </a:rPr>
              <a:t>.</a:t>
            </a:r>
            <a:r>
              <a:rPr>
                <a:solidFill>
                  <a:srgbClr val="06287E"/>
                </a:solidFill>
                <a:latin typeface="Courier"/>
              </a:rPr>
              <a:t>start</a:t>
            </a:r>
            <a:r>
              <a:rPr>
                <a:solidFill>
                  <a:srgbClr val="666666"/>
                </a:solidFill>
                <a:latin typeface="Courier"/>
              </a:rPr>
              <a:t>();</a:t>
            </a:r>
            <a:br/>
            <a:br/>
            <a:r>
              <a:rPr>
                <a:latin typeface="Courier"/>
              </a:rPr>
              <a:t>        </a:t>
            </a:r>
            <a:r>
              <a:rPr i="1">
                <a:solidFill>
                  <a:srgbClr val="60A0B0"/>
                </a:solidFill>
                <a:latin typeface="Courier"/>
              </a:rPr>
              <a:t>// Both threads get the SAME instance</a:t>
            </a:r>
            <a:br/>
            <a:r>
              <a:rPr>
                <a:latin typeface="Courier"/>
              </a:rPr>
              <a:t>        </a:t>
            </a:r>
            <a:r>
              <a:rPr i="1">
                <a:solidFill>
                  <a:srgbClr val="60A0B0"/>
                </a:solidFill>
                <a:latin typeface="Courier"/>
              </a:rPr>
              <a:t>// Only one of "Thread-1" or "Thread-2" will be</a:t>
            </a:r>
            <a:br/>
            <a:r>
              <a:rPr>
                <a:latin typeface="Courier"/>
              </a:rPr>
              <a:t>        </a:t>
            </a:r>
            <a:r>
              <a:rPr i="1">
                <a:solidFill>
                  <a:srgbClr val="60A0B0"/>
                </a:solidFill>
                <a:latin typeface="Courier"/>
              </a:rPr>
              <a:t>// the data value, depending on which thread</a:t>
            </a:r>
            <a:br/>
            <a:r>
              <a:rPr>
                <a:latin typeface="Courier"/>
              </a:rPr>
              <a:t>        </a:t>
            </a:r>
            <a:r>
              <a:rPr i="1">
                <a:solidFill>
                  <a:srgbClr val="60A0B0"/>
                </a:solidFill>
                <a:latin typeface="Courier"/>
              </a:rPr>
              <a:t>// created the instance first.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"\n--- Enum Singleton ---"</a:t>
            </a:r>
            <a:r>
              <a:rPr>
                <a:solidFill>
                  <a:srgbClr val="666666"/>
                </a:solidFill>
                <a:latin typeface="Courier"/>
              </a:rPr>
              <a:t>);</a:t>
            </a:r>
            <a:br/>
            <a:r>
              <a:rPr>
                <a:latin typeface="Courier"/>
              </a:rPr>
              <a:t>        DatabaseConnection</a:t>
            </a:r>
            <a:r>
              <a:rPr>
                <a:solidFill>
                  <a:srgbClr val="666666"/>
                </a:solidFill>
                <a:latin typeface="Courier"/>
              </a:rPr>
              <a:t>.</a:t>
            </a:r>
            <a:r>
              <a:rPr>
                <a:solidFill>
                  <a:srgbClr val="06287E"/>
                </a:solidFill>
                <a:latin typeface="Courier"/>
              </a:rPr>
              <a:t>INSTANCE</a:t>
            </a:r>
            <a:r>
              <a:rPr>
                <a:solidFill>
                  <a:srgbClr val="666666"/>
                </a:solidFill>
                <a:latin typeface="Courier"/>
              </a:rPr>
              <a:t>.</a:t>
            </a:r>
            <a:r>
              <a:rPr>
                <a:solidFill>
                  <a:srgbClr val="06287E"/>
                </a:solidFill>
                <a:latin typeface="Courier"/>
              </a:rPr>
              <a:t>query</a:t>
            </a:r>
            <a:r>
              <a:rPr>
                <a:solidFill>
                  <a:srgbClr val="666666"/>
                </a:solidFill>
                <a:latin typeface="Courier"/>
              </a:rPr>
              <a:t>(</a:t>
            </a:r>
            <a:r>
              <a:rPr>
                <a:solidFill>
                  <a:srgbClr val="4070A0"/>
                </a:solidFill>
                <a:latin typeface="Courier"/>
              </a:rPr>
              <a:t>"SELECT 1"</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Singleton (Tekil Nesne) - Uygulama Karşılaştırması</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016000"/>
                <a:gridCol w="2032000"/>
                <a:gridCol w="1574800"/>
                <a:gridCol w="2032000"/>
                <a:gridCol w="1574800"/>
              </a:tblGrid>
              <a:tr h="0">
                <a:tc>
                  <a:txBody>
                    <a:bodyPr/>
                    <a:lstStyle/>
                    <a:p>
                      <a:pPr lvl="0" indent="0" marL="0">
                        <a:buNone/>
                      </a:pPr>
                      <a:r>
                        <a:rPr/>
                        <a:t>Yaklaşım</a:t>
                      </a:r>
                    </a:p>
                  </a:txBody>
                  <a:tcPr/>
                </a:tc>
                <a:tc>
                  <a:txBody>
                    <a:bodyPr/>
                    <a:lstStyle/>
                    <a:p>
                      <a:pPr lvl="0" indent="0" marL="0" algn="ctr">
                        <a:buNone/>
                      </a:pPr>
                      <a:r>
                        <a:rPr/>
                        <a:t>İş Parçacığı Güvenli</a:t>
                      </a:r>
                    </a:p>
                  </a:txBody>
                  <a:tcPr/>
                </a:tc>
                <a:tc>
                  <a:txBody>
                    <a:bodyPr/>
                    <a:lstStyle/>
                    <a:p>
                      <a:pPr lvl="0" indent="0" marL="0" algn="ctr">
                        <a:buNone/>
                      </a:pPr>
                      <a:r>
                        <a:rPr/>
                        <a:t>Tembel Başlatma</a:t>
                      </a:r>
                    </a:p>
                  </a:txBody>
                  <a:tcPr/>
                </a:tc>
                <a:tc>
                  <a:txBody>
                    <a:bodyPr/>
                    <a:lstStyle/>
                    <a:p>
                      <a:pPr lvl="0" indent="0" marL="0" algn="ctr">
                        <a:buNone/>
                      </a:pPr>
                      <a:r>
                        <a:rPr/>
                        <a:t>Serileştirme Güvenli</a:t>
                      </a:r>
                    </a:p>
                  </a:txBody>
                  <a:tcPr/>
                </a:tc>
                <a:tc>
                  <a:txBody>
                    <a:bodyPr/>
                    <a:lstStyle/>
                    <a:p>
                      <a:pPr lvl="0" indent="0" marL="0" algn="ctr">
                        <a:buNone/>
                      </a:pPr>
                      <a:r>
                        <a:rPr/>
                        <a:t>Yansıma Güvenli</a:t>
                      </a:r>
                    </a:p>
                  </a:txBody>
                  <a:tcPr/>
                </a:tc>
              </a:tr>
              <a:tr h="0">
                <a:tc>
                  <a:txBody>
                    <a:bodyPr/>
                    <a:lstStyle/>
                    <a:p>
                      <a:pPr lvl="0" indent="0" marL="0">
                        <a:buNone/>
                      </a:pPr>
                      <a:r>
                        <a:rPr/>
                        <a:t>Basit (Naive)</a:t>
                      </a:r>
                    </a:p>
                  </a:txBody>
                </a:tc>
                <a:tc>
                  <a:txBody>
                    <a:bodyPr/>
                    <a:lstStyle/>
                    <a:p>
                      <a:pPr lvl="0" indent="0" marL="0" algn="ctr">
                        <a:buNone/>
                      </a:pPr>
                      <a:r>
                        <a:rPr/>
                        <a:t>Hayır</a:t>
                      </a:r>
                    </a:p>
                  </a:txBody>
                </a:tc>
                <a:tc>
                  <a:txBody>
                    <a:bodyPr/>
                    <a:lstStyle/>
                    <a:p>
                      <a:pPr lvl="0" indent="0" marL="0" algn="ctr">
                        <a:buNone/>
                      </a:pPr>
                      <a:r>
                        <a:rPr/>
                        <a:t>Evet</a:t>
                      </a:r>
                    </a:p>
                  </a:txBody>
                </a:tc>
                <a:tc>
                  <a:txBody>
                    <a:bodyPr/>
                    <a:lstStyle/>
                    <a:p>
                      <a:pPr lvl="0" indent="0" marL="0" algn="ctr">
                        <a:buNone/>
                      </a:pPr>
                      <a:r>
                        <a:rPr/>
                        <a:t>Hayır</a:t>
                      </a:r>
                    </a:p>
                  </a:txBody>
                </a:tc>
                <a:tc>
                  <a:txBody>
                    <a:bodyPr/>
                    <a:lstStyle/>
                    <a:p>
                      <a:pPr lvl="0" indent="0" marL="0" algn="ctr">
                        <a:buNone/>
                      </a:pPr>
                      <a:r>
                        <a:rPr/>
                        <a:t>Hayır</a:t>
                      </a:r>
                    </a:p>
                  </a:txBody>
                </a:tc>
              </a:tr>
              <a:tr h="0">
                <a:tc>
                  <a:txBody>
                    <a:bodyPr/>
                    <a:lstStyle/>
                    <a:p>
                      <a:pPr lvl="0" indent="0" marL="0">
                        <a:buNone/>
                      </a:pPr>
                      <a:r>
                        <a:rPr/>
                        <a:t>Synchronized yöntem</a:t>
                      </a:r>
                    </a:p>
                  </a:txBody>
                </a:tc>
                <a:tc>
                  <a:txBody>
                    <a:bodyPr/>
                    <a:lstStyle/>
                    <a:p>
                      <a:pPr lvl="0" indent="0" marL="0" algn="ctr">
                        <a:buNone/>
                      </a:pPr>
                      <a:r>
                        <a:rPr/>
                        <a:t>Evet</a:t>
                      </a:r>
                    </a:p>
                  </a:txBody>
                </a:tc>
                <a:tc>
                  <a:txBody>
                    <a:bodyPr/>
                    <a:lstStyle/>
                    <a:p>
                      <a:pPr lvl="0" indent="0" marL="0" algn="ctr">
                        <a:buNone/>
                      </a:pPr>
                      <a:r>
                        <a:rPr/>
                        <a:t>Evet</a:t>
                      </a:r>
                    </a:p>
                  </a:txBody>
                </a:tc>
                <a:tc>
                  <a:txBody>
                    <a:bodyPr/>
                    <a:lstStyle/>
                    <a:p>
                      <a:pPr lvl="0" indent="0" marL="0" algn="ctr">
                        <a:buNone/>
                      </a:pPr>
                      <a:r>
                        <a:rPr/>
                        <a:t>Hayır</a:t>
                      </a:r>
                    </a:p>
                  </a:txBody>
                </a:tc>
                <a:tc>
                  <a:txBody>
                    <a:bodyPr/>
                    <a:lstStyle/>
                    <a:p>
                      <a:pPr lvl="0" indent="0" marL="0" algn="ctr">
                        <a:buNone/>
                      </a:pPr>
                      <a:r>
                        <a:rPr/>
                        <a:t>Hayır</a:t>
                      </a:r>
                    </a:p>
                  </a:txBody>
                </a:tc>
              </a:tr>
              <a:tr h="0">
                <a:tc>
                  <a:txBody>
                    <a:bodyPr/>
                    <a:lstStyle/>
                    <a:p>
                      <a:pPr lvl="0" indent="0" marL="0">
                        <a:buNone/>
                      </a:pPr>
                      <a:r>
                        <a:rPr/>
                        <a:t>Çift kontrollü kilitleme</a:t>
                      </a:r>
                    </a:p>
                  </a:txBody>
                </a:tc>
                <a:tc>
                  <a:txBody>
                    <a:bodyPr/>
                    <a:lstStyle/>
                    <a:p>
                      <a:pPr lvl="0" indent="0" marL="0" algn="ctr">
                        <a:buNone/>
                      </a:pPr>
                      <a:r>
                        <a:rPr/>
                        <a:t>Evet</a:t>
                      </a:r>
                    </a:p>
                  </a:txBody>
                </a:tc>
                <a:tc>
                  <a:txBody>
                    <a:bodyPr/>
                    <a:lstStyle/>
                    <a:p>
                      <a:pPr lvl="0" indent="0" marL="0" algn="ctr">
                        <a:buNone/>
                      </a:pPr>
                      <a:r>
                        <a:rPr/>
                        <a:t>Evet</a:t>
                      </a:r>
                    </a:p>
                  </a:txBody>
                </a:tc>
                <a:tc>
                  <a:txBody>
                    <a:bodyPr/>
                    <a:lstStyle/>
                    <a:p>
                      <a:pPr lvl="0" indent="0" marL="0" algn="ctr">
                        <a:buNone/>
                      </a:pPr>
                      <a:r>
                        <a:rPr/>
                        <a:t>Hayır</a:t>
                      </a:r>
                    </a:p>
                  </a:txBody>
                </a:tc>
                <a:tc>
                  <a:txBody>
                    <a:bodyPr/>
                    <a:lstStyle/>
                    <a:p>
                      <a:pPr lvl="0" indent="0" marL="0" algn="ctr">
                        <a:buNone/>
                      </a:pPr>
                      <a:r>
                        <a:rPr/>
                        <a:t>Hayır</a:t>
                      </a:r>
                    </a:p>
                  </a:txBody>
                </a:tc>
              </a:tr>
              <a:tr h="0">
                <a:tc>
                  <a:txBody>
                    <a:bodyPr/>
                    <a:lstStyle/>
                    <a:p>
                      <a:pPr lvl="0" indent="0" marL="0">
                        <a:buNone/>
                      </a:pPr>
                      <a:r>
                        <a:rPr/>
                        <a:t>Bill Pugh (İç sınıf)</a:t>
                      </a:r>
                    </a:p>
                  </a:txBody>
                </a:tc>
                <a:tc>
                  <a:txBody>
                    <a:bodyPr/>
                    <a:lstStyle/>
                    <a:p>
                      <a:pPr lvl="0" indent="0" marL="0" algn="ctr">
                        <a:buNone/>
                      </a:pPr>
                      <a:r>
                        <a:rPr/>
                        <a:t>Evet</a:t>
                      </a:r>
                    </a:p>
                  </a:txBody>
                </a:tc>
                <a:tc>
                  <a:txBody>
                    <a:bodyPr/>
                    <a:lstStyle/>
                    <a:p>
                      <a:pPr lvl="0" indent="0" marL="0" algn="ctr">
                        <a:buNone/>
                      </a:pPr>
                      <a:r>
                        <a:rPr/>
                        <a:t>Evet</a:t>
                      </a:r>
                    </a:p>
                  </a:txBody>
                </a:tc>
                <a:tc>
                  <a:txBody>
                    <a:bodyPr/>
                    <a:lstStyle/>
                    <a:p>
                      <a:pPr lvl="0" indent="0" marL="0" algn="ctr">
                        <a:buNone/>
                      </a:pPr>
                      <a:r>
                        <a:rPr/>
                        <a:t>Hayır</a:t>
                      </a:r>
                    </a:p>
                  </a:txBody>
                </a:tc>
                <a:tc>
                  <a:txBody>
                    <a:bodyPr/>
                    <a:lstStyle/>
                    <a:p>
                      <a:pPr lvl="0" indent="0" marL="0" algn="ctr">
                        <a:buNone/>
                      </a:pPr>
                      <a:r>
                        <a:rPr/>
                        <a:t>Hayır</a:t>
                      </a:r>
                    </a:p>
                  </a:txBody>
                </a:tc>
              </a:tr>
              <a:tr h="0">
                <a:tc>
                  <a:txBody>
                    <a:bodyPr/>
                    <a:lstStyle/>
                    <a:p>
                      <a:pPr lvl="0" indent="0" marL="0">
                        <a:buNone/>
                      </a:pPr>
                      <a:r>
                        <a:rPr b="1"/>
                        <a:t>Enum</a:t>
                      </a:r>
                    </a:p>
                  </a:txBody>
                </a:tc>
                <a:tc>
                  <a:txBody>
                    <a:bodyPr/>
                    <a:lstStyle/>
                    <a:p>
                      <a:pPr lvl="0" indent="0" marL="0" algn="ctr">
                        <a:buNone/>
                      </a:pPr>
                      <a:r>
                        <a:rPr b="1"/>
                        <a:t>Evet</a:t>
                      </a:r>
                    </a:p>
                  </a:txBody>
                </a:tc>
                <a:tc>
                  <a:txBody>
                    <a:bodyPr/>
                    <a:lstStyle/>
                    <a:p>
                      <a:pPr lvl="0" indent="0" marL="0" algn="ctr">
                        <a:buNone/>
                      </a:pPr>
                      <a:r>
                        <a:rPr b="1"/>
                        <a:t>Hayır</a:t>
                      </a:r>
                    </a:p>
                  </a:txBody>
                </a:tc>
                <a:tc>
                  <a:txBody>
                    <a:bodyPr/>
                    <a:lstStyle/>
                    <a:p>
                      <a:pPr lvl="0" indent="0" marL="0" algn="ctr">
                        <a:buNone/>
                      </a:pPr>
                      <a:r>
                        <a:rPr b="1"/>
                        <a:t>Evet</a:t>
                      </a:r>
                    </a:p>
                  </a:txBody>
                </a:tc>
                <a:tc>
                  <a:txBody>
                    <a:bodyPr/>
                    <a:lstStyle/>
                    <a:p>
                      <a:pPr lvl="0" indent="0" marL="0" algn="ctr">
                        <a:buNone/>
                      </a:pPr>
                      <a:r>
                        <a:rPr b="1"/>
                        <a:t>Evet</a:t>
                      </a:r>
                    </a:p>
                  </a:txBody>
                </a:tc>
              </a:tr>
            </a:tbl>
          </a:graphicData>
        </a:graphic>
      </p:graphicFrame>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Enum tabanlı</a:t>
            </a:r>
            <a:r>
              <a:rPr/>
              <a:t> yaklaşım Java’da önerilen yoldur (Joshua Bloch’un Effective Java kitabı).</a:t>
            </a:r>
          </a:p>
          <a:p>
            <a:pPr lvl="0"/>
            <a:r>
              <a:rPr/>
              <a:t>Serileştirme güvenliği (JVM tarafından ele alınır) ve yansıma güvenliği (yansıma aracılığıyla enum örnekleri oluşturulamaz) sağlar.</a:t>
            </a:r>
          </a:p>
          <a:p>
            <a:pPr lvl="0"/>
            <a:r>
              <a:rPr/>
              <a:t>Tek dezavantajı tembel başlatmayı desteklememesidir (enum örnekleri enum sınıfı yüklendiğinde oluşturulur).</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F: Özet</a:t>
            </a:r>
          </a:p>
        </p:txBody>
      </p:sp>
      <p:sp>
        <p:nvSpPr>
          <p:cNvPr id="3" name="Content Placeholder 2"/>
          <p:cNvSpPr>
            <a:spLocks noGrp="1"/>
          </p:cNvSpPr>
          <p:nvPr>
            <p:ph idx="1"/>
          </p:nvPr>
        </p:nvSpPr>
        <p:spPr/>
        <p:txBody>
          <a:bodyPr/>
          <a:lstStyle/>
          <a:p>
            <a:pPr lvl="0"/>
            <a:r>
              <a:rPr b="1"/>
              <a:t>Singleton (Tekil Nesne)</a:t>
            </a:r>
            <a:r>
              <a:rPr/>
              <a:t>, bir sınıfın yalnızca bir örneğe sahip olmasını sağlar ve ona global bir erişim noktası sunar.</a:t>
            </a:r>
          </a:p>
          <a:p>
            <a:pPr lvl="0"/>
            <a:r>
              <a:rPr b="1"/>
              <a:t>İki sorunu</a:t>
            </a:r>
            <a:r>
              <a:rPr/>
              <a:t> çözer: örnek sayısını kontrol etme ve global erişim sağlama.</a:t>
            </a:r>
          </a:p>
          <a:p>
            <a:pPr lvl="0"/>
            <a:r>
              <a:rPr/>
              <a:t>Desen bir </a:t>
            </a:r>
            <a:r>
              <a:rPr b="1"/>
              <a:t>özel yapıcı</a:t>
            </a:r>
            <a:r>
              <a:rPr/>
              <a:t> ve bir </a:t>
            </a:r>
            <a:r>
              <a:rPr b="1"/>
              <a:t>statik getInstance() yöntemi</a:t>
            </a:r>
            <a:r>
              <a:rPr/>
              <a:t> gerektirir.</a:t>
            </a:r>
          </a:p>
          <a:p>
            <a:pPr lvl="0"/>
            <a:r>
              <a:rPr b="1"/>
              <a:t>İş parçacığı güvenliği</a:t>
            </a:r>
            <a:r>
              <a:rPr/>
              <a:t> kritik bir endişedir; basit uygulamalar eşzamanlı erişim altında bozulabilir.</a:t>
            </a:r>
          </a:p>
          <a:p>
            <a:pPr lvl="0"/>
            <a:r>
              <a:rPr/>
              <a:t>Java birden fazla Singleton uygulaması sunar: basit, synchronized, çift kontrollü kilitleme, iç sınıf (Bill Pugh) ve </a:t>
            </a:r>
            <a:r>
              <a:rPr b="1"/>
              <a:t>enum</a:t>
            </a:r>
            <a:r>
              <a:rPr/>
              <a:t> (önerilen).</a:t>
            </a:r>
          </a:p>
          <a:p>
            <a:pPr lvl="0"/>
            <a:r>
              <a:rPr/>
              <a:t>Singleton </a:t>
            </a:r>
            <a:r>
              <a:rPr b="1"/>
              <a:t>tartışmalıdır</a:t>
            </a:r>
            <a:r>
              <a:rPr/>
              <a:t>: SRP’yi ihlal eder, kötü tasarımı maskeleyebilir ve test etmeyi zorlaştırır.</a:t>
            </a:r>
          </a:p>
          <a:p>
            <a:pPr lvl="0"/>
            <a:r>
              <a:rPr/>
              <a:t>Abstract Factories, Builders ve Prototypes’ın tümü </a:t>
            </a:r>
            <a:r>
              <a:rPr b="1"/>
              <a:t>Singletons</a:t>
            </a:r>
            <a:r>
              <a:rPr/>
              <a:t> olarak uygulanabilir.</a:t>
            </a:r>
          </a:p>
          <a:p>
            <a:pPr lvl="0"/>
            <a:r>
              <a:rPr b="1"/>
              <a:t>Enum tabanlı Singleton</a:t>
            </a:r>
            <a:r>
              <a:rPr/>
              <a:t>, Java’daki altın standarttır: iş parçacığı güvenli, serileştirme güvenli ve yansıma güvenli.</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Kaynaklar</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Kaynaklar</a:t>
            </a:r>
          </a:p>
        </p:txBody>
      </p:sp>
      <p:sp>
        <p:nvSpPr>
          <p:cNvPr id="3" name="Content Placeholder 2"/>
          <p:cNvSpPr>
            <a:spLocks noGrp="1"/>
          </p:cNvSpPr>
          <p:nvPr>
            <p:ph idx="1"/>
          </p:nvPr>
        </p:nvSpPr>
        <p:spPr/>
        <p:txBody>
          <a:bodyPr/>
          <a:lstStyle/>
          <a:p>
            <a:pPr lvl="0" indent="-342900" marL="342900">
              <a:buAutoNum type="arabicPeriod"/>
            </a:pPr>
            <a:r>
              <a:rPr>
                <a:hlinkClick r:id="rId2"/>
              </a:rPr>
              <a:t>RefactoringGuru - Design Patterns</a:t>
            </a:r>
            <a:r>
              <a:rPr/>
              <a:t> - Birden fazla dilde örneklerle tasarım desenleri için kapsamlı rehber.</a:t>
            </a:r>
          </a:p>
          <a:p>
            <a:pPr lvl="0" indent="-342900" marL="342900">
              <a:buAutoNum type="arabicPeriod"/>
            </a:pPr>
            <a:r>
              <a:rPr>
                <a:hlinkClick r:id="rId3"/>
              </a:rPr>
              <a:t>RefactoringGuru - Factory Method</a:t>
            </a:r>
            <a:r>
              <a:rPr/>
              <a:t> - Factory Method deseni: amaç, yapı, sözde kod, uygulanabilirlik ve uygulama.</a:t>
            </a:r>
          </a:p>
          <a:p>
            <a:pPr lvl="0" indent="-342900" marL="342900">
              <a:buAutoNum type="arabicPeriod"/>
            </a:pPr>
            <a:r>
              <a:rPr>
                <a:hlinkClick r:id="rId4"/>
              </a:rPr>
              <a:t>RefactoringGuru - Abstract Factory</a:t>
            </a:r>
            <a:r>
              <a:rPr/>
              <a:t> - Abstract Factory deseni: ilişkili nesne aileleri üretme.</a:t>
            </a:r>
          </a:p>
          <a:p>
            <a:pPr lvl="0" indent="-342900" marL="342900">
              <a:buAutoNum type="arabicPeriod"/>
            </a:pPr>
            <a:r>
              <a:rPr>
                <a:hlinkClick r:id="rId5"/>
              </a:rPr>
              <a:t>RefactoringGuru - Builder</a:t>
            </a:r>
            <a:r>
              <a:rPr/>
              <a:t> - Builder deseni: karmaşık nesneleri adım adım oluşturma.</a:t>
            </a:r>
          </a:p>
          <a:p>
            <a:pPr lvl="0" indent="-342900" marL="342900">
              <a:buAutoNum type="arabicPeriod"/>
            </a:pPr>
            <a:r>
              <a:rPr>
                <a:hlinkClick r:id="rId6"/>
              </a:rPr>
              <a:t>RefactoringGuru - Prototype</a:t>
            </a:r>
            <a:r>
              <a:rPr/>
              <a:t> - Prototype deseni: sınıf bağımlılığı olmadan mevcut nesneleri kopyalama.</a:t>
            </a:r>
          </a:p>
          <a:p>
            <a:pPr lvl="0" indent="-342900" marL="342900">
              <a:buAutoNum type="arabicPeriod"/>
            </a:pPr>
            <a:r>
              <a:rPr>
                <a:hlinkClick r:id="rId7"/>
              </a:rPr>
              <a:t>RefactoringGuru - Singleton</a:t>
            </a:r>
            <a:r>
              <a:rPr/>
              <a:t> - Singleton deseni: global erişimle tekil örnek sağlama.</a:t>
            </a:r>
          </a:p>
          <a:p>
            <a:pPr lvl="0" indent="-342900" marL="342900">
              <a:buAutoNum type="arabicPeriod"/>
            </a:pPr>
            <a:r>
              <a:rPr/>
              <a:t>Gamma, E., Helm, R., Johnson, R., &amp; Vlissides, J. (1994). </a:t>
            </a:r>
            <a:r>
              <a:rPr i="1"/>
              <a:t>Design Patterns: Elements of Reusable Object-Oriented Software</a:t>
            </a:r>
            <a:r>
              <a:rPr/>
              <a:t>. Addison-Wesley.</a:t>
            </a:r>
          </a:p>
          <a:p>
            <a:pPr lvl="0" indent="-342900" marL="342900">
              <a:buAutoNum type="arabicPeriod"/>
            </a:pPr>
            <a:r>
              <a:rPr/>
              <a:t>Bloch, J. (2018). </a:t>
            </a:r>
            <a:r>
              <a:rPr i="1"/>
              <a:t>Effective Java</a:t>
            </a:r>
            <a:r>
              <a:rPr/>
              <a:t> (3. baskı). Addison-Wesley. - Enum kullanarak önerilen Singleton uygulaması.</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9</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Nesne Yönelimli Programlama</dc:title>
  <dc:creator>Yazar: Dr. Öğr. Üyesi Uğur CORUH</dc:creator>
  <cp:keywords/>
  <dcterms:created xsi:type="dcterms:W3CDTF">2026-03-03T13:35:18Z</dcterms:created>
  <dcterms:modified xsi:type="dcterms:W3CDTF">2026-03-03T13:35:18Z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Hafta-9</vt:lpwstr>
  </property>
  <property fmtid="{D5CDD505-2E9C-101B-9397-08002B2CF9AE}" pid="8" name="footer-center">
    <vt:lpwstr>© Telif Hakkı 2025-2026</vt:lpwstr>
  </property>
  <property fmtid="{D5CDD505-2E9C-101B-9397-08002B2CF9AE}" pid="9" name="footer-left">
    <vt:lpwstr>© Telif Hakkı 2025-2026 Dr. Öğr. Üyesi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Nesne Yönelimli Programlama</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Tasarım Desenlerine Giriş ve Yaratımsal Desenler</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