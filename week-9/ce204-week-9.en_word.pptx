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8" Type="http://schemas.openxmlformats.org/officeDocument/2006/relationships/viewProps" Target="viewProps.xml" /><Relationship Id="rId127" Type="http://schemas.openxmlformats.org/officeDocument/2006/relationships/presProps" Target="presProps.xml" /><Relationship Id="rId1" Type="http://schemas.openxmlformats.org/officeDocument/2006/relationships/slideMaster" Target="slideMasters/slideMaster1.xml" /><Relationship Id="rId130" Type="http://schemas.openxmlformats.org/officeDocument/2006/relationships/tableStyles" Target="tableStyles.xml" /><Relationship Id="rId12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9.en.md_doc.pdf" TargetMode="External" /><Relationship Id="rId3" Type="http://schemas.openxmlformats.org/officeDocument/2006/relationships/hyperlink" Target="ce204-week-9.en.md_word.docx" TargetMode="External" /><Relationship Id="rId4" Type="http://schemas.openxmlformats.org/officeDocument/2006/relationships/hyperlink" Target="ce204-week-9.en.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factory-method" TargetMode="Externa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abstract-factory" TargetMode="Externa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builder" TargetMode="Externa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prototype" TargetMode="Externa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singleton" TargetMode="Externa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 TargetMode="External" /><Relationship Id="rId3" Type="http://schemas.openxmlformats.org/officeDocument/2006/relationships/hyperlink" Target="https://refactoring.guru/design-patterns/factory-method" TargetMode="External" /><Relationship Id="rId4" Type="http://schemas.openxmlformats.org/officeDocument/2006/relationships/hyperlink" Target="https://refactoring.guru/design-patterns/abstract-factory" TargetMode="External" /><Relationship Id="rId5" Type="http://schemas.openxmlformats.org/officeDocument/2006/relationships/hyperlink" Target="https://refactoring.guru/design-patterns/builder" TargetMode="External" /><Relationship Id="rId6" Type="http://schemas.openxmlformats.org/officeDocument/2006/relationships/hyperlink" Target="https://refactoring.guru/design-patterns/prototype" TargetMode="External" /><Relationship Id="rId7" Type="http://schemas.openxmlformats.org/officeDocument/2006/relationships/hyperlink" Target="https://refactoring.guru/design-patterns/singleton" TargetMode="Externa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Design Patterns Introduction &amp; Creational Patterns</a:t>
            </a:r>
            <a:br/>
            <a:br/>
            <a:r>
              <a:rPr/>
              <a:t>Author: Asst. Prof. Dr. Ugur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Week-9 (Design Patterns Introduction &amp; Creational Patterns)</a:t>
            </a:r>
          </a:p>
        </p:txBody>
      </p:sp>
      <p:sp>
        <p:nvSpPr>
          <p:cNvPr id="3" name="Content Placeholder 2"/>
          <p:cNvSpPr>
            <a:spLocks noGrp="1"/>
          </p:cNvSpPr>
          <p:nvPr>
            <p:ph idx="1"/>
          </p:nvPr>
        </p:nvSpPr>
        <p:spPr/>
        <p:txBody>
          <a:bodyPr/>
          <a:lstStyle/>
          <a:p>
            <a:pPr lvl="0" indent="0" marL="0">
              <a:spcBef>
                <a:spcPts val="3000"/>
              </a:spcBef>
              <a:buNone/>
            </a:pPr>
            <a:r>
              <a:rPr b="1"/>
              <a:t>Spring Semester, 2025-2026</a:t>
            </a:r>
          </a:p>
          <a:p>
            <a:pPr lvl="0" indent="0" marL="0">
              <a:buNone/>
            </a:pPr>
            <a:r>
              <a:rPr/>
              <a:t>Download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Week-9 Outline</a:t>
            </a:r>
          </a:p>
        </p:txBody>
      </p:sp>
      <p:sp>
        <p:nvSpPr>
          <p:cNvPr id="3" name="Content Placeholder 2"/>
          <p:cNvSpPr>
            <a:spLocks noGrp="1"/>
          </p:cNvSpPr>
          <p:nvPr>
            <p:ph idx="1"/>
          </p:nvPr>
        </p:nvSpPr>
        <p:spPr/>
        <p:txBody>
          <a:bodyPr/>
          <a:lstStyle/>
          <a:p>
            <a:pPr lvl="0" indent="0" marL="0">
              <a:spcBef>
                <a:spcPts val="3000"/>
              </a:spcBef>
              <a:buNone/>
            </a:pPr>
            <a:r>
              <a:rPr b="1"/>
              <a:t>Modules</a:t>
            </a:r>
          </a:p>
          <a:p>
            <a:pPr lvl="0"/>
            <a:r>
              <a:rPr b="1"/>
              <a:t>Module A:</a:t>
            </a:r>
            <a:r>
              <a:rPr/>
              <a:t> What Are Design Patterns?</a:t>
            </a:r>
          </a:p>
          <a:p>
            <a:pPr lvl="0"/>
            <a:r>
              <a:rPr b="1"/>
              <a:t>Module B:</a:t>
            </a:r>
            <a:r>
              <a:rPr/>
              <a:t> Factory Method Pattern</a:t>
            </a:r>
          </a:p>
          <a:p>
            <a:pPr lvl="0"/>
            <a:r>
              <a:rPr b="1"/>
              <a:t>Module C:</a:t>
            </a:r>
            <a:r>
              <a:rPr/>
              <a:t> Abstract Factory Pattern</a:t>
            </a:r>
          </a:p>
          <a:p>
            <a:pPr lvl="0"/>
            <a:r>
              <a:rPr b="1"/>
              <a:t>Module D:</a:t>
            </a:r>
            <a:r>
              <a:rPr/>
              <a:t> Builder Pattern</a:t>
            </a:r>
          </a:p>
          <a:p>
            <a:pPr lvl="0"/>
            <a:r>
              <a:rPr b="1"/>
              <a:t>Module E:</a:t>
            </a:r>
            <a:r>
              <a:rPr/>
              <a:t> Prototype Pattern</a:t>
            </a:r>
          </a:p>
          <a:p>
            <a:pPr lvl="0"/>
            <a:r>
              <a:rPr b="1"/>
              <a:t>Module F:</a:t>
            </a:r>
            <a:r>
              <a:rPr/>
              <a:t> Singleton Pattern</a:t>
            </a:r>
          </a:p>
          <a:p>
            <a:pPr lvl="0" indent="0" marL="0">
              <a:buNone/>
            </a:pPr>
            <a:r>
              <a:rPr/>
              <a:t>Each module includes comprehensive coverage of intent, problem, solution, structure, pseudocode, applicability, implementation steps, pros/cons, relationships with other patterns, and Java code examples.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A: What Are Design Patterns?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Design Patterns?</a:t>
            </a:r>
          </a:p>
        </p:txBody>
      </p:sp>
      <p:sp>
        <p:nvSpPr>
          <p:cNvPr id="3" name="Content Placeholder 2"/>
          <p:cNvSpPr>
            <a:spLocks noGrp="1"/>
          </p:cNvSpPr>
          <p:nvPr>
            <p:ph idx="1"/>
          </p:nvPr>
        </p:nvSpPr>
        <p:spPr/>
        <p:txBody>
          <a:bodyPr/>
          <a:lstStyle/>
          <a:p>
            <a:pPr lvl="0"/>
            <a:r>
              <a:rPr b="1"/>
              <a:t>Design patterns</a:t>
            </a:r>
            <a:r>
              <a:rPr/>
              <a:t> are typical solutions to commonly occurring problems in software design.</a:t>
            </a:r>
          </a:p>
          <a:p>
            <a:pPr lvl="0"/>
            <a:r>
              <a:rPr/>
              <a:t>They are like pre-made blueprints that you can customize to solve a recurring design problem in your code.</a:t>
            </a:r>
          </a:p>
          <a:p>
            <a:pPr lvl="0"/>
            <a:r>
              <a:rPr/>
              <a:t>A pattern is not a specific piece of code, but a general concept for solving a particular problem.</a:t>
            </a:r>
          </a:p>
          <a:p>
            <a:pPr lvl="0"/>
            <a:r>
              <a:rPr/>
              <a:t>You can follow the pattern details and implement a solution that suits the realities of your own program.</a:t>
            </a:r>
          </a:p>
          <a:p>
            <a:pPr lvl="0"/>
            <a:r>
              <a:rPr/>
              <a:t>Patterns are often confused with algorithms. While an algorithm always defines a clear set of actions, a pattern is a more high-level description of a solution.</a:t>
            </a:r>
          </a:p>
          <a:p>
            <a:pPr lvl="0"/>
            <a:r>
              <a:rPr/>
              <a:t>The code of the same pattern applied to two different programs may be different.</a:t>
            </a:r>
          </a:p>
          <a:p>
            <a:pPr lvl="0" indent="0" marL="0">
              <a:buNone/>
            </a:pPr>
            <a:r>
              <a:rPr/>
              <a:t>Reference: </a:t>
            </a:r>
            <a:r>
              <a:rPr>
                <a:hlinkClick r:id="rId2"/>
              </a:rPr>
              <a:t>RefactoringGuru - Design Patterns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Patterns vs. Algorithms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879600"/>
                <a:gridCol w="2590800"/>
                <a:gridCol w="3759200"/>
              </a:tblGrid>
              <a:tr h="0">
                <a:tc>
                  <a:txBody>
                    <a:bodyPr/>
                    <a:lstStyle/>
                    <a:p>
                      <a:pPr lvl="0" indent="0" marL="0">
                        <a:buNone/>
                      </a:pPr>
                      <a:r>
                        <a:rPr/>
                        <a:t>Aspect</a:t>
                      </a:r>
                    </a:p>
                  </a:txBody>
                  <a:tcPr/>
                </a:tc>
                <a:tc>
                  <a:txBody>
                    <a:bodyPr/>
                    <a:lstStyle/>
                    <a:p>
                      <a:pPr lvl="0" indent="0" marL="0">
                        <a:buNone/>
                      </a:pPr>
                      <a:r>
                        <a:rPr/>
                        <a:t>Algorithm</a:t>
                      </a:r>
                    </a:p>
                  </a:txBody>
                  <a:tcPr/>
                </a:tc>
                <a:tc>
                  <a:txBody>
                    <a:bodyPr/>
                    <a:lstStyle/>
                    <a:p>
                      <a:pPr lvl="0" indent="0" marL="0">
                        <a:buNone/>
                      </a:pPr>
                      <a:r>
                        <a:rPr/>
                        <a:t>Design Pattern</a:t>
                      </a:r>
                    </a:p>
                  </a:txBody>
                  <a:tcPr/>
                </a:tc>
              </a:tr>
              <a:tr h="0">
                <a:tc>
                  <a:txBody>
                    <a:bodyPr/>
                    <a:lstStyle/>
                    <a:p>
                      <a:pPr lvl="0" indent="0" marL="0">
                        <a:buNone/>
                      </a:pPr>
                      <a:r>
                        <a:rPr b="1"/>
                        <a:t>Level</a:t>
                      </a:r>
                    </a:p>
                  </a:txBody>
                </a:tc>
                <a:tc>
                  <a:txBody>
                    <a:bodyPr/>
                    <a:lstStyle/>
                    <a:p>
                      <a:pPr lvl="0" indent="0" marL="0">
                        <a:buNone/>
                      </a:pPr>
                      <a:r>
                        <a:rPr/>
                        <a:t>Low-level, step-by-step</a:t>
                      </a:r>
                    </a:p>
                  </a:txBody>
                </a:tc>
                <a:tc>
                  <a:txBody>
                    <a:bodyPr/>
                    <a:lstStyle/>
                    <a:p>
                      <a:pPr lvl="0" indent="0" marL="0">
                        <a:buNone/>
                      </a:pPr>
                      <a:r>
                        <a:rPr/>
                        <a:t>High-level, architectural</a:t>
                      </a:r>
                    </a:p>
                  </a:txBody>
                </a:tc>
              </a:tr>
              <a:tr h="0">
                <a:tc>
                  <a:txBody>
                    <a:bodyPr/>
                    <a:lstStyle/>
                    <a:p>
                      <a:pPr lvl="0" indent="0" marL="0">
                        <a:buNone/>
                      </a:pPr>
                      <a:r>
                        <a:rPr b="1"/>
                        <a:t>Analogy</a:t>
                      </a:r>
                    </a:p>
                  </a:txBody>
                </a:tc>
                <a:tc>
                  <a:txBody>
                    <a:bodyPr/>
                    <a:lstStyle/>
                    <a:p>
                      <a:pPr lvl="0" indent="0" marL="0">
                        <a:buNone/>
                      </a:pPr>
                      <a:r>
                        <a:rPr/>
                        <a:t>A cooking recipe</a:t>
                      </a:r>
                    </a:p>
                  </a:txBody>
                </a:tc>
                <a:tc>
                  <a:txBody>
                    <a:bodyPr/>
                    <a:lstStyle/>
                    <a:p>
                      <a:pPr lvl="0" indent="0" marL="0">
                        <a:buNone/>
                      </a:pPr>
                      <a:r>
                        <a:rPr/>
                        <a:t>A blueprint</a:t>
                      </a:r>
                    </a:p>
                  </a:txBody>
                </a:tc>
              </a:tr>
              <a:tr h="0">
                <a:tc>
                  <a:txBody>
                    <a:bodyPr/>
                    <a:lstStyle/>
                    <a:p>
                      <a:pPr lvl="0" indent="0" marL="0">
                        <a:buNone/>
                      </a:pPr>
                      <a:r>
                        <a:rPr b="1"/>
                        <a:t>Specificity</a:t>
                      </a:r>
                    </a:p>
                  </a:txBody>
                </a:tc>
                <a:tc>
                  <a:txBody>
                    <a:bodyPr/>
                    <a:lstStyle/>
                    <a:p>
                      <a:pPr lvl="0" indent="0" marL="0">
                        <a:buNone/>
                      </a:pPr>
                      <a:r>
                        <a:rPr/>
                        <a:t>Clear set of actions to achieve a goal</a:t>
                      </a:r>
                    </a:p>
                  </a:txBody>
                </a:tc>
                <a:tc>
                  <a:txBody>
                    <a:bodyPr/>
                    <a:lstStyle/>
                    <a:p>
                      <a:pPr lvl="0" indent="0" marL="0">
                        <a:buNone/>
                      </a:pPr>
                      <a:r>
                        <a:rPr/>
                        <a:t>General concept for solving a problem</a:t>
                      </a:r>
                    </a:p>
                  </a:txBody>
                </a:tc>
              </a:tr>
              <a:tr h="0">
                <a:tc>
                  <a:txBody>
                    <a:bodyPr/>
                    <a:lstStyle/>
                    <a:p>
                      <a:pPr lvl="0" indent="0" marL="0">
                        <a:buNone/>
                      </a:pPr>
                      <a:r>
                        <a:rPr b="1"/>
                        <a:t>Implementation</a:t>
                      </a:r>
                    </a:p>
                  </a:txBody>
                </a:tc>
                <a:tc>
                  <a:txBody>
                    <a:bodyPr/>
                    <a:lstStyle/>
                    <a:p>
                      <a:pPr lvl="0" indent="0" marL="0">
                        <a:buNone/>
                      </a:pPr>
                      <a:r>
                        <a:rPr/>
                        <a:t>Same code can be reused directly</a:t>
                      </a:r>
                    </a:p>
                  </a:txBody>
                </a:tc>
                <a:tc>
                  <a:txBody>
                    <a:bodyPr/>
                    <a:lstStyle/>
                    <a:p>
                      <a:pPr lvl="0" indent="0" marL="0">
                        <a:buNone/>
                      </a:pPr>
                      <a:r>
                        <a:rPr/>
                        <a:t>Must be adapted to each program</a:t>
                      </a:r>
                    </a:p>
                  </a:txBody>
                </a:tc>
              </a:tr>
              <a:tr h="0">
                <a:tc>
                  <a:txBody>
                    <a:bodyPr/>
                    <a:lstStyle/>
                    <a:p>
                      <a:pPr lvl="0" indent="0" marL="0">
                        <a:buNone/>
                      </a:pPr>
                      <a:r>
                        <a:rPr b="1"/>
                        <a:t>Focus</a:t>
                      </a:r>
                    </a:p>
                  </a:txBody>
                </a:tc>
                <a:tc>
                  <a:txBody>
                    <a:bodyPr/>
                    <a:lstStyle/>
                    <a:p>
                      <a:pPr lvl="0" indent="0" marL="0">
                        <a:buNone/>
                      </a:pPr>
                      <a:r>
                        <a:rPr/>
                        <a:t>How to process data</a:t>
                      </a:r>
                    </a:p>
                  </a:txBody>
                </a:tc>
                <a:tc>
                  <a:txBody>
                    <a:bodyPr/>
                    <a:lstStyle/>
                    <a:p>
                      <a:pPr lvl="0" indent="0" marL="0">
                        <a:buNone/>
                      </a:pPr>
                      <a:r>
                        <a:rPr/>
                        <a:t>How to structure code</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An algorithm is like a cooking recipe: both have clear steps to achieve a goal.</a:t>
            </a:r>
          </a:p>
          <a:p>
            <a:pPr lvl="0"/>
            <a:r>
              <a:rPr/>
              <a:t>A pattern is more like a blueprint: you can see what the result and its features are, but the exact order of implementation is up to you.</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Does a Pattern Consist Of?</a:t>
            </a:r>
          </a:p>
        </p:txBody>
      </p:sp>
      <p:sp>
        <p:nvSpPr>
          <p:cNvPr id="3" name="Content Placeholder 2"/>
          <p:cNvSpPr>
            <a:spLocks noGrp="1"/>
          </p:cNvSpPr>
          <p:nvPr>
            <p:ph idx="1"/>
          </p:nvPr>
        </p:nvSpPr>
        <p:spPr/>
        <p:txBody>
          <a:bodyPr/>
          <a:lstStyle/>
          <a:p>
            <a:pPr lvl="0" indent="0" marL="0">
              <a:buNone/>
            </a:pPr>
            <a:r>
              <a:rPr/>
              <a:t>Most patterns are described formally so people can reproduce them in many contexts. A pattern description usually includes:</a:t>
            </a:r>
          </a:p>
          <a:p>
            <a:pPr lvl="0"/>
            <a:r>
              <a:rPr b="1"/>
              <a:t>Intent</a:t>
            </a:r>
            <a:r>
              <a:rPr/>
              <a:t>: briefly describes both the problem and the solution.</a:t>
            </a:r>
          </a:p>
          <a:p>
            <a:pPr lvl="0"/>
            <a:r>
              <a:rPr b="1"/>
              <a:t>Motivation</a:t>
            </a:r>
            <a:r>
              <a:rPr/>
              <a:t>: further explains the problem and the solution the pattern makes possible.</a:t>
            </a:r>
          </a:p>
          <a:p>
            <a:pPr lvl="0"/>
            <a:r>
              <a:rPr b="1"/>
              <a:t>Structure</a:t>
            </a:r>
            <a:r>
              <a:rPr/>
              <a:t>: shows each part of the pattern and how they are related (class diagrams).</a:t>
            </a:r>
          </a:p>
          <a:p>
            <a:pPr lvl="0"/>
            <a:r>
              <a:rPr b="1"/>
              <a:t>Pseudocode/Code example</a:t>
            </a:r>
            <a:r>
              <a:rPr/>
              <a:t>: makes it easier to grasp the idea behind the pattern.</a:t>
            </a:r>
          </a:p>
          <a:p>
            <a:pPr lvl="0"/>
            <a:r>
              <a:rPr b="1"/>
              <a:t>Applicability</a:t>
            </a:r>
            <a:r>
              <a:rPr/>
              <a:t>: when to use the pattern.</a:t>
            </a:r>
          </a:p>
          <a:p>
            <a:pPr lvl="0"/>
            <a:r>
              <a:rPr b="1"/>
              <a:t>Implementation steps</a:t>
            </a:r>
            <a:r>
              <a:rPr/>
              <a:t>: how to implement the pattern.</a:t>
            </a:r>
          </a:p>
          <a:p>
            <a:pPr lvl="0"/>
            <a:r>
              <a:rPr b="1"/>
              <a:t>Relations with other patterns</a:t>
            </a:r>
            <a:r>
              <a:rPr/>
              <a:t>: how patterns relate to each other.</a:t>
            </a:r>
          </a:p>
          <a:p>
            <a:pPr lvl="0" indent="0" marL="0">
              <a:buNone/>
            </a:pPr>
            <a:r>
              <a:rPr/>
              <a:t>Some pattern catalogs also list: pros and cons, known uses, and alternative names.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of Design Patterns</a:t>
            </a:r>
          </a:p>
        </p:txBody>
      </p:sp>
      <p:sp>
        <p:nvSpPr>
          <p:cNvPr id="3" name="Content Placeholder 2"/>
          <p:cNvSpPr>
            <a:spLocks noGrp="1"/>
          </p:cNvSpPr>
          <p:nvPr>
            <p:ph idx="1"/>
          </p:nvPr>
        </p:nvSpPr>
        <p:spPr/>
        <p:txBody>
          <a:bodyPr/>
          <a:lstStyle/>
          <a:p>
            <a:pPr lvl="0"/>
            <a:r>
              <a:rPr/>
              <a:t>The concept of patterns was first described by </a:t>
            </a:r>
            <a:r>
              <a:rPr b="1"/>
              <a:t>Christopher Alexander</a:t>
            </a:r>
            <a:r>
              <a:rPr/>
              <a:t> in the book </a:t>
            </a:r>
            <a:r>
              <a:rPr i="1"/>
              <a:t>A Pattern Language: Towns, Buildings, Construction</a:t>
            </a:r>
            <a:r>
              <a:rPr/>
              <a:t> (1977).</a:t>
            </a:r>
          </a:p>
          <a:p>
            <a:pPr lvl="1"/>
            <a:r>
              <a:rPr/>
              <a:t>The book describes a “language” for designing the urban environment.</a:t>
            </a:r>
          </a:p>
          <a:p>
            <a:pPr lvl="0"/>
            <a:r>
              <a:rPr/>
              <a:t>The idea was picked up by four authors: </a:t>
            </a:r>
            <a:r>
              <a:rPr b="1"/>
              <a:t>Erich Gamma</a:t>
            </a:r>
            <a:r>
              <a:rPr/>
              <a:t>, </a:t>
            </a:r>
            <a:r>
              <a:rPr b="1"/>
              <a:t>John Vlissides</a:t>
            </a:r>
            <a:r>
              <a:rPr/>
              <a:t>, </a:t>
            </a:r>
            <a:r>
              <a:rPr b="1"/>
              <a:t>Ralph Johnson</a:t>
            </a:r>
            <a:r>
              <a:rPr/>
              <a:t>, and </a:t>
            </a:r>
            <a:r>
              <a:rPr b="1"/>
              <a:t>Richard Helm</a:t>
            </a:r>
            <a:r>
              <a:rPr/>
              <a:t>.</a:t>
            </a:r>
          </a:p>
          <a:p>
            <a:pPr lvl="0"/>
            <a:r>
              <a:rPr/>
              <a:t>In 1994, they published </a:t>
            </a:r>
            <a:r>
              <a:rPr b="1"/>
              <a:t>“Design Patterns: Elements of Reusable Object-Oriented Software”</a:t>
            </a:r>
            <a:r>
              <a:rPr/>
              <a:t>.</a:t>
            </a:r>
          </a:p>
          <a:p>
            <a:pPr lvl="0"/>
            <a:r>
              <a:rPr/>
              <a:t>The book featured </a:t>
            </a:r>
            <a:r>
              <a:rPr b="1"/>
              <a:t>23 patterns</a:t>
            </a:r>
            <a:r>
              <a:rPr/>
              <a:t> solving various problems of object-oriented design.</a:t>
            </a:r>
          </a:p>
          <a:p>
            <a:pPr lvl="0"/>
            <a:r>
              <a:rPr/>
              <a:t>Due to the long name of the book, people started calling it </a:t>
            </a:r>
            <a:r>
              <a:rPr b="1"/>
              <a:t>“the book by the Gang of Four”</a:t>
            </a:r>
            <a:r>
              <a:rPr/>
              <a:t> (GoF).</a:t>
            </a:r>
          </a:p>
          <a:p>
            <a:pPr lvl="0"/>
            <a:r>
              <a:rPr/>
              <a:t>Since then, dozens of other object-oriented patterns have been discovered.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Gang of Four (GoF)</a:t>
            </a:r>
          </a:p>
        </p:txBody>
      </p:sp>
      <p:sp>
        <p:nvSpPr>
          <p:cNvPr id="4" name="Text Placeholder 3"/>
          <p:cNvSpPr>
            <a:spLocks noGrp="1"/>
          </p:cNvSpPr>
          <p:nvPr>
            <p:ph idx="2" sz="half" type="body"/>
          </p:nvPr>
        </p:nvSpPr>
        <p:spPr/>
        <p:txBody>
          <a:bodyPr/>
          <a:lstStyle/>
          <a:p>
            <a:pPr lvl="0" indent="0" marL="0">
              <a:buNone/>
            </a:pPr>
            <a:r>
              <a:rPr/>
              <a:t>The four authors of the seminal book:</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Author</a:t>
                      </a:r>
                    </a:p>
                  </a:txBody>
                  <a:tcPr/>
                </a:tc>
                <a:tc>
                  <a:txBody>
                    <a:bodyPr/>
                    <a:lstStyle/>
                    <a:p>
                      <a:pPr lvl="0" indent="0" marL="0">
                        <a:buNone/>
                      </a:pPr>
                      <a:r>
                        <a:rPr/>
                        <a:t>Contribution</a:t>
                      </a:r>
                    </a:p>
                  </a:txBody>
                  <a:tcPr/>
                </a:tc>
              </a:tr>
              <a:tr h="0">
                <a:tc>
                  <a:txBody>
                    <a:bodyPr/>
                    <a:lstStyle/>
                    <a:p>
                      <a:pPr lvl="0" indent="0" marL="0">
                        <a:buNone/>
                      </a:pPr>
                      <a:r>
                        <a:rPr b="1"/>
                        <a:t>Erich Gamma</a:t>
                      </a:r>
                    </a:p>
                  </a:txBody>
                </a:tc>
                <a:tc>
                  <a:txBody>
                    <a:bodyPr/>
                    <a:lstStyle/>
                    <a:p>
                      <a:pPr lvl="0" indent="0" marL="0">
                        <a:buNone/>
                      </a:pPr>
                      <a:r>
                        <a:rPr/>
                        <a:t>Later led Eclipse platform development at IBM</a:t>
                      </a:r>
                    </a:p>
                  </a:txBody>
                </a:tc>
              </a:tr>
              <a:tr h="0">
                <a:tc>
                  <a:txBody>
                    <a:bodyPr/>
                    <a:lstStyle/>
                    <a:p>
                      <a:pPr lvl="0" indent="0" marL="0">
                        <a:buNone/>
                      </a:pPr>
                      <a:r>
                        <a:rPr b="1"/>
                        <a:t>Richard Helm</a:t>
                      </a:r>
                    </a:p>
                  </a:txBody>
                </a:tc>
                <a:tc>
                  <a:txBody>
                    <a:bodyPr/>
                    <a:lstStyle/>
                    <a:p>
                      <a:pPr lvl="0" indent="0" marL="0">
                        <a:buNone/>
                      </a:pPr>
                      <a:r>
                        <a:rPr/>
                        <a:t>Software architect in Australia</a:t>
                      </a:r>
                    </a:p>
                  </a:txBody>
                </a:tc>
              </a:tr>
              <a:tr h="0">
                <a:tc>
                  <a:txBody>
                    <a:bodyPr/>
                    <a:lstStyle/>
                    <a:p>
                      <a:pPr lvl="0" indent="0" marL="0">
                        <a:buNone/>
                      </a:pPr>
                      <a:r>
                        <a:rPr b="1"/>
                        <a:t>Ralph Johnson</a:t>
                      </a:r>
                    </a:p>
                  </a:txBody>
                </a:tc>
                <a:tc>
                  <a:txBody>
                    <a:bodyPr/>
                    <a:lstStyle/>
                    <a:p>
                      <a:pPr lvl="0" indent="0" marL="0">
                        <a:buNone/>
                      </a:pPr>
                      <a:r>
                        <a:rPr/>
                        <a:t>Professor at University of Illinois</a:t>
                      </a:r>
                    </a:p>
                  </a:txBody>
                </a:tc>
              </a:tr>
              <a:tr h="0">
                <a:tc>
                  <a:txBody>
                    <a:bodyPr/>
                    <a:lstStyle/>
                    <a:p>
                      <a:pPr lvl="0" indent="0" marL="0">
                        <a:buNone/>
                      </a:pPr>
                      <a:r>
                        <a:rPr b="1"/>
                        <a:t>John Vlissides</a:t>
                      </a:r>
                    </a:p>
                  </a:txBody>
                </a:tc>
                <a:tc>
                  <a:txBody>
                    <a:bodyPr/>
                    <a:lstStyle/>
                    <a:p>
                      <a:pPr lvl="0" indent="0" marL="0">
                        <a:buNone/>
                      </a:pPr>
                      <a:r>
                        <a:rPr/>
                        <a:t>Researcher at IBM (1961-2005)</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Their book cataloged 23 classic design patterns that remain foundational to OOP today. The patterns are solutions that evolved organically through real-world software development experience.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Classification of Design Patterns</a:t>
            </a:r>
          </a:p>
        </p:txBody>
      </p:sp>
      <p:sp>
        <p:nvSpPr>
          <p:cNvPr id="4" name="Text Placeholder 3"/>
          <p:cNvSpPr>
            <a:spLocks noGrp="1"/>
          </p:cNvSpPr>
          <p:nvPr>
            <p:ph idx="2" sz="half" type="body"/>
          </p:nvPr>
        </p:nvSpPr>
        <p:spPr/>
        <p:txBody>
          <a:bodyPr/>
          <a:lstStyle/>
          <a:p>
            <a:pPr lvl="0" indent="0" marL="0">
              <a:buNone/>
            </a:pPr>
            <a:r>
              <a:rPr/>
              <a:t>Design patterns differ by their complexity, level of detail, and scale of applicability. The GoF classified them into </a:t>
            </a:r>
            <a:r>
              <a:rPr b="1"/>
              <a:t>three categories</a:t>
            </a:r>
            <a:r>
              <a:rPr/>
              <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968500"/>
                <a:gridCol w="1371600"/>
                <a:gridCol w="1765300"/>
              </a:tblGrid>
              <a:tr h="0">
                <a:tc>
                  <a:txBody>
                    <a:bodyPr/>
                    <a:lstStyle/>
                    <a:p>
                      <a:pPr lvl="0" indent="0" marL="0">
                        <a:buNone/>
                      </a:pPr>
                      <a:r>
                        <a:rPr/>
                        <a:t>Category</a:t>
                      </a:r>
                    </a:p>
                  </a:txBody>
                  <a:tcPr/>
                </a:tc>
                <a:tc>
                  <a:txBody>
                    <a:bodyPr/>
                    <a:lstStyle/>
                    <a:p>
                      <a:pPr lvl="0" indent="0" marL="0">
                        <a:buNone/>
                      </a:pPr>
                      <a:r>
                        <a:rPr/>
                        <a:t>Count</a:t>
                      </a:r>
                    </a:p>
                  </a:txBody>
                  <a:tcPr/>
                </a:tc>
                <a:tc>
                  <a:txBody>
                    <a:bodyPr/>
                    <a:lstStyle/>
                    <a:p>
                      <a:pPr lvl="0" indent="0" marL="0">
                        <a:buNone/>
                      </a:pPr>
                      <a:r>
                        <a:rPr/>
                        <a:t>Purpose</a:t>
                      </a:r>
                    </a:p>
                  </a:txBody>
                  <a:tcPr/>
                </a:tc>
              </a:tr>
              <a:tr h="0">
                <a:tc>
                  <a:txBody>
                    <a:bodyPr/>
                    <a:lstStyle/>
                    <a:p>
                      <a:pPr lvl="0" indent="0" marL="0">
                        <a:buNone/>
                      </a:pPr>
                      <a:r>
                        <a:rPr b="1"/>
                        <a:t>Creational</a:t>
                      </a:r>
                    </a:p>
                  </a:txBody>
                </a:tc>
                <a:tc>
                  <a:txBody>
                    <a:bodyPr/>
                    <a:lstStyle/>
                    <a:p>
                      <a:pPr lvl="0" indent="0" marL="0">
                        <a:buNone/>
                      </a:pPr>
                      <a:r>
                        <a:rPr/>
                        <a:t>5</a:t>
                      </a:r>
                    </a:p>
                  </a:txBody>
                </a:tc>
                <a:tc>
                  <a:txBody>
                    <a:bodyPr/>
                    <a:lstStyle/>
                    <a:p>
                      <a:pPr lvl="0" indent="0" marL="0">
                        <a:buNone/>
                      </a:pPr>
                      <a:r>
                        <a:rPr/>
                        <a:t>Object creation mechanisms</a:t>
                      </a:r>
                    </a:p>
                  </a:txBody>
                </a:tc>
              </a:tr>
              <a:tr h="0">
                <a:tc>
                  <a:txBody>
                    <a:bodyPr/>
                    <a:lstStyle/>
                    <a:p>
                      <a:pPr lvl="0" indent="0" marL="0">
                        <a:buNone/>
                      </a:pPr>
                      <a:r>
                        <a:rPr b="1"/>
                        <a:t>Structural</a:t>
                      </a:r>
                    </a:p>
                  </a:txBody>
                </a:tc>
                <a:tc>
                  <a:txBody>
                    <a:bodyPr/>
                    <a:lstStyle/>
                    <a:p>
                      <a:pPr lvl="0" indent="0" marL="0">
                        <a:buNone/>
                      </a:pPr>
                      <a:r>
                        <a:rPr/>
                        <a:t>7</a:t>
                      </a:r>
                    </a:p>
                  </a:txBody>
                </a:tc>
                <a:tc>
                  <a:txBody>
                    <a:bodyPr/>
                    <a:lstStyle/>
                    <a:p>
                      <a:pPr lvl="0" indent="0" marL="0">
                        <a:buNone/>
                      </a:pPr>
                      <a:r>
                        <a:rPr/>
                        <a:t>Assembling objects and classes into larger structures</a:t>
                      </a:r>
                    </a:p>
                  </a:txBody>
                </a:tc>
              </a:tr>
              <a:tr h="0">
                <a:tc>
                  <a:txBody>
                    <a:bodyPr/>
                    <a:lstStyle/>
                    <a:p>
                      <a:pPr lvl="0" indent="0" marL="0">
                        <a:buNone/>
                      </a:pPr>
                      <a:r>
                        <a:rPr b="1"/>
                        <a:t>Behavioral</a:t>
                      </a:r>
                    </a:p>
                  </a:txBody>
                </a:tc>
                <a:tc>
                  <a:txBody>
                    <a:bodyPr/>
                    <a:lstStyle/>
                    <a:p>
                      <a:pPr lvl="0" indent="0" marL="0">
                        <a:buNone/>
                      </a:pPr>
                      <a:r>
                        <a:rPr/>
                        <a:t>10</a:t>
                      </a:r>
                    </a:p>
                  </a:txBody>
                </a:tc>
                <a:tc>
                  <a:txBody>
                    <a:bodyPr/>
                    <a:lstStyle/>
                    <a:p>
                      <a:pPr lvl="0" indent="0" marL="0">
                        <a:buNone/>
                      </a:pPr>
                      <a:r>
                        <a:rPr/>
                        <a:t>Communication between objects</a:t>
                      </a:r>
                    </a:p>
                  </a:txBody>
                </a:tc>
              </a:tr>
              <a:tr h="0">
                <a:tc>
                  <a:txBody>
                    <a:bodyPr/>
                    <a:lstStyle/>
                    <a:p>
                      <a:pPr lvl="0" indent="0" marL="0">
                        <a:buNone/>
                      </a:pPr>
                      <a:r>
                        <a:rPr b="1"/>
                        <a:t>Total</a:t>
                      </a:r>
                    </a:p>
                  </a:txBody>
                </a:tc>
                <a:tc>
                  <a:txBody>
                    <a:bodyPr/>
                    <a:lstStyle/>
                    <a:p>
                      <a:pPr lvl="0" indent="0" marL="0">
                        <a:buNone/>
                      </a:pPr>
                      <a:r>
                        <a:rPr b="1"/>
                        <a:t>22</a:t>
                      </a:r>
                    </a:p>
                  </a:txBody>
                </a:tc>
                <a:tc>
                  <a:txBody>
                    <a:bodyPr/>
                    <a:lstStyle/>
                    <a:p>
                      <a:pPr lvl="0" indent="0" marL="0">
                        <a:buNone/>
                      </a:pPr>
                      <a:r>
                        <a:rPr/>
                        <a:t>(23 in GoF, but we cover 22 core patterns)</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Patterns can also be classified by their scope: - </a:t>
            </a:r>
            <a:r>
              <a:rPr b="1"/>
              <a:t>Class patterns</a:t>
            </a:r>
            <a:r>
              <a:rPr/>
              <a:t>: deal with relationships between classes and subclasses (compile-time) - </a:t>
            </a:r>
            <a:r>
              <a:rPr b="1"/>
              <a:t>Object patterns</a:t>
            </a:r>
            <a:r>
              <a:rPr/>
              <a:t>: deal with object relationships (runtime)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GoF Pattern Categories - Overview</a:t>
            </a:r>
          </a:p>
        </p:txBody>
      </p:sp>
      <p:pic>
        <p:nvPicPr>
          <p:cNvPr descr="assets/gof-pattern-categories.png" id="0" name="Picture 1"/>
          <p:cNvPicPr>
            <a:picLocks noGrp="1" noChangeAspect="1"/>
          </p:cNvPicPr>
          <p:nvPr/>
        </p:nvPicPr>
        <p:blipFill>
          <a:blip r:embed="rId2"/>
          <a:stretch>
            <a:fillRect/>
          </a:stretch>
        </p:blipFill>
        <p:spPr bwMode="auto">
          <a:xfrm>
            <a:off x="4140200" y="203200"/>
            <a:ext cx="3949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Creational Patterns (5)</a:t>
            </a:r>
          </a:p>
        </p:txBody>
      </p:sp>
      <p:sp>
        <p:nvSpPr>
          <p:cNvPr id="4" name="Text Placeholder 3"/>
          <p:cNvSpPr>
            <a:spLocks noGrp="1"/>
          </p:cNvSpPr>
          <p:nvPr>
            <p:ph idx="2" sz="half" type="body"/>
          </p:nvPr>
        </p:nvSpPr>
        <p:spPr/>
        <p:txBody>
          <a:bodyPr/>
          <a:lstStyle/>
          <a:p>
            <a:pPr lvl="0" indent="0" marL="0">
              <a:buNone/>
            </a:pPr>
            <a:r>
              <a:rPr/>
              <a:t>Creational patterns provide object creation mechanisms that increase flexibility and reuse of existing code.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Pattern</a:t>
                      </a:r>
                    </a:p>
                  </a:txBody>
                  <a:tcPr/>
                </a:tc>
                <a:tc>
                  <a:txBody>
                    <a:bodyPr/>
                    <a:lstStyle/>
                    <a:p>
                      <a:pPr lvl="0" indent="0" marL="0">
                        <a:buNone/>
                      </a:pPr>
                      <a:r>
                        <a:rPr/>
                        <a:t>Purpose</a:t>
                      </a:r>
                    </a:p>
                  </a:txBody>
                  <a:tcPr/>
                </a:tc>
              </a:tr>
              <a:tr h="0">
                <a:tc>
                  <a:txBody>
                    <a:bodyPr/>
                    <a:lstStyle/>
                    <a:p>
                      <a:pPr lvl="0" indent="0" marL="0">
                        <a:buNone/>
                      </a:pPr>
                      <a:r>
                        <a:rPr b="1"/>
                        <a:t>Factory Method</a:t>
                      </a:r>
                    </a:p>
                  </a:txBody>
                </a:tc>
                <a:tc>
                  <a:txBody>
                    <a:bodyPr/>
                    <a:lstStyle/>
                    <a:p>
                      <a:pPr lvl="0" indent="0" marL="0">
                        <a:buNone/>
                      </a:pPr>
                      <a:r>
                        <a:rPr/>
                        <a:t>Creates objects via an interface; subclasses decide the type</a:t>
                      </a:r>
                    </a:p>
                  </a:txBody>
                </a:tc>
              </a:tr>
              <a:tr h="0">
                <a:tc>
                  <a:txBody>
                    <a:bodyPr/>
                    <a:lstStyle/>
                    <a:p>
                      <a:pPr lvl="0" indent="0" marL="0">
                        <a:buNone/>
                      </a:pPr>
                      <a:r>
                        <a:rPr b="1"/>
                        <a:t>Abstract Factory</a:t>
                      </a:r>
                    </a:p>
                  </a:txBody>
                </a:tc>
                <a:tc>
                  <a:txBody>
                    <a:bodyPr/>
                    <a:lstStyle/>
                    <a:p>
                      <a:pPr lvl="0" indent="0" marL="0">
                        <a:buNone/>
                      </a:pPr>
                      <a:r>
                        <a:rPr/>
                        <a:t>Produces families of related objects without specifying concrete classes</a:t>
                      </a:r>
                    </a:p>
                  </a:txBody>
                </a:tc>
              </a:tr>
              <a:tr h="0">
                <a:tc>
                  <a:txBody>
                    <a:bodyPr/>
                    <a:lstStyle/>
                    <a:p>
                      <a:pPr lvl="0" indent="0" marL="0">
                        <a:buNone/>
                      </a:pPr>
                      <a:r>
                        <a:rPr b="1"/>
                        <a:t>Builder</a:t>
                      </a:r>
                    </a:p>
                  </a:txBody>
                </a:tc>
                <a:tc>
                  <a:txBody>
                    <a:bodyPr/>
                    <a:lstStyle/>
                    <a:p>
                      <a:pPr lvl="0" indent="0" marL="0">
                        <a:buNone/>
                      </a:pPr>
                      <a:r>
                        <a:rPr/>
                        <a:t>Constructs complex objects step by step</a:t>
                      </a:r>
                    </a:p>
                  </a:txBody>
                </a:tc>
              </a:tr>
              <a:tr h="0">
                <a:tc>
                  <a:txBody>
                    <a:bodyPr/>
                    <a:lstStyle/>
                    <a:p>
                      <a:pPr lvl="0" indent="0" marL="0">
                        <a:buNone/>
                      </a:pPr>
                      <a:r>
                        <a:rPr b="1"/>
                        <a:t>Prototype</a:t>
                      </a:r>
                    </a:p>
                  </a:txBody>
                </a:tc>
                <a:tc>
                  <a:txBody>
                    <a:bodyPr/>
                    <a:lstStyle/>
                    <a:p>
                      <a:pPr lvl="0" indent="0" marL="0">
                        <a:buNone/>
                      </a:pPr>
                      <a:r>
                        <a:rPr/>
                        <a:t>Copies existing objects without depending on their classes</a:t>
                      </a:r>
                    </a:p>
                  </a:txBody>
                </a:tc>
              </a:tr>
              <a:tr h="0">
                <a:tc>
                  <a:txBody>
                    <a:bodyPr/>
                    <a:lstStyle/>
                    <a:p>
                      <a:pPr lvl="0" indent="0" marL="0">
                        <a:buNone/>
                      </a:pPr>
                      <a:r>
                        <a:rPr b="1"/>
                        <a:t>Singleton</a:t>
                      </a:r>
                    </a:p>
                  </a:txBody>
                </a:tc>
                <a:tc>
                  <a:txBody>
                    <a:bodyPr/>
                    <a:lstStyle/>
                    <a:p>
                      <a:pPr lvl="0" indent="0" marL="0">
                        <a:buNone/>
                      </a:pPr>
                      <a:r>
                        <a:rPr/>
                        <a:t>Ensures a class has only one instance with a global access point</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Structural Patterns (7)</a:t>
            </a:r>
          </a:p>
        </p:txBody>
      </p:sp>
      <p:sp>
        <p:nvSpPr>
          <p:cNvPr id="4" name="Text Placeholder 3"/>
          <p:cNvSpPr>
            <a:spLocks noGrp="1"/>
          </p:cNvSpPr>
          <p:nvPr>
            <p:ph idx="2" sz="half" type="body"/>
          </p:nvPr>
        </p:nvSpPr>
        <p:spPr/>
        <p:txBody>
          <a:bodyPr/>
          <a:lstStyle/>
          <a:p>
            <a:pPr lvl="0" indent="0" marL="0">
              <a:buNone/>
            </a:pPr>
            <a:r>
              <a:rPr/>
              <a:t>Structural patterns explain how to assemble objects and classes into larger structures while keeping them flexible and efficient.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Pattern</a:t>
                      </a:r>
                    </a:p>
                  </a:txBody>
                  <a:tcPr/>
                </a:tc>
                <a:tc>
                  <a:txBody>
                    <a:bodyPr/>
                    <a:lstStyle/>
                    <a:p>
                      <a:pPr lvl="0" indent="0" marL="0">
                        <a:buNone/>
                      </a:pPr>
                      <a:r>
                        <a:rPr/>
                        <a:t>Purpose</a:t>
                      </a:r>
                    </a:p>
                  </a:txBody>
                  <a:tcPr/>
                </a:tc>
              </a:tr>
              <a:tr h="0">
                <a:tc>
                  <a:txBody>
                    <a:bodyPr/>
                    <a:lstStyle/>
                    <a:p>
                      <a:pPr lvl="0" indent="0" marL="0">
                        <a:buNone/>
                      </a:pPr>
                      <a:r>
                        <a:rPr b="1"/>
                        <a:t>Adapter</a:t>
                      </a:r>
                    </a:p>
                  </a:txBody>
                </a:tc>
                <a:tc>
                  <a:txBody>
                    <a:bodyPr/>
                    <a:lstStyle/>
                    <a:p>
                      <a:pPr lvl="0" indent="0" marL="0">
                        <a:buNone/>
                      </a:pPr>
                      <a:r>
                        <a:rPr/>
                        <a:t>Allows objects with incompatible interfaces to collaborate</a:t>
                      </a:r>
                    </a:p>
                  </a:txBody>
                </a:tc>
              </a:tr>
              <a:tr h="0">
                <a:tc>
                  <a:txBody>
                    <a:bodyPr/>
                    <a:lstStyle/>
                    <a:p>
                      <a:pPr lvl="0" indent="0" marL="0">
                        <a:buNone/>
                      </a:pPr>
                      <a:r>
                        <a:rPr b="1"/>
                        <a:t>Bridge</a:t>
                      </a:r>
                    </a:p>
                  </a:txBody>
                </a:tc>
                <a:tc>
                  <a:txBody>
                    <a:bodyPr/>
                    <a:lstStyle/>
                    <a:p>
                      <a:pPr lvl="0" indent="0" marL="0">
                        <a:buNone/>
                      </a:pPr>
                      <a:r>
                        <a:rPr/>
                        <a:t>Splits a large class into two hierarchies (abstraction + implementation)</a:t>
                      </a:r>
                    </a:p>
                  </a:txBody>
                </a:tc>
              </a:tr>
              <a:tr h="0">
                <a:tc>
                  <a:txBody>
                    <a:bodyPr/>
                    <a:lstStyle/>
                    <a:p>
                      <a:pPr lvl="0" indent="0" marL="0">
                        <a:buNone/>
                      </a:pPr>
                      <a:r>
                        <a:rPr b="1"/>
                        <a:t>Composite</a:t>
                      </a:r>
                    </a:p>
                  </a:txBody>
                </a:tc>
                <a:tc>
                  <a:txBody>
                    <a:bodyPr/>
                    <a:lstStyle/>
                    <a:p>
                      <a:pPr lvl="0" indent="0" marL="0">
                        <a:buNone/>
                      </a:pPr>
                      <a:r>
                        <a:rPr/>
                        <a:t>Composes objects into tree structures</a:t>
                      </a:r>
                    </a:p>
                  </a:txBody>
                </a:tc>
              </a:tr>
              <a:tr h="0">
                <a:tc>
                  <a:txBody>
                    <a:bodyPr/>
                    <a:lstStyle/>
                    <a:p>
                      <a:pPr lvl="0" indent="0" marL="0">
                        <a:buNone/>
                      </a:pPr>
                      <a:r>
                        <a:rPr b="1"/>
                        <a:t>Decorator</a:t>
                      </a:r>
                    </a:p>
                  </a:txBody>
                </a:tc>
                <a:tc>
                  <a:txBody>
                    <a:bodyPr/>
                    <a:lstStyle/>
                    <a:p>
                      <a:pPr lvl="0" indent="0" marL="0">
                        <a:buNone/>
                      </a:pPr>
                      <a:r>
                        <a:rPr/>
                        <a:t>Attaches new behaviors to objects by wrapping them</a:t>
                      </a:r>
                    </a:p>
                  </a:txBody>
                </a:tc>
              </a:tr>
              <a:tr h="0">
                <a:tc>
                  <a:txBody>
                    <a:bodyPr/>
                    <a:lstStyle/>
                    <a:p>
                      <a:pPr lvl="0" indent="0" marL="0">
                        <a:buNone/>
                      </a:pPr>
                      <a:r>
                        <a:rPr b="1"/>
                        <a:t>Facade</a:t>
                      </a:r>
                    </a:p>
                  </a:txBody>
                </a:tc>
                <a:tc>
                  <a:txBody>
                    <a:bodyPr/>
                    <a:lstStyle/>
                    <a:p>
                      <a:pPr lvl="0" indent="0" marL="0">
                        <a:buNone/>
                      </a:pPr>
                      <a:r>
                        <a:rPr/>
                        <a:t>Provides a simplified interface to a library or framework</a:t>
                      </a:r>
                    </a:p>
                  </a:txBody>
                </a:tc>
              </a:tr>
              <a:tr h="0">
                <a:tc>
                  <a:txBody>
                    <a:bodyPr/>
                    <a:lstStyle/>
                    <a:p>
                      <a:pPr lvl="0" indent="0" marL="0">
                        <a:buNone/>
                      </a:pPr>
                      <a:r>
                        <a:rPr b="1"/>
                        <a:t>Flyweight</a:t>
                      </a:r>
                    </a:p>
                  </a:txBody>
                </a:tc>
                <a:tc>
                  <a:txBody>
                    <a:bodyPr/>
                    <a:lstStyle/>
                    <a:p>
                      <a:pPr lvl="0" indent="0" marL="0">
                        <a:buNone/>
                      </a:pPr>
                      <a:r>
                        <a:rPr/>
                        <a:t>Fits more objects into RAM by sharing common state</a:t>
                      </a:r>
                    </a:p>
                  </a:txBody>
                </a:tc>
              </a:tr>
              <a:tr h="0">
                <a:tc>
                  <a:txBody>
                    <a:bodyPr/>
                    <a:lstStyle/>
                    <a:p>
                      <a:pPr lvl="0" indent="0" marL="0">
                        <a:buNone/>
                      </a:pPr>
                      <a:r>
                        <a:rPr b="1"/>
                        <a:t>Proxy</a:t>
                      </a:r>
                    </a:p>
                  </a:txBody>
                </a:tc>
                <a:tc>
                  <a:txBody>
                    <a:bodyPr/>
                    <a:lstStyle/>
                    <a:p>
                      <a:pPr lvl="0" indent="0" marL="0">
                        <a:buNone/>
                      </a:pPr>
                      <a:r>
                        <a:rPr/>
                        <a:t>Provides a substitute or placeholder for another object</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Behavioral Patterns (10)</a:t>
            </a:r>
          </a:p>
        </p:txBody>
      </p:sp>
      <p:sp>
        <p:nvSpPr>
          <p:cNvPr id="4" name="Text Placeholder 3"/>
          <p:cNvSpPr>
            <a:spLocks noGrp="1"/>
          </p:cNvSpPr>
          <p:nvPr>
            <p:ph idx="2" sz="half" type="body"/>
          </p:nvPr>
        </p:nvSpPr>
        <p:spPr/>
        <p:txBody>
          <a:bodyPr/>
          <a:lstStyle/>
          <a:p>
            <a:pPr lvl="0" indent="0" marL="0">
              <a:buNone/>
            </a:pPr>
            <a:r>
              <a:rPr/>
              <a:t>Behavioral patterns take care of effective communication and the assignment of responsibilities between objects.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Pattern</a:t>
                      </a:r>
                    </a:p>
                  </a:txBody>
                  <a:tcPr/>
                </a:tc>
                <a:tc>
                  <a:txBody>
                    <a:bodyPr/>
                    <a:lstStyle/>
                    <a:p>
                      <a:pPr lvl="0" indent="0" marL="0">
                        <a:buNone/>
                      </a:pPr>
                      <a:r>
                        <a:rPr/>
                        <a:t>Purpose</a:t>
                      </a:r>
                    </a:p>
                  </a:txBody>
                  <a:tcPr/>
                </a:tc>
              </a:tr>
              <a:tr h="0">
                <a:tc>
                  <a:txBody>
                    <a:bodyPr/>
                    <a:lstStyle/>
                    <a:p>
                      <a:pPr lvl="0" indent="0" marL="0">
                        <a:buNone/>
                      </a:pPr>
                      <a:r>
                        <a:rPr b="1"/>
                        <a:t>Chain of Responsibility</a:t>
                      </a:r>
                    </a:p>
                  </a:txBody>
                </a:tc>
                <a:tc>
                  <a:txBody>
                    <a:bodyPr/>
                    <a:lstStyle/>
                    <a:p>
                      <a:pPr lvl="0" indent="0" marL="0">
                        <a:buNone/>
                      </a:pPr>
                      <a:r>
                        <a:rPr/>
                        <a:t>Passes requests along a chain of handlers</a:t>
                      </a:r>
                    </a:p>
                  </a:txBody>
                </a:tc>
              </a:tr>
              <a:tr h="0">
                <a:tc>
                  <a:txBody>
                    <a:bodyPr/>
                    <a:lstStyle/>
                    <a:p>
                      <a:pPr lvl="0" indent="0" marL="0">
                        <a:buNone/>
                      </a:pPr>
                      <a:r>
                        <a:rPr b="1"/>
                        <a:t>Command</a:t>
                      </a:r>
                    </a:p>
                  </a:txBody>
                </a:tc>
                <a:tc>
                  <a:txBody>
                    <a:bodyPr/>
                    <a:lstStyle/>
                    <a:p>
                      <a:pPr lvl="0" indent="0" marL="0">
                        <a:buNone/>
                      </a:pPr>
                      <a:r>
                        <a:rPr/>
                        <a:t>Turns a request into a stand-alone object</a:t>
                      </a:r>
                    </a:p>
                  </a:txBody>
                </a:tc>
              </a:tr>
              <a:tr h="0">
                <a:tc>
                  <a:txBody>
                    <a:bodyPr/>
                    <a:lstStyle/>
                    <a:p>
                      <a:pPr lvl="0" indent="0" marL="0">
                        <a:buNone/>
                      </a:pPr>
                      <a:r>
                        <a:rPr b="1"/>
                        <a:t>Iterator</a:t>
                      </a:r>
                    </a:p>
                  </a:txBody>
                </a:tc>
                <a:tc>
                  <a:txBody>
                    <a:bodyPr/>
                    <a:lstStyle/>
                    <a:p>
                      <a:pPr lvl="0" indent="0" marL="0">
                        <a:buNone/>
                      </a:pPr>
                      <a:r>
                        <a:rPr/>
                        <a:t>Traverses elements of a collection sequentially</a:t>
                      </a:r>
                    </a:p>
                  </a:txBody>
                </a:tc>
              </a:tr>
              <a:tr h="0">
                <a:tc>
                  <a:txBody>
                    <a:bodyPr/>
                    <a:lstStyle/>
                    <a:p>
                      <a:pPr lvl="0" indent="0" marL="0">
                        <a:buNone/>
                      </a:pPr>
                      <a:r>
                        <a:rPr b="1"/>
                        <a:t>Mediator</a:t>
                      </a:r>
                    </a:p>
                  </a:txBody>
                </a:tc>
                <a:tc>
                  <a:txBody>
                    <a:bodyPr/>
                    <a:lstStyle/>
                    <a:p>
                      <a:pPr lvl="0" indent="0" marL="0">
                        <a:buNone/>
                      </a:pPr>
                      <a:r>
                        <a:rPr/>
                        <a:t>Reduces chaotic dependencies between objects</a:t>
                      </a:r>
                    </a:p>
                  </a:txBody>
                </a:tc>
              </a:tr>
              <a:tr h="0">
                <a:tc>
                  <a:txBody>
                    <a:bodyPr/>
                    <a:lstStyle/>
                    <a:p>
                      <a:pPr lvl="0" indent="0" marL="0">
                        <a:buNone/>
                      </a:pPr>
                      <a:r>
                        <a:rPr b="1"/>
                        <a:t>Memento</a:t>
                      </a:r>
                    </a:p>
                  </a:txBody>
                </a:tc>
                <a:tc>
                  <a:txBody>
                    <a:bodyPr/>
                    <a:lstStyle/>
                    <a:p>
                      <a:pPr lvl="0" indent="0" marL="0">
                        <a:buNone/>
                      </a:pPr>
                      <a:r>
                        <a:rPr/>
                        <a:t>Saves and restores the previous state of an object</a:t>
                      </a:r>
                    </a:p>
                  </a:txBody>
                </a:tc>
              </a:tr>
              <a:tr h="0">
                <a:tc>
                  <a:txBody>
                    <a:bodyPr/>
                    <a:lstStyle/>
                    <a:p>
                      <a:pPr lvl="0" indent="0" marL="0">
                        <a:buNone/>
                      </a:pPr>
                      <a:r>
                        <a:rPr b="1"/>
                        <a:t>Observer</a:t>
                      </a:r>
                    </a:p>
                  </a:txBody>
                </a:tc>
                <a:tc>
                  <a:txBody>
                    <a:bodyPr/>
                    <a:lstStyle/>
                    <a:p>
                      <a:pPr lvl="0" indent="0" marL="0">
                        <a:buNone/>
                      </a:pPr>
                      <a:r>
                        <a:rPr/>
                        <a:t>Defines a subscription mechanism for event notification</a:t>
                      </a:r>
                    </a:p>
                  </a:txBody>
                </a:tc>
              </a:tr>
              <a:tr h="0">
                <a:tc>
                  <a:txBody>
                    <a:bodyPr/>
                    <a:lstStyle/>
                    <a:p>
                      <a:pPr lvl="0" indent="0" marL="0">
                        <a:buNone/>
                      </a:pPr>
                      <a:r>
                        <a:rPr b="1"/>
                        <a:t>State</a:t>
                      </a:r>
                    </a:p>
                  </a:txBody>
                </a:tc>
                <a:tc>
                  <a:txBody>
                    <a:bodyPr/>
                    <a:lstStyle/>
                    <a:p>
                      <a:pPr lvl="0" indent="0" marL="0">
                        <a:buNone/>
                      </a:pPr>
                      <a:r>
                        <a:rPr/>
                        <a:t>Alters behavior when internal state changes</a:t>
                      </a:r>
                    </a:p>
                  </a:txBody>
                </a:tc>
              </a:tr>
              <a:tr h="0">
                <a:tc>
                  <a:txBody>
                    <a:bodyPr/>
                    <a:lstStyle/>
                    <a:p>
                      <a:pPr lvl="0" indent="0" marL="0">
                        <a:buNone/>
                      </a:pPr>
                      <a:r>
                        <a:rPr b="1"/>
                        <a:t>Strategy</a:t>
                      </a:r>
                    </a:p>
                  </a:txBody>
                </a:tc>
                <a:tc>
                  <a:txBody>
                    <a:bodyPr/>
                    <a:lstStyle/>
                    <a:p>
                      <a:pPr lvl="0" indent="0" marL="0">
                        <a:buNone/>
                      </a:pPr>
                      <a:r>
                        <a:rPr/>
                        <a:t>Defines a family of interchangeable algorithms</a:t>
                      </a:r>
                    </a:p>
                  </a:txBody>
                </a:tc>
              </a:tr>
              <a:tr h="0">
                <a:tc>
                  <a:txBody>
                    <a:bodyPr/>
                    <a:lstStyle/>
                    <a:p>
                      <a:pPr lvl="0" indent="0" marL="0">
                        <a:buNone/>
                      </a:pPr>
                      <a:r>
                        <a:rPr b="1"/>
                        <a:t>Template Method</a:t>
                      </a:r>
                    </a:p>
                  </a:txBody>
                </a:tc>
                <a:tc>
                  <a:txBody>
                    <a:bodyPr/>
                    <a:lstStyle/>
                    <a:p>
                      <a:pPr lvl="0" indent="0" marL="0">
                        <a:buNone/>
                      </a:pPr>
                      <a:r>
                        <a:rPr/>
                        <a:t>Defines the skeleton of an algorithm; subclasses fill in steps</a:t>
                      </a:r>
                    </a:p>
                  </a:txBody>
                </a:tc>
              </a:tr>
              <a:tr h="0">
                <a:tc>
                  <a:txBody>
                    <a:bodyPr/>
                    <a:lstStyle/>
                    <a:p>
                      <a:pPr lvl="0" indent="0" marL="0">
                        <a:buNone/>
                      </a:pPr>
                      <a:r>
                        <a:rPr b="1"/>
                        <a:t>Visitor</a:t>
                      </a:r>
                    </a:p>
                  </a:txBody>
                </a:tc>
                <a:tc>
                  <a:txBody>
                    <a:bodyPr/>
                    <a:lstStyle/>
                    <a:p>
                      <a:pPr lvl="0" indent="0" marL="0">
                        <a:buNone/>
                      </a:pPr>
                      <a:r>
                        <a:rPr/>
                        <a:t>Separates algorithms from the objects on which they operate</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Learn Design Patterns?</a:t>
            </a:r>
          </a:p>
        </p:txBody>
      </p:sp>
      <p:sp>
        <p:nvSpPr>
          <p:cNvPr id="3" name="Content Placeholder 2"/>
          <p:cNvSpPr>
            <a:spLocks noGrp="1"/>
          </p:cNvSpPr>
          <p:nvPr>
            <p:ph idx="1"/>
          </p:nvPr>
        </p:nvSpPr>
        <p:spPr/>
        <p:txBody>
          <a:bodyPr/>
          <a:lstStyle/>
          <a:p>
            <a:pPr lvl="0"/>
            <a:r>
              <a:rPr b="1"/>
              <a:t>Proven solutions</a:t>
            </a:r>
            <a:r>
              <a:rPr/>
              <a:t>: Patterns are tried-and-tested solutions to common problems. Even if you never encounter these problems, knowing patterns teaches you how to solve problems using OOP principles.</a:t>
            </a:r>
          </a:p>
          <a:p>
            <a:pPr lvl="0"/>
            <a:r>
              <a:rPr b="1"/>
              <a:t>Common language</a:t>
            </a:r>
            <a:r>
              <a:rPr/>
              <a:t>: Patterns define a shared vocabulary. You can say “use a Singleton for that” and everyone immediately understands the suggestion.</a:t>
            </a:r>
          </a:p>
          <a:p>
            <a:pPr lvl="0"/>
            <a:r>
              <a:rPr b="1"/>
              <a:t>Better communication</a:t>
            </a:r>
            <a:r>
              <a:rPr/>
              <a:t>: When team members know patterns, communication about design is faster and more precise.</a:t>
            </a:r>
          </a:p>
          <a:p>
            <a:pPr lvl="0"/>
            <a:r>
              <a:rPr b="1"/>
              <a:t>Understand frameworks</a:t>
            </a:r>
            <a:r>
              <a:rPr/>
              <a:t>: Many frameworks and libraries use design patterns. Understanding patterns helps you comprehend how frameworks work.</a:t>
            </a:r>
          </a:p>
          <a:p>
            <a:pPr lvl="0"/>
            <a:r>
              <a:rPr b="1"/>
              <a:t>Write better code</a:t>
            </a:r>
            <a:r>
              <a:rPr/>
              <a:t>: Patterns help you write code that is more flexible, reusable, and maintainable.</a:t>
            </a:r>
          </a:p>
          <a:p>
            <a:pPr lvl="0"/>
            <a:r>
              <a:rPr b="1"/>
              <a:t>Career growth</a:t>
            </a:r>
            <a:r>
              <a:rPr/>
              <a:t>: Design pattern knowledge is frequently tested in technical interviews.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of Design Patterns</a:t>
            </a:r>
          </a:p>
        </p:txBody>
      </p:sp>
      <p:sp>
        <p:nvSpPr>
          <p:cNvPr id="3" name="Content Placeholder 2"/>
          <p:cNvSpPr>
            <a:spLocks noGrp="1"/>
          </p:cNvSpPr>
          <p:nvPr>
            <p:ph idx="1"/>
          </p:nvPr>
        </p:nvSpPr>
        <p:spPr/>
        <p:txBody>
          <a:bodyPr/>
          <a:lstStyle/>
          <a:p>
            <a:pPr lvl="0"/>
            <a:r>
              <a:rPr b="1"/>
              <a:t>Reusability</a:t>
            </a:r>
            <a:r>
              <a:rPr/>
              <a:t>: Patterns provide reusable solutions that can be adapted across projects.</a:t>
            </a:r>
          </a:p>
          <a:p>
            <a:pPr lvl="0"/>
            <a:r>
              <a:rPr b="1"/>
              <a:t>Maintainability</a:t>
            </a:r>
            <a:r>
              <a:rPr/>
              <a:t>: Code structured with patterns is easier to understand and modify.</a:t>
            </a:r>
          </a:p>
          <a:p>
            <a:pPr lvl="0"/>
            <a:r>
              <a:rPr b="1"/>
              <a:t>Scalability</a:t>
            </a:r>
            <a:r>
              <a:rPr/>
              <a:t>: Patterns help design systems that can grow without becoming unmanageable.</a:t>
            </a:r>
          </a:p>
          <a:p>
            <a:pPr lvl="0"/>
            <a:r>
              <a:rPr b="1"/>
              <a:t>Flexibility</a:t>
            </a:r>
            <a:r>
              <a:rPr/>
              <a:t>: Patterns often make it easier to swap implementations or add new features.</a:t>
            </a:r>
          </a:p>
          <a:p>
            <a:pPr lvl="0"/>
            <a:r>
              <a:rPr b="1"/>
              <a:t>Documentation</a:t>
            </a:r>
            <a:r>
              <a:rPr/>
              <a:t>: Patterns serve as a form of documentation for design decisions.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Criticism of Design Patterns</a:t>
            </a:r>
          </a:p>
        </p:txBody>
      </p:sp>
      <p:sp>
        <p:nvSpPr>
          <p:cNvPr id="3" name="Content Placeholder 2"/>
          <p:cNvSpPr>
            <a:spLocks noGrp="1"/>
          </p:cNvSpPr>
          <p:nvPr>
            <p:ph idx="1"/>
          </p:nvPr>
        </p:nvSpPr>
        <p:spPr/>
        <p:txBody>
          <a:bodyPr/>
          <a:lstStyle/>
          <a:p>
            <a:pPr lvl="0"/>
            <a:r>
              <a:rPr b="1"/>
              <a:t>Over-engineering</a:t>
            </a:r>
            <a:r>
              <a:rPr/>
              <a:t>: Using patterns where simple code would suffice adds unnecessary complexity.</a:t>
            </a:r>
          </a:p>
          <a:p>
            <a:pPr lvl="0"/>
            <a:r>
              <a:rPr b="1"/>
              <a:t>Language limitations</a:t>
            </a:r>
            <a:r>
              <a:rPr/>
              <a:t>: Patterns often compensate for missing language features (e.g., Strategy in languages without first-class functions).</a:t>
            </a:r>
          </a:p>
          <a:p>
            <a:pPr lvl="0"/>
            <a:r>
              <a:rPr b="1"/>
              <a:t>Misuse</a:t>
            </a:r>
            <a:r>
              <a:rPr/>
              <a:t>: Applying the wrong pattern to a problem can make code worse, not better.</a:t>
            </a:r>
          </a:p>
          <a:p>
            <a:pPr lvl="0"/>
            <a:r>
              <a:rPr b="1"/>
              <a:t>Learning curve</a:t>
            </a:r>
            <a:r>
              <a:rPr/>
              <a:t>: Understanding when and how to apply patterns requires experience.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A: Takeaways</a:t>
            </a:r>
          </a:p>
        </p:txBody>
      </p:sp>
      <p:sp>
        <p:nvSpPr>
          <p:cNvPr id="3" name="Content Placeholder 2"/>
          <p:cNvSpPr>
            <a:spLocks noGrp="1"/>
          </p:cNvSpPr>
          <p:nvPr>
            <p:ph idx="1"/>
          </p:nvPr>
        </p:nvSpPr>
        <p:spPr/>
        <p:txBody>
          <a:bodyPr/>
          <a:lstStyle/>
          <a:p>
            <a:pPr lvl="0"/>
            <a:r>
              <a:rPr/>
              <a:t>Design patterns are </a:t>
            </a:r>
            <a:r>
              <a:rPr b="1"/>
              <a:t>typical solutions</a:t>
            </a:r>
            <a:r>
              <a:rPr/>
              <a:t> to commonly occurring problems in software design.</a:t>
            </a:r>
          </a:p>
          <a:p>
            <a:pPr lvl="0"/>
            <a:r>
              <a:rPr/>
              <a:t>They were popularized by the </a:t>
            </a:r>
            <a:r>
              <a:rPr b="1"/>
              <a:t>Gang of Four (GoF)</a:t>
            </a:r>
            <a:r>
              <a:rPr/>
              <a:t> book in 1994 with </a:t>
            </a:r>
            <a:r>
              <a:rPr b="1"/>
              <a:t>23 patterns</a:t>
            </a:r>
            <a:r>
              <a:rPr/>
              <a:t>.</a:t>
            </a:r>
          </a:p>
          <a:p>
            <a:pPr lvl="0"/>
            <a:r>
              <a:rPr/>
              <a:t>Patterns are classified into three categories: </a:t>
            </a:r>
            <a:r>
              <a:rPr b="1"/>
              <a:t>Creational</a:t>
            </a:r>
            <a:r>
              <a:rPr/>
              <a:t> (5), </a:t>
            </a:r>
            <a:r>
              <a:rPr b="1"/>
              <a:t>Structural</a:t>
            </a:r>
            <a:r>
              <a:rPr/>
              <a:t> (7), and </a:t>
            </a:r>
            <a:r>
              <a:rPr b="1"/>
              <a:t>Behavioral</a:t>
            </a:r>
            <a:r>
              <a:rPr/>
              <a:t> (10).</a:t>
            </a:r>
          </a:p>
          <a:p>
            <a:pPr lvl="0"/>
            <a:r>
              <a:rPr/>
              <a:t>Each pattern has: </a:t>
            </a:r>
            <a:r>
              <a:rPr b="1"/>
              <a:t>Intent</a:t>
            </a:r>
            <a:r>
              <a:rPr/>
              <a:t>, </a:t>
            </a:r>
            <a:r>
              <a:rPr b="1"/>
              <a:t>Motivation</a:t>
            </a:r>
            <a:r>
              <a:rPr/>
              <a:t>, </a:t>
            </a:r>
            <a:r>
              <a:rPr b="1"/>
              <a:t>Structure</a:t>
            </a:r>
            <a:r>
              <a:rPr/>
              <a:t>, </a:t>
            </a:r>
            <a:r>
              <a:rPr b="1"/>
              <a:t>Pseudocode</a:t>
            </a:r>
            <a:r>
              <a:rPr/>
              <a:t>, </a:t>
            </a:r>
            <a:r>
              <a:rPr b="1"/>
              <a:t>Applicability</a:t>
            </a:r>
            <a:r>
              <a:rPr/>
              <a:t>, </a:t>
            </a:r>
            <a:r>
              <a:rPr b="1"/>
              <a:t>Implementation</a:t>
            </a:r>
            <a:r>
              <a:rPr/>
              <a:t>, and </a:t>
            </a:r>
            <a:r>
              <a:rPr b="1"/>
              <a:t>Relations</a:t>
            </a:r>
            <a:r>
              <a:rPr/>
              <a:t>.</a:t>
            </a:r>
          </a:p>
          <a:p>
            <a:pPr lvl="0"/>
            <a:r>
              <a:rPr/>
              <a:t>Learning patterns gives you a </a:t>
            </a:r>
            <a:r>
              <a:rPr b="1"/>
              <a:t>common vocabulary</a:t>
            </a:r>
            <a:r>
              <a:rPr/>
              <a:t> and helps you write </a:t>
            </a:r>
            <a:r>
              <a:rPr b="1"/>
              <a:t>better, more maintainable code</a:t>
            </a:r>
            <a:r>
              <a:rPr/>
              <a:t>.</a:t>
            </a:r>
          </a:p>
          <a:p>
            <a:pPr lvl="0"/>
            <a:r>
              <a:rPr/>
              <a:t>Patterns should be applied thoughtfully; </a:t>
            </a:r>
            <a:r>
              <a:rPr b="1"/>
              <a:t>over-engineering</a:t>
            </a:r>
            <a:r>
              <a:rPr/>
              <a:t> and </a:t>
            </a:r>
            <a:r>
              <a:rPr b="1"/>
              <a:t>misuse</a:t>
            </a:r>
            <a:r>
              <a:rPr/>
              <a:t> are real risks.</a:t>
            </a:r>
          </a:p>
          <a:p>
            <a:pPr lvl="0"/>
            <a:r>
              <a:rPr/>
              <a:t>In this week, we focus on the </a:t>
            </a:r>
            <a:r>
              <a:rPr b="1"/>
              <a:t>5 Creational Patterns</a:t>
            </a:r>
            <a:r>
              <a:rPr/>
              <a:t>: Factory Method, Abstract Factory, Builder, Prototype, and Singleton.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B: Factory Method Pattern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Pattern - Overview</a:t>
            </a:r>
          </a:p>
        </p:txBody>
      </p:sp>
      <p:sp>
        <p:nvSpPr>
          <p:cNvPr id="3" name="Content Placeholder 2"/>
          <p:cNvSpPr>
            <a:spLocks noGrp="1"/>
          </p:cNvSpPr>
          <p:nvPr>
            <p:ph idx="1"/>
          </p:nvPr>
        </p:nvSpPr>
        <p:spPr/>
        <p:txBody>
          <a:bodyPr/>
          <a:lstStyle/>
          <a:p>
            <a:pPr lvl="0"/>
            <a:r>
              <a:rPr b="1"/>
              <a:t>Also Known As</a:t>
            </a:r>
            <a:r>
              <a:rPr/>
              <a:t>: Virtual Constructor</a:t>
            </a:r>
          </a:p>
          <a:p>
            <a:pPr lvl="0"/>
            <a:r>
              <a:rPr b="1"/>
              <a:t>Category</a:t>
            </a:r>
            <a:r>
              <a:rPr/>
              <a:t>: Creational Pattern</a:t>
            </a:r>
          </a:p>
          <a:p>
            <a:pPr lvl="0"/>
            <a:r>
              <a:rPr b="1"/>
              <a:t>Complexity</a:t>
            </a:r>
            <a:r>
              <a:rPr/>
              <a:t>: Low</a:t>
            </a:r>
          </a:p>
          <a:p>
            <a:pPr lvl="0"/>
            <a:r>
              <a:rPr b="1"/>
              <a:t>Popularity</a:t>
            </a:r>
            <a:r>
              <a:rPr/>
              <a:t>: High</a:t>
            </a:r>
          </a:p>
          <a:p>
            <a:pPr lvl="0" indent="0" marL="0">
              <a:buNone/>
            </a:pPr>
            <a:r>
              <a:rPr b="1"/>
              <a:t>Intent</a:t>
            </a:r>
            <a:r>
              <a:rPr/>
              <a:t>: Factory Method is a creational design pattern that provides an interface for creating objects in a superclass, but allows subclasses to alter the type of objects that will be created.</a:t>
            </a:r>
          </a:p>
          <a:p>
            <a:pPr lvl="0" indent="0" marL="0">
              <a:buNone/>
            </a:pPr>
            <a:r>
              <a:rPr/>
              <a:t>Reference: </a:t>
            </a:r>
            <a:r>
              <a:rPr>
                <a:hlinkClick r:id="rId2"/>
              </a:rPr>
              <a:t>RefactoringGuru - Factory Method</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The Problem</a:t>
            </a:r>
          </a:p>
        </p:txBody>
      </p:sp>
      <p:sp>
        <p:nvSpPr>
          <p:cNvPr id="3" name="Content Placeholder 2"/>
          <p:cNvSpPr>
            <a:spLocks noGrp="1"/>
          </p:cNvSpPr>
          <p:nvPr>
            <p:ph idx="1"/>
          </p:nvPr>
        </p:nvSpPr>
        <p:spPr/>
        <p:txBody>
          <a:bodyPr/>
          <a:lstStyle/>
          <a:p>
            <a:pPr lvl="0" indent="0" marL="0">
              <a:buNone/>
            </a:pPr>
            <a:r>
              <a:rPr/>
              <a:t>Imagine that you are creating a logistics management application. The first version of your app can only handle transportation by trucks, so the bulk of your code lives inside the </a:t>
            </a:r>
            <a:r>
              <a:rPr>
                <a:latin typeface="Courier"/>
              </a:rPr>
              <a:t>Truck</a:t>
            </a:r>
            <a:r>
              <a:rPr/>
              <a:t> class.</a:t>
            </a:r>
          </a:p>
          <a:p>
            <a:pPr lvl="0" indent="0" marL="0">
              <a:buNone/>
            </a:pPr>
            <a:r>
              <a:rPr/>
              <a:t>After a while, your app becomes pretty popular. Each day you receive dozens of requests from sea transportation companies to incorporate sea logistics into the app.</a:t>
            </a:r>
          </a:p>
          <a:p>
            <a:pPr lvl="0" indent="0" marL="0">
              <a:buNone/>
            </a:pPr>
            <a:r>
              <a:rPr b="1"/>
              <a:t>What happens if you add </a:t>
            </a:r>
            <a:r>
              <a:rPr b="1">
                <a:latin typeface="Courier"/>
              </a:rPr>
              <a:t>Ship</a:t>
            </a:r>
            <a:r>
              <a:rPr b="1"/>
              <a:t> directly?</a:t>
            </a:r>
          </a:p>
          <a:p>
            <a:pPr lvl="0"/>
            <a:r>
              <a:rPr/>
              <a:t>Adding a new class isn’t that simple if the rest of the code is already coupled to existing classes.</a:t>
            </a:r>
          </a:p>
          <a:p>
            <a:pPr lvl="0"/>
            <a:r>
              <a:rPr/>
              <a:t>Most of your code is coupled to the </a:t>
            </a:r>
            <a:r>
              <a:rPr>
                <a:latin typeface="Courier"/>
              </a:rPr>
              <a:t>Truck</a:t>
            </a:r>
            <a:r>
              <a:rPr/>
              <a:t> class.</a:t>
            </a:r>
          </a:p>
          <a:p>
            <a:pPr lvl="0"/>
            <a:r>
              <a:rPr/>
              <a:t>Adding </a:t>
            </a:r>
            <a:r>
              <a:rPr>
                <a:latin typeface="Courier"/>
              </a:rPr>
              <a:t>Ship</a:t>
            </a:r>
            <a:r>
              <a:rPr/>
              <a:t> would require making changes to the entire codebase.</a:t>
            </a:r>
          </a:p>
          <a:p>
            <a:pPr lvl="0"/>
            <a:r>
              <a:rPr/>
              <a:t>Adding another transportation type later would require all of these changes again.</a:t>
            </a:r>
          </a:p>
          <a:p>
            <a:pPr lvl="0"/>
            <a:r>
              <a:rPr/>
              <a:t>The result: pretty nasty code, riddled with conditionals that switch behavior depending on the class of transportation objects.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The Solution</a:t>
            </a:r>
          </a:p>
        </p:txBody>
      </p:sp>
      <p:sp>
        <p:nvSpPr>
          <p:cNvPr id="3" name="Content Placeholder 2"/>
          <p:cNvSpPr>
            <a:spLocks noGrp="1"/>
          </p:cNvSpPr>
          <p:nvPr>
            <p:ph idx="1"/>
          </p:nvPr>
        </p:nvSpPr>
        <p:spPr/>
        <p:txBody>
          <a:bodyPr/>
          <a:lstStyle/>
          <a:p>
            <a:pPr lvl="0" indent="0" marL="0">
              <a:buNone/>
            </a:pPr>
            <a:r>
              <a:rPr/>
              <a:t>The Factory Method pattern suggests that you replace direct object construction calls (using the </a:t>
            </a:r>
            <a:r>
              <a:rPr>
                <a:latin typeface="Courier"/>
              </a:rPr>
              <a:t>new</a:t>
            </a:r>
            <a:r>
              <a:rPr/>
              <a:t> operator) with calls to a special </a:t>
            </a:r>
            <a:r>
              <a:rPr b="1"/>
              <a:t>factory method</a:t>
            </a:r>
            <a:r>
              <a:rPr/>
              <a:t>.</a:t>
            </a:r>
          </a:p>
          <a:p>
            <a:pPr lvl="0"/>
            <a:r>
              <a:rPr/>
              <a:t>Objects are still created via the </a:t>
            </a:r>
            <a:r>
              <a:rPr>
                <a:latin typeface="Courier"/>
              </a:rPr>
              <a:t>new</a:t>
            </a:r>
            <a:r>
              <a:rPr/>
              <a:t> operator, but it is called from within the factory method.</a:t>
            </a:r>
          </a:p>
          <a:p>
            <a:pPr lvl="0"/>
            <a:r>
              <a:rPr/>
              <a:t>Objects returned by a factory method are often referred to as </a:t>
            </a:r>
            <a:r>
              <a:rPr b="1"/>
              <a:t>products</a:t>
            </a:r>
            <a:r>
              <a:rPr/>
              <a:t>.</a:t>
            </a:r>
          </a:p>
          <a:p>
            <a:pPr lvl="0" indent="0" marL="0">
              <a:buNone/>
            </a:pPr>
            <a:r>
              <a:rPr b="1"/>
              <a:t>Key insight</a:t>
            </a:r>
            <a:r>
              <a:rPr/>
              <a:t>: Subclasses can override the factory method to change the class of products being created.</a:t>
            </a:r>
          </a:p>
          <a:p>
            <a:pPr lvl="0"/>
            <a:r>
              <a:rPr/>
              <a:t>There is a slight limitation: subclasses may return different types of products only if these products have a </a:t>
            </a:r>
            <a:r>
              <a:rPr b="1"/>
              <a:t>common base class or interface</a:t>
            </a:r>
            <a:r>
              <a:rPr/>
              <a:t>.</a:t>
            </a:r>
          </a:p>
          <a:p>
            <a:pPr lvl="0"/>
            <a:r>
              <a:rPr/>
              <a:t>Also, the factory method in the base class should have its return type declared as this interface.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Solution Diagram</a:t>
            </a:r>
          </a:p>
        </p:txBody>
      </p:sp>
      <p:sp>
        <p:nvSpPr>
          <p:cNvPr id="3" name="Content Placeholder 2"/>
          <p:cNvSpPr>
            <a:spLocks noGrp="1"/>
          </p:cNvSpPr>
          <p:nvPr>
            <p:ph idx="1"/>
          </p:nvPr>
        </p:nvSpPr>
        <p:spPr/>
        <p:txBody>
          <a:bodyPr/>
          <a:lstStyle/>
          <a:p>
            <a:pPr lvl="0" indent="0">
              <a:buNone/>
            </a:pPr>
            <a:r>
              <a:rPr>
                <a:latin typeface="Courier"/>
              </a:rPr>
              <a:t>                    Creator
              ┌─────────────────┐
              │ someOperation() │
              │ createProduct() │──── Product p = createProduct()
              └────────┬────────┘
                       │
           ┌───────────┴───────────┐
           │                       │
  ConcreteCreatorA          ConcreteCreatorB
  ┌────────────────┐       ┌────────────────┐
  │createProduct() │       │createProduct() │
  │ return new     │       │ return new     │
  │ ConcreteA()    │       │ ConcreteB()    │
  └────────────────┘       └────────────────┘</a:t>
            </a:r>
          </a:p>
          <a:p>
            <a:pPr lvl="0"/>
            <a:r>
              <a:rPr/>
              <a:t>The </a:t>
            </a:r>
            <a:r>
              <a:rPr>
                <a:latin typeface="Courier"/>
              </a:rPr>
              <a:t>Creator</a:t>
            </a:r>
            <a:r>
              <a:rPr/>
              <a:t> class has a factory method </a:t>
            </a:r>
            <a:r>
              <a:rPr>
                <a:latin typeface="Courier"/>
              </a:rPr>
              <a:t>createProduct()</a:t>
            </a:r>
            <a:r>
              <a:rPr/>
              <a:t>.</a:t>
            </a:r>
          </a:p>
          <a:p>
            <a:pPr lvl="0"/>
            <a:r>
              <a:rPr/>
              <a:t>Each </a:t>
            </a:r>
            <a:r>
              <a:rPr>
                <a:latin typeface="Courier"/>
              </a:rPr>
              <a:t>ConcreteCreator</a:t>
            </a:r>
            <a:r>
              <a:rPr/>
              <a:t> overrides the factory method to return a different product type.</a:t>
            </a:r>
          </a:p>
          <a:p>
            <a:pPr lvl="0"/>
            <a:r>
              <a:rPr/>
              <a:t>All products implement the same interface.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Structure</a:t>
            </a:r>
          </a:p>
        </p:txBody>
      </p:sp>
      <p:sp>
        <p:nvSpPr>
          <p:cNvPr id="3" name="Content Placeholder 2"/>
          <p:cNvSpPr>
            <a:spLocks noGrp="1"/>
          </p:cNvSpPr>
          <p:nvPr>
            <p:ph idx="1"/>
          </p:nvPr>
        </p:nvSpPr>
        <p:spPr/>
        <p:txBody>
          <a:bodyPr/>
          <a:lstStyle/>
          <a:p>
            <a:pPr lvl="0" indent="0" marL="0">
              <a:buNone/>
            </a:pPr>
            <a:r>
              <a:rPr/>
              <a:t>The Factory Method pattern has four key participants:</a:t>
            </a:r>
          </a:p>
          <a:p>
            <a:pPr lvl="0" indent="-342900" marL="342900">
              <a:buAutoNum type="arabicPeriod"/>
            </a:pPr>
            <a:r>
              <a:rPr b="1"/>
              <a:t>Product</a:t>
            </a:r>
            <a:r>
              <a:rPr/>
              <a:t> (Interface/Abstract Class)</a:t>
            </a:r>
          </a:p>
          <a:p>
            <a:pPr lvl="1"/>
            <a:r>
              <a:rPr/>
              <a:t>Declares the interface common to all objects that the factory method can produce.</a:t>
            </a:r>
          </a:p>
          <a:p>
            <a:pPr lvl="0" indent="-342900" marL="342900">
              <a:buAutoNum type="arabicPeriod"/>
            </a:pPr>
            <a:r>
              <a:rPr b="1"/>
              <a:t>Concrete Products</a:t>
            </a:r>
          </a:p>
          <a:p>
            <a:pPr lvl="1"/>
            <a:r>
              <a:rPr/>
              <a:t>Different implementations of the product interface.</a:t>
            </a:r>
          </a:p>
          <a:p>
            <a:pPr lvl="0" indent="-342900" marL="342900">
              <a:buAutoNum type="arabicPeriod"/>
            </a:pPr>
            <a:r>
              <a:rPr b="1"/>
              <a:t>Creator</a:t>
            </a:r>
            <a:r>
              <a:rPr/>
              <a:t> (Abstract Class)</a:t>
            </a:r>
          </a:p>
          <a:p>
            <a:pPr lvl="1"/>
            <a:r>
              <a:rPr/>
              <a:t>Declares the factory method that returns new product objects. Its return type must match the product interface.</a:t>
            </a:r>
          </a:p>
          <a:p>
            <a:pPr lvl="1"/>
            <a:r>
              <a:rPr/>
              <a:t>May contain some core business logic that relies on product objects.</a:t>
            </a:r>
          </a:p>
          <a:p>
            <a:pPr lvl="0" indent="-342900" marL="342900">
              <a:buAutoNum type="arabicPeriod"/>
            </a:pPr>
            <a:r>
              <a:rPr b="1"/>
              <a:t>Concrete Creators</a:t>
            </a:r>
          </a:p>
          <a:p>
            <a:pPr lvl="1"/>
            <a:r>
              <a:rPr/>
              <a:t>Override the base factory method to return a different type of product.</a:t>
            </a:r>
          </a:p>
          <a:p>
            <a:pPr lvl="1"/>
            <a:r>
              <a:rPr/>
              <a:t>The factory method does not have to create new instances all the time; it can also return existing objects from a cache, object pool, or other source.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Factory Method - Class Diagram</a:t>
            </a:r>
          </a:p>
        </p:txBody>
      </p:sp>
      <p:pic>
        <p:nvPicPr>
          <p:cNvPr descr="assets/factory-method-structure.png" id="0" name="Picture 1"/>
          <p:cNvPicPr>
            <a:picLocks noGrp="1" noChangeAspect="1"/>
          </p:cNvPicPr>
          <p:nvPr/>
        </p:nvPicPr>
        <p:blipFill>
          <a:blip r:embed="rId2"/>
          <a:stretch>
            <a:fillRect/>
          </a:stretch>
        </p:blipFill>
        <p:spPr bwMode="auto">
          <a:xfrm>
            <a:off x="3568700" y="368300"/>
            <a:ext cx="5105400" cy="354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Pseudocode</a:t>
            </a:r>
          </a:p>
        </p:txBody>
      </p:sp>
      <p:sp>
        <p:nvSpPr>
          <p:cNvPr id="3" name="Content Placeholder 2"/>
          <p:cNvSpPr>
            <a:spLocks noGrp="1"/>
          </p:cNvSpPr>
          <p:nvPr>
            <p:ph idx="1"/>
          </p:nvPr>
        </p:nvSpPr>
        <p:spPr/>
        <p:txBody>
          <a:bodyPr/>
          <a:lstStyle/>
          <a:p>
            <a:pPr lvl="0" indent="0" marL="0">
              <a:buNone/>
            </a:pPr>
            <a:r>
              <a:rPr/>
              <a:t>This example illustrates how the Factory Method can be used for creating cross-platform UI elements without coupling the client code to concrete UI classes.</a:t>
            </a:r>
          </a:p>
          <a:p>
            <a:pPr lvl="0" indent="0">
              <a:buNone/>
            </a:pPr>
            <a:r>
              <a:rPr>
                <a:latin typeface="Courier"/>
              </a:rPr>
              <a:t>// The creator class declares the factory method
// that must return an object of a product class.
class Dialog is
    abstract method createButton(): Button
    method render() is
        Button okButton = createButton()
        okButton.onClick(closeDialog)
        okButton.render()
// Concrete creators override the factory method
class WindowsDialog extends Dialog is
    method createButton(): Button is
        return new WindowsButton()
class WebDialog extends Dialog is
    method createButton(): Button is
        return new HTMLButton()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Pseudocode (cont.)</a:t>
            </a:r>
          </a:p>
        </p:txBody>
      </p:sp>
      <p:sp>
        <p:nvSpPr>
          <p:cNvPr id="3" name="Content Placeholder 2"/>
          <p:cNvSpPr>
            <a:spLocks noGrp="1"/>
          </p:cNvSpPr>
          <p:nvPr>
            <p:ph idx="1"/>
          </p:nvPr>
        </p:nvSpPr>
        <p:spPr/>
        <p:txBody>
          <a:bodyPr/>
          <a:lstStyle/>
          <a:p>
            <a:pPr lvl="0" indent="0">
              <a:buNone/>
            </a:pPr>
            <a:r>
              <a:rPr>
                <a:latin typeface="Courier"/>
              </a:rPr>
              <a:t>// The product interface declares the operations
// that all concrete products must implement.
interface Button is
    method render()
    method onClick(f)
// Concrete products provide various implementations.
class WindowsButton implements Button is
    method render(a, b) is
        // Render a button in Windows style.
    method onClick(f) is
        // Bind a native OS click event.
class HTMLButton implements Button is
    method render(a, b) is
        // Return an HTML representation of a button.
    method onClick(f) is
        // Bind a web browser click event.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Pseudocode (cont.)</a:t>
            </a:r>
          </a:p>
        </p:txBody>
      </p:sp>
      <p:sp>
        <p:nvSpPr>
          <p:cNvPr id="3" name="Content Placeholder 2"/>
          <p:cNvSpPr>
            <a:spLocks noGrp="1"/>
          </p:cNvSpPr>
          <p:nvPr>
            <p:ph idx="1"/>
          </p:nvPr>
        </p:nvSpPr>
        <p:spPr/>
        <p:txBody>
          <a:bodyPr/>
          <a:lstStyle/>
          <a:p>
            <a:pPr lvl="0" indent="0">
              <a:buNone/>
            </a:pPr>
            <a:r>
              <a:rPr>
                <a:latin typeface="Courier"/>
              </a:rPr>
              <a:t>class Application is
    field dialog: Dialog
    // The application picks a creator's type depending
    // on the current configuration or environment.
    method initialize() is
        config = readApplicationConfigFile()
        if (config.OS == "Windows") then
            dialog = new WindowsDialog()
        else if (config.OS == "Web") then
            dialog = new WebDialog()
        else
            throw new Exception("Error! Unknown OS.")
    // The client code works with an instance of a
    // concrete creator, albeit through its base interface.
    method main() is
        this.initialize()
        dialog.render()</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Factory Method - Sequence Diagram</a:t>
            </a:r>
          </a:p>
        </p:txBody>
      </p:sp>
      <p:pic>
        <p:nvPicPr>
          <p:cNvPr descr="assets/factory-method-sequence.png" id="0" name="Picture 1"/>
          <p:cNvPicPr>
            <a:picLocks noGrp="1" noChangeAspect="1"/>
          </p:cNvPicPr>
          <p:nvPr/>
        </p:nvPicPr>
        <p:blipFill>
          <a:blip r:embed="rId2"/>
          <a:stretch>
            <a:fillRect/>
          </a:stretch>
        </p:blipFill>
        <p:spPr bwMode="auto">
          <a:xfrm>
            <a:off x="4000500" y="203200"/>
            <a:ext cx="4241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Applicability</a:t>
            </a:r>
          </a:p>
        </p:txBody>
      </p:sp>
      <p:sp>
        <p:nvSpPr>
          <p:cNvPr id="3" name="Content Placeholder 2"/>
          <p:cNvSpPr>
            <a:spLocks noGrp="1"/>
          </p:cNvSpPr>
          <p:nvPr>
            <p:ph idx="1"/>
          </p:nvPr>
        </p:nvSpPr>
        <p:spPr/>
        <p:txBody>
          <a:bodyPr/>
          <a:lstStyle/>
          <a:p>
            <a:pPr lvl="0" indent="0" marL="0">
              <a:buNone/>
            </a:pPr>
            <a:r>
              <a:rPr/>
              <a:t>Use the Factory Method pattern when:</a:t>
            </a:r>
          </a:p>
          <a:p>
            <a:pPr lvl="0" indent="-342900" marL="342900">
              <a:buAutoNum type="arabicPeriod"/>
            </a:pPr>
            <a:r>
              <a:rPr b="1"/>
              <a:t>You don’t know beforehand the exact types and dependencies of the objects</a:t>
            </a:r>
            <a:r>
              <a:rPr/>
              <a:t> your code should work with.</a:t>
            </a:r>
          </a:p>
          <a:p>
            <a:pPr lvl="1"/>
            <a:r>
              <a:rPr/>
              <a:t>The Factory Method separates product construction code from the code that actually uses the product. Therefore it is easier to extend the product construction code independently from the rest of the code.</a:t>
            </a:r>
          </a:p>
          <a:p>
            <a:pPr lvl="0" indent="-342900" marL="342900">
              <a:buAutoNum type="arabicPeriod"/>
            </a:pPr>
            <a:r>
              <a:rPr b="1"/>
              <a:t>You want to provide users of your library or framework with a way to extend its internal components.</a:t>
            </a:r>
          </a:p>
          <a:p>
            <a:pPr lvl="1"/>
            <a:r>
              <a:rPr/>
              <a:t>Users can subclass your framework classes and override factory methods to extend them with their own types.</a:t>
            </a:r>
          </a:p>
          <a:p>
            <a:pPr lvl="0" indent="-342900" marL="342900">
              <a:buAutoNum type="arabicPeriod"/>
            </a:pPr>
            <a:r>
              <a:rPr b="1"/>
              <a:t>You want to save system resources by reusing existing objects</a:t>
            </a:r>
            <a:r>
              <a:rPr/>
              <a:t> instead of rebuilding them each time.</a:t>
            </a:r>
          </a:p>
          <a:p>
            <a:pPr lvl="1"/>
            <a:r>
              <a:rPr/>
              <a:t>You need a regular method capable of creating new objects as well as reusing existing ones. That sounds very much like a factory method.</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How to Implement</a:t>
            </a:r>
          </a:p>
        </p:txBody>
      </p:sp>
      <p:sp>
        <p:nvSpPr>
          <p:cNvPr id="3" name="Content Placeholder 2"/>
          <p:cNvSpPr>
            <a:spLocks noGrp="1"/>
          </p:cNvSpPr>
          <p:nvPr>
            <p:ph idx="1"/>
          </p:nvPr>
        </p:nvSpPr>
        <p:spPr/>
        <p:txBody>
          <a:bodyPr/>
          <a:lstStyle/>
          <a:p>
            <a:pPr lvl="0" indent="-342900" marL="342900">
              <a:buAutoNum type="arabicPeriod"/>
            </a:pPr>
            <a:r>
              <a:rPr b="1"/>
              <a:t>Make all products follow the same interface.</a:t>
            </a:r>
            <a:r>
              <a:rPr/>
              <a:t> This interface should declare methods that make sense in every product.</a:t>
            </a:r>
          </a:p>
          <a:p>
            <a:pPr lvl="0" indent="-342900" marL="342900">
              <a:buAutoNum type="arabicPeriod"/>
            </a:pPr>
            <a:r>
              <a:rPr b="1"/>
              <a:t>Add an empty factory method inside the creator class.</a:t>
            </a:r>
            <a:r>
              <a:rPr/>
              <a:t> The return type of the method should match the common product interface.</a:t>
            </a:r>
          </a:p>
          <a:p>
            <a:pPr lvl="0" indent="-342900" marL="342900">
              <a:buAutoNum type="arabicPeriod"/>
            </a:pPr>
            <a:r>
              <a:rPr b="1"/>
              <a:t>In the creator’s code, find all references to product constructors.</a:t>
            </a:r>
            <a:r>
              <a:rPr/>
              <a:t> One by one, replace them with calls to the factory method, while extracting the product creation code into the factory method.</a:t>
            </a:r>
          </a:p>
          <a:p>
            <a:pPr lvl="0" indent="-342900" marL="342900">
              <a:buAutoNum type="arabicPeriod"/>
            </a:pPr>
            <a:r>
              <a:rPr b="1"/>
              <a:t>Create a set of concrete creator subclasses</a:t>
            </a:r>
            <a:r>
              <a:rPr/>
              <a:t> for each type of product listed in the factory method. Override the factory method in the subclasses and extract the appropriate bits of construction code from the base method.</a:t>
            </a:r>
          </a:p>
          <a:p>
            <a:pPr lvl="0" indent="-342900" marL="342900">
              <a:buAutoNum type="arabicPeriod"/>
            </a:pPr>
            <a:r>
              <a:rPr b="1"/>
              <a:t>If there are too many product types</a:t>
            </a:r>
            <a:r>
              <a:rPr/>
              <a:t> and it does not make sense to create subclasses for all of them, you can reuse the control parameter from the base class in subclasses.</a:t>
            </a:r>
          </a:p>
          <a:p>
            <a:pPr lvl="0" indent="-342900" marL="342900">
              <a:buAutoNum type="arabicPeriod"/>
            </a:pPr>
            <a:r>
              <a:rPr b="1"/>
              <a:t>If, after all of the extractions, the base factory method has become empty</a:t>
            </a:r>
            <a:r>
              <a:rPr/>
              <a:t>, you can make it abstract. If there is something left, you can make it a default behavior of the method.</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Pros and Cons</a:t>
            </a:r>
          </a:p>
        </p:txBody>
      </p:sp>
      <p:sp>
        <p:nvSpPr>
          <p:cNvPr id="3" name="Content Placeholder 2"/>
          <p:cNvSpPr>
            <a:spLocks noGrp="1"/>
          </p:cNvSpPr>
          <p:nvPr>
            <p:ph idx="1"/>
          </p:nvPr>
        </p:nvSpPr>
        <p:spPr/>
        <p:txBody>
          <a:bodyPr/>
          <a:lstStyle/>
          <a:p>
            <a:pPr lvl="0" indent="0" marL="0">
              <a:spcBef>
                <a:spcPts val="3000"/>
              </a:spcBef>
              <a:buNone/>
            </a:pPr>
            <a:r>
              <a:rPr b="1"/>
              <a:t>Pros</a:t>
            </a:r>
          </a:p>
          <a:p>
            <a:pPr lvl="0"/>
            <a:r>
              <a:rPr b="1"/>
              <a:t>Avoids tight coupling</a:t>
            </a:r>
            <a:r>
              <a:rPr/>
              <a:t> between the creator and the concrete products.</a:t>
            </a:r>
          </a:p>
          <a:p>
            <a:pPr lvl="0"/>
            <a:r>
              <a:rPr b="1"/>
              <a:t>Single Responsibility Principle (SRP)</a:t>
            </a:r>
            <a:r>
              <a:rPr/>
              <a:t>: You can move the product creation code into one place in the program, making the code easier to support.</a:t>
            </a:r>
          </a:p>
          <a:p>
            <a:pPr lvl="0"/>
            <a:r>
              <a:rPr b="1"/>
              <a:t>Open/Closed Principle (OCP)</a:t>
            </a:r>
            <a:r>
              <a:rPr/>
              <a:t>: You can introduce new types of products into the program without breaking existing client code.</a:t>
            </a:r>
          </a:p>
          <a:p>
            <a:pPr lvl="0" indent="0" marL="0">
              <a:spcBef>
                <a:spcPts val="3000"/>
              </a:spcBef>
              <a:buNone/>
            </a:pPr>
            <a:r>
              <a:rPr b="1"/>
              <a:t>Cons</a:t>
            </a:r>
          </a:p>
          <a:p>
            <a:pPr lvl="0"/>
            <a:r>
              <a:rPr b="1"/>
              <a:t>Code complexity increases</a:t>
            </a:r>
            <a:r>
              <a:rPr/>
              <a:t>: The code may become more complicated since you need to introduce many new subclasses to implement the pattern. The best case scenario is when you are introducing the pattern into an existing hierarchy of creator classes.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Relations with Other Patterns</a:t>
            </a:r>
          </a:p>
        </p:txBody>
      </p:sp>
      <p:sp>
        <p:nvSpPr>
          <p:cNvPr id="3" name="Content Placeholder 2"/>
          <p:cNvSpPr>
            <a:spLocks noGrp="1"/>
          </p:cNvSpPr>
          <p:nvPr>
            <p:ph idx="1"/>
          </p:nvPr>
        </p:nvSpPr>
        <p:spPr/>
        <p:txBody>
          <a:bodyPr/>
          <a:lstStyle/>
          <a:p>
            <a:pPr lvl="0"/>
            <a:r>
              <a:rPr/>
              <a:t>Many designs start by using </a:t>
            </a:r>
            <a:r>
              <a:rPr b="1"/>
              <a:t>Factory Method</a:t>
            </a:r>
            <a:r>
              <a:rPr/>
              <a:t> (less complicated, more customizable via subclasses) and evolve toward </a:t>
            </a:r>
            <a:r>
              <a:rPr b="1"/>
              <a:t>Abstract Factory</a:t>
            </a:r>
            <a:r>
              <a:rPr/>
              <a:t>, </a:t>
            </a:r>
            <a:r>
              <a:rPr b="1"/>
              <a:t>Prototype</a:t>
            </a:r>
            <a:r>
              <a:rPr/>
              <a:t>, or </a:t>
            </a:r>
            <a:r>
              <a:rPr b="1"/>
              <a:t>Builder</a:t>
            </a:r>
            <a:r>
              <a:rPr/>
              <a:t> (more flexible, but more complex).</a:t>
            </a:r>
          </a:p>
          <a:p>
            <a:pPr lvl="0"/>
            <a:r>
              <a:rPr b="1"/>
              <a:t>Abstract Factory</a:t>
            </a:r>
            <a:r>
              <a:rPr/>
              <a:t> classes are often based on a set of </a:t>
            </a:r>
            <a:r>
              <a:rPr b="1"/>
              <a:t>Factory Methods</a:t>
            </a:r>
            <a:r>
              <a:rPr/>
              <a:t>, but you can also use </a:t>
            </a:r>
            <a:r>
              <a:rPr b="1"/>
              <a:t>Prototype</a:t>
            </a:r>
            <a:r>
              <a:rPr/>
              <a:t> to compose the methods on these classes.</a:t>
            </a:r>
          </a:p>
          <a:p>
            <a:pPr lvl="0"/>
            <a:r>
              <a:rPr/>
              <a:t>You can use </a:t>
            </a:r>
            <a:r>
              <a:rPr b="1"/>
              <a:t>Factory Method</a:t>
            </a:r>
            <a:r>
              <a:rPr/>
              <a:t> along with </a:t>
            </a:r>
            <a:r>
              <a:rPr b="1"/>
              <a:t>Iterator</a:t>
            </a:r>
            <a:r>
              <a:rPr/>
              <a:t> to let collection subclasses return different types of iterators that are compatible with the collections.</a:t>
            </a:r>
          </a:p>
          <a:p>
            <a:pPr lvl="0"/>
            <a:r>
              <a:rPr b="1"/>
              <a:t>Prototype</a:t>
            </a:r>
            <a:r>
              <a:rPr/>
              <a:t> is not based on inheritance, so it does not have its drawbacks. On the other hand, Prototype requires a complicated initialization of the cloned object. </a:t>
            </a:r>
            <a:r>
              <a:rPr b="1"/>
              <a:t>Factory Method</a:t>
            </a:r>
            <a:r>
              <a:rPr/>
              <a:t> is based on inheritance but does not require an initialization step.</a:t>
            </a:r>
          </a:p>
          <a:p>
            <a:pPr lvl="0"/>
            <a:r>
              <a:rPr b="1"/>
              <a:t>Factory Method</a:t>
            </a:r>
            <a:r>
              <a:rPr/>
              <a:t> is a specialization of </a:t>
            </a:r>
            <a:r>
              <a:rPr b="1"/>
              <a:t>Template Method</a:t>
            </a:r>
            <a:r>
              <a:rPr/>
              <a:t>. At the same time, a Factory Method may serve as a step in a large Template Method.</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Java Code Example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Product interface</a:t>
            </a:r>
            <a:br/>
            <a:r>
              <a:rPr b="1">
                <a:solidFill>
                  <a:srgbClr val="007020"/>
                </a:solidFill>
                <a:latin typeface="Courier"/>
              </a:rPr>
              <a:t>interface</a:t>
            </a:r>
            <a:r>
              <a:rPr>
                <a:latin typeface="Courier"/>
              </a:rPr>
              <a:t> Transport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deliver</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Products</a:t>
            </a:r>
            <a:br/>
            <a:r>
              <a:rPr b="1">
                <a:solidFill>
                  <a:srgbClr val="007020"/>
                </a:solidFill>
                <a:latin typeface="Courier"/>
              </a:rPr>
              <a:t>class</a:t>
            </a:r>
            <a:r>
              <a:rPr>
                <a:latin typeface="Courier"/>
              </a:rPr>
              <a:t> Truck </a:t>
            </a:r>
            <a:r>
              <a:rPr b="1">
                <a:solidFill>
                  <a:srgbClr val="007020"/>
                </a:solidFill>
                <a:latin typeface="Courier"/>
              </a:rPr>
              <a:t>implements</a:t>
            </a:r>
            <a:r>
              <a:rPr>
                <a:latin typeface="Courier"/>
              </a:rPr>
              <a:t> Transport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deliver</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"Delivering by land in a truck."</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Ship </a:t>
            </a:r>
            <a:r>
              <a:rPr b="1">
                <a:solidFill>
                  <a:srgbClr val="007020"/>
                </a:solidFill>
                <a:latin typeface="Courier"/>
              </a:rPr>
              <a:t>implements</a:t>
            </a:r>
            <a:r>
              <a:rPr>
                <a:latin typeface="Courier"/>
              </a:rPr>
              <a:t> Transport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deliver</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"Delivering by sea in a ship."</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Creator (abstract)</a:t>
            </a:r>
            <a:br/>
            <a:r>
              <a:rPr b="1">
                <a:solidFill>
                  <a:srgbClr val="007020"/>
                </a:solidFill>
                <a:latin typeface="Courier"/>
              </a:rPr>
              <a:t>abstract</a:t>
            </a:r>
            <a:r>
              <a:rPr>
                <a:latin typeface="Courier"/>
              </a:rPr>
              <a:t> </a:t>
            </a:r>
            <a:r>
              <a:rPr b="1">
                <a:solidFill>
                  <a:srgbClr val="007020"/>
                </a:solidFill>
                <a:latin typeface="Courier"/>
              </a:rPr>
              <a:t>class</a:t>
            </a:r>
            <a:r>
              <a:rPr>
                <a:latin typeface="Courier"/>
              </a:rPr>
              <a:t> Logistics </a:t>
            </a:r>
            <a:r>
              <a:rPr>
                <a:solidFill>
                  <a:srgbClr val="666666"/>
                </a:solidFill>
                <a:latin typeface="Courier"/>
              </a:rPr>
              <a:t>{</a:t>
            </a:r>
            <a:br/>
            <a:r>
              <a:rPr>
                <a:latin typeface="Courier"/>
              </a:rPr>
              <a:t>    </a:t>
            </a:r>
            <a:r>
              <a:rPr i="1">
                <a:solidFill>
                  <a:srgbClr val="60A0B0"/>
                </a:solidFill>
                <a:latin typeface="Courier"/>
              </a:rPr>
              <a:t>// Factory Method</a:t>
            </a:r>
            <a:br/>
            <a:r>
              <a:rPr>
                <a:latin typeface="Courier"/>
              </a:rPr>
              <a:t>    </a:t>
            </a:r>
            <a:r>
              <a:rPr b="1">
                <a:solidFill>
                  <a:srgbClr val="007020"/>
                </a:solidFill>
                <a:latin typeface="Courier"/>
              </a:rPr>
              <a:t>public</a:t>
            </a:r>
            <a:r>
              <a:rPr>
                <a:latin typeface="Courier"/>
              </a:rPr>
              <a:t> </a:t>
            </a:r>
            <a:r>
              <a:rPr b="1">
                <a:solidFill>
                  <a:srgbClr val="007020"/>
                </a:solidFill>
                <a:latin typeface="Courier"/>
              </a:rPr>
              <a:t>abstract</a:t>
            </a:r>
            <a:r>
              <a:rPr>
                <a:latin typeface="Courier"/>
              </a:rPr>
              <a:t> Transport </a:t>
            </a:r>
            <a:r>
              <a:rPr>
                <a:solidFill>
                  <a:srgbClr val="06287E"/>
                </a:solidFill>
                <a:latin typeface="Courier"/>
              </a:rPr>
              <a:t>createTransport</a:t>
            </a:r>
            <a:r>
              <a:rPr>
                <a:solidFill>
                  <a:srgbClr val="666666"/>
                </a:solidFill>
                <a:latin typeface="Courier"/>
              </a:rPr>
              <a:t>();</a:t>
            </a:r>
            <a:br/>
            <a:br/>
            <a:r>
              <a:rPr>
                <a:latin typeface="Courier"/>
              </a:rPr>
              <a:t>    </a:t>
            </a:r>
            <a:r>
              <a:rPr i="1">
                <a:solidFill>
                  <a:srgbClr val="60A0B0"/>
                </a:solidFill>
                <a:latin typeface="Courier"/>
              </a:rPr>
              <a:t>// Business logic that uses the factory method</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planDelivery</a:t>
            </a:r>
            <a:r>
              <a:rPr>
                <a:solidFill>
                  <a:srgbClr val="666666"/>
                </a:solidFill>
                <a:latin typeface="Courier"/>
              </a:rPr>
              <a:t>()</a:t>
            </a:r>
            <a:r>
              <a:rPr>
                <a:latin typeface="Courier"/>
              </a:rPr>
              <a:t> </a:t>
            </a:r>
            <a:r>
              <a:rPr>
                <a:solidFill>
                  <a:srgbClr val="666666"/>
                </a:solidFill>
                <a:latin typeface="Courier"/>
              </a:rPr>
              <a:t>{</a:t>
            </a:r>
            <a:br/>
            <a:r>
              <a:rPr>
                <a:latin typeface="Courier"/>
              </a:rPr>
              <a:t>        Transport transport </a:t>
            </a:r>
            <a:r>
              <a:rPr>
                <a:solidFill>
                  <a:srgbClr val="666666"/>
                </a:solidFill>
                <a:latin typeface="Courier"/>
              </a:rPr>
              <a:t>=</a:t>
            </a:r>
            <a:r>
              <a:rPr>
                <a:latin typeface="Courier"/>
              </a:rPr>
              <a:t> </a:t>
            </a:r>
            <a:r>
              <a:rPr>
                <a:solidFill>
                  <a:srgbClr val="06287E"/>
                </a:solidFill>
                <a:latin typeface="Courier"/>
              </a:rPr>
              <a:t>createTransport</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"Planning delivery..."</a:t>
            </a:r>
            <a:r>
              <a:rPr>
                <a:solidFill>
                  <a:srgbClr val="666666"/>
                </a:solidFill>
                <a:latin typeface="Courier"/>
              </a:rPr>
              <a:t>);</a:t>
            </a:r>
            <a:br/>
            <a:r>
              <a:rPr>
                <a:latin typeface="Courier"/>
              </a:rPr>
              <a:t>        transport</a:t>
            </a:r>
            <a:r>
              <a:rPr>
                <a:solidFill>
                  <a:srgbClr val="666666"/>
                </a:solidFill>
                <a:latin typeface="Courier"/>
              </a:rPr>
              <a:t>.</a:t>
            </a:r>
            <a:r>
              <a:rPr>
                <a:solidFill>
                  <a:srgbClr val="06287E"/>
                </a:solidFill>
                <a:latin typeface="Courier"/>
              </a:rPr>
              <a:t>deliver</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Creators</a:t>
            </a:r>
            <a:br/>
            <a:r>
              <a:rPr b="1">
                <a:solidFill>
                  <a:srgbClr val="007020"/>
                </a:solidFill>
                <a:latin typeface="Courier"/>
              </a:rPr>
              <a:t>class</a:t>
            </a:r>
            <a:r>
              <a:rPr>
                <a:latin typeface="Courier"/>
              </a:rPr>
              <a:t> RoadLogistics </a:t>
            </a:r>
            <a:r>
              <a:rPr b="1">
                <a:solidFill>
                  <a:srgbClr val="007020"/>
                </a:solidFill>
                <a:latin typeface="Courier"/>
              </a:rPr>
              <a:t>extends</a:t>
            </a:r>
            <a:r>
              <a:rPr>
                <a:latin typeface="Courier"/>
              </a:rPr>
              <a:t> Logistics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Transport </a:t>
            </a:r>
            <a:r>
              <a:rPr>
                <a:solidFill>
                  <a:srgbClr val="06287E"/>
                </a:solidFill>
                <a:latin typeface="Courier"/>
              </a:rPr>
              <a:t>createTransport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Truck</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SeaLogistics </a:t>
            </a:r>
            <a:r>
              <a:rPr b="1">
                <a:solidFill>
                  <a:srgbClr val="007020"/>
                </a:solidFill>
                <a:latin typeface="Courier"/>
              </a:rPr>
              <a:t>extends</a:t>
            </a:r>
            <a:r>
              <a:rPr>
                <a:latin typeface="Courier"/>
              </a:rPr>
              <a:t> Logistics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Transport </a:t>
            </a:r>
            <a:r>
              <a:rPr>
                <a:solidFill>
                  <a:srgbClr val="06287E"/>
                </a:solidFill>
                <a:latin typeface="Courier"/>
              </a:rPr>
              <a:t>createTransport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Ship</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Client code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FactoryMethodDemo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Logistics logistics</a:t>
            </a:r>
            <a:r>
              <a:rPr>
                <a:solidFill>
                  <a:srgbClr val="666666"/>
                </a:solidFill>
                <a:latin typeface="Courier"/>
              </a:rPr>
              <a:t>;</a:t>
            </a:r>
            <a:br/>
            <a:br/>
            <a:r>
              <a:rPr>
                <a:latin typeface="Courier"/>
              </a:rPr>
              <a:t>        </a:t>
            </a:r>
            <a:r>
              <a:rPr i="1">
                <a:solidFill>
                  <a:srgbClr val="60A0B0"/>
                </a:solidFill>
                <a:latin typeface="Courier"/>
              </a:rPr>
              <a:t>// Configuration determines which factory to use</a:t>
            </a:r>
            <a:br/>
            <a:r>
              <a:rPr>
                <a:latin typeface="Courier"/>
              </a:rPr>
              <a:t>        </a:t>
            </a:r>
            <a:r>
              <a:rPr>
                <a:solidFill>
                  <a:srgbClr val="008000"/>
                </a:solidFill>
                <a:latin typeface="Courier"/>
              </a:rPr>
              <a:t>String</a:t>
            </a:r>
            <a:r>
              <a:rPr>
                <a:latin typeface="Courier"/>
              </a:rPr>
              <a:t> transportType </a:t>
            </a:r>
            <a:r>
              <a:rPr>
                <a:solidFill>
                  <a:srgbClr val="666666"/>
                </a:solidFill>
                <a:latin typeface="Courier"/>
              </a:rPr>
              <a:t>=</a:t>
            </a:r>
            <a:r>
              <a:rPr>
                <a:latin typeface="Courier"/>
              </a:rPr>
              <a:t> </a:t>
            </a:r>
            <a:r>
              <a:rPr>
                <a:solidFill>
                  <a:srgbClr val="4070A0"/>
                </a:solidFill>
                <a:latin typeface="Courier"/>
              </a:rPr>
              <a:t>"sea"</a:t>
            </a:r>
            <a:r>
              <a:rPr>
                <a:solidFill>
                  <a:srgbClr val="666666"/>
                </a:solidFill>
                <a:latin typeface="Courier"/>
              </a:rPr>
              <a:t>;</a:t>
            </a:r>
            <a:r>
              <a:rPr>
                <a:latin typeface="Courier"/>
              </a:rPr>
              <a:t> </a:t>
            </a:r>
            <a:r>
              <a:rPr i="1">
                <a:solidFill>
                  <a:srgbClr val="60A0B0"/>
                </a:solidFill>
                <a:latin typeface="Courier"/>
              </a:rPr>
              <a:t>// could come from config</a:t>
            </a:r>
            <a:b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transportType</a:t>
            </a:r>
            <a:r>
              <a:rPr>
                <a:solidFill>
                  <a:srgbClr val="666666"/>
                </a:solidFill>
                <a:latin typeface="Courier"/>
              </a:rPr>
              <a:t>.</a:t>
            </a:r>
            <a:r>
              <a:rPr>
                <a:solidFill>
                  <a:srgbClr val="06287E"/>
                </a:solidFill>
                <a:latin typeface="Courier"/>
              </a:rPr>
              <a:t>equals</a:t>
            </a:r>
            <a:r>
              <a:rPr>
                <a:solidFill>
                  <a:srgbClr val="666666"/>
                </a:solidFill>
                <a:latin typeface="Courier"/>
              </a:rPr>
              <a:t>(</a:t>
            </a:r>
            <a:r>
              <a:rPr>
                <a:solidFill>
                  <a:srgbClr val="4070A0"/>
                </a:solidFill>
                <a:latin typeface="Courier"/>
              </a:rPr>
              <a:t>"road"</a:t>
            </a:r>
            <a:r>
              <a:rPr>
                <a:solidFill>
                  <a:srgbClr val="666666"/>
                </a:solidFill>
                <a:latin typeface="Courier"/>
              </a:rPr>
              <a:t>))</a:t>
            </a:r>
            <a:r>
              <a:rPr>
                <a:latin typeface="Courier"/>
              </a:rPr>
              <a:t> </a:t>
            </a:r>
            <a:r>
              <a:rPr>
                <a:solidFill>
                  <a:srgbClr val="666666"/>
                </a:solidFill>
                <a:latin typeface="Courier"/>
              </a:rPr>
              <a:t>{</a:t>
            </a:r>
            <a:br/>
            <a:r>
              <a:rPr>
                <a:latin typeface="Courier"/>
              </a:rPr>
              <a:t>            logistics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RoadLogistics</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transportType</a:t>
            </a:r>
            <a:r>
              <a:rPr>
                <a:solidFill>
                  <a:srgbClr val="666666"/>
                </a:solidFill>
                <a:latin typeface="Courier"/>
              </a:rPr>
              <a:t>.</a:t>
            </a:r>
            <a:r>
              <a:rPr>
                <a:solidFill>
                  <a:srgbClr val="06287E"/>
                </a:solidFill>
                <a:latin typeface="Courier"/>
              </a:rPr>
              <a:t>equals</a:t>
            </a:r>
            <a:r>
              <a:rPr>
                <a:solidFill>
                  <a:srgbClr val="666666"/>
                </a:solidFill>
                <a:latin typeface="Courier"/>
              </a:rPr>
              <a:t>(</a:t>
            </a:r>
            <a:r>
              <a:rPr>
                <a:solidFill>
                  <a:srgbClr val="4070A0"/>
                </a:solidFill>
                <a:latin typeface="Courier"/>
              </a:rPr>
              <a:t>"sea"</a:t>
            </a:r>
            <a:r>
              <a:rPr>
                <a:solidFill>
                  <a:srgbClr val="666666"/>
                </a:solidFill>
                <a:latin typeface="Courier"/>
              </a:rPr>
              <a:t>))</a:t>
            </a:r>
            <a:r>
              <a:rPr>
                <a:latin typeface="Courier"/>
              </a:rPr>
              <a:t> </a:t>
            </a:r>
            <a:r>
              <a:rPr>
                <a:solidFill>
                  <a:srgbClr val="666666"/>
                </a:solidFill>
                <a:latin typeface="Courier"/>
              </a:rPr>
              <a:t>{</a:t>
            </a:r>
            <a:br/>
            <a:r>
              <a:rPr>
                <a:latin typeface="Courier"/>
              </a:rPr>
              <a:t>            logistics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SeaLogistics</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a:solidFill>
                  <a:srgbClr val="666666"/>
                </a:solidFill>
                <a:latin typeface="Courier"/>
              </a:rPr>
              <a:t>{</a:t>
            </a:r>
            <a:br/>
            <a:r>
              <a:rPr>
                <a:latin typeface="Courier"/>
              </a:rPr>
              <a:t>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08000"/>
                </a:solidFill>
                <a:latin typeface="Courier"/>
              </a:rPr>
              <a:t>IllegalArgumentException</a:t>
            </a:r>
            <a:r>
              <a:rPr>
                <a:solidFill>
                  <a:srgbClr val="666666"/>
                </a:solidFill>
                <a:latin typeface="Courier"/>
              </a:rPr>
              <a:t>(</a:t>
            </a:r>
            <a:br/>
            <a:r>
              <a:rPr>
                <a:latin typeface="Courier"/>
              </a:rPr>
              <a:t>                </a:t>
            </a:r>
            <a:r>
              <a:rPr>
                <a:solidFill>
                  <a:srgbClr val="4070A0"/>
                </a:solidFill>
                <a:latin typeface="Courier"/>
              </a:rPr>
              <a:t>"Unknown transport type: "</a:t>
            </a:r>
            <a:r>
              <a:rPr>
                <a:latin typeface="Courier"/>
              </a:rPr>
              <a:t> </a:t>
            </a:r>
            <a:r>
              <a:rPr>
                <a:solidFill>
                  <a:srgbClr val="666666"/>
                </a:solidFill>
                <a:latin typeface="Courier"/>
              </a:rPr>
              <a:t>+</a:t>
            </a:r>
            <a:r>
              <a:rPr>
                <a:latin typeface="Courier"/>
              </a:rPr>
              <a:t> transportType</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Client works with the abstract creator</a:t>
            </a:r>
            <a:br/>
            <a:r>
              <a:rPr>
                <a:latin typeface="Courier"/>
              </a:rPr>
              <a:t>        logistics</a:t>
            </a:r>
            <a:r>
              <a:rPr>
                <a:solidFill>
                  <a:srgbClr val="666666"/>
                </a:solidFill>
                <a:latin typeface="Courier"/>
              </a:rPr>
              <a:t>.</a:t>
            </a:r>
            <a:r>
              <a:rPr>
                <a:solidFill>
                  <a:srgbClr val="06287E"/>
                </a:solidFill>
                <a:latin typeface="Courier"/>
              </a:rPr>
              <a:t>planDelivery</a:t>
            </a:r>
            <a:r>
              <a:rPr>
                <a:solidFill>
                  <a:srgbClr val="666666"/>
                </a:solidFill>
                <a:latin typeface="Courier"/>
              </a:rPr>
              <a:t>();</a:t>
            </a:r>
            <a:br/>
            <a:r>
              <a:rPr>
                <a:latin typeface="Courier"/>
              </a:rPr>
              <a:t>        </a:t>
            </a:r>
            <a:r>
              <a:rPr i="1">
                <a:solidFill>
                  <a:srgbClr val="60A0B0"/>
                </a:solidFill>
                <a:latin typeface="Courier"/>
              </a:rPr>
              <a:t>// Output: Planning delivery...</a:t>
            </a:r>
            <a:br/>
            <a:r>
              <a:rPr>
                <a:latin typeface="Courier"/>
              </a:rPr>
              <a:t>        </a:t>
            </a:r>
            <a:r>
              <a:rPr i="1">
                <a:solidFill>
                  <a:srgbClr val="60A0B0"/>
                </a:solidFill>
                <a:latin typeface="Courier"/>
              </a:rPr>
              <a:t>//         Delivering by sea in a ship.</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B: Takeaways</a:t>
            </a:r>
          </a:p>
        </p:txBody>
      </p:sp>
      <p:sp>
        <p:nvSpPr>
          <p:cNvPr id="3" name="Content Placeholder 2"/>
          <p:cNvSpPr>
            <a:spLocks noGrp="1"/>
          </p:cNvSpPr>
          <p:nvPr>
            <p:ph idx="1"/>
          </p:nvPr>
        </p:nvSpPr>
        <p:spPr/>
        <p:txBody>
          <a:bodyPr/>
          <a:lstStyle/>
          <a:p>
            <a:pPr lvl="0"/>
            <a:r>
              <a:rPr b="1"/>
              <a:t>Factory Method</a:t>
            </a:r>
            <a:r>
              <a:rPr/>
              <a:t> provides an interface for creating objects in a superclass, but allows subclasses to alter the type of objects created.</a:t>
            </a:r>
          </a:p>
          <a:p>
            <a:pPr lvl="0"/>
            <a:r>
              <a:rPr/>
              <a:t>It solves the problem of </a:t>
            </a:r>
            <a:r>
              <a:rPr b="1"/>
              <a:t>tight coupling</a:t>
            </a:r>
            <a:r>
              <a:rPr/>
              <a:t> between creator code and concrete product classes.</a:t>
            </a:r>
          </a:p>
          <a:p>
            <a:pPr lvl="0"/>
            <a:r>
              <a:rPr/>
              <a:t>The pattern uses </a:t>
            </a:r>
            <a:r>
              <a:rPr b="1"/>
              <a:t>four participants</a:t>
            </a:r>
            <a:r>
              <a:rPr/>
              <a:t>: Product interface, Concrete Products, Creator class, and Concrete Creators.</a:t>
            </a:r>
          </a:p>
          <a:p>
            <a:pPr lvl="0"/>
            <a:r>
              <a:rPr/>
              <a:t>Factory Method supports the </a:t>
            </a:r>
            <a:r>
              <a:rPr b="1"/>
              <a:t>Open/Closed Principle</a:t>
            </a:r>
            <a:r>
              <a:rPr/>
              <a:t> (new products without modifying existing code) and </a:t>
            </a:r>
            <a:r>
              <a:rPr b="1"/>
              <a:t>Single Responsibility Principle</a:t>
            </a:r>
            <a:r>
              <a:rPr/>
              <a:t> (centralized creation logic).</a:t>
            </a:r>
          </a:p>
          <a:p>
            <a:pPr lvl="0"/>
            <a:r>
              <a:rPr/>
              <a:t>It is often the </a:t>
            </a:r>
            <a:r>
              <a:rPr b="1"/>
              <a:t>starting point</a:t>
            </a:r>
            <a:r>
              <a:rPr/>
              <a:t> for more complex patterns like Abstract Factory or Prototype.</a:t>
            </a:r>
          </a:p>
          <a:p>
            <a:pPr lvl="0"/>
            <a:r>
              <a:rPr/>
              <a:t>The main trade-off is </a:t>
            </a:r>
            <a:r>
              <a:rPr b="1"/>
              <a:t>increased number of subclasses</a:t>
            </a:r>
            <a:r>
              <a:rPr/>
              <a:t> in the codebase.</a:t>
            </a:r>
          </a:p>
          <a:p>
            <a:pPr lvl="0"/>
            <a:r>
              <a:rPr/>
              <a:t>Factory Method is a specialization of the </a:t>
            </a:r>
            <a:r>
              <a:rPr b="1"/>
              <a:t>Template Method</a:t>
            </a:r>
            <a:r>
              <a:rPr/>
              <a:t> pattern.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C: Abstract Factory Pattern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Pattern - Overview</a:t>
            </a:r>
          </a:p>
        </p:txBody>
      </p:sp>
      <p:sp>
        <p:nvSpPr>
          <p:cNvPr id="3" name="Content Placeholder 2"/>
          <p:cNvSpPr>
            <a:spLocks noGrp="1"/>
          </p:cNvSpPr>
          <p:nvPr>
            <p:ph idx="1"/>
          </p:nvPr>
        </p:nvSpPr>
        <p:spPr/>
        <p:txBody>
          <a:bodyPr/>
          <a:lstStyle/>
          <a:p>
            <a:pPr lvl="0"/>
            <a:r>
              <a:rPr b="1"/>
              <a:t>Category</a:t>
            </a:r>
            <a:r>
              <a:rPr/>
              <a:t>: Creational Pattern</a:t>
            </a:r>
          </a:p>
          <a:p>
            <a:pPr lvl="0"/>
            <a:r>
              <a:rPr b="1"/>
              <a:t>Complexity</a:t>
            </a:r>
            <a:r>
              <a:rPr/>
              <a:t>: Medium</a:t>
            </a:r>
          </a:p>
          <a:p>
            <a:pPr lvl="0"/>
            <a:r>
              <a:rPr b="1"/>
              <a:t>Popularity</a:t>
            </a:r>
            <a:r>
              <a:rPr/>
              <a:t>: High</a:t>
            </a:r>
          </a:p>
          <a:p>
            <a:pPr lvl="0" indent="0" marL="0">
              <a:buNone/>
            </a:pPr>
            <a:r>
              <a:rPr b="1"/>
              <a:t>Intent</a:t>
            </a:r>
            <a:r>
              <a:rPr/>
              <a:t>: Abstract Factory is a creational design pattern that lets you produce </a:t>
            </a:r>
            <a:r>
              <a:rPr b="1"/>
              <a:t>families of related objects</a:t>
            </a:r>
            <a:r>
              <a:rPr/>
              <a:t> without specifying their concrete classes.</a:t>
            </a:r>
          </a:p>
          <a:p>
            <a:pPr lvl="0" indent="0" marL="0">
              <a:buNone/>
            </a:pPr>
            <a:r>
              <a:rPr/>
              <a:t>Reference: </a:t>
            </a:r>
            <a:r>
              <a:rPr>
                <a:hlinkClick r:id="rId2"/>
              </a:rPr>
              <a:t>RefactoringGuru - Abstract Factory</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The Problem</a:t>
            </a:r>
          </a:p>
        </p:txBody>
      </p:sp>
      <p:sp>
        <p:nvSpPr>
          <p:cNvPr id="3" name="Content Placeholder 2"/>
          <p:cNvSpPr>
            <a:spLocks noGrp="1"/>
          </p:cNvSpPr>
          <p:nvPr>
            <p:ph idx="1"/>
          </p:nvPr>
        </p:nvSpPr>
        <p:spPr/>
        <p:txBody>
          <a:bodyPr/>
          <a:lstStyle/>
          <a:p>
            <a:pPr lvl="0" indent="0" marL="0">
              <a:buNone/>
            </a:pPr>
            <a:r>
              <a:rPr/>
              <a:t>Imagine that you are creating a furniture shop simulator. Your code consists of classes that represent:</a:t>
            </a:r>
          </a:p>
          <a:p>
            <a:pPr lvl="0"/>
            <a:r>
              <a:rPr/>
              <a:t>A family of related products, say: </a:t>
            </a:r>
            <a:r>
              <a:rPr>
                <a:latin typeface="Courier"/>
              </a:rPr>
              <a:t>Chair</a:t>
            </a:r>
            <a:r>
              <a:rPr/>
              <a:t> + </a:t>
            </a:r>
            <a:r>
              <a:rPr>
                <a:latin typeface="Courier"/>
              </a:rPr>
              <a:t>Sofa</a:t>
            </a:r>
            <a:r>
              <a:rPr/>
              <a:t> + </a:t>
            </a:r>
            <a:r>
              <a:rPr>
                <a:latin typeface="Courier"/>
              </a:rPr>
              <a:t>CoffeeTable</a:t>
            </a:r>
            <a:r>
              <a:rPr/>
              <a:t>.</a:t>
            </a:r>
          </a:p>
          <a:p>
            <a:pPr lvl="0"/>
            <a:r>
              <a:rPr/>
              <a:t>Several variants of this family. For example, products </a:t>
            </a:r>
            <a:r>
              <a:rPr>
                <a:latin typeface="Courier"/>
              </a:rPr>
              <a:t>Chair</a:t>
            </a:r>
            <a:r>
              <a:rPr/>
              <a:t> + </a:t>
            </a:r>
            <a:r>
              <a:rPr>
                <a:latin typeface="Courier"/>
              </a:rPr>
              <a:t>Sofa</a:t>
            </a:r>
            <a:r>
              <a:rPr/>
              <a:t> + </a:t>
            </a:r>
            <a:r>
              <a:rPr>
                <a:latin typeface="Courier"/>
              </a:rPr>
              <a:t>CoffeeTable</a:t>
            </a:r>
            <a:r>
              <a:rPr/>
              <a:t> are available in these variants: </a:t>
            </a:r>
            <a:r>
              <a:rPr b="1"/>
              <a:t>Modern</a:t>
            </a:r>
            <a:r>
              <a:rPr/>
              <a:t>, </a:t>
            </a:r>
            <a:r>
              <a:rPr b="1"/>
              <a:t>Victorian</a:t>
            </a:r>
            <a:r>
              <a:rPr/>
              <a:t>, </a:t>
            </a:r>
            <a:r>
              <a:rPr b="1"/>
              <a:t>ArtDeco</a:t>
            </a:r>
            <a:r>
              <a:rPr/>
              <a:t>.</a:t>
            </a:r>
          </a:p>
          <a:p>
            <a:pPr lvl="0" indent="0" marL="0">
              <a:buNone/>
            </a:pPr>
            <a:r>
              <a:rPr/>
              <a:t>You need a way to create individual furniture objects so that they match other objects of the same family. Customers get quite mad when they receive non-matching furniture.</a:t>
            </a:r>
          </a:p>
          <a:p>
            <a:pPr lvl="0" indent="0" marL="0">
              <a:buNone/>
            </a:pPr>
            <a:r>
              <a:rPr b="1"/>
              <a:t>Problems with direct construction:</a:t>
            </a:r>
          </a:p>
          <a:p>
            <a:pPr lvl="0"/>
            <a:r>
              <a:rPr/>
              <a:t>You don’t want to change existing code when adding new products or families of products.</a:t>
            </a:r>
          </a:p>
          <a:p>
            <a:pPr lvl="0"/>
            <a:r>
              <a:rPr/>
              <a:t>Furniture vendors update their catalogs very often, and you wouldn’t want to change the core code each time it happens.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The Solution</a:t>
            </a:r>
          </a:p>
        </p:txBody>
      </p:sp>
      <p:sp>
        <p:nvSpPr>
          <p:cNvPr id="3" name="Content Placeholder 2"/>
          <p:cNvSpPr>
            <a:spLocks noGrp="1"/>
          </p:cNvSpPr>
          <p:nvPr>
            <p:ph idx="1"/>
          </p:nvPr>
        </p:nvSpPr>
        <p:spPr/>
        <p:txBody>
          <a:bodyPr/>
          <a:lstStyle/>
          <a:p>
            <a:pPr lvl="0" indent="0" marL="0">
              <a:buNone/>
            </a:pPr>
            <a:r>
              <a:rPr/>
              <a:t>The Abstract Factory pattern suggests:</a:t>
            </a:r>
          </a:p>
          <a:p>
            <a:pPr lvl="0" indent="-342900" marL="342900">
              <a:buAutoNum type="arabicPeriod"/>
            </a:pPr>
            <a:r>
              <a:rPr b="1"/>
              <a:t>Explicitly declare interfaces</a:t>
            </a:r>
            <a:r>
              <a:rPr/>
              <a:t> for each distinct product of the product family (e.g., </a:t>
            </a:r>
            <a:r>
              <a:rPr>
                <a:latin typeface="Courier"/>
              </a:rPr>
              <a:t>Chair</a:t>
            </a:r>
            <a:r>
              <a:rPr/>
              <a:t>, </a:t>
            </a:r>
            <a:r>
              <a:rPr>
                <a:latin typeface="Courier"/>
              </a:rPr>
              <a:t>Sofa</a:t>
            </a:r>
            <a:r>
              <a:rPr/>
              <a:t>, </a:t>
            </a:r>
            <a:r>
              <a:rPr>
                <a:latin typeface="Courier"/>
              </a:rPr>
              <a:t>CoffeeTable</a:t>
            </a:r>
            <a:r>
              <a:rPr/>
              <a:t>).</a:t>
            </a:r>
          </a:p>
          <a:p>
            <a:pPr lvl="0" indent="-342900" marL="342900">
              <a:buAutoNum type="arabicPeriod"/>
            </a:pPr>
            <a:r>
              <a:rPr b="1"/>
              <a:t>Make all variants</a:t>
            </a:r>
            <a:r>
              <a:rPr/>
              <a:t> of products follow those interfaces. For example, all chair variants implement the </a:t>
            </a:r>
            <a:r>
              <a:rPr>
                <a:latin typeface="Courier"/>
              </a:rPr>
              <a:t>Chair</a:t>
            </a:r>
            <a:r>
              <a:rPr/>
              <a:t> interface; all coffee tables implement the </a:t>
            </a:r>
            <a:r>
              <a:rPr>
                <a:latin typeface="Courier"/>
              </a:rPr>
              <a:t>CoffeeTable</a:t>
            </a:r>
            <a:r>
              <a:rPr/>
              <a:t> interface, and so on.</a:t>
            </a:r>
          </a:p>
          <a:p>
            <a:pPr lvl="0" indent="-342900" marL="342900">
              <a:buAutoNum type="arabicPeriod"/>
            </a:pPr>
            <a:r>
              <a:rPr b="1"/>
              <a:t>Declare the Abstract Factory</a:t>
            </a:r>
            <a:r>
              <a:rPr/>
              <a:t> – an interface with a list of creation methods for all products that are part of the product family (e.g., </a:t>
            </a:r>
            <a:r>
              <a:rPr>
                <a:latin typeface="Courier"/>
              </a:rPr>
              <a:t>createChair</a:t>
            </a:r>
            <a:r>
              <a:rPr/>
              <a:t>, </a:t>
            </a:r>
            <a:r>
              <a:rPr>
                <a:latin typeface="Courier"/>
              </a:rPr>
              <a:t>createSofa</a:t>
            </a:r>
            <a:r>
              <a:rPr/>
              <a:t>, </a:t>
            </a:r>
            <a:r>
              <a:rPr>
                <a:latin typeface="Courier"/>
              </a:rPr>
              <a:t>createCoffeeTable</a:t>
            </a:r>
            <a:r>
              <a:rPr/>
              <a:t>).</a:t>
            </a:r>
          </a:p>
          <a:p>
            <a:pPr lvl="0" indent="-342900" marL="342900">
              <a:buAutoNum type="arabicPeriod"/>
            </a:pPr>
            <a:r>
              <a:rPr b="1"/>
              <a:t>Create separate factory classes</a:t>
            </a:r>
            <a:r>
              <a:rPr/>
              <a:t> for each variant of the product family. A factory is a class that returns products of a particular kind. For example, the </a:t>
            </a:r>
            <a:r>
              <a:rPr>
                <a:latin typeface="Courier"/>
              </a:rPr>
              <a:t>ModernFurnitureFactory</a:t>
            </a:r>
            <a:r>
              <a:rPr/>
              <a:t> can only create </a:t>
            </a:r>
            <a:r>
              <a:rPr>
                <a:latin typeface="Courier"/>
              </a:rPr>
              <a:t>ModernChair</a:t>
            </a:r>
            <a:r>
              <a:rPr/>
              <a:t>, </a:t>
            </a:r>
            <a:r>
              <a:rPr>
                <a:latin typeface="Courier"/>
              </a:rPr>
              <a:t>ModernSofa</a:t>
            </a:r>
            <a:r>
              <a:rPr/>
              <a:t>, and </a:t>
            </a:r>
            <a:r>
              <a:rPr>
                <a:latin typeface="Courier"/>
              </a:rPr>
              <a:t>ModernCoffeeTable</a:t>
            </a:r>
            <a:r>
              <a:rPr/>
              <a:t> objects.</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Solution Diagram</a:t>
            </a:r>
          </a:p>
        </p:txBody>
      </p:sp>
      <p:sp>
        <p:nvSpPr>
          <p:cNvPr id="3" name="Content Placeholder 2"/>
          <p:cNvSpPr>
            <a:spLocks noGrp="1"/>
          </p:cNvSpPr>
          <p:nvPr>
            <p:ph idx="1"/>
          </p:nvPr>
        </p:nvSpPr>
        <p:spPr/>
        <p:txBody>
          <a:bodyPr/>
          <a:lstStyle/>
          <a:p>
            <a:pPr lvl="0" indent="0">
              <a:buNone/>
            </a:pPr>
            <a:r>
              <a:rPr>
                <a:latin typeface="Courier"/>
              </a:rPr>
              <a:t>         AbstractFactory
    ┌──────────────────────┐
    │ createChair()        │
    │ createSofa()         │
    │ createCoffeeTable()  │
    └──────────┬───────────┘
               │
    ┌──────────┴──────────────────┐
    │                             │
ModernFactory              VictorianFactory
┌──────────────┐          ┌──────────────┐
│createChair() │          │createChair() │
│  → ModernCh  │          │  → VictorCh  │
│createSofa()  │          │createSofa()  │
│  → ModernSf  │          │  → VictorSf  │
└──────────────┘          └──────────────┘</a:t>
            </a:r>
          </a:p>
          <a:p>
            <a:pPr lvl="0" indent="0" marL="0">
              <a:buNone/>
            </a:pPr>
            <a:r>
              <a:rPr/>
              <a:t>The client code works with factories and products only through their abstract interfaces. This lets you change the type of factory (and thus the variant of products) without changing the client code.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Structure</a:t>
            </a:r>
          </a:p>
        </p:txBody>
      </p:sp>
      <p:sp>
        <p:nvSpPr>
          <p:cNvPr id="3" name="Content Placeholder 2"/>
          <p:cNvSpPr>
            <a:spLocks noGrp="1"/>
          </p:cNvSpPr>
          <p:nvPr>
            <p:ph idx="1"/>
          </p:nvPr>
        </p:nvSpPr>
        <p:spPr/>
        <p:txBody>
          <a:bodyPr/>
          <a:lstStyle/>
          <a:p>
            <a:pPr lvl="0" indent="0" marL="0">
              <a:buNone/>
            </a:pPr>
            <a:r>
              <a:rPr/>
              <a:t>The Abstract Factory pattern has five key participants:</a:t>
            </a:r>
          </a:p>
          <a:p>
            <a:pPr lvl="0" indent="-342900" marL="342900">
              <a:buAutoNum type="arabicPeriod"/>
            </a:pPr>
            <a:r>
              <a:rPr b="1"/>
              <a:t>Abstract Products</a:t>
            </a:r>
            <a:r>
              <a:rPr/>
              <a:t> declare interfaces for a set of distinct but related products which make up a product family.</a:t>
            </a:r>
          </a:p>
          <a:p>
            <a:pPr lvl="0" indent="-342900" marL="342900">
              <a:buAutoNum type="arabicPeriod"/>
            </a:pPr>
            <a:r>
              <a:rPr b="1"/>
              <a:t>Concrete Products</a:t>
            </a:r>
            <a:r>
              <a:rPr/>
              <a:t> are various implementations of abstract products, grouped by variants. Each abstract product (chair/sofa) must be implemented in all given variants (Victorian/Modern).</a:t>
            </a:r>
          </a:p>
          <a:p>
            <a:pPr lvl="0" indent="-342900" marL="342900">
              <a:buAutoNum type="arabicPeriod"/>
            </a:pPr>
            <a:r>
              <a:rPr b="1"/>
              <a:t>Abstract Factory</a:t>
            </a:r>
            <a:r>
              <a:rPr/>
              <a:t> interface declares a set of methods for creating each of the abstract products.</a:t>
            </a:r>
          </a:p>
          <a:p>
            <a:pPr lvl="0" indent="-342900" marL="342900">
              <a:buAutoNum type="arabicPeriod"/>
            </a:pPr>
            <a:r>
              <a:rPr b="1"/>
              <a:t>Concrete Factories</a:t>
            </a:r>
            <a:r>
              <a:rPr/>
              <a:t> implement creation methods of the abstract factory. Each concrete factory corresponds to a specific variant of products and creates only those product variants.</a:t>
            </a:r>
          </a:p>
          <a:p>
            <a:pPr lvl="0" indent="-342900" marL="342900">
              <a:buAutoNum type="arabicPeriod"/>
            </a:pPr>
            <a:r>
              <a:rPr b="1"/>
              <a:t>Client</a:t>
            </a:r>
            <a:r>
              <a:rPr/>
              <a:t> works with both factories and products through abstract interfaces. This lets the client work with any factory/product variant without coupling to concrete classes.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Factory - Class Diagram</a:t>
            </a:r>
          </a:p>
        </p:txBody>
      </p:sp>
      <p:pic>
        <p:nvPicPr>
          <p:cNvPr descr="assets/abstract-factory-structure.png" id="0" name="Picture 1"/>
          <p:cNvPicPr>
            <a:picLocks noGrp="1" noChangeAspect="1"/>
          </p:cNvPicPr>
          <p:nvPr/>
        </p:nvPicPr>
        <p:blipFill>
          <a:blip r:embed="rId2"/>
          <a:stretch>
            <a:fillRect/>
          </a:stretch>
        </p:blipFill>
        <p:spPr bwMode="auto">
          <a:xfrm>
            <a:off x="3568700" y="685800"/>
            <a:ext cx="5105400" cy="2908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Pseudocode</a:t>
            </a:r>
          </a:p>
        </p:txBody>
      </p:sp>
      <p:sp>
        <p:nvSpPr>
          <p:cNvPr id="3" name="Content Placeholder 2"/>
          <p:cNvSpPr>
            <a:spLocks noGrp="1"/>
          </p:cNvSpPr>
          <p:nvPr>
            <p:ph idx="1"/>
          </p:nvPr>
        </p:nvSpPr>
        <p:spPr/>
        <p:txBody>
          <a:bodyPr/>
          <a:lstStyle/>
          <a:p>
            <a:pPr lvl="0" indent="0" marL="0">
              <a:buNone/>
            </a:pPr>
            <a:r>
              <a:rPr/>
              <a:t>This example illustrates how the Abstract Factory pattern can be used for creating cross-platform UI elements without coupling the client code to concrete UI classes.</a:t>
            </a:r>
          </a:p>
          <a:p>
            <a:pPr lvl="0" indent="0">
              <a:buNone/>
            </a:pPr>
            <a:r>
              <a:rPr>
                <a:latin typeface="Courier"/>
              </a:rPr>
              <a:t>// The abstract factory interface declares a set of methods
// that return different abstract products.
interface GUIFactory is
    method createButton(): Button
    method createCheckbox(): Checkbox
// Concrete factories produce a family of products that
// belong to a single variant.
class WinFactory implements GUIFactory is
    method createButton(): Button is
        return new WinButton()
    method createCheckbox(): Checkbox is
        return new WinCheckbox()
class MacFactory implements GUIFactory is
    method createButton(): Button is
        return new MacButton()
    method createCheckbox(): Checkbox is
        return new MacCheckbox()</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Pseudocode (cont.)</a:t>
            </a:r>
          </a:p>
        </p:txBody>
      </p:sp>
      <p:sp>
        <p:nvSpPr>
          <p:cNvPr id="3" name="Content Placeholder 2"/>
          <p:cNvSpPr>
            <a:spLocks noGrp="1"/>
          </p:cNvSpPr>
          <p:nvPr>
            <p:ph idx="1"/>
          </p:nvPr>
        </p:nvSpPr>
        <p:spPr/>
        <p:txBody>
          <a:bodyPr/>
          <a:lstStyle/>
          <a:p>
            <a:pPr lvl="0" indent="0">
              <a:buNone/>
            </a:pPr>
            <a:r>
              <a:rPr>
                <a:latin typeface="Courier"/>
              </a:rPr>
              <a:t>// Each distinct product of a product family should
// have a base interface.
interface Button is
    method paint()
// Each concrete product is created in a corresponding
// concrete factory.
class WinButton implements Button is
    method paint() is
        // Render a button in Windows style.
class MacButton implements Button is
    method paint() is
        // Render a button in macOS style.
interface Checkbox is
    method paint()
class WinCheckbox implements Checkbox is
    method paint() is
        // Render a checkbox in Windows style.
class MacCheckbox implements Checkbox is
    method paint() is
        // Render a checkbox in macOS style.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Pseudocode (cont.)</a:t>
            </a:r>
          </a:p>
        </p:txBody>
      </p:sp>
      <p:sp>
        <p:nvSpPr>
          <p:cNvPr id="3" name="Content Placeholder 2"/>
          <p:cNvSpPr>
            <a:spLocks noGrp="1"/>
          </p:cNvSpPr>
          <p:nvPr>
            <p:ph idx="1"/>
          </p:nvPr>
        </p:nvSpPr>
        <p:spPr/>
        <p:txBody>
          <a:bodyPr/>
          <a:lstStyle/>
          <a:p>
            <a:pPr lvl="0" indent="0">
              <a:buNone/>
            </a:pPr>
            <a:r>
              <a:rPr>
                <a:latin typeface="Courier"/>
              </a:rPr>
              <a:t>// The client code works with factories and products
// only through abstract types: GUIFactory, Button, Checkbox.
class Application is
    private field factory: GUIFactory
    private field button: Button
    constructor Application(factory: GUIFactory) is
        this.factory = factory
    method createUI() is
        this.button = factory.createButton()
    method paint() is
        button.paint()
// The application picks the factory type depending on
// the current configuration or environment settings.
class ApplicationConfigurator is
    method main() is
        config = readApplicationConfigFile()
        if (config.OS == "Windows") then
            factory = new WinFactory()
        else if (config.OS == "Mac") then
            factory = new MacFactory()
        else
            throw new Exception("Error! Unknown OS.")
        Application app = new Application(factory)</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Factory - Sequence Diagram</a:t>
            </a:r>
          </a:p>
        </p:txBody>
      </p:sp>
      <p:pic>
        <p:nvPicPr>
          <p:cNvPr descr="assets/abstract-factory-sequence.png" id="0" name="Picture 1"/>
          <p:cNvPicPr>
            <a:picLocks noGrp="1" noChangeAspect="1"/>
          </p:cNvPicPr>
          <p:nvPr/>
        </p:nvPicPr>
        <p:blipFill>
          <a:blip r:embed="rId2"/>
          <a:stretch>
            <a:fillRect/>
          </a:stretch>
        </p:blipFill>
        <p:spPr bwMode="auto">
          <a:xfrm>
            <a:off x="4318000" y="203200"/>
            <a:ext cx="3606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Applicability</a:t>
            </a:r>
          </a:p>
        </p:txBody>
      </p:sp>
      <p:sp>
        <p:nvSpPr>
          <p:cNvPr id="3" name="Content Placeholder 2"/>
          <p:cNvSpPr>
            <a:spLocks noGrp="1"/>
          </p:cNvSpPr>
          <p:nvPr>
            <p:ph idx="1"/>
          </p:nvPr>
        </p:nvSpPr>
        <p:spPr/>
        <p:txBody>
          <a:bodyPr/>
          <a:lstStyle/>
          <a:p>
            <a:pPr lvl="0" indent="0" marL="0">
              <a:buNone/>
            </a:pPr>
            <a:r>
              <a:rPr/>
              <a:t>Use the Abstract Factory pattern when:</a:t>
            </a:r>
          </a:p>
          <a:p>
            <a:pPr lvl="0" indent="-342900" marL="342900">
              <a:buAutoNum type="arabicPeriod"/>
            </a:pPr>
            <a:r>
              <a:rPr b="1"/>
              <a:t>Your code needs to work with various families of related products</a:t>
            </a:r>
            <a:r>
              <a:rPr/>
              <a:t>, but you don’t want it to depend on the concrete classes of those products – they might be unknown beforehand or you simply want to allow for future extensibility.</a:t>
            </a:r>
          </a:p>
          <a:p>
            <a:pPr lvl="1"/>
            <a:r>
              <a:rPr/>
              <a:t>The Abstract Factory provides you with an interface for creating objects from each class of the product family. As long as your code creates objects via this interface, you don’t have to worry about creating the wrong variant of a product which doesn’t match the products already created by your app.</a:t>
            </a:r>
          </a:p>
          <a:p>
            <a:pPr lvl="0" indent="-342900" marL="342900">
              <a:buAutoNum type="arabicPeriod"/>
            </a:pPr>
            <a:r>
              <a:rPr b="1"/>
              <a:t>You have a class with a set of Factory Methods</a:t>
            </a:r>
            <a:r>
              <a:rPr/>
              <a:t> that blur its primary responsibility.</a:t>
            </a:r>
          </a:p>
          <a:p>
            <a:pPr lvl="1"/>
            <a:r>
              <a:rPr/>
              <a:t>In a well-designed program, each class is responsible only for one thing (SRP). When a class deals with multiple product types, it may be worth extracting its factory methods into a stand-alone factory class or a full-blown Abstract Factory implementation.</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How to Implement</a:t>
            </a:r>
          </a:p>
        </p:txBody>
      </p:sp>
      <p:sp>
        <p:nvSpPr>
          <p:cNvPr id="3" name="Content Placeholder 2"/>
          <p:cNvSpPr>
            <a:spLocks noGrp="1"/>
          </p:cNvSpPr>
          <p:nvPr>
            <p:ph idx="1"/>
          </p:nvPr>
        </p:nvSpPr>
        <p:spPr/>
        <p:txBody>
          <a:bodyPr/>
          <a:lstStyle/>
          <a:p>
            <a:pPr lvl="0" indent="-342900" marL="342900">
              <a:buAutoNum type="arabicPeriod"/>
            </a:pPr>
            <a:r>
              <a:rPr b="1"/>
              <a:t>Map out a matrix</a:t>
            </a:r>
            <a:r>
              <a:rPr/>
              <a:t> of distinct product types versus variants of these products.</a:t>
            </a:r>
          </a:p>
          <a:p>
            <a:pPr lvl="0" indent="-342900" marL="342900">
              <a:buAutoNum type="arabicPeriod"/>
            </a:pPr>
            <a:r>
              <a:rPr b="1"/>
              <a:t>Declare abstract product interfaces</a:t>
            </a:r>
            <a:r>
              <a:rPr/>
              <a:t> for all product types. Then make all concrete product classes implement these interfaces.</a:t>
            </a:r>
          </a:p>
          <a:p>
            <a:pPr lvl="0" indent="-342900" marL="342900">
              <a:buAutoNum type="arabicPeriod"/>
            </a:pPr>
            <a:r>
              <a:rPr b="1"/>
              <a:t>Declare the abstract factory interface</a:t>
            </a:r>
            <a:r>
              <a:rPr/>
              <a:t> with a set of creation methods for all abstract products.</a:t>
            </a:r>
          </a:p>
          <a:p>
            <a:pPr lvl="0" indent="-342900" marL="342900">
              <a:buAutoNum type="arabicPeriod"/>
            </a:pPr>
            <a:r>
              <a:rPr b="1"/>
              <a:t>Implement a set of concrete factory classes</a:t>
            </a:r>
            <a:r>
              <a:rPr/>
              <a:t>, one for each product variant.</a:t>
            </a:r>
          </a:p>
          <a:p>
            <a:pPr lvl="0" indent="-342900" marL="342900">
              <a:buAutoNum type="arabicPeriod"/>
            </a:pPr>
            <a:r>
              <a:rPr b="1"/>
              <a:t>Create factory initialization code</a:t>
            </a:r>
            <a:r>
              <a:rPr/>
              <a:t> somewhere in the app. It should instantiate one of the concrete factory classes, depending on the application configuration or the current environment. Pass this factory object to all classes that construct products.</a:t>
            </a:r>
          </a:p>
          <a:p>
            <a:pPr lvl="0" indent="-342900" marL="342900">
              <a:buAutoNum type="arabicPeriod"/>
            </a:pPr>
            <a:r>
              <a:rPr b="1"/>
              <a:t>Scan through the code</a:t>
            </a:r>
            <a:r>
              <a:rPr/>
              <a:t> and find all direct calls to product constructors. Replace them with calls to the appropriate creation method on the factory object.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Pros and Cons</a:t>
            </a:r>
          </a:p>
        </p:txBody>
      </p:sp>
      <p:sp>
        <p:nvSpPr>
          <p:cNvPr id="3" name="Content Placeholder 2"/>
          <p:cNvSpPr>
            <a:spLocks noGrp="1"/>
          </p:cNvSpPr>
          <p:nvPr>
            <p:ph idx="1"/>
          </p:nvPr>
        </p:nvSpPr>
        <p:spPr/>
        <p:txBody>
          <a:bodyPr/>
          <a:lstStyle/>
          <a:p>
            <a:pPr lvl="0" indent="0" marL="0">
              <a:spcBef>
                <a:spcPts val="3000"/>
              </a:spcBef>
              <a:buNone/>
            </a:pPr>
            <a:r>
              <a:rPr b="1"/>
              <a:t>Pros</a:t>
            </a:r>
          </a:p>
          <a:p>
            <a:pPr lvl="0"/>
            <a:r>
              <a:rPr b="1"/>
              <a:t>Compatibility guarantee</a:t>
            </a:r>
            <a:r>
              <a:rPr/>
              <a:t>: You can be sure that the products you are getting from a factory are compatible with each other.</a:t>
            </a:r>
          </a:p>
          <a:p>
            <a:pPr lvl="0"/>
            <a:r>
              <a:rPr b="1"/>
              <a:t>Avoids tight coupling</a:t>
            </a:r>
            <a:r>
              <a:rPr/>
              <a:t> between concrete products and client code.</a:t>
            </a:r>
          </a:p>
          <a:p>
            <a:pPr lvl="0"/>
            <a:r>
              <a:rPr b="1"/>
              <a:t>Single Responsibility Principle (SRP)</a:t>
            </a:r>
            <a:r>
              <a:rPr/>
              <a:t>: You can extract the product creation code into one place, making the code easier to support.</a:t>
            </a:r>
          </a:p>
          <a:p>
            <a:pPr lvl="0"/>
            <a:r>
              <a:rPr b="1"/>
              <a:t>Open/Closed Principle (OCP)</a:t>
            </a:r>
            <a:r>
              <a:rPr/>
              <a:t>: You can introduce new variants of products without breaking existing client code.</a:t>
            </a:r>
          </a:p>
          <a:p>
            <a:pPr lvl="0" indent="0" marL="0">
              <a:spcBef>
                <a:spcPts val="3000"/>
              </a:spcBef>
              <a:buNone/>
            </a:pPr>
            <a:r>
              <a:rPr b="1"/>
              <a:t>Cons</a:t>
            </a:r>
          </a:p>
          <a:p>
            <a:pPr lvl="0"/>
            <a:r>
              <a:rPr b="1"/>
              <a:t>Increased complexity</a:t>
            </a:r>
            <a:r>
              <a:rPr/>
              <a:t>: The code may become more complicated than it should be, since a lot of new interfaces and classes are introduced along with the pattern.</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Relations with Other Patterns</a:t>
            </a:r>
          </a:p>
        </p:txBody>
      </p:sp>
      <p:sp>
        <p:nvSpPr>
          <p:cNvPr id="3" name="Content Placeholder 2"/>
          <p:cNvSpPr>
            <a:spLocks noGrp="1"/>
          </p:cNvSpPr>
          <p:nvPr>
            <p:ph idx="1"/>
          </p:nvPr>
        </p:nvSpPr>
        <p:spPr/>
        <p:txBody>
          <a:bodyPr/>
          <a:lstStyle/>
          <a:p>
            <a:pPr lvl="0"/>
            <a:r>
              <a:rPr/>
              <a:t>Many designs start by using </a:t>
            </a:r>
            <a:r>
              <a:rPr b="1"/>
              <a:t>Factory Method</a:t>
            </a:r>
            <a:r>
              <a:rPr/>
              <a:t> (less complicated, more customizable via subclasses) and evolve toward </a:t>
            </a:r>
            <a:r>
              <a:rPr b="1"/>
              <a:t>Abstract Factory</a:t>
            </a:r>
            <a:r>
              <a:rPr/>
              <a:t>, </a:t>
            </a:r>
            <a:r>
              <a:rPr b="1"/>
              <a:t>Prototype</a:t>
            </a:r>
            <a:r>
              <a:rPr/>
              <a:t>, or </a:t>
            </a:r>
            <a:r>
              <a:rPr b="1"/>
              <a:t>Builder</a:t>
            </a:r>
            <a:r>
              <a:rPr/>
              <a:t> (more flexible, but more complex).</a:t>
            </a:r>
          </a:p>
          <a:p>
            <a:pPr lvl="0"/>
            <a:r>
              <a:rPr b="1"/>
              <a:t>Builder</a:t>
            </a:r>
            <a:r>
              <a:rPr/>
              <a:t> focuses on constructing complex objects step by step. </a:t>
            </a:r>
            <a:r>
              <a:rPr b="1"/>
              <a:t>Abstract Factory</a:t>
            </a:r>
            <a:r>
              <a:rPr/>
              <a:t> specializes in creating families of related objects. Abstract Factory returns the product immediately, whereas Builder lets you run some additional construction steps before fetching the product.</a:t>
            </a:r>
          </a:p>
          <a:p>
            <a:pPr lvl="0"/>
            <a:r>
              <a:rPr b="1"/>
              <a:t>Abstract Factory</a:t>
            </a:r>
            <a:r>
              <a:rPr/>
              <a:t> classes are often based on a set of </a:t>
            </a:r>
            <a:r>
              <a:rPr b="1"/>
              <a:t>Factory Methods</a:t>
            </a:r>
            <a:r>
              <a:rPr/>
              <a:t>, but you can also use </a:t>
            </a:r>
            <a:r>
              <a:rPr b="1"/>
              <a:t>Prototype</a:t>
            </a:r>
            <a:r>
              <a:rPr/>
              <a:t> to compose the methods on these classes.</a:t>
            </a:r>
          </a:p>
          <a:p>
            <a:pPr lvl="0"/>
            <a:r>
              <a:rPr b="1"/>
              <a:t>Abstract Factory</a:t>
            </a:r>
            <a:r>
              <a:rPr/>
              <a:t> can serve as an alternative to </a:t>
            </a:r>
            <a:r>
              <a:rPr b="1"/>
              <a:t>Facade</a:t>
            </a:r>
            <a:r>
              <a:rPr/>
              <a:t> when you only want to hide the way the subsystem objects are created from the client code.</a:t>
            </a:r>
          </a:p>
          <a:p>
            <a:pPr lvl="0"/>
            <a:r>
              <a:rPr/>
              <a:t>You can use </a:t>
            </a:r>
            <a:r>
              <a:rPr b="1"/>
              <a:t>Abstract Factory</a:t>
            </a:r>
            <a:r>
              <a:rPr/>
              <a:t> along with </a:t>
            </a:r>
            <a:r>
              <a:rPr b="1"/>
              <a:t>Bridge</a:t>
            </a:r>
            <a:r>
              <a:rPr/>
              <a:t>. This pairing is useful when some abstractions defined by Bridge can only work with specific implementations.</a:t>
            </a:r>
          </a:p>
          <a:p>
            <a:pPr lvl="0"/>
            <a:r>
              <a:rPr b="1"/>
              <a:t>Abstract Factories</a:t>
            </a:r>
            <a:r>
              <a:rPr/>
              <a:t>, </a:t>
            </a:r>
            <a:r>
              <a:rPr b="1"/>
              <a:t>Builders</a:t>
            </a:r>
            <a:r>
              <a:rPr/>
              <a:t>, and </a:t>
            </a:r>
            <a:r>
              <a:rPr b="1"/>
              <a:t>Prototypes</a:t>
            </a:r>
            <a:r>
              <a:rPr/>
              <a:t> can all be implemented as </a:t>
            </a:r>
            <a:r>
              <a:rPr b="1"/>
              <a:t>Singletons</a:t>
            </a:r>
            <a:r>
              <a:rPr/>
              <a:t>.</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Java Code Example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Abstract Products</a:t>
            </a:r>
            <a:br/>
            <a:r>
              <a:rPr b="1">
                <a:solidFill>
                  <a:srgbClr val="007020"/>
                </a:solidFill>
                <a:latin typeface="Courier"/>
              </a:rPr>
              <a:t>interface</a:t>
            </a:r>
            <a:r>
              <a:rPr>
                <a:latin typeface="Courier"/>
              </a:rPr>
              <a:t> Chair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sitOn</a:t>
            </a:r>
            <a:r>
              <a:rPr>
                <a:solidFill>
                  <a:srgbClr val="666666"/>
                </a:solidFill>
                <a:latin typeface="Courier"/>
              </a:rPr>
              <a:t>();</a:t>
            </a:r>
            <a:b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br/>
            <a:r>
              <a:rPr>
                <a:solidFill>
                  <a:srgbClr val="666666"/>
                </a:solidFill>
                <a:latin typeface="Courier"/>
              </a:rPr>
              <a:t>}</a:t>
            </a:r>
            <a:br/>
            <a:br/>
            <a:r>
              <a:rPr b="1">
                <a:solidFill>
                  <a:srgbClr val="007020"/>
                </a:solidFill>
                <a:latin typeface="Courier"/>
              </a:rPr>
              <a:t>interface</a:t>
            </a:r>
            <a:r>
              <a:rPr>
                <a:latin typeface="Courier"/>
              </a:rPr>
              <a:t> Sofa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lieOn</a:t>
            </a:r>
            <a:r>
              <a:rPr>
                <a:solidFill>
                  <a:srgbClr val="666666"/>
                </a:solidFill>
                <a:latin typeface="Courier"/>
              </a:rPr>
              <a:t>();</a:t>
            </a:r>
            <a:b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br/>
            <a:r>
              <a:rPr>
                <a:solidFill>
                  <a:srgbClr val="666666"/>
                </a:solidFill>
                <a:latin typeface="Courier"/>
              </a:rPr>
              <a:t>}</a:t>
            </a:r>
            <a:br/>
            <a:br/>
            <a:r>
              <a:rPr b="1">
                <a:solidFill>
                  <a:srgbClr val="007020"/>
                </a:solidFill>
                <a:latin typeface="Courier"/>
              </a:rPr>
              <a:t>interface</a:t>
            </a:r>
            <a:r>
              <a:rPr>
                <a:latin typeface="Courier"/>
              </a:rPr>
              <a:t> CoffeeTable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placeItems</a:t>
            </a:r>
            <a:r>
              <a:rPr>
                <a:solidFill>
                  <a:srgbClr val="666666"/>
                </a:solidFill>
                <a:latin typeface="Courier"/>
              </a:rPr>
              <a:t>();</a:t>
            </a:r>
            <a:b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br/>
            <a:r>
              <a:rPr>
                <a:solidFill>
                  <a:srgbClr val="666666"/>
                </a:solidFill>
                <a:latin typeface="Courier"/>
              </a:rPr>
              <a:t>}</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Concrete Products - Modern Family</a:t>
            </a:r>
            <a:br/>
            <a:r>
              <a:rPr b="1">
                <a:solidFill>
                  <a:srgbClr val="007020"/>
                </a:solidFill>
                <a:latin typeface="Courier"/>
              </a:rPr>
              <a:t>class</a:t>
            </a:r>
            <a:r>
              <a:rPr>
                <a:latin typeface="Courier"/>
              </a:rPr>
              <a:t> ModernChair </a:t>
            </a:r>
            <a:r>
              <a:rPr b="1">
                <a:solidFill>
                  <a:srgbClr val="007020"/>
                </a:solidFill>
                <a:latin typeface="Courier"/>
              </a:rPr>
              <a:t>implements</a:t>
            </a:r>
            <a:r>
              <a:rPr>
                <a:latin typeface="Courier"/>
              </a:rPr>
              <a:t> Chair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sitOn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"Sitting on a modern chair."</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"Modern"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ModernSofa </a:t>
            </a:r>
            <a:r>
              <a:rPr b="1">
                <a:solidFill>
                  <a:srgbClr val="007020"/>
                </a:solidFill>
                <a:latin typeface="Courier"/>
              </a:rPr>
              <a:t>implements</a:t>
            </a:r>
            <a:r>
              <a:rPr>
                <a:latin typeface="Courier"/>
              </a:rPr>
              <a:t> Sofa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lieOn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"Lying on a modern sofa."</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"Modern"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ModernCoffeeTable </a:t>
            </a:r>
            <a:r>
              <a:rPr b="1">
                <a:solidFill>
                  <a:srgbClr val="007020"/>
                </a:solidFill>
                <a:latin typeface="Courier"/>
              </a:rPr>
              <a:t>implements</a:t>
            </a:r>
            <a:r>
              <a:rPr>
                <a:latin typeface="Courier"/>
              </a:rPr>
              <a:t> CoffeeTable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placeItems</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"Placing items on modern table."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"Modern"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Concrete Products - Victorian Family</a:t>
            </a:r>
            <a:br/>
            <a:r>
              <a:rPr b="1">
                <a:solidFill>
                  <a:srgbClr val="007020"/>
                </a:solidFill>
                <a:latin typeface="Courier"/>
              </a:rPr>
              <a:t>class</a:t>
            </a:r>
            <a:r>
              <a:rPr>
                <a:latin typeface="Courier"/>
              </a:rPr>
              <a:t> VictorianChair </a:t>
            </a:r>
            <a:r>
              <a:rPr b="1">
                <a:solidFill>
                  <a:srgbClr val="007020"/>
                </a:solidFill>
                <a:latin typeface="Courier"/>
              </a:rPr>
              <a:t>implements</a:t>
            </a:r>
            <a:r>
              <a:rPr>
                <a:latin typeface="Courier"/>
              </a:rPr>
              <a:t> Chair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sitOn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"Sitting on a Victorian chair."</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"Victorian"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VictorianSofa </a:t>
            </a:r>
            <a:r>
              <a:rPr b="1">
                <a:solidFill>
                  <a:srgbClr val="007020"/>
                </a:solidFill>
                <a:latin typeface="Courier"/>
              </a:rPr>
              <a:t>implements</a:t>
            </a:r>
            <a:r>
              <a:rPr>
                <a:latin typeface="Courier"/>
              </a:rPr>
              <a:t> Sofa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lieOn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"Lying on a Victorian sofa."</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"Victorian"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VictorianCoffeeTable </a:t>
            </a:r>
            <a:r>
              <a:rPr b="1">
                <a:solidFill>
                  <a:srgbClr val="007020"/>
                </a:solidFill>
                <a:latin typeface="Courier"/>
              </a:rPr>
              <a:t>implements</a:t>
            </a:r>
            <a:r>
              <a:rPr>
                <a:latin typeface="Courier"/>
              </a:rPr>
              <a:t> CoffeeTable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placeItems</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"Placing items on Victorian table."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"Victorian"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Abstract Factory</a:t>
            </a:r>
            <a:br/>
            <a:r>
              <a:rPr b="1">
                <a:solidFill>
                  <a:srgbClr val="007020"/>
                </a:solidFill>
                <a:latin typeface="Courier"/>
              </a:rPr>
              <a:t>interface</a:t>
            </a:r>
            <a:r>
              <a:rPr>
                <a:latin typeface="Courier"/>
              </a:rPr>
              <a:t> FurnitureFactory </a:t>
            </a:r>
            <a:r>
              <a:rPr>
                <a:solidFill>
                  <a:srgbClr val="666666"/>
                </a:solidFill>
                <a:latin typeface="Courier"/>
              </a:rPr>
              <a:t>{</a:t>
            </a:r>
            <a:br/>
            <a:r>
              <a:rPr>
                <a:latin typeface="Courier"/>
              </a:rPr>
              <a:t>    Chair </a:t>
            </a:r>
            <a:r>
              <a:rPr>
                <a:solidFill>
                  <a:srgbClr val="06287E"/>
                </a:solidFill>
                <a:latin typeface="Courier"/>
              </a:rPr>
              <a:t>createChair</a:t>
            </a:r>
            <a:r>
              <a:rPr>
                <a:solidFill>
                  <a:srgbClr val="666666"/>
                </a:solidFill>
                <a:latin typeface="Courier"/>
              </a:rPr>
              <a:t>();</a:t>
            </a:r>
            <a:br/>
            <a:r>
              <a:rPr>
                <a:latin typeface="Courier"/>
              </a:rPr>
              <a:t>    Sofa </a:t>
            </a:r>
            <a:r>
              <a:rPr>
                <a:solidFill>
                  <a:srgbClr val="06287E"/>
                </a:solidFill>
                <a:latin typeface="Courier"/>
              </a:rPr>
              <a:t>createSofa</a:t>
            </a:r>
            <a:r>
              <a:rPr>
                <a:solidFill>
                  <a:srgbClr val="666666"/>
                </a:solidFill>
                <a:latin typeface="Courier"/>
              </a:rPr>
              <a:t>();</a:t>
            </a:r>
            <a:br/>
            <a:r>
              <a:rPr>
                <a:latin typeface="Courier"/>
              </a:rPr>
              <a:t>    CoffeeTable </a:t>
            </a:r>
            <a:r>
              <a:rPr>
                <a:solidFill>
                  <a:srgbClr val="06287E"/>
                </a:solidFill>
                <a:latin typeface="Courier"/>
              </a:rPr>
              <a:t>createCoffeeTable</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Factories</a:t>
            </a:r>
            <a:br/>
            <a:r>
              <a:rPr b="1">
                <a:solidFill>
                  <a:srgbClr val="007020"/>
                </a:solidFill>
                <a:latin typeface="Courier"/>
              </a:rPr>
              <a:t>class</a:t>
            </a:r>
            <a:r>
              <a:rPr>
                <a:latin typeface="Courier"/>
              </a:rPr>
              <a:t> ModernFurnitureFactory </a:t>
            </a:r>
            <a:r>
              <a:rPr b="1">
                <a:solidFill>
                  <a:srgbClr val="007020"/>
                </a:solidFill>
                <a:latin typeface="Courier"/>
              </a:rPr>
              <a:t>implements</a:t>
            </a:r>
            <a:r>
              <a:rPr>
                <a:latin typeface="Courier"/>
              </a:rPr>
              <a:t> FurnitureFactory </a:t>
            </a:r>
            <a:r>
              <a:rPr>
                <a:solidFill>
                  <a:srgbClr val="666666"/>
                </a:solidFill>
                <a:latin typeface="Courier"/>
              </a:rPr>
              <a:t>{</a:t>
            </a:r>
            <a:br/>
            <a:r>
              <a:rPr>
                <a:latin typeface="Courier"/>
              </a:rPr>
              <a:t>    </a:t>
            </a:r>
            <a:r>
              <a:rPr b="1">
                <a:solidFill>
                  <a:srgbClr val="007020"/>
                </a:solidFill>
                <a:latin typeface="Courier"/>
              </a:rPr>
              <a:t>public</a:t>
            </a:r>
            <a:r>
              <a:rPr>
                <a:latin typeface="Courier"/>
              </a:rPr>
              <a:t> Chair </a:t>
            </a:r>
            <a:r>
              <a:rPr>
                <a:solidFill>
                  <a:srgbClr val="06287E"/>
                </a:solidFill>
                <a:latin typeface="Courier"/>
              </a:rPr>
              <a:t>createChair</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ModernChair</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Sofa </a:t>
            </a:r>
            <a:r>
              <a:rPr>
                <a:solidFill>
                  <a:srgbClr val="06287E"/>
                </a:solidFill>
                <a:latin typeface="Courier"/>
              </a:rPr>
              <a:t>createSofa</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ModernSofa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CoffeeTable </a:t>
            </a:r>
            <a:r>
              <a:rPr>
                <a:solidFill>
                  <a:srgbClr val="06287E"/>
                </a:solidFill>
                <a:latin typeface="Courier"/>
              </a:rPr>
              <a:t>createCoffeeTable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ModernCoffeeTable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VictorianFurnitureFactory </a:t>
            </a:r>
            <a:r>
              <a:rPr b="1">
                <a:solidFill>
                  <a:srgbClr val="007020"/>
                </a:solidFill>
                <a:latin typeface="Courier"/>
              </a:rPr>
              <a:t>implements</a:t>
            </a:r>
            <a:r>
              <a:rPr>
                <a:latin typeface="Courier"/>
              </a:rPr>
              <a:t> FurnitureFactory </a:t>
            </a:r>
            <a:r>
              <a:rPr>
                <a:solidFill>
                  <a:srgbClr val="666666"/>
                </a:solidFill>
                <a:latin typeface="Courier"/>
              </a:rPr>
              <a:t>{</a:t>
            </a:r>
            <a:br/>
            <a:r>
              <a:rPr>
                <a:latin typeface="Courier"/>
              </a:rPr>
              <a:t>    </a:t>
            </a:r>
            <a:r>
              <a:rPr b="1">
                <a:solidFill>
                  <a:srgbClr val="007020"/>
                </a:solidFill>
                <a:latin typeface="Courier"/>
              </a:rPr>
              <a:t>public</a:t>
            </a:r>
            <a:r>
              <a:rPr>
                <a:latin typeface="Courier"/>
              </a:rPr>
              <a:t> Chair </a:t>
            </a:r>
            <a:r>
              <a:rPr>
                <a:solidFill>
                  <a:srgbClr val="06287E"/>
                </a:solidFill>
                <a:latin typeface="Courier"/>
              </a:rPr>
              <a:t>createChair</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VictorianChair</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Sofa </a:t>
            </a:r>
            <a:r>
              <a:rPr>
                <a:solidFill>
                  <a:srgbClr val="06287E"/>
                </a:solidFill>
                <a:latin typeface="Courier"/>
              </a:rPr>
              <a:t>createSofa</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VictorianSofa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CoffeeTable </a:t>
            </a:r>
            <a:r>
              <a:rPr>
                <a:solidFill>
                  <a:srgbClr val="06287E"/>
                </a:solidFill>
                <a:latin typeface="Courier"/>
              </a:rPr>
              <a:t>createCoffeeTable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VictorianCoffeeTable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Client code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AbstractFactoryDemo </a:t>
            </a:r>
            <a:r>
              <a:rPr>
                <a:solidFill>
                  <a:srgbClr val="666666"/>
                </a:solidFill>
                <a:latin typeface="Courier"/>
              </a:rPr>
              <a:t>{</a:t>
            </a:r>
            <a:br/>
            <a:r>
              <a:rPr>
                <a:latin typeface="Courier"/>
              </a:rPr>
              <a:t>    </a:t>
            </a:r>
            <a:r>
              <a:rPr b="1">
                <a:solidFill>
                  <a:srgbClr val="007020"/>
                </a:solidFill>
                <a:latin typeface="Courier"/>
              </a:rPr>
              <a:t>private</a:t>
            </a:r>
            <a:r>
              <a:rPr>
                <a:latin typeface="Courier"/>
              </a:rPr>
              <a:t> Chair chair</a:t>
            </a:r>
            <a:r>
              <a:rPr>
                <a:solidFill>
                  <a:srgbClr val="666666"/>
                </a:solidFill>
                <a:latin typeface="Courier"/>
              </a:rPr>
              <a:t>;</a:t>
            </a:r>
            <a:br/>
            <a:r>
              <a:rPr>
                <a:latin typeface="Courier"/>
              </a:rPr>
              <a:t>    </a:t>
            </a:r>
            <a:r>
              <a:rPr b="1">
                <a:solidFill>
                  <a:srgbClr val="007020"/>
                </a:solidFill>
                <a:latin typeface="Courier"/>
              </a:rPr>
              <a:t>private</a:t>
            </a:r>
            <a:r>
              <a:rPr>
                <a:latin typeface="Courier"/>
              </a:rPr>
              <a:t> Sofa sofa</a:t>
            </a:r>
            <a:r>
              <a:rPr>
                <a:solidFill>
                  <a:srgbClr val="666666"/>
                </a:solidFill>
                <a:latin typeface="Courier"/>
              </a:rPr>
              <a:t>;</a:t>
            </a:r>
            <a:br/>
            <a:r>
              <a:rPr>
                <a:latin typeface="Courier"/>
              </a:rPr>
              <a:t>    </a:t>
            </a:r>
            <a:r>
              <a:rPr b="1">
                <a:solidFill>
                  <a:srgbClr val="007020"/>
                </a:solidFill>
                <a:latin typeface="Courier"/>
              </a:rPr>
              <a:t>private</a:t>
            </a:r>
            <a:r>
              <a:rPr>
                <a:latin typeface="Courier"/>
              </a:rPr>
              <a:t> CoffeeTable table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AbstractFactoryDemo</a:t>
            </a:r>
            <a:r>
              <a:rPr>
                <a:solidFill>
                  <a:srgbClr val="666666"/>
                </a:solidFill>
                <a:latin typeface="Courier"/>
              </a:rPr>
              <a:t>(</a:t>
            </a:r>
            <a:r>
              <a:rPr>
                <a:latin typeface="Courier"/>
              </a:rPr>
              <a:t>FurnitureFactory factory</a:t>
            </a:r>
            <a:r>
              <a:rPr>
                <a:solidFill>
                  <a:srgbClr val="666666"/>
                </a:solidFill>
                <a:latin typeface="Courier"/>
              </a:rPr>
              <a:t>)</a:t>
            </a:r>
            <a:r>
              <a:rPr>
                <a:latin typeface="Courier"/>
              </a:rPr>
              <a:t> </a:t>
            </a:r>
            <a:r>
              <a:rPr>
                <a:solidFill>
                  <a:srgbClr val="666666"/>
                </a:solidFill>
                <a:latin typeface="Courier"/>
              </a:rPr>
              <a:t>{</a:t>
            </a:r>
            <a:br/>
            <a:r>
              <a:rPr>
                <a:latin typeface="Courier"/>
              </a:rPr>
              <a:t>        chair </a:t>
            </a:r>
            <a:r>
              <a:rPr>
                <a:solidFill>
                  <a:srgbClr val="666666"/>
                </a:solidFill>
                <a:latin typeface="Courier"/>
              </a:rPr>
              <a:t>=</a:t>
            </a:r>
            <a:r>
              <a:rPr>
                <a:latin typeface="Courier"/>
              </a:rPr>
              <a:t> factory</a:t>
            </a:r>
            <a:r>
              <a:rPr>
                <a:solidFill>
                  <a:srgbClr val="666666"/>
                </a:solidFill>
                <a:latin typeface="Courier"/>
              </a:rPr>
              <a:t>.</a:t>
            </a:r>
            <a:r>
              <a:rPr>
                <a:solidFill>
                  <a:srgbClr val="06287E"/>
                </a:solidFill>
                <a:latin typeface="Courier"/>
              </a:rPr>
              <a:t>createChair</a:t>
            </a:r>
            <a:r>
              <a:rPr>
                <a:solidFill>
                  <a:srgbClr val="666666"/>
                </a:solidFill>
                <a:latin typeface="Courier"/>
              </a:rPr>
              <a:t>();</a:t>
            </a:r>
            <a:br/>
            <a:r>
              <a:rPr>
                <a:latin typeface="Courier"/>
              </a:rPr>
              <a:t>        sofa </a:t>
            </a:r>
            <a:r>
              <a:rPr>
                <a:solidFill>
                  <a:srgbClr val="666666"/>
                </a:solidFill>
                <a:latin typeface="Courier"/>
              </a:rPr>
              <a:t>=</a:t>
            </a:r>
            <a:r>
              <a:rPr>
                <a:latin typeface="Courier"/>
              </a:rPr>
              <a:t> factory</a:t>
            </a:r>
            <a:r>
              <a:rPr>
                <a:solidFill>
                  <a:srgbClr val="666666"/>
                </a:solidFill>
                <a:latin typeface="Courier"/>
              </a:rPr>
              <a:t>.</a:t>
            </a:r>
            <a:r>
              <a:rPr>
                <a:solidFill>
                  <a:srgbClr val="06287E"/>
                </a:solidFill>
                <a:latin typeface="Courier"/>
              </a:rPr>
              <a:t>createSofa</a:t>
            </a:r>
            <a:r>
              <a:rPr>
                <a:solidFill>
                  <a:srgbClr val="666666"/>
                </a:solidFill>
                <a:latin typeface="Courier"/>
              </a:rPr>
              <a:t>();</a:t>
            </a:r>
            <a:br/>
            <a:r>
              <a:rPr>
                <a:latin typeface="Courier"/>
              </a:rPr>
              <a:t>        table </a:t>
            </a:r>
            <a:r>
              <a:rPr>
                <a:solidFill>
                  <a:srgbClr val="666666"/>
                </a:solidFill>
                <a:latin typeface="Courier"/>
              </a:rPr>
              <a:t>=</a:t>
            </a:r>
            <a:r>
              <a:rPr>
                <a:latin typeface="Courier"/>
              </a:rPr>
              <a:t> factory</a:t>
            </a:r>
            <a:r>
              <a:rPr>
                <a:solidFill>
                  <a:srgbClr val="666666"/>
                </a:solidFill>
                <a:latin typeface="Courier"/>
              </a:rPr>
              <a:t>.</a:t>
            </a:r>
            <a:r>
              <a:rPr>
                <a:solidFill>
                  <a:srgbClr val="06287E"/>
                </a:solidFill>
                <a:latin typeface="Courier"/>
              </a:rPr>
              <a:t>createCoffeeTable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describeFurniture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"Style: "</a:t>
            </a:r>
            <a:r>
              <a:rPr>
                <a:latin typeface="Courier"/>
              </a:rPr>
              <a:t> </a:t>
            </a:r>
            <a:r>
              <a:rPr>
                <a:solidFill>
                  <a:srgbClr val="666666"/>
                </a:solidFill>
                <a:latin typeface="Courier"/>
              </a:rPr>
              <a:t>+</a:t>
            </a:r>
            <a:r>
              <a:rPr>
                <a:latin typeface="Courier"/>
              </a:rPr>
              <a:t> chair</a:t>
            </a:r>
            <a:r>
              <a:rPr>
                <a:solidFill>
                  <a:srgbClr val="666666"/>
                </a:solidFill>
                <a:latin typeface="Courier"/>
              </a:rPr>
              <a:t>.</a:t>
            </a:r>
            <a:r>
              <a:rPr>
                <a:solidFill>
                  <a:srgbClr val="06287E"/>
                </a:solidFill>
                <a:latin typeface="Courier"/>
              </a:rPr>
              <a:t>getStyle</a:t>
            </a:r>
            <a:r>
              <a:rPr>
                <a:solidFill>
                  <a:srgbClr val="666666"/>
                </a:solidFill>
                <a:latin typeface="Courier"/>
              </a:rPr>
              <a:t>());</a:t>
            </a:r>
            <a:br/>
            <a:r>
              <a:rPr>
                <a:latin typeface="Courier"/>
              </a:rPr>
              <a:t>        chair</a:t>
            </a:r>
            <a:r>
              <a:rPr>
                <a:solidFill>
                  <a:srgbClr val="666666"/>
                </a:solidFill>
                <a:latin typeface="Courier"/>
              </a:rPr>
              <a:t>.</a:t>
            </a:r>
            <a:r>
              <a:rPr>
                <a:solidFill>
                  <a:srgbClr val="06287E"/>
                </a:solidFill>
                <a:latin typeface="Courier"/>
              </a:rPr>
              <a:t>sitOn</a:t>
            </a:r>
            <a:r>
              <a:rPr>
                <a:solidFill>
                  <a:srgbClr val="666666"/>
                </a:solidFill>
                <a:latin typeface="Courier"/>
              </a:rPr>
              <a:t>();</a:t>
            </a:r>
            <a:br/>
            <a:r>
              <a:rPr>
                <a:latin typeface="Courier"/>
              </a:rPr>
              <a:t>        sofa</a:t>
            </a:r>
            <a:r>
              <a:rPr>
                <a:solidFill>
                  <a:srgbClr val="666666"/>
                </a:solidFill>
                <a:latin typeface="Courier"/>
              </a:rPr>
              <a:t>.</a:t>
            </a:r>
            <a:r>
              <a:rPr>
                <a:solidFill>
                  <a:srgbClr val="06287E"/>
                </a:solidFill>
                <a:latin typeface="Courier"/>
              </a:rPr>
              <a:t>lieOn</a:t>
            </a:r>
            <a:r>
              <a:rPr>
                <a:solidFill>
                  <a:srgbClr val="666666"/>
                </a:solidFill>
                <a:latin typeface="Courier"/>
              </a:rPr>
              <a:t>();</a:t>
            </a:r>
            <a:br/>
            <a:r>
              <a:rPr>
                <a:latin typeface="Courier"/>
              </a:rPr>
              <a:t>        table</a:t>
            </a:r>
            <a:r>
              <a:rPr>
                <a:solidFill>
                  <a:srgbClr val="666666"/>
                </a:solidFill>
                <a:latin typeface="Courier"/>
              </a:rPr>
              <a:t>.</a:t>
            </a:r>
            <a:r>
              <a:rPr>
                <a:solidFill>
                  <a:srgbClr val="06287E"/>
                </a:solidFill>
                <a:latin typeface="Courier"/>
              </a:rPr>
              <a:t>placeItems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Use Modern furniture</a:t>
            </a:r>
            <a:br/>
            <a:r>
              <a:rPr>
                <a:latin typeface="Courier"/>
              </a:rPr>
              <a:t>        FurnitureFactory factory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ModernFurnitureFactory</a:t>
            </a:r>
            <a:r>
              <a:rPr>
                <a:solidFill>
                  <a:srgbClr val="666666"/>
                </a:solidFill>
                <a:latin typeface="Courier"/>
              </a:rPr>
              <a:t>();</a:t>
            </a:r>
            <a:br/>
            <a:r>
              <a:rPr>
                <a:latin typeface="Courier"/>
              </a:rPr>
              <a:t>        AbstractFactoryDemo room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AbstractFactoryDemo</a:t>
            </a:r>
            <a:r>
              <a:rPr>
                <a:solidFill>
                  <a:srgbClr val="666666"/>
                </a:solidFill>
                <a:latin typeface="Courier"/>
              </a:rPr>
              <a:t>(</a:t>
            </a:r>
            <a:r>
              <a:rPr>
                <a:latin typeface="Courier"/>
              </a:rPr>
              <a:t>factory</a:t>
            </a:r>
            <a:r>
              <a:rPr>
                <a:solidFill>
                  <a:srgbClr val="666666"/>
                </a:solidFill>
                <a:latin typeface="Courier"/>
              </a:rPr>
              <a:t>);</a:t>
            </a:r>
            <a:br/>
            <a:r>
              <a:rPr>
                <a:latin typeface="Courier"/>
              </a:rPr>
              <a:t>        room</a:t>
            </a:r>
            <a:r>
              <a:rPr>
                <a:solidFill>
                  <a:srgbClr val="666666"/>
                </a:solidFill>
                <a:latin typeface="Courier"/>
              </a:rPr>
              <a:t>.</a:t>
            </a:r>
            <a:r>
              <a:rPr>
                <a:solidFill>
                  <a:srgbClr val="06287E"/>
                </a:solidFill>
                <a:latin typeface="Courier"/>
              </a:rPr>
              <a:t>describeFurniture</a:t>
            </a:r>
            <a:r>
              <a:rPr>
                <a:solidFill>
                  <a:srgbClr val="666666"/>
                </a:solidFill>
                <a:latin typeface="Courier"/>
              </a:rPr>
              <a:t>();</a:t>
            </a:r>
            <a:br/>
            <a:r>
              <a:rPr>
                <a:latin typeface="Courier"/>
              </a:rPr>
              <a:t>        </a:t>
            </a:r>
            <a:r>
              <a:rPr i="1">
                <a:solidFill>
                  <a:srgbClr val="60A0B0"/>
                </a:solidFill>
                <a:latin typeface="Courier"/>
              </a:rPr>
              <a:t>// Output: Style: Modern</a:t>
            </a:r>
            <a:br/>
            <a:r>
              <a:rPr>
                <a:latin typeface="Courier"/>
              </a:rPr>
              <a:t>        </a:t>
            </a:r>
            <a:r>
              <a:rPr i="1">
                <a:solidFill>
                  <a:srgbClr val="60A0B0"/>
                </a:solidFill>
                <a:latin typeface="Courier"/>
              </a:rPr>
              <a:t>//         Sitting on a modern chair.</a:t>
            </a:r>
            <a:br/>
            <a:r>
              <a:rPr>
                <a:latin typeface="Courier"/>
              </a:rPr>
              <a:t>        </a:t>
            </a:r>
            <a:r>
              <a:rPr i="1">
                <a:solidFill>
                  <a:srgbClr val="60A0B0"/>
                </a:solidFill>
                <a:latin typeface="Courier"/>
              </a:rPr>
              <a:t>//         Lying on a modern sofa.</a:t>
            </a:r>
            <a:br/>
            <a:r>
              <a:rPr>
                <a:latin typeface="Courier"/>
              </a:rPr>
              <a:t>        </a:t>
            </a:r>
            <a:r>
              <a:rPr i="1">
                <a:solidFill>
                  <a:srgbClr val="60A0B0"/>
                </a:solidFill>
                <a:latin typeface="Courier"/>
              </a:rPr>
              <a:t>//         Placing items on modern table.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C: Takeaways</a:t>
            </a:r>
          </a:p>
        </p:txBody>
      </p:sp>
      <p:sp>
        <p:nvSpPr>
          <p:cNvPr id="3" name="Content Placeholder 2"/>
          <p:cNvSpPr>
            <a:spLocks noGrp="1"/>
          </p:cNvSpPr>
          <p:nvPr>
            <p:ph idx="1"/>
          </p:nvPr>
        </p:nvSpPr>
        <p:spPr/>
        <p:txBody>
          <a:bodyPr/>
          <a:lstStyle/>
          <a:p>
            <a:pPr lvl="0"/>
            <a:r>
              <a:rPr b="1"/>
              <a:t>Abstract Factory</a:t>
            </a:r>
            <a:r>
              <a:rPr/>
              <a:t> lets you produce families of related objects without specifying their concrete classes.</a:t>
            </a:r>
          </a:p>
          <a:p>
            <a:pPr lvl="0"/>
            <a:r>
              <a:rPr/>
              <a:t>It solves the problem of ensuring </a:t>
            </a:r>
            <a:r>
              <a:rPr b="1"/>
              <a:t>product compatibility</a:t>
            </a:r>
            <a:r>
              <a:rPr/>
              <a:t> within a family (e.g., Modern chair + Modern sofa, never mixing styles).</a:t>
            </a:r>
          </a:p>
          <a:p>
            <a:pPr lvl="0"/>
            <a:r>
              <a:rPr/>
              <a:t>The pattern uses </a:t>
            </a:r>
            <a:r>
              <a:rPr b="1"/>
              <a:t>five participants</a:t>
            </a:r>
            <a:r>
              <a:rPr/>
              <a:t>: Abstract Products, Concrete Products, Abstract Factory, Concrete Factories, and Client.</a:t>
            </a:r>
          </a:p>
          <a:p>
            <a:pPr lvl="0"/>
            <a:r>
              <a:rPr/>
              <a:t>It supports </a:t>
            </a:r>
            <a:r>
              <a:rPr b="1"/>
              <a:t>OCP</a:t>
            </a:r>
            <a:r>
              <a:rPr/>
              <a:t> (add new families without changing existing code) and </a:t>
            </a:r>
            <a:r>
              <a:rPr b="1"/>
              <a:t>SRP</a:t>
            </a:r>
            <a:r>
              <a:rPr/>
              <a:t> (product creation is centralized).</a:t>
            </a:r>
          </a:p>
          <a:p>
            <a:pPr lvl="0"/>
            <a:r>
              <a:rPr/>
              <a:t>Abstract Factory is often implemented using </a:t>
            </a:r>
            <a:r>
              <a:rPr b="1"/>
              <a:t>Factory Methods</a:t>
            </a:r>
            <a:r>
              <a:rPr/>
              <a:t> internally, and can also use </a:t>
            </a:r>
            <a:r>
              <a:rPr b="1"/>
              <a:t>Prototype</a:t>
            </a:r>
            <a:r>
              <a:rPr/>
              <a:t> for composition.</a:t>
            </a:r>
          </a:p>
          <a:p>
            <a:pPr lvl="0"/>
            <a:r>
              <a:rPr/>
              <a:t>The main trade-off is </a:t>
            </a:r>
            <a:r>
              <a:rPr b="1"/>
              <a:t>increased number of interfaces and classes</a:t>
            </a:r>
            <a:r>
              <a:rPr/>
              <a:t>.</a:t>
            </a:r>
          </a:p>
          <a:p>
            <a:pPr lvl="0"/>
            <a:r>
              <a:rPr/>
              <a:t>Abstract Factories, Builders, and Prototypes can all be implemented as </a:t>
            </a:r>
            <a:r>
              <a:rPr b="1"/>
              <a:t>Singletons</a:t>
            </a:r>
            <a:r>
              <a:rPr/>
              <a:t>.</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D: Builder Pattern</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Pattern - Overview</a:t>
            </a:r>
          </a:p>
        </p:txBody>
      </p:sp>
      <p:sp>
        <p:nvSpPr>
          <p:cNvPr id="3" name="Content Placeholder 2"/>
          <p:cNvSpPr>
            <a:spLocks noGrp="1"/>
          </p:cNvSpPr>
          <p:nvPr>
            <p:ph idx="1"/>
          </p:nvPr>
        </p:nvSpPr>
        <p:spPr/>
        <p:txBody>
          <a:bodyPr/>
          <a:lstStyle/>
          <a:p>
            <a:pPr lvl="0"/>
            <a:r>
              <a:rPr b="1"/>
              <a:t>Category</a:t>
            </a:r>
            <a:r>
              <a:rPr/>
              <a:t>: Creational Pattern</a:t>
            </a:r>
          </a:p>
          <a:p>
            <a:pPr lvl="0"/>
            <a:r>
              <a:rPr b="1"/>
              <a:t>Complexity</a:t>
            </a:r>
            <a:r>
              <a:rPr/>
              <a:t>: Medium</a:t>
            </a:r>
          </a:p>
          <a:p>
            <a:pPr lvl="0"/>
            <a:r>
              <a:rPr b="1"/>
              <a:t>Popularity</a:t>
            </a:r>
            <a:r>
              <a:rPr/>
              <a:t>: High</a:t>
            </a:r>
          </a:p>
          <a:p>
            <a:pPr lvl="0" indent="0" marL="0">
              <a:buNone/>
            </a:pPr>
            <a:r>
              <a:rPr b="1"/>
              <a:t>Intent</a:t>
            </a:r>
            <a:r>
              <a:rPr/>
              <a:t>: Builder is a creational design pattern that lets you construct complex objects step by step. The pattern allows you to produce different types and representations of an object using the same construction code.</a:t>
            </a:r>
          </a:p>
          <a:p>
            <a:pPr lvl="0" indent="0" marL="0">
              <a:buNone/>
            </a:pPr>
            <a:r>
              <a:rPr/>
              <a:t>Reference: </a:t>
            </a:r>
            <a:r>
              <a:rPr>
                <a:hlinkClick r:id="rId2"/>
              </a:rPr>
              <a:t>RefactoringGuru - Builder</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The Problem (Subclass Explosion)</a:t>
            </a:r>
          </a:p>
        </p:txBody>
      </p:sp>
      <p:sp>
        <p:nvSpPr>
          <p:cNvPr id="3" name="Content Placeholder 2"/>
          <p:cNvSpPr>
            <a:spLocks noGrp="1"/>
          </p:cNvSpPr>
          <p:nvPr>
            <p:ph idx="1"/>
          </p:nvPr>
        </p:nvSpPr>
        <p:spPr/>
        <p:txBody>
          <a:bodyPr/>
          <a:lstStyle/>
          <a:p>
            <a:pPr lvl="0" indent="0" marL="0">
              <a:buNone/>
            </a:pPr>
            <a:r>
              <a:rPr/>
              <a:t>Imagine a complex object that requires laborious, step-by-step initialization of many fields and nested objects. Such initialization code is usually buried inside a monstrous constructor with lots of parameters. Or even worse: scattered all over the client code.</a:t>
            </a:r>
          </a:p>
          <a:p>
            <a:pPr lvl="0" indent="0" marL="0">
              <a:buNone/>
            </a:pPr>
            <a:r>
              <a:rPr b="1"/>
              <a:t>Example</a:t>
            </a:r>
            <a:r>
              <a:rPr/>
              <a:t>: Building a </a:t>
            </a:r>
            <a:r>
              <a:rPr>
                <a:latin typeface="Courier"/>
              </a:rPr>
              <a:t>House</a:t>
            </a:r>
            <a:r>
              <a:rPr/>
              <a:t> object.</a:t>
            </a:r>
          </a:p>
          <a:p>
            <a:pPr lvl="0"/>
            <a:r>
              <a:rPr/>
              <a:t>A simple house needs walls, a floor, a door, windows, and a roof.</a:t>
            </a:r>
          </a:p>
          <a:p>
            <a:pPr lvl="0"/>
            <a:r>
              <a:rPr/>
              <a:t>But what if you want a bigger, brighter house, with a backyard, a swimming pool, a garage, and other goodies?</a:t>
            </a:r>
          </a:p>
          <a:p>
            <a:pPr lvl="0" indent="0" marL="0">
              <a:buNone/>
            </a:pPr>
            <a:r>
              <a:rPr/>
              <a:t>The simplest solution is to extend the base </a:t>
            </a:r>
            <a:r>
              <a:rPr>
                <a:latin typeface="Courier"/>
              </a:rPr>
              <a:t>House</a:t>
            </a:r>
            <a:r>
              <a:rPr/>
              <a:t> class and create subclasses for every combination of parameters. But eventually you will end up with a </a:t>
            </a:r>
            <a:r>
              <a:rPr b="1"/>
              <a:t>considerable number of subclasses</a:t>
            </a:r>
            <a:r>
              <a:rPr/>
              <a:t>. Any new parameter will require growing this hierarchy even more.</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The Problem (Telescoping Constructor)</a:t>
            </a:r>
          </a:p>
        </p:txBody>
      </p:sp>
      <p:sp>
        <p:nvSpPr>
          <p:cNvPr id="3" name="Content Placeholder 2"/>
          <p:cNvSpPr>
            <a:spLocks noGrp="1"/>
          </p:cNvSpPr>
          <p:nvPr>
            <p:ph idx="1"/>
          </p:nvPr>
        </p:nvSpPr>
        <p:spPr/>
        <p:txBody>
          <a:bodyPr/>
          <a:lstStyle/>
          <a:p>
            <a:pPr lvl="0" indent="0" marL="0">
              <a:buNone/>
            </a:pPr>
            <a:r>
              <a:rPr/>
              <a:t>There is another approach that does not involve breeding subclasses. You can create a giant constructor right in the base </a:t>
            </a:r>
            <a:r>
              <a:rPr>
                <a:latin typeface="Courier"/>
              </a:rPr>
              <a:t>House</a:t>
            </a:r>
            <a:r>
              <a:rPr/>
              <a:t> class with all possible parameters that control the house object.</a:t>
            </a:r>
          </a:p>
          <a:p>
            <a:pPr lvl="0" indent="0">
              <a:buNone/>
            </a:pPr>
            <a:r>
              <a:rPr i="1">
                <a:solidFill>
                  <a:srgbClr val="60A0B0"/>
                </a:solidFill>
                <a:latin typeface="Courier"/>
              </a:rPr>
              <a:t>// Telescoping constructor anti-pattern</a:t>
            </a:r>
            <a:br/>
            <a:r>
              <a:rPr b="1">
                <a:solidFill>
                  <a:srgbClr val="007020"/>
                </a:solidFill>
                <a:latin typeface="Courier"/>
              </a:rPr>
              <a:t>class</a:t>
            </a:r>
            <a:r>
              <a:rPr>
                <a:latin typeface="Courier"/>
              </a:rPr>
              <a:t> House </a:t>
            </a:r>
            <a:r>
              <a:rPr>
                <a:solidFill>
                  <a:srgbClr val="666666"/>
                </a:solidFill>
                <a:latin typeface="Courier"/>
              </a:rPr>
              <a:t>{</a:t>
            </a:r>
            <a:br/>
            <a:r>
              <a:rPr>
                <a:latin typeface="Courier"/>
              </a:rPr>
              <a:t>    </a:t>
            </a:r>
            <a:r>
              <a:rPr>
                <a:solidFill>
                  <a:srgbClr val="06287E"/>
                </a:solidFill>
                <a:latin typeface="Courier"/>
              </a:rPr>
              <a:t>House</a:t>
            </a:r>
            <a:r>
              <a:rPr>
                <a:solidFill>
                  <a:srgbClr val="666666"/>
                </a:solidFill>
                <a:latin typeface="Courier"/>
              </a:rPr>
              <a:t>(</a:t>
            </a:r>
            <a:r>
              <a:rPr>
                <a:solidFill>
                  <a:srgbClr val="902000"/>
                </a:solidFill>
                <a:latin typeface="Courier"/>
              </a:rPr>
              <a:t>int</a:t>
            </a:r>
            <a:r>
              <a:rPr>
                <a:latin typeface="Courier"/>
              </a:rPr>
              <a:t> windows</a:t>
            </a:r>
            <a:r>
              <a:rPr>
                <a:solidFill>
                  <a:srgbClr val="666666"/>
                </a:solidFill>
                <a:latin typeface="Courier"/>
              </a:rPr>
              <a:t>,</a:t>
            </a:r>
            <a:r>
              <a:rPr>
                <a:latin typeface="Courier"/>
              </a:rPr>
              <a:t> </a:t>
            </a:r>
            <a:r>
              <a:rPr>
                <a:solidFill>
                  <a:srgbClr val="902000"/>
                </a:solidFill>
                <a:latin typeface="Courier"/>
              </a:rPr>
              <a:t>int</a:t>
            </a:r>
            <a:r>
              <a:rPr>
                <a:latin typeface="Courier"/>
              </a:rPr>
              <a:t> doors</a:t>
            </a:r>
            <a:r>
              <a:rPr>
                <a:solidFill>
                  <a:srgbClr val="666666"/>
                </a:solidFill>
                <a:latin typeface="Courier"/>
              </a:rPr>
              <a:t>,</a:t>
            </a:r>
            <a:r>
              <a:rPr>
                <a:latin typeface="Courier"/>
              </a:rPr>
              <a:t> </a:t>
            </a:r>
            <a:r>
              <a:rPr>
                <a:solidFill>
                  <a:srgbClr val="902000"/>
                </a:solidFill>
                <a:latin typeface="Courier"/>
              </a:rPr>
              <a:t>int</a:t>
            </a:r>
            <a:r>
              <a:rPr>
                <a:latin typeface="Courier"/>
              </a:rPr>
              <a:t> rooms</a:t>
            </a:r>
            <a:r>
              <a:rPr>
                <a:solidFill>
                  <a:srgbClr val="666666"/>
                </a:solidFill>
                <a:latin typeface="Courier"/>
              </a:rPr>
              <a:t>,</a:t>
            </a:r>
            <a:br/>
            <a:r>
              <a:rPr>
                <a:latin typeface="Courier"/>
              </a:rPr>
              <a:t>          </a:t>
            </a:r>
            <a:r>
              <a:rPr>
                <a:solidFill>
                  <a:srgbClr val="902000"/>
                </a:solidFill>
                <a:latin typeface="Courier"/>
              </a:rPr>
              <a:t>boolean</a:t>
            </a:r>
            <a:r>
              <a:rPr>
                <a:latin typeface="Courier"/>
              </a:rPr>
              <a:t> hasGarage</a:t>
            </a:r>
            <a:r>
              <a:rPr>
                <a:solidFill>
                  <a:srgbClr val="666666"/>
                </a:solidFill>
                <a:latin typeface="Courier"/>
              </a:rPr>
              <a:t>,</a:t>
            </a:r>
            <a:r>
              <a:rPr>
                <a:latin typeface="Courier"/>
              </a:rPr>
              <a:t> </a:t>
            </a:r>
            <a:r>
              <a:rPr>
                <a:solidFill>
                  <a:srgbClr val="902000"/>
                </a:solidFill>
                <a:latin typeface="Courier"/>
              </a:rPr>
              <a:t>boolean</a:t>
            </a:r>
            <a:r>
              <a:rPr>
                <a:latin typeface="Courier"/>
              </a:rPr>
              <a:t> hasSwimPool</a:t>
            </a:r>
            <a:r>
              <a:rPr>
                <a:solidFill>
                  <a:srgbClr val="666666"/>
                </a:solidFill>
                <a:latin typeface="Courier"/>
              </a:rPr>
              <a:t>,</a:t>
            </a:r>
            <a:br/>
            <a:r>
              <a:rPr>
                <a:latin typeface="Courier"/>
              </a:rPr>
              <a:t>          </a:t>
            </a:r>
            <a:r>
              <a:rPr>
                <a:solidFill>
                  <a:srgbClr val="902000"/>
                </a:solidFill>
                <a:latin typeface="Courier"/>
              </a:rPr>
              <a:t>boolean</a:t>
            </a:r>
            <a:r>
              <a:rPr>
                <a:latin typeface="Courier"/>
              </a:rPr>
              <a:t> hasStatues</a:t>
            </a:r>
            <a:r>
              <a:rPr>
                <a:solidFill>
                  <a:srgbClr val="666666"/>
                </a:solidFill>
                <a:latin typeface="Courier"/>
              </a:rPr>
              <a:t>,</a:t>
            </a:r>
            <a:r>
              <a:rPr>
                <a:latin typeface="Courier"/>
              </a:rPr>
              <a:t> </a:t>
            </a:r>
            <a:r>
              <a:rPr>
                <a:solidFill>
                  <a:srgbClr val="902000"/>
                </a:solidFill>
                <a:latin typeface="Courier"/>
              </a:rPr>
              <a:t>boolean</a:t>
            </a:r>
            <a:r>
              <a:rPr>
                <a:latin typeface="Courier"/>
              </a:rPr>
              <a:t> hasGarden</a:t>
            </a:r>
            <a:r>
              <a:rPr>
                <a:solidFill>
                  <a:srgbClr val="666666"/>
                </a:solidFill>
                <a:latin typeface="Courier"/>
              </a:rPr>
              <a:t>,</a:t>
            </a:r>
            <a:br/>
            <a:r>
              <a:rPr>
                <a:latin typeface="Courier"/>
              </a:rPr>
              <a:t>          </a:t>
            </a:r>
            <a:r>
              <a:rPr>
                <a:solidFill>
                  <a:srgbClr val="902000"/>
                </a:solidFill>
                <a:latin typeface="Courier"/>
              </a:rPr>
              <a:t>boolean</a:t>
            </a:r>
            <a:r>
              <a:rPr>
                <a:latin typeface="Courier"/>
              </a:rPr>
              <a:t> hasYard</a:t>
            </a:r>
            <a:r>
              <a:rPr>
                <a:solidFill>
                  <a:srgbClr val="666666"/>
                </a:solidFill>
                <a:latin typeface="Courier"/>
              </a:rPr>
              <a:t>,</a:t>
            </a:r>
            <a:r>
              <a:rPr>
                <a:latin typeface="Courier"/>
              </a:rPr>
              <a:t> </a:t>
            </a:r>
            <a:r>
              <a:rPr>
                <a:solidFill>
                  <a:srgbClr val="902000"/>
                </a:solidFill>
                <a:latin typeface="Courier"/>
              </a:rPr>
              <a:t>boolean</a:t>
            </a:r>
            <a:r>
              <a:rPr>
                <a:latin typeface="Courier"/>
              </a:rPr>
              <a:t> hasFence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Client code - very hard to read</a:t>
            </a:r>
            <a:br/>
            <a:r>
              <a:rPr b="1">
                <a:solidFill>
                  <a:srgbClr val="007020"/>
                </a:solidFill>
                <a:latin typeface="Courier"/>
              </a:rPr>
              <a:t>new</a:t>
            </a:r>
            <a:r>
              <a:rPr>
                <a:latin typeface="Courier"/>
              </a:rPr>
              <a:t> </a:t>
            </a:r>
            <a:r>
              <a:rPr>
                <a:solidFill>
                  <a:srgbClr val="06287E"/>
                </a:solidFill>
                <a:latin typeface="Courier"/>
              </a:rPr>
              <a:t>House</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p>
          <a:p>
            <a:pPr lvl="0" indent="0" marL="0">
              <a:buNone/>
            </a:pPr>
            <a:r>
              <a:rPr/>
              <a:t>In most cases, </a:t>
            </a:r>
            <a:r>
              <a:rPr b="1"/>
              <a:t>most of the parameters will be unused</a:t>
            </a:r>
            <a:r>
              <a:rPr/>
              <a:t>, making the constructor calls pretty ugly.</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The Solution</a:t>
            </a:r>
          </a:p>
        </p:txBody>
      </p:sp>
      <p:sp>
        <p:nvSpPr>
          <p:cNvPr id="3" name="Content Placeholder 2"/>
          <p:cNvSpPr>
            <a:spLocks noGrp="1"/>
          </p:cNvSpPr>
          <p:nvPr>
            <p:ph idx="1"/>
          </p:nvPr>
        </p:nvSpPr>
        <p:spPr/>
        <p:txBody>
          <a:bodyPr/>
          <a:lstStyle/>
          <a:p>
            <a:pPr lvl="0" indent="0" marL="0">
              <a:buNone/>
            </a:pPr>
            <a:r>
              <a:rPr/>
              <a:t>The Builder pattern suggests that you extract the object construction code out of its own class and move it to separate objects called </a:t>
            </a:r>
            <a:r>
              <a:rPr b="1"/>
              <a:t>builders</a:t>
            </a:r>
            <a:r>
              <a:rPr/>
              <a:t>.</a:t>
            </a:r>
          </a:p>
          <a:p>
            <a:pPr lvl="0" indent="0" marL="0">
              <a:buNone/>
            </a:pPr>
            <a:r>
              <a:rPr/>
              <a:t>The pattern organizes object construction into a set of steps (</a:t>
            </a:r>
            <a:r>
              <a:rPr>
                <a:latin typeface="Courier"/>
              </a:rPr>
              <a:t>buildWalls</a:t>
            </a:r>
            <a:r>
              <a:rPr/>
              <a:t>, </a:t>
            </a:r>
            <a:r>
              <a:rPr>
                <a:latin typeface="Courier"/>
              </a:rPr>
              <a:t>buildDoor</a:t>
            </a:r>
            <a:r>
              <a:rPr/>
              <a:t>, etc.). To create an object, you execute a series of these steps on a builder object. The important part is that </a:t>
            </a:r>
            <a:r>
              <a:rPr b="1"/>
              <a:t>you don’t need to call all of the steps</a:t>
            </a:r>
            <a:r>
              <a:rPr/>
              <a:t>. You can call only those steps that are necessary for producing a particular configuration of an object.</a:t>
            </a:r>
          </a:p>
          <a:p>
            <a:pPr lvl="0" indent="0" marL="0">
              <a:buNone/>
            </a:pPr>
            <a:r>
              <a:rPr b="1"/>
              <a:t>Director</a:t>
            </a:r>
            <a:r>
              <a:rPr/>
              <a:t> (optional): You can further extract a series of calls to the builder steps into a separate class called the </a:t>
            </a:r>
            <a:r>
              <a:rPr b="1"/>
              <a:t>director</a:t>
            </a:r>
            <a:r>
              <a:rPr/>
              <a:t>. The director defines the order in which to execute the building steps, while the builder provides the implementation for those steps.</a:t>
            </a:r>
          </a:p>
          <a:p>
            <a:pPr lvl="0"/>
            <a:r>
              <a:rPr/>
              <a:t>Having a director class is not strictly necessary.</a:t>
            </a:r>
          </a:p>
          <a:p>
            <a:pPr lvl="0"/>
            <a:r>
              <a:rPr/>
              <a:t>However, the director class might be a good place to put various construction routines so you can reuse them across your program.</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Structure</a:t>
            </a:r>
          </a:p>
        </p:txBody>
      </p:sp>
      <p:sp>
        <p:nvSpPr>
          <p:cNvPr id="3" name="Content Placeholder 2"/>
          <p:cNvSpPr>
            <a:spLocks noGrp="1"/>
          </p:cNvSpPr>
          <p:nvPr>
            <p:ph idx="1"/>
          </p:nvPr>
        </p:nvSpPr>
        <p:spPr/>
        <p:txBody>
          <a:bodyPr/>
          <a:lstStyle/>
          <a:p>
            <a:pPr lvl="0" indent="0" marL="0">
              <a:buNone/>
            </a:pPr>
            <a:r>
              <a:rPr/>
              <a:t>The Builder pattern has five key participants:</a:t>
            </a:r>
          </a:p>
          <a:p>
            <a:pPr lvl="0" indent="-342900" marL="342900">
              <a:buAutoNum type="arabicPeriod"/>
            </a:pPr>
            <a:r>
              <a:rPr b="1"/>
              <a:t>Builder Interface</a:t>
            </a:r>
            <a:r>
              <a:rPr/>
              <a:t> declares product construction steps that are common to all types of builders.</a:t>
            </a:r>
          </a:p>
          <a:p>
            <a:pPr lvl="0" indent="-342900" marL="342900">
              <a:buAutoNum type="arabicPeriod"/>
            </a:pPr>
            <a:r>
              <a:rPr b="1"/>
              <a:t>Concrete Builders</a:t>
            </a:r>
            <a:r>
              <a:rPr/>
              <a:t> provide different implementations of the construction steps. Concrete builders may produce products that do not follow the common interface.</a:t>
            </a:r>
          </a:p>
          <a:p>
            <a:pPr lvl="0" indent="-342900" marL="342900">
              <a:buAutoNum type="arabicPeriod"/>
            </a:pPr>
            <a:r>
              <a:rPr b="1"/>
              <a:t>Products</a:t>
            </a:r>
            <a:r>
              <a:rPr/>
              <a:t> are resulting objects. Products constructed by different builders do not have to belong to the same class hierarchy or interface.</a:t>
            </a:r>
          </a:p>
          <a:p>
            <a:pPr lvl="0" indent="-342900" marL="342900">
              <a:buAutoNum type="arabicPeriod"/>
            </a:pPr>
            <a:r>
              <a:rPr b="1"/>
              <a:t>Director</a:t>
            </a:r>
            <a:r>
              <a:rPr/>
              <a:t> (optional) defines the order in which to call construction steps, so you can create and reuse specific configurations of products.</a:t>
            </a:r>
          </a:p>
          <a:p>
            <a:pPr lvl="0" indent="-342900" marL="342900">
              <a:buAutoNum type="arabicPeriod"/>
            </a:pPr>
            <a:r>
              <a:rPr b="1"/>
              <a:t>Client</a:t>
            </a:r>
            <a:r>
              <a:rPr/>
              <a:t> must associate one of the builder objects with the director (or use the builder directly). Usually, it is done just once, via parameters of the director’s constructor.</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Builder - Class Diagram</a:t>
            </a:r>
          </a:p>
        </p:txBody>
      </p:sp>
      <p:pic>
        <p:nvPicPr>
          <p:cNvPr descr="assets/builder-structure.png" id="0" name="Picture 1"/>
          <p:cNvPicPr>
            <a:picLocks noGrp="1" noChangeAspect="1"/>
          </p:cNvPicPr>
          <p:nvPr/>
        </p:nvPicPr>
        <p:blipFill>
          <a:blip r:embed="rId2"/>
          <a:stretch>
            <a:fillRect/>
          </a:stretch>
        </p:blipFill>
        <p:spPr bwMode="auto">
          <a:xfrm>
            <a:off x="4699000" y="203200"/>
            <a:ext cx="2844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Pseudocode</a:t>
            </a:r>
          </a:p>
        </p:txBody>
      </p:sp>
      <p:sp>
        <p:nvSpPr>
          <p:cNvPr id="3" name="Content Placeholder 2"/>
          <p:cNvSpPr>
            <a:spLocks noGrp="1"/>
          </p:cNvSpPr>
          <p:nvPr>
            <p:ph idx="1"/>
          </p:nvPr>
        </p:nvSpPr>
        <p:spPr/>
        <p:txBody>
          <a:bodyPr/>
          <a:lstStyle/>
          <a:p>
            <a:pPr lvl="0" indent="0" marL="0">
              <a:buNone/>
            </a:pPr>
            <a:r>
              <a:rPr/>
              <a:t>This example illustrates how the Builder pattern can be used for constructing different types of products (Car and Manual) using the same building steps.</a:t>
            </a:r>
          </a:p>
          <a:p>
            <a:pPr lvl="0" indent="0">
              <a:buNone/>
            </a:pPr>
            <a:r>
              <a:rPr>
                <a:latin typeface="Courier"/>
              </a:rPr>
              <a:t>// The builder interface specifies methods for creating
// the different parts of the product objects.
interface Builder is
    method reset()
    method setSeats(number)
    method setEngine(engine: Engine)
    method setTripComputer()
    method setGPS()
// Concrete builders implement the builder interface
// and provide specific implementations of building steps.
class CarBuilder implements Builder is
    private field car: Car
    method reset() is
        this.car = new Car()
    method setSeats(number) is
        // Set the number of seats in the car.
    method setEngine(engine: Engine) is
        // Install a given engine.
    method setTripComputer() is
        // Install a trip computer.
    method setGPS() is
        // Install a GPS.
    method getProduct(): Car is
        product = this.car
        this.reset()
        return product</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Pseudocode (cont.)</a:t>
            </a:r>
          </a:p>
        </p:txBody>
      </p:sp>
      <p:sp>
        <p:nvSpPr>
          <p:cNvPr id="3" name="Content Placeholder 2"/>
          <p:cNvSpPr>
            <a:spLocks noGrp="1"/>
          </p:cNvSpPr>
          <p:nvPr>
            <p:ph idx="1"/>
          </p:nvPr>
        </p:nvSpPr>
        <p:spPr/>
        <p:txBody>
          <a:bodyPr/>
          <a:lstStyle/>
          <a:p>
            <a:pPr lvl="0" indent="0">
              <a:buNone/>
            </a:pPr>
            <a:r>
              <a:rPr>
                <a:latin typeface="Courier"/>
              </a:rPr>
              <a:t>// Unlike other creational patterns, Builder lets you
// construct unrelated products with the same process.
class CarManualBuilder implements Builder is
    private field manual: Manual
    method reset() is
        this.manual = new Manual()
    method setSeats(number) is
        // Document car seat features.
    method setEngine(engine: Engine) is
        // Add engine instructions.
    method setTripComputer() is
        // Add trip computer instructions.
    method setGPS() is
        // Add GPS instructions.
    method getProduct(): Manual is
        // Return the manual and reset the builder.
// The director is only responsible for executing the
// building steps in a particular sequence.
class Director is
    method constructSportsCar(builder: Builder) is
        builder.reset()
        builder.setSeats(2)
        builder.setEngine(new SportEngine())
        builder.setTripComputer()
        builder.setGPS()
    method constructSUV(builder: Builder) is
        builder.reset()
        builder.setSeats(4)
        builder.setEngine(new SUVEngine())
        builder.setGPS()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Pseudocode (cont.)</a:t>
            </a:r>
          </a:p>
        </p:txBody>
      </p:sp>
      <p:sp>
        <p:nvSpPr>
          <p:cNvPr id="3" name="Content Placeholder 2"/>
          <p:cNvSpPr>
            <a:spLocks noGrp="1"/>
          </p:cNvSpPr>
          <p:nvPr>
            <p:ph idx="1"/>
          </p:nvPr>
        </p:nvSpPr>
        <p:spPr/>
        <p:txBody>
          <a:bodyPr/>
          <a:lstStyle/>
          <a:p>
            <a:pPr lvl="0" indent="0">
              <a:buNone/>
            </a:pPr>
            <a:r>
              <a:rPr>
                <a:latin typeface="Courier"/>
              </a:rPr>
              <a:t>// The client code creates a builder object, passes it
// to the director and then initiates the construction.
class Application is
    method makeCar() is
        director = new Director()
        // Get a car
        CarBuilder builder = new CarBuilder()
        director.constructSportsCar(builder)
        Car car = builder.getProduct()
        // Get a car manual for the same config
        CarManualBuilder manualBuilder = new CarManualBuilder()
        director.constructSportsCar(manualBuilder)
        Manual manual = manualBuilder.getProduct()
        // The final product is retrieved from the builder
        // because the director is not aware of and not
        // dependent on concrete builders and products.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Builder - Sequence Diagram</a:t>
            </a:r>
          </a:p>
        </p:txBody>
      </p:sp>
      <p:pic>
        <p:nvPicPr>
          <p:cNvPr descr="assets/builder-sequence.png" id="0" name="Picture 1"/>
          <p:cNvPicPr>
            <a:picLocks noGrp="1" noChangeAspect="1"/>
          </p:cNvPicPr>
          <p:nvPr/>
        </p:nvPicPr>
        <p:blipFill>
          <a:blip r:embed="rId2"/>
          <a:stretch>
            <a:fillRect/>
          </a:stretch>
        </p:blipFill>
        <p:spPr bwMode="auto">
          <a:xfrm>
            <a:off x="4978400" y="203200"/>
            <a:ext cx="2286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Applicability</a:t>
            </a:r>
          </a:p>
        </p:txBody>
      </p:sp>
      <p:sp>
        <p:nvSpPr>
          <p:cNvPr id="3" name="Content Placeholder 2"/>
          <p:cNvSpPr>
            <a:spLocks noGrp="1"/>
          </p:cNvSpPr>
          <p:nvPr>
            <p:ph idx="1"/>
          </p:nvPr>
        </p:nvSpPr>
        <p:spPr/>
        <p:txBody>
          <a:bodyPr/>
          <a:lstStyle/>
          <a:p>
            <a:pPr lvl="0" indent="0" marL="0">
              <a:buNone/>
            </a:pPr>
            <a:r>
              <a:rPr/>
              <a:t>Use the Builder pattern when:</a:t>
            </a:r>
          </a:p>
          <a:p>
            <a:pPr lvl="0" indent="-342900" marL="342900">
              <a:buAutoNum type="arabicPeriod"/>
            </a:pPr>
            <a:r>
              <a:rPr b="1"/>
              <a:t>You want to get rid of a “telescoping constructor”.</a:t>
            </a:r>
          </a:p>
          <a:p>
            <a:pPr lvl="1"/>
            <a:r>
              <a:rPr/>
              <a:t>The Builder pattern lets you build objects step by step, using only those steps that you really need. After implementing the pattern, you don’t have to cram dozens of parameters into your constructors.</a:t>
            </a:r>
          </a:p>
          <a:p>
            <a:pPr lvl="0" indent="-342900" marL="342900">
              <a:buAutoNum type="arabicPeriod"/>
            </a:pPr>
            <a:r>
              <a:rPr b="1"/>
              <a:t>You want your code to be able to create different representations of some product</a:t>
            </a:r>
            <a:r>
              <a:rPr/>
              <a:t> (e.g., stone and wooden houses).</a:t>
            </a:r>
          </a:p>
          <a:p>
            <a:pPr lvl="1"/>
            <a:r>
              <a:rPr/>
              <a:t>The Builder pattern can be applied when construction of various representations of the product involves similar steps that differ only in the details.</a:t>
            </a:r>
          </a:p>
          <a:p>
            <a:pPr lvl="1"/>
            <a:r>
              <a:rPr/>
              <a:t>The base builder interface defines all possible construction steps, and concrete builders implement these steps to construct particular representations of the product.</a:t>
            </a:r>
          </a:p>
          <a:p>
            <a:pPr lvl="0" indent="-342900" marL="342900">
              <a:buAutoNum type="arabicPeriod"/>
            </a:pPr>
            <a:r>
              <a:rPr b="1"/>
              <a:t>You want to construct Composite trees or other complex objects.</a:t>
            </a:r>
          </a:p>
          <a:p>
            <a:pPr lvl="1"/>
            <a:r>
              <a:rPr/>
              <a:t>The Builder pattern lets you construct products step-by-step. You could defer execution of some steps without breaking the final product. You can even call steps recursively, which comes in handy when you need to build an object tree.</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How to Implement</a:t>
            </a:r>
          </a:p>
        </p:txBody>
      </p:sp>
      <p:sp>
        <p:nvSpPr>
          <p:cNvPr id="3" name="Content Placeholder 2"/>
          <p:cNvSpPr>
            <a:spLocks noGrp="1"/>
          </p:cNvSpPr>
          <p:nvPr>
            <p:ph idx="1"/>
          </p:nvPr>
        </p:nvSpPr>
        <p:spPr/>
        <p:txBody>
          <a:bodyPr/>
          <a:lstStyle/>
          <a:p>
            <a:pPr lvl="0" indent="-342900" marL="342900">
              <a:buAutoNum type="arabicPeriod"/>
            </a:pPr>
            <a:r>
              <a:rPr b="1"/>
              <a:t>Make sure</a:t>
            </a:r>
            <a:r>
              <a:rPr/>
              <a:t> that you can clearly define the common construction steps for building all available product representations. Otherwise, you will not be able to proceed with implementing the pattern.</a:t>
            </a:r>
          </a:p>
          <a:p>
            <a:pPr lvl="0" indent="-342900" marL="342900">
              <a:buAutoNum type="arabicPeriod"/>
            </a:pPr>
            <a:r>
              <a:rPr b="1"/>
              <a:t>Declare these steps</a:t>
            </a:r>
            <a:r>
              <a:rPr/>
              <a:t> in the base builder interface.</a:t>
            </a:r>
          </a:p>
          <a:p>
            <a:pPr lvl="0" indent="-342900" marL="342900">
              <a:buAutoNum type="arabicPeriod"/>
            </a:pPr>
            <a:r>
              <a:rPr b="1"/>
              <a:t>Create a concrete builder class</a:t>
            </a:r>
            <a:r>
              <a:rPr/>
              <a:t> for each of the product representations and implement their construction steps.</a:t>
            </a:r>
          </a:p>
          <a:p>
            <a:pPr lvl="1"/>
            <a:r>
              <a:rPr/>
              <a:t>Don’t forget about implementing a method for fetching the result of the construction. This method cannot be declared inside the builder interface because various builders may construct products that don’t have a common interface.</a:t>
            </a:r>
          </a:p>
          <a:p>
            <a:pPr lvl="0" indent="-342900" marL="342900">
              <a:buAutoNum type="arabicPeriod"/>
            </a:pPr>
            <a:r>
              <a:rPr b="1"/>
              <a:t>Think about creating a director class.</a:t>
            </a:r>
            <a:r>
              <a:rPr/>
              <a:t> It may encapsulate various ways to construct a product using the same builder object.</a:t>
            </a:r>
          </a:p>
          <a:p>
            <a:pPr lvl="0" indent="-342900" marL="342900">
              <a:buAutoNum type="arabicPeriod"/>
            </a:pPr>
            <a:r>
              <a:rPr b="1"/>
              <a:t>The client code creates both the builder and the director objects.</a:t>
            </a:r>
            <a:r>
              <a:rPr/>
              <a:t> Before construction starts, the client must pass a builder object to the director. Usually, the client does this only once, via parameters of the director’s constructor or via a setter method.</a:t>
            </a:r>
          </a:p>
          <a:p>
            <a:pPr lvl="0" indent="-342900" marL="342900">
              <a:buAutoNum type="arabicPeriod"/>
            </a:pPr>
            <a:r>
              <a:rPr b="1"/>
              <a:t>The construction result can be obtained directly from the builder</a:t>
            </a:r>
            <a:r>
              <a:rPr/>
              <a:t> only if all products follow the same interface. Otherwise, the client should fetch the result from the builder.</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Pros and Cons</a:t>
            </a:r>
          </a:p>
        </p:txBody>
      </p:sp>
      <p:sp>
        <p:nvSpPr>
          <p:cNvPr id="3" name="Content Placeholder 2"/>
          <p:cNvSpPr>
            <a:spLocks noGrp="1"/>
          </p:cNvSpPr>
          <p:nvPr>
            <p:ph idx="1"/>
          </p:nvPr>
        </p:nvSpPr>
        <p:spPr/>
        <p:txBody>
          <a:bodyPr/>
          <a:lstStyle/>
          <a:p>
            <a:pPr lvl="0" indent="0" marL="0">
              <a:spcBef>
                <a:spcPts val="3000"/>
              </a:spcBef>
              <a:buNone/>
            </a:pPr>
            <a:r>
              <a:rPr b="1"/>
              <a:t>Pros</a:t>
            </a:r>
          </a:p>
          <a:p>
            <a:pPr lvl="0"/>
            <a:r>
              <a:rPr b="1"/>
              <a:t>Step-by-step construction</a:t>
            </a:r>
            <a:r>
              <a:rPr/>
              <a:t>: You can construct objects step-by-step, defer construction steps or run steps recursively.</a:t>
            </a:r>
          </a:p>
          <a:p>
            <a:pPr lvl="0"/>
            <a:r>
              <a:rPr b="1"/>
              <a:t>Reusable construction code</a:t>
            </a:r>
            <a:r>
              <a:rPr/>
              <a:t>: You can reuse the same construction code when building various representations of products.</a:t>
            </a:r>
          </a:p>
          <a:p>
            <a:pPr lvl="0"/>
            <a:r>
              <a:rPr b="1"/>
              <a:t>Single Responsibility Principle (SRP)</a:t>
            </a:r>
            <a:r>
              <a:rPr/>
              <a:t>: You can isolate complex construction code from the business logic of the product.</a:t>
            </a:r>
          </a:p>
          <a:p>
            <a:pPr lvl="0" indent="0" marL="0">
              <a:spcBef>
                <a:spcPts val="3000"/>
              </a:spcBef>
              <a:buNone/>
            </a:pPr>
            <a:r>
              <a:rPr b="1"/>
              <a:t>Cons</a:t>
            </a:r>
          </a:p>
          <a:p>
            <a:pPr lvl="0"/>
            <a:r>
              <a:rPr b="1"/>
              <a:t>Increased complexity</a:t>
            </a:r>
            <a:r>
              <a:rPr/>
              <a:t>: The overall complexity of the code increases since the pattern requires creating multiple new classes.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Relations with Other Patterns</a:t>
            </a:r>
          </a:p>
        </p:txBody>
      </p:sp>
      <p:sp>
        <p:nvSpPr>
          <p:cNvPr id="3" name="Content Placeholder 2"/>
          <p:cNvSpPr>
            <a:spLocks noGrp="1"/>
          </p:cNvSpPr>
          <p:nvPr>
            <p:ph idx="1"/>
          </p:nvPr>
        </p:nvSpPr>
        <p:spPr/>
        <p:txBody>
          <a:bodyPr/>
          <a:lstStyle/>
          <a:p>
            <a:pPr lvl="0"/>
            <a:r>
              <a:rPr/>
              <a:t>Many designs start by using </a:t>
            </a:r>
            <a:r>
              <a:rPr b="1"/>
              <a:t>Factory Method</a:t>
            </a:r>
            <a:r>
              <a:rPr/>
              <a:t> (less complicated, more customizable via subclasses) and evolve toward </a:t>
            </a:r>
            <a:r>
              <a:rPr b="1"/>
              <a:t>Abstract Factory</a:t>
            </a:r>
            <a:r>
              <a:rPr/>
              <a:t>, </a:t>
            </a:r>
            <a:r>
              <a:rPr b="1"/>
              <a:t>Prototype</a:t>
            </a:r>
            <a:r>
              <a:rPr/>
              <a:t>, or </a:t>
            </a:r>
            <a:r>
              <a:rPr b="1"/>
              <a:t>Builder</a:t>
            </a:r>
            <a:r>
              <a:rPr/>
              <a:t> (more flexible, but more complex).</a:t>
            </a:r>
          </a:p>
          <a:p>
            <a:pPr lvl="0"/>
            <a:r>
              <a:rPr b="1"/>
              <a:t>Builder</a:t>
            </a:r>
            <a:r>
              <a:rPr/>
              <a:t> focuses on constructing complex objects step by step. </a:t>
            </a:r>
            <a:r>
              <a:rPr b="1"/>
              <a:t>Abstract Factory</a:t>
            </a:r>
            <a:r>
              <a:rPr/>
              <a:t> specializes in creating families of related objects. Abstract Factory returns the product immediately, whereas Builder lets you run some additional construction steps before fetching the product.</a:t>
            </a:r>
          </a:p>
          <a:p>
            <a:pPr lvl="0"/>
            <a:r>
              <a:rPr/>
              <a:t>You can use </a:t>
            </a:r>
            <a:r>
              <a:rPr b="1"/>
              <a:t>Builder</a:t>
            </a:r>
            <a:r>
              <a:rPr/>
              <a:t> when creating complex </a:t>
            </a:r>
            <a:r>
              <a:rPr b="1"/>
              <a:t>Composite</a:t>
            </a:r>
            <a:r>
              <a:rPr/>
              <a:t> trees because you can program its construction steps to work recursively.</a:t>
            </a:r>
          </a:p>
          <a:p>
            <a:pPr lvl="0"/>
            <a:r>
              <a:rPr/>
              <a:t>You can combine </a:t>
            </a:r>
            <a:r>
              <a:rPr b="1"/>
              <a:t>Builder</a:t>
            </a:r>
            <a:r>
              <a:rPr/>
              <a:t> with </a:t>
            </a:r>
            <a:r>
              <a:rPr b="1"/>
              <a:t>Bridge</a:t>
            </a:r>
            <a:r>
              <a:rPr/>
              <a:t>: the director class plays the role of the abstraction, while different builders act as implementations.</a:t>
            </a:r>
          </a:p>
          <a:p>
            <a:pPr lvl="0"/>
            <a:r>
              <a:rPr b="1"/>
              <a:t>Abstract Factories</a:t>
            </a:r>
            <a:r>
              <a:rPr/>
              <a:t>, </a:t>
            </a:r>
            <a:r>
              <a:rPr b="1"/>
              <a:t>Builders</a:t>
            </a:r>
            <a:r>
              <a:rPr/>
              <a:t>, and </a:t>
            </a:r>
            <a:r>
              <a:rPr b="1"/>
              <a:t>Prototypes</a:t>
            </a:r>
            <a:r>
              <a:rPr/>
              <a:t> can all be implemented as </a:t>
            </a:r>
            <a:r>
              <a:rPr b="1"/>
              <a:t>Singletons</a:t>
            </a:r>
            <a:r>
              <a:rPr/>
              <a:t>.</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Java Code Example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Product class</a:t>
            </a:r>
            <a:br/>
            <a:r>
              <a:rPr b="1">
                <a:solidFill>
                  <a:srgbClr val="007020"/>
                </a:solidFill>
                <a:latin typeface="Courier"/>
              </a:rPr>
              <a:t>class</a:t>
            </a:r>
            <a:r>
              <a:rPr>
                <a:latin typeface="Courier"/>
              </a:rPr>
              <a:t> Car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seats</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engineType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hasTripComputer</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hasGPS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setSeats</a:t>
            </a:r>
            <a:r>
              <a:rPr>
                <a:solidFill>
                  <a:srgbClr val="666666"/>
                </a:solidFill>
                <a:latin typeface="Courier"/>
              </a:rPr>
              <a:t>(</a:t>
            </a:r>
            <a:r>
              <a:rPr>
                <a:solidFill>
                  <a:srgbClr val="902000"/>
                </a:solidFill>
                <a:latin typeface="Courier"/>
              </a:rPr>
              <a:t>int</a:t>
            </a:r>
            <a:r>
              <a:rPr>
                <a:latin typeface="Courier"/>
              </a:rPr>
              <a:t> seats</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seats</a:t>
            </a:r>
            <a:r>
              <a:rPr>
                <a:latin typeface="Courier"/>
              </a:rPr>
              <a:t> </a:t>
            </a:r>
            <a:r>
              <a:rPr>
                <a:solidFill>
                  <a:srgbClr val="666666"/>
                </a:solidFill>
                <a:latin typeface="Courier"/>
              </a:rPr>
              <a:t>=</a:t>
            </a:r>
            <a:r>
              <a:rPr>
                <a:latin typeface="Courier"/>
              </a:rPr>
              <a:t> seats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setEngineType</a:t>
            </a:r>
            <a:r>
              <a:rPr>
                <a:solidFill>
                  <a:srgbClr val="666666"/>
                </a:solidFill>
                <a:latin typeface="Courier"/>
              </a:rPr>
              <a:t>(</a:t>
            </a:r>
            <a:r>
              <a:rPr>
                <a:solidFill>
                  <a:srgbClr val="008000"/>
                </a:solidFill>
                <a:latin typeface="Courier"/>
              </a:rPr>
              <a:t>String</a:t>
            </a:r>
            <a:r>
              <a:rPr>
                <a:latin typeface="Courier"/>
              </a:rPr>
              <a:t> type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engineType</a:t>
            </a:r>
            <a:r>
              <a:rPr>
                <a:latin typeface="Courier"/>
              </a:rPr>
              <a:t> </a:t>
            </a:r>
            <a:r>
              <a:rPr>
                <a:solidFill>
                  <a:srgbClr val="666666"/>
                </a:solidFill>
                <a:latin typeface="Courier"/>
              </a:rPr>
              <a:t>=</a:t>
            </a:r>
            <a:r>
              <a:rPr>
                <a:latin typeface="Courier"/>
              </a:rPr>
              <a:t> type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setTripComputer</a:t>
            </a:r>
            <a:r>
              <a:rPr>
                <a:solidFill>
                  <a:srgbClr val="666666"/>
                </a:solidFill>
                <a:latin typeface="Courier"/>
              </a:rPr>
              <a:t>(</a:t>
            </a:r>
            <a:r>
              <a:rPr>
                <a:solidFill>
                  <a:srgbClr val="902000"/>
                </a:solidFill>
                <a:latin typeface="Courier"/>
              </a:rPr>
              <a:t>boolean</a:t>
            </a:r>
            <a:r>
              <a:rPr>
                <a:latin typeface="Courier"/>
              </a:rPr>
              <a:t> has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hasTripComputer</a:t>
            </a:r>
            <a:r>
              <a:rPr>
                <a:latin typeface="Courier"/>
              </a:rPr>
              <a:t> </a:t>
            </a:r>
            <a:r>
              <a:rPr>
                <a:solidFill>
                  <a:srgbClr val="666666"/>
                </a:solidFill>
                <a:latin typeface="Courier"/>
              </a:rPr>
              <a:t>=</a:t>
            </a:r>
            <a:r>
              <a:rPr>
                <a:latin typeface="Courier"/>
              </a:rPr>
              <a:t> has</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setGPS</a:t>
            </a:r>
            <a:r>
              <a:rPr>
                <a:solidFill>
                  <a:srgbClr val="666666"/>
                </a:solidFill>
                <a:latin typeface="Courier"/>
              </a:rPr>
              <a:t>(</a:t>
            </a:r>
            <a:r>
              <a:rPr>
                <a:solidFill>
                  <a:srgbClr val="902000"/>
                </a:solidFill>
                <a:latin typeface="Courier"/>
              </a:rPr>
              <a:t>boolean</a:t>
            </a:r>
            <a:r>
              <a:rPr>
                <a:latin typeface="Courier"/>
              </a:rPr>
              <a:t> has</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hasGPS</a:t>
            </a:r>
            <a:r>
              <a:rPr>
                <a:latin typeface="Courier"/>
              </a:rPr>
              <a:t> </a:t>
            </a:r>
            <a:r>
              <a:rPr>
                <a:solidFill>
                  <a:srgbClr val="666666"/>
                </a:solidFill>
                <a:latin typeface="Courier"/>
              </a:rPr>
              <a:t>=</a:t>
            </a:r>
            <a:r>
              <a:rPr>
                <a:latin typeface="Courier"/>
              </a:rPr>
              <a:t> has</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toString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"Car{seats="</a:t>
            </a:r>
            <a:r>
              <a:rPr>
                <a:latin typeface="Courier"/>
              </a:rPr>
              <a:t> </a:t>
            </a:r>
            <a:r>
              <a:rPr>
                <a:solidFill>
                  <a:srgbClr val="666666"/>
                </a:solidFill>
                <a:latin typeface="Courier"/>
              </a:rPr>
              <a:t>+</a:t>
            </a:r>
            <a:r>
              <a:rPr>
                <a:latin typeface="Courier"/>
              </a:rPr>
              <a:t> seats</a:t>
            </a:r>
            <a:br/>
            <a:r>
              <a:rPr>
                <a:latin typeface="Courier"/>
              </a:rPr>
              <a:t>            </a:t>
            </a:r>
            <a:r>
              <a:rPr>
                <a:solidFill>
                  <a:srgbClr val="666666"/>
                </a:solidFill>
                <a:latin typeface="Courier"/>
              </a:rPr>
              <a:t>+</a:t>
            </a:r>
            <a:r>
              <a:rPr>
                <a:latin typeface="Courier"/>
              </a:rPr>
              <a:t> </a:t>
            </a:r>
            <a:r>
              <a:rPr>
                <a:solidFill>
                  <a:srgbClr val="4070A0"/>
                </a:solidFill>
                <a:latin typeface="Courier"/>
              </a:rPr>
              <a:t>", engine='"</a:t>
            </a:r>
            <a:r>
              <a:rPr>
                <a:latin typeface="Courier"/>
              </a:rPr>
              <a:t> </a:t>
            </a:r>
            <a:r>
              <a:rPr>
                <a:solidFill>
                  <a:srgbClr val="666666"/>
                </a:solidFill>
                <a:latin typeface="Courier"/>
              </a:rPr>
              <a:t>+</a:t>
            </a:r>
            <a:r>
              <a:rPr>
                <a:latin typeface="Courier"/>
              </a:rPr>
              <a:t> engineType </a:t>
            </a:r>
            <a:r>
              <a:rPr>
                <a:solidFill>
                  <a:srgbClr val="666666"/>
                </a:solidFill>
                <a:latin typeface="Courier"/>
              </a:rPr>
              <a:t>+</a:t>
            </a:r>
            <a:r>
              <a:rPr>
                <a:latin typeface="Courier"/>
              </a:rPr>
              <a:t> </a:t>
            </a:r>
            <a:r>
              <a:rPr>
                <a:solidFill>
                  <a:srgbClr val="4070A0"/>
                </a:solidFill>
                <a:latin typeface="Courier"/>
              </a:rPr>
              <a:t>"'"</a:t>
            </a:r>
            <a:br/>
            <a:r>
              <a:rPr>
                <a:latin typeface="Courier"/>
              </a:rPr>
              <a:t>            </a:t>
            </a:r>
            <a:r>
              <a:rPr>
                <a:solidFill>
                  <a:srgbClr val="666666"/>
                </a:solidFill>
                <a:latin typeface="Courier"/>
              </a:rPr>
              <a:t>+</a:t>
            </a:r>
            <a:r>
              <a:rPr>
                <a:latin typeface="Courier"/>
              </a:rPr>
              <a:t> </a:t>
            </a:r>
            <a:r>
              <a:rPr>
                <a:solidFill>
                  <a:srgbClr val="4070A0"/>
                </a:solidFill>
                <a:latin typeface="Courier"/>
              </a:rPr>
              <a:t>", tripComputer="</a:t>
            </a:r>
            <a:r>
              <a:rPr>
                <a:latin typeface="Courier"/>
              </a:rPr>
              <a:t> </a:t>
            </a:r>
            <a:r>
              <a:rPr>
                <a:solidFill>
                  <a:srgbClr val="666666"/>
                </a:solidFill>
                <a:latin typeface="Courier"/>
              </a:rPr>
              <a:t>+</a:t>
            </a:r>
            <a:r>
              <a:rPr>
                <a:latin typeface="Courier"/>
              </a:rPr>
              <a:t> hasTripComputer</a:t>
            </a:r>
            <a:br/>
            <a:r>
              <a:rPr>
                <a:latin typeface="Courier"/>
              </a:rPr>
              <a:t>            </a:t>
            </a:r>
            <a:r>
              <a:rPr>
                <a:solidFill>
                  <a:srgbClr val="666666"/>
                </a:solidFill>
                <a:latin typeface="Courier"/>
              </a:rPr>
              <a:t>+</a:t>
            </a:r>
            <a:r>
              <a:rPr>
                <a:latin typeface="Courier"/>
              </a:rPr>
              <a:t> </a:t>
            </a:r>
            <a:r>
              <a:rPr>
                <a:solidFill>
                  <a:srgbClr val="4070A0"/>
                </a:solidFill>
                <a:latin typeface="Courier"/>
              </a:rPr>
              <a:t>", GPS="</a:t>
            </a:r>
            <a:r>
              <a:rPr>
                <a:latin typeface="Courier"/>
              </a:rPr>
              <a:t> </a:t>
            </a:r>
            <a:r>
              <a:rPr>
                <a:solidFill>
                  <a:srgbClr val="666666"/>
                </a:solidFill>
                <a:latin typeface="Courier"/>
              </a:rPr>
              <a:t>+</a:t>
            </a:r>
            <a:r>
              <a:rPr>
                <a:latin typeface="Courier"/>
              </a:rPr>
              <a:t> hasGPS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Builder interface</a:t>
            </a:r>
            <a:br/>
            <a:r>
              <a:rPr b="1">
                <a:solidFill>
                  <a:srgbClr val="007020"/>
                </a:solidFill>
                <a:latin typeface="Courier"/>
              </a:rPr>
              <a:t>interface</a:t>
            </a:r>
            <a:r>
              <a:rPr>
                <a:latin typeface="Courier"/>
              </a:rPr>
              <a:t> CarBuilder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reset</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setSeats</a:t>
            </a:r>
            <a:r>
              <a:rPr>
                <a:solidFill>
                  <a:srgbClr val="666666"/>
                </a:solidFill>
                <a:latin typeface="Courier"/>
              </a:rPr>
              <a:t>(</a:t>
            </a:r>
            <a:r>
              <a:rPr>
                <a:solidFill>
                  <a:srgbClr val="902000"/>
                </a:solidFill>
                <a:latin typeface="Courier"/>
              </a:rPr>
              <a:t>int</a:t>
            </a:r>
            <a:r>
              <a:rPr>
                <a:latin typeface="Courier"/>
              </a:rPr>
              <a:t> number</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setEngine</a:t>
            </a:r>
            <a:r>
              <a:rPr>
                <a:solidFill>
                  <a:srgbClr val="666666"/>
                </a:solidFill>
                <a:latin typeface="Courier"/>
              </a:rPr>
              <a:t>(</a:t>
            </a:r>
            <a:r>
              <a:rPr>
                <a:solidFill>
                  <a:srgbClr val="008000"/>
                </a:solidFill>
                <a:latin typeface="Courier"/>
              </a:rPr>
              <a:t>String</a:t>
            </a:r>
            <a:r>
              <a:rPr>
                <a:latin typeface="Courier"/>
              </a:rPr>
              <a:t> engineType</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setTripComputer</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setGPS</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Builder</a:t>
            </a:r>
            <a:br/>
            <a:r>
              <a:rPr b="1">
                <a:solidFill>
                  <a:srgbClr val="007020"/>
                </a:solidFill>
                <a:latin typeface="Courier"/>
              </a:rPr>
              <a:t>class</a:t>
            </a:r>
            <a:r>
              <a:rPr>
                <a:latin typeface="Courier"/>
              </a:rPr>
              <a:t> SportsCarBuilder </a:t>
            </a:r>
            <a:r>
              <a:rPr b="1">
                <a:solidFill>
                  <a:srgbClr val="007020"/>
                </a:solidFill>
                <a:latin typeface="Courier"/>
              </a:rPr>
              <a:t>implements</a:t>
            </a:r>
            <a:r>
              <a:rPr>
                <a:latin typeface="Courier"/>
              </a:rPr>
              <a:t> CarBuilder </a:t>
            </a:r>
            <a:r>
              <a:rPr>
                <a:solidFill>
                  <a:srgbClr val="666666"/>
                </a:solidFill>
                <a:latin typeface="Courier"/>
              </a:rPr>
              <a:t>{</a:t>
            </a:r>
            <a:br/>
            <a:r>
              <a:rPr>
                <a:latin typeface="Courier"/>
              </a:rPr>
              <a:t>    </a:t>
            </a:r>
            <a:r>
              <a:rPr b="1">
                <a:solidFill>
                  <a:srgbClr val="007020"/>
                </a:solidFill>
                <a:latin typeface="Courier"/>
              </a:rPr>
              <a:t>private</a:t>
            </a:r>
            <a:r>
              <a:rPr>
                <a:latin typeface="Courier"/>
              </a:rPr>
              <a:t> Car car</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SportsCarBuilder</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reset</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reset</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car</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Car</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setSeats</a:t>
            </a:r>
            <a:r>
              <a:rPr>
                <a:solidFill>
                  <a:srgbClr val="666666"/>
                </a:solidFill>
                <a:latin typeface="Courier"/>
              </a:rPr>
              <a:t>(</a:t>
            </a:r>
            <a:r>
              <a:rPr>
                <a:solidFill>
                  <a:srgbClr val="902000"/>
                </a:solidFill>
                <a:latin typeface="Courier"/>
              </a:rPr>
              <a:t>int</a:t>
            </a:r>
            <a:r>
              <a:rPr>
                <a:latin typeface="Courier"/>
              </a:rPr>
              <a:t> number</a:t>
            </a:r>
            <a:r>
              <a:rPr>
                <a:solidFill>
                  <a:srgbClr val="666666"/>
                </a:solidFill>
                <a:latin typeface="Courier"/>
              </a:rPr>
              <a:t>)</a:t>
            </a:r>
            <a:r>
              <a:rPr>
                <a:latin typeface="Courier"/>
              </a:rPr>
              <a:t> </a:t>
            </a:r>
            <a:r>
              <a:rPr>
                <a:solidFill>
                  <a:srgbClr val="666666"/>
                </a:solidFill>
                <a:latin typeface="Courier"/>
              </a:rPr>
              <a:t>{</a:t>
            </a:r>
            <a:br/>
            <a:r>
              <a:rPr>
                <a:latin typeface="Courier"/>
              </a:rPr>
              <a:t>        car</a:t>
            </a:r>
            <a:r>
              <a:rPr>
                <a:solidFill>
                  <a:srgbClr val="666666"/>
                </a:solidFill>
                <a:latin typeface="Courier"/>
              </a:rPr>
              <a:t>.</a:t>
            </a:r>
            <a:r>
              <a:rPr>
                <a:solidFill>
                  <a:srgbClr val="06287E"/>
                </a:solidFill>
                <a:latin typeface="Courier"/>
              </a:rPr>
              <a:t>setSeats</a:t>
            </a:r>
            <a:r>
              <a:rPr>
                <a:solidFill>
                  <a:srgbClr val="666666"/>
                </a:solidFill>
                <a:latin typeface="Courier"/>
              </a:rPr>
              <a:t>(</a:t>
            </a:r>
            <a:r>
              <a:rPr>
                <a:latin typeface="Courier"/>
              </a:rPr>
              <a:t>number</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setEngine</a:t>
            </a:r>
            <a:r>
              <a:rPr>
                <a:solidFill>
                  <a:srgbClr val="666666"/>
                </a:solidFill>
                <a:latin typeface="Courier"/>
              </a:rPr>
              <a:t>(</a:t>
            </a:r>
            <a:r>
              <a:rPr>
                <a:solidFill>
                  <a:srgbClr val="008000"/>
                </a:solidFill>
                <a:latin typeface="Courier"/>
              </a:rPr>
              <a:t>String</a:t>
            </a:r>
            <a:r>
              <a:rPr>
                <a:latin typeface="Courier"/>
              </a:rPr>
              <a:t> engineType</a:t>
            </a:r>
            <a:r>
              <a:rPr>
                <a:solidFill>
                  <a:srgbClr val="666666"/>
                </a:solidFill>
                <a:latin typeface="Courier"/>
              </a:rPr>
              <a:t>)</a:t>
            </a:r>
            <a:r>
              <a:rPr>
                <a:latin typeface="Courier"/>
              </a:rPr>
              <a:t> </a:t>
            </a:r>
            <a:r>
              <a:rPr>
                <a:solidFill>
                  <a:srgbClr val="666666"/>
                </a:solidFill>
                <a:latin typeface="Courier"/>
              </a:rPr>
              <a:t>{</a:t>
            </a:r>
            <a:br/>
            <a:r>
              <a:rPr>
                <a:latin typeface="Courier"/>
              </a:rPr>
              <a:t>        car</a:t>
            </a:r>
            <a:r>
              <a:rPr>
                <a:solidFill>
                  <a:srgbClr val="666666"/>
                </a:solidFill>
                <a:latin typeface="Courier"/>
              </a:rPr>
              <a:t>.</a:t>
            </a:r>
            <a:r>
              <a:rPr>
                <a:solidFill>
                  <a:srgbClr val="06287E"/>
                </a:solidFill>
                <a:latin typeface="Courier"/>
              </a:rPr>
              <a:t>setEngineType</a:t>
            </a:r>
            <a:r>
              <a:rPr>
                <a:solidFill>
                  <a:srgbClr val="666666"/>
                </a:solidFill>
                <a:latin typeface="Courier"/>
              </a:rPr>
              <a:t>(</a:t>
            </a:r>
            <a:r>
              <a:rPr>
                <a:latin typeface="Courier"/>
              </a:rPr>
              <a:t>engineType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setTripComputer</a:t>
            </a:r>
            <a:r>
              <a:rPr>
                <a:solidFill>
                  <a:srgbClr val="666666"/>
                </a:solidFill>
                <a:latin typeface="Courier"/>
              </a:rPr>
              <a:t>()</a:t>
            </a:r>
            <a:r>
              <a:rPr>
                <a:latin typeface="Courier"/>
              </a:rPr>
              <a:t> </a:t>
            </a:r>
            <a:r>
              <a:rPr>
                <a:solidFill>
                  <a:srgbClr val="666666"/>
                </a:solidFill>
                <a:latin typeface="Courier"/>
              </a:rPr>
              <a:t>{</a:t>
            </a:r>
            <a:br/>
            <a:r>
              <a:rPr>
                <a:latin typeface="Courier"/>
              </a:rPr>
              <a:t>        car</a:t>
            </a:r>
            <a:r>
              <a:rPr>
                <a:solidFill>
                  <a:srgbClr val="666666"/>
                </a:solidFill>
                <a:latin typeface="Courier"/>
              </a:rPr>
              <a:t>.</a:t>
            </a:r>
            <a:r>
              <a:rPr>
                <a:solidFill>
                  <a:srgbClr val="06287E"/>
                </a:solidFill>
                <a:latin typeface="Courier"/>
              </a:rPr>
              <a:t>setTripComputer</a:t>
            </a:r>
            <a:r>
              <a:rPr>
                <a:solidFill>
                  <a:srgbClr val="666666"/>
                </a:solidFill>
                <a:latin typeface="Courier"/>
              </a:rPr>
              <a:t>(</a:t>
            </a:r>
            <a:r>
              <a:rPr b="1">
                <a:solidFill>
                  <a:srgbClr val="007020"/>
                </a:solidFill>
                <a:latin typeface="Courier"/>
              </a:rPr>
              <a:t>true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setGPS</a:t>
            </a:r>
            <a:r>
              <a:rPr>
                <a:solidFill>
                  <a:srgbClr val="666666"/>
                </a:solidFill>
                <a:latin typeface="Courier"/>
              </a:rPr>
              <a:t>()</a:t>
            </a:r>
            <a:r>
              <a:rPr>
                <a:latin typeface="Courier"/>
              </a:rPr>
              <a:t> </a:t>
            </a:r>
            <a:r>
              <a:rPr>
                <a:solidFill>
                  <a:srgbClr val="666666"/>
                </a:solidFill>
                <a:latin typeface="Courier"/>
              </a:rPr>
              <a:t>{</a:t>
            </a:r>
            <a:r>
              <a:rPr>
                <a:latin typeface="Courier"/>
              </a:rPr>
              <a:t> car</a:t>
            </a:r>
            <a:r>
              <a:rPr>
                <a:solidFill>
                  <a:srgbClr val="666666"/>
                </a:solidFill>
                <a:latin typeface="Courier"/>
              </a:rPr>
              <a:t>.</a:t>
            </a:r>
            <a:r>
              <a:rPr>
                <a:solidFill>
                  <a:srgbClr val="06287E"/>
                </a:solidFill>
                <a:latin typeface="Courier"/>
              </a:rPr>
              <a:t>setGPS</a:t>
            </a:r>
            <a:r>
              <a:rPr>
                <a:solidFill>
                  <a:srgbClr val="666666"/>
                </a:solidFill>
                <a:latin typeface="Courier"/>
              </a:rPr>
              <a:t>(</a:t>
            </a:r>
            <a:r>
              <a:rPr b="1">
                <a:solidFill>
                  <a:srgbClr val="007020"/>
                </a:solidFill>
                <a:latin typeface="Courier"/>
              </a:rPr>
              <a:t>true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Car </a:t>
            </a:r>
            <a:r>
              <a:rPr>
                <a:solidFill>
                  <a:srgbClr val="06287E"/>
                </a:solidFill>
                <a:latin typeface="Courier"/>
              </a:rPr>
              <a:t>getProduct</a:t>
            </a:r>
            <a:r>
              <a:rPr>
                <a:solidFill>
                  <a:srgbClr val="666666"/>
                </a:solidFill>
                <a:latin typeface="Courier"/>
              </a:rPr>
              <a:t>()</a:t>
            </a:r>
            <a:r>
              <a:rPr>
                <a:latin typeface="Courier"/>
              </a:rPr>
              <a:t> </a:t>
            </a:r>
            <a:r>
              <a:rPr>
                <a:solidFill>
                  <a:srgbClr val="666666"/>
                </a:solidFill>
                <a:latin typeface="Courier"/>
              </a:rPr>
              <a:t>{</a:t>
            </a:r>
            <a:br/>
            <a:r>
              <a:rPr>
                <a:latin typeface="Courier"/>
              </a:rPr>
              <a:t>        Car product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car</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reset</a:t>
            </a:r>
            <a:r>
              <a:rPr>
                <a:solidFill>
                  <a:srgbClr val="666666"/>
                </a:solidFill>
                <a:latin typeface="Courier"/>
              </a:rPr>
              <a:t>();</a:t>
            </a:r>
            <a:br/>
            <a:r>
              <a:rPr>
                <a:latin typeface="Courier"/>
              </a:rPr>
              <a:t>        </a:t>
            </a:r>
            <a:r>
              <a:rPr b="1">
                <a:solidFill>
                  <a:srgbClr val="007020"/>
                </a:solidFill>
                <a:latin typeface="Courier"/>
              </a:rPr>
              <a:t>return</a:t>
            </a:r>
            <a:r>
              <a:rPr>
                <a:latin typeface="Courier"/>
              </a:rPr>
              <a:t> product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Director</a:t>
            </a:r>
            <a:br/>
            <a:r>
              <a:rPr b="1">
                <a:solidFill>
                  <a:srgbClr val="007020"/>
                </a:solidFill>
                <a:latin typeface="Courier"/>
              </a:rPr>
              <a:t>class</a:t>
            </a:r>
            <a:r>
              <a:rPr>
                <a:latin typeface="Courier"/>
              </a:rPr>
              <a:t> Director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constructSportsCar</a:t>
            </a:r>
            <a:r>
              <a:rPr>
                <a:solidFill>
                  <a:srgbClr val="666666"/>
                </a:solidFill>
                <a:latin typeface="Courier"/>
              </a:rPr>
              <a:t>(</a:t>
            </a:r>
            <a:r>
              <a:rPr>
                <a:latin typeface="Courier"/>
              </a:rPr>
              <a:t>CarBuilder builder</a:t>
            </a:r>
            <a:r>
              <a:rPr>
                <a:solidFill>
                  <a:srgbClr val="666666"/>
                </a:solidFill>
                <a:latin typeface="Courier"/>
              </a:rPr>
              <a:t>)</a:t>
            </a:r>
            <a:r>
              <a:rPr>
                <a:latin typeface="Courier"/>
              </a:rPr>
              <a:t> </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reset</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setSeats</a:t>
            </a:r>
            <a:r>
              <a:rPr>
                <a:solidFill>
                  <a:srgbClr val="666666"/>
                </a:solidFill>
                <a:latin typeface="Courier"/>
              </a:rPr>
              <a:t>(</a:t>
            </a:r>
            <a:r>
              <a:rPr>
                <a:solidFill>
                  <a:srgbClr val="40A070"/>
                </a:solidFill>
                <a:latin typeface="Courier"/>
              </a:rPr>
              <a:t>2</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setEngine</a:t>
            </a:r>
            <a:r>
              <a:rPr>
                <a:solidFill>
                  <a:srgbClr val="666666"/>
                </a:solidFill>
                <a:latin typeface="Courier"/>
              </a:rPr>
              <a:t>(</a:t>
            </a:r>
            <a:r>
              <a:rPr>
                <a:solidFill>
                  <a:srgbClr val="4070A0"/>
                </a:solidFill>
                <a:latin typeface="Courier"/>
              </a:rPr>
              <a:t>"V8 Sport Engine"</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setTripComputer</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setGPS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constructSUV</a:t>
            </a:r>
            <a:r>
              <a:rPr>
                <a:solidFill>
                  <a:srgbClr val="666666"/>
                </a:solidFill>
                <a:latin typeface="Courier"/>
              </a:rPr>
              <a:t>(</a:t>
            </a:r>
            <a:r>
              <a:rPr>
                <a:latin typeface="Courier"/>
              </a:rPr>
              <a:t>CarBuilder builder</a:t>
            </a:r>
            <a:r>
              <a:rPr>
                <a:solidFill>
                  <a:srgbClr val="666666"/>
                </a:solidFill>
                <a:latin typeface="Courier"/>
              </a:rPr>
              <a:t>)</a:t>
            </a:r>
            <a:r>
              <a:rPr>
                <a:latin typeface="Courier"/>
              </a:rPr>
              <a:t> </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reset</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setSeats</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setEngine</a:t>
            </a:r>
            <a:r>
              <a:rPr>
                <a:solidFill>
                  <a:srgbClr val="666666"/>
                </a:solidFill>
                <a:latin typeface="Courier"/>
              </a:rPr>
              <a:t>(</a:t>
            </a:r>
            <a:r>
              <a:rPr>
                <a:solidFill>
                  <a:srgbClr val="4070A0"/>
                </a:solidFill>
                <a:latin typeface="Courier"/>
              </a:rPr>
              <a:t>"V6 SUV Engine"</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setGPS</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Client code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BuilderDemo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Director director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Director</a:t>
            </a:r>
            <a:r>
              <a:rPr>
                <a:solidFill>
                  <a:srgbClr val="666666"/>
                </a:solidFill>
                <a:latin typeface="Courier"/>
              </a:rPr>
              <a:t>();</a:t>
            </a:r>
            <a:br/>
            <a:r>
              <a:rPr>
                <a:latin typeface="Courier"/>
              </a:rPr>
              <a:t>        SportsCarBuilder builder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SportsCarBuilder</a:t>
            </a:r>
            <a:r>
              <a:rPr>
                <a:solidFill>
                  <a:srgbClr val="666666"/>
                </a:solidFill>
                <a:latin typeface="Courier"/>
              </a:rPr>
              <a:t>();</a:t>
            </a:r>
            <a:br/>
            <a:br/>
            <a:r>
              <a:rPr>
                <a:latin typeface="Courier"/>
              </a:rPr>
              <a:t>        director</a:t>
            </a:r>
            <a:r>
              <a:rPr>
                <a:solidFill>
                  <a:srgbClr val="666666"/>
                </a:solidFill>
                <a:latin typeface="Courier"/>
              </a:rPr>
              <a:t>.</a:t>
            </a:r>
            <a:r>
              <a:rPr>
                <a:solidFill>
                  <a:srgbClr val="06287E"/>
                </a:solidFill>
                <a:latin typeface="Courier"/>
              </a:rPr>
              <a:t>constructSportsCar</a:t>
            </a:r>
            <a:r>
              <a:rPr>
                <a:solidFill>
                  <a:srgbClr val="666666"/>
                </a:solidFill>
                <a:latin typeface="Courier"/>
              </a:rPr>
              <a:t>(</a:t>
            </a:r>
            <a:r>
              <a:rPr>
                <a:latin typeface="Courier"/>
              </a:rPr>
              <a:t>builder</a:t>
            </a:r>
            <a:r>
              <a:rPr>
                <a:solidFill>
                  <a:srgbClr val="666666"/>
                </a:solidFill>
                <a:latin typeface="Courier"/>
              </a:rPr>
              <a:t>);</a:t>
            </a:r>
            <a:br/>
            <a:r>
              <a:rPr>
                <a:latin typeface="Courier"/>
              </a:rPr>
              <a:t>        Car sportsCar </a:t>
            </a:r>
            <a:r>
              <a:rPr>
                <a:solidFill>
                  <a:srgbClr val="666666"/>
                </a:solidFill>
                <a:latin typeface="Courier"/>
              </a:rPr>
              <a:t>=</a:t>
            </a:r>
            <a:r>
              <a:rPr>
                <a:latin typeface="Courier"/>
              </a:rPr>
              <a:t> builder</a:t>
            </a:r>
            <a:r>
              <a:rPr>
                <a:solidFill>
                  <a:srgbClr val="666666"/>
                </a:solidFill>
                <a:latin typeface="Courier"/>
              </a:rPr>
              <a:t>.</a:t>
            </a:r>
            <a:r>
              <a:rPr>
                <a:solidFill>
                  <a:srgbClr val="06287E"/>
                </a:solidFill>
                <a:latin typeface="Courier"/>
              </a:rPr>
              <a:t>getProduct</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"Sports Car: "</a:t>
            </a:r>
            <a:r>
              <a:rPr>
                <a:latin typeface="Courier"/>
              </a:rPr>
              <a:t> </a:t>
            </a:r>
            <a:r>
              <a:rPr>
                <a:solidFill>
                  <a:srgbClr val="666666"/>
                </a:solidFill>
                <a:latin typeface="Courier"/>
              </a:rPr>
              <a:t>+</a:t>
            </a:r>
            <a:r>
              <a:rPr>
                <a:latin typeface="Courier"/>
              </a:rPr>
              <a:t> sportsCar</a:t>
            </a:r>
            <a:r>
              <a:rPr>
                <a:solidFill>
                  <a:srgbClr val="666666"/>
                </a:solidFill>
                <a:latin typeface="Courier"/>
              </a:rPr>
              <a:t>);</a:t>
            </a:r>
            <a:br/>
            <a:br/>
            <a:r>
              <a:rPr>
                <a:latin typeface="Courier"/>
              </a:rPr>
              <a:t>        director</a:t>
            </a:r>
            <a:r>
              <a:rPr>
                <a:solidFill>
                  <a:srgbClr val="666666"/>
                </a:solidFill>
                <a:latin typeface="Courier"/>
              </a:rPr>
              <a:t>.</a:t>
            </a:r>
            <a:r>
              <a:rPr>
                <a:solidFill>
                  <a:srgbClr val="06287E"/>
                </a:solidFill>
                <a:latin typeface="Courier"/>
              </a:rPr>
              <a:t>constructSUV</a:t>
            </a:r>
            <a:r>
              <a:rPr>
                <a:solidFill>
                  <a:srgbClr val="666666"/>
                </a:solidFill>
                <a:latin typeface="Courier"/>
              </a:rPr>
              <a:t>(</a:t>
            </a:r>
            <a:r>
              <a:rPr>
                <a:latin typeface="Courier"/>
              </a:rPr>
              <a:t>builder</a:t>
            </a:r>
            <a:r>
              <a:rPr>
                <a:solidFill>
                  <a:srgbClr val="666666"/>
                </a:solidFill>
                <a:latin typeface="Courier"/>
              </a:rPr>
              <a:t>);</a:t>
            </a:r>
            <a:br/>
            <a:r>
              <a:rPr>
                <a:latin typeface="Courier"/>
              </a:rPr>
              <a:t>        Car suv </a:t>
            </a:r>
            <a:r>
              <a:rPr>
                <a:solidFill>
                  <a:srgbClr val="666666"/>
                </a:solidFill>
                <a:latin typeface="Courier"/>
              </a:rPr>
              <a:t>=</a:t>
            </a:r>
            <a:r>
              <a:rPr>
                <a:latin typeface="Courier"/>
              </a:rPr>
              <a:t> builder</a:t>
            </a:r>
            <a:r>
              <a:rPr>
                <a:solidFill>
                  <a:srgbClr val="666666"/>
                </a:solidFill>
                <a:latin typeface="Courier"/>
              </a:rPr>
              <a:t>.</a:t>
            </a:r>
            <a:r>
              <a:rPr>
                <a:solidFill>
                  <a:srgbClr val="06287E"/>
                </a:solidFill>
                <a:latin typeface="Courier"/>
              </a:rPr>
              <a:t>getProduct</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"SUV: "</a:t>
            </a:r>
            <a:r>
              <a:rPr>
                <a:latin typeface="Courier"/>
              </a:rPr>
              <a:t> </a:t>
            </a:r>
            <a:r>
              <a:rPr>
                <a:solidFill>
                  <a:srgbClr val="666666"/>
                </a:solidFill>
                <a:latin typeface="Courier"/>
              </a:rPr>
              <a:t>+</a:t>
            </a:r>
            <a:r>
              <a:rPr>
                <a:latin typeface="Courier"/>
              </a:rPr>
              <a:t> suv</a:t>
            </a:r>
            <a:r>
              <a:rPr>
                <a:solidFill>
                  <a:srgbClr val="666666"/>
                </a:solidFill>
                <a:latin typeface="Courier"/>
              </a:rPr>
              <a:t>);</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Sports Car: Car[seats=2, engine=V8 Sport Engine, tripComputer=true, gps=true]</a:t>
            </a:r>
            <a:br/>
            <a:r>
              <a:rPr>
                <a:latin typeface="Courier"/>
              </a:rPr>
              <a:t>        </a:t>
            </a:r>
            <a:r>
              <a:rPr i="1">
                <a:solidFill>
                  <a:srgbClr val="60A0B0"/>
                </a:solidFill>
                <a:latin typeface="Courier"/>
              </a:rPr>
              <a:t>// SUV: Car[seats=5, engine=V6 SUV Engine, tripComputer=false, gps=true]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D: Takeaways</a:t>
            </a:r>
          </a:p>
        </p:txBody>
      </p:sp>
      <p:sp>
        <p:nvSpPr>
          <p:cNvPr id="3" name="Content Placeholder 2"/>
          <p:cNvSpPr>
            <a:spLocks noGrp="1"/>
          </p:cNvSpPr>
          <p:nvPr>
            <p:ph idx="1"/>
          </p:nvPr>
        </p:nvSpPr>
        <p:spPr/>
        <p:txBody>
          <a:bodyPr/>
          <a:lstStyle/>
          <a:p>
            <a:pPr lvl="0"/>
            <a:r>
              <a:rPr b="1"/>
              <a:t>Builder</a:t>
            </a:r>
            <a:r>
              <a:rPr/>
              <a:t> lets you construct complex objects step by step, using only the steps you need.</a:t>
            </a:r>
          </a:p>
          <a:p>
            <a:pPr lvl="0"/>
            <a:r>
              <a:rPr/>
              <a:t>It solves the </a:t>
            </a:r>
            <a:r>
              <a:rPr b="1"/>
              <a:t>telescoping constructor</a:t>
            </a:r>
            <a:r>
              <a:rPr/>
              <a:t> problem and the </a:t>
            </a:r>
            <a:r>
              <a:rPr b="1"/>
              <a:t>subclass explosion</a:t>
            </a:r>
            <a:r>
              <a:rPr/>
              <a:t> problem.</a:t>
            </a:r>
          </a:p>
          <a:p>
            <a:pPr lvl="0"/>
            <a:r>
              <a:rPr/>
              <a:t>The pattern uses </a:t>
            </a:r>
            <a:r>
              <a:rPr b="1"/>
              <a:t>five participants</a:t>
            </a:r>
            <a:r>
              <a:rPr/>
              <a:t>: Builder Interface, Concrete Builders, Products, Director, and Client.</a:t>
            </a:r>
          </a:p>
          <a:p>
            <a:pPr lvl="0"/>
            <a:r>
              <a:rPr/>
              <a:t>The </a:t>
            </a:r>
            <a:r>
              <a:rPr b="1"/>
              <a:t>Director</a:t>
            </a:r>
            <a:r>
              <a:rPr/>
              <a:t> is optional but useful for encapsulating common construction routines.</a:t>
            </a:r>
          </a:p>
          <a:p>
            <a:pPr lvl="0"/>
            <a:r>
              <a:rPr/>
              <a:t>Builder supports the </a:t>
            </a:r>
            <a:r>
              <a:rPr b="1"/>
              <a:t>Single Responsibility Principle</a:t>
            </a:r>
            <a:r>
              <a:rPr/>
              <a:t> by isolating construction logic from business logic.</a:t>
            </a:r>
          </a:p>
          <a:p>
            <a:pPr lvl="0"/>
            <a:r>
              <a:rPr/>
              <a:t>The main trade-off is </a:t>
            </a:r>
            <a:r>
              <a:rPr b="1"/>
              <a:t>increased code complexity</a:t>
            </a:r>
            <a:r>
              <a:rPr/>
              <a:t> due to multiple new classes.</a:t>
            </a:r>
          </a:p>
          <a:p>
            <a:pPr lvl="0"/>
            <a:r>
              <a:rPr/>
              <a:t>Builder can be combined with </a:t>
            </a:r>
            <a:r>
              <a:rPr b="1"/>
              <a:t>Composite</a:t>
            </a:r>
            <a:r>
              <a:rPr/>
              <a:t> (for building tree structures), </a:t>
            </a:r>
            <a:r>
              <a:rPr b="1"/>
              <a:t>Bridge</a:t>
            </a:r>
            <a:r>
              <a:rPr/>
              <a:t>, and can be implemented as a </a:t>
            </a:r>
            <a:r>
              <a:rPr b="1"/>
              <a:t>Singleton</a:t>
            </a:r>
            <a:r>
              <a:rPr/>
              <a:t>.</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E: Prototype Pattern</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Pattern - Overview</a:t>
            </a:r>
          </a:p>
        </p:txBody>
      </p:sp>
      <p:sp>
        <p:nvSpPr>
          <p:cNvPr id="3" name="Content Placeholder 2"/>
          <p:cNvSpPr>
            <a:spLocks noGrp="1"/>
          </p:cNvSpPr>
          <p:nvPr>
            <p:ph idx="1"/>
          </p:nvPr>
        </p:nvSpPr>
        <p:spPr/>
        <p:txBody>
          <a:bodyPr/>
          <a:lstStyle/>
          <a:p>
            <a:pPr lvl="0"/>
            <a:r>
              <a:rPr b="1"/>
              <a:t>Also Known As</a:t>
            </a:r>
            <a:r>
              <a:rPr/>
              <a:t>: Clone</a:t>
            </a:r>
          </a:p>
          <a:p>
            <a:pPr lvl="0"/>
            <a:r>
              <a:rPr b="1"/>
              <a:t>Category</a:t>
            </a:r>
            <a:r>
              <a:rPr/>
              <a:t>: Creational Pattern</a:t>
            </a:r>
          </a:p>
          <a:p>
            <a:pPr lvl="0"/>
            <a:r>
              <a:rPr b="1"/>
              <a:t>Complexity</a:t>
            </a:r>
            <a:r>
              <a:rPr/>
              <a:t>: Low</a:t>
            </a:r>
          </a:p>
          <a:p>
            <a:pPr lvl="0"/>
            <a:r>
              <a:rPr b="1"/>
              <a:t>Popularity</a:t>
            </a:r>
            <a:r>
              <a:rPr/>
              <a:t>: Medium</a:t>
            </a:r>
          </a:p>
          <a:p>
            <a:pPr lvl="0" indent="0" marL="0">
              <a:buNone/>
            </a:pPr>
            <a:r>
              <a:rPr b="1"/>
              <a:t>Intent</a:t>
            </a:r>
            <a:r>
              <a:rPr/>
              <a:t>: Prototype is a creational design pattern that lets you copy existing objects without making your code dependent on their classes.</a:t>
            </a:r>
          </a:p>
          <a:p>
            <a:pPr lvl="0" indent="0" marL="0">
              <a:buNone/>
            </a:pPr>
            <a:r>
              <a:rPr/>
              <a:t>Reference: </a:t>
            </a:r>
            <a:r>
              <a:rPr>
                <a:hlinkClick r:id="rId2"/>
              </a:rPr>
              <a:t>RefactoringGuru - Prototype</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The Problem</a:t>
            </a:r>
          </a:p>
        </p:txBody>
      </p:sp>
      <p:sp>
        <p:nvSpPr>
          <p:cNvPr id="3" name="Content Placeholder 2"/>
          <p:cNvSpPr>
            <a:spLocks noGrp="1"/>
          </p:cNvSpPr>
          <p:nvPr>
            <p:ph idx="1"/>
          </p:nvPr>
        </p:nvSpPr>
        <p:spPr/>
        <p:txBody>
          <a:bodyPr/>
          <a:lstStyle/>
          <a:p>
            <a:pPr lvl="0" indent="0" marL="0">
              <a:buNone/>
            </a:pPr>
            <a:r>
              <a:rPr/>
              <a:t>Say you have an object, and you want to create an exact copy of it. How would you do it?</a:t>
            </a:r>
          </a:p>
          <a:p>
            <a:pPr lvl="0" indent="-342900" marL="342900">
              <a:buAutoNum type="arabicPeriod"/>
            </a:pPr>
            <a:r>
              <a:rPr b="1"/>
              <a:t>First</a:t>
            </a:r>
            <a:r>
              <a:rPr/>
              <a:t>, you have to create a new object of the same class.</a:t>
            </a:r>
          </a:p>
          <a:p>
            <a:pPr lvl="0" indent="-342900" marL="342900">
              <a:buAutoNum type="arabicPeriod"/>
            </a:pPr>
            <a:r>
              <a:rPr b="1"/>
              <a:t>Then</a:t>
            </a:r>
            <a:r>
              <a:rPr/>
              <a:t>, you have to go through all the fields of the original object and copy their values over to the new object.</a:t>
            </a:r>
          </a:p>
          <a:p>
            <a:pPr lvl="0" indent="0" marL="0">
              <a:buNone/>
            </a:pPr>
            <a:r>
              <a:rPr b="1"/>
              <a:t>But there are problems:</a:t>
            </a:r>
          </a:p>
          <a:p>
            <a:pPr lvl="0"/>
            <a:r>
              <a:rPr b="1"/>
              <a:t>Not all objects can be copied that way</a:t>
            </a:r>
            <a:r>
              <a:rPr/>
              <a:t> because some of the object’s fields may be private and not visible from outside of the object itself.</a:t>
            </a:r>
          </a:p>
          <a:p>
            <a:pPr lvl="0"/>
            <a:r>
              <a:rPr b="1"/>
              <a:t>Your code becomes dependent on the class</a:t>
            </a:r>
            <a:r>
              <a:rPr/>
              <a:t> of the object being copied. You have to know the object’s class to create a duplicate, making your code dependent on that class.</a:t>
            </a:r>
          </a:p>
          <a:p>
            <a:pPr lvl="0"/>
            <a:r>
              <a:rPr b="1"/>
              <a:t>Sometimes you only know the interface</a:t>
            </a:r>
            <a:r>
              <a:rPr/>
              <a:t> that the object follows, but not its concrete class. For example, when a method accepts any objects that follow some interface, you don’t know the concrete classes of those objects.</a:t>
            </a:r>
          </a:p>
          <a:p>
            <a:pPr lvl="0"/>
            <a:r>
              <a:rPr b="1"/>
              <a:t>Complex configurations</a:t>
            </a:r>
            <a:r>
              <a:rPr/>
              <a:t>: When an object has complex internal state (connections, references, caches), simply knowing its class isn’t enough to duplicate it properly.</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The Solution</a:t>
            </a:r>
          </a:p>
        </p:txBody>
      </p:sp>
      <p:sp>
        <p:nvSpPr>
          <p:cNvPr id="3" name="Content Placeholder 2"/>
          <p:cNvSpPr>
            <a:spLocks noGrp="1"/>
          </p:cNvSpPr>
          <p:nvPr>
            <p:ph idx="1"/>
          </p:nvPr>
        </p:nvSpPr>
        <p:spPr/>
        <p:txBody>
          <a:bodyPr/>
          <a:lstStyle/>
          <a:p>
            <a:pPr lvl="0" indent="0" marL="0">
              <a:buNone/>
            </a:pPr>
            <a:r>
              <a:rPr/>
              <a:t>The Prototype pattern delegates the cloning process to the actual objects that are being cloned. The pattern declares a common interface for all objects that support cloning. This interface lets you clone an object without coupling your code to the class of that object. Usually, such an interface contains just a single </a:t>
            </a:r>
            <a:r>
              <a:rPr>
                <a:latin typeface="Courier"/>
              </a:rPr>
              <a:t>clone</a:t>
            </a:r>
            <a:r>
              <a:rPr/>
              <a:t> method.</a:t>
            </a:r>
          </a:p>
          <a:p>
            <a:pPr lvl="0" indent="0" marL="0">
              <a:buNone/>
            </a:pPr>
            <a:r>
              <a:rPr b="1"/>
              <a:t>How it works:</a:t>
            </a:r>
          </a:p>
          <a:p>
            <a:pPr lvl="0"/>
            <a:r>
              <a:rPr/>
              <a:t>An object that supports cloning is called a </a:t>
            </a:r>
            <a:r>
              <a:rPr b="1"/>
              <a:t>prototype</a:t>
            </a:r>
            <a:r>
              <a:rPr/>
              <a:t>.</a:t>
            </a:r>
          </a:p>
          <a:p>
            <a:pPr lvl="0"/>
            <a:r>
              <a:rPr/>
              <a:t>When your objects have dozens of fields and hundreds of possible configurations, cloning them might serve as an alternative to subclassing.</a:t>
            </a:r>
          </a:p>
          <a:p>
            <a:pPr lvl="0"/>
            <a:r>
              <a:rPr/>
              <a:t>You create a set of objects, configured in various ways. When you need an object like the one you have configured, you just clone a prototype instead of constructing a new object from scratch.</a:t>
            </a:r>
          </a:p>
          <a:p>
            <a:pPr lvl="0" indent="0" marL="0">
              <a:buNone/>
            </a:pPr>
            <a:r>
              <a:rPr b="1"/>
              <a:t>Pre-built prototypes</a:t>
            </a:r>
            <a:r>
              <a:rPr/>
              <a:t>: The pattern provides a way to create pre-built prototype objects. You can think of it as an analog of a catalog. These prototypes can have complex state already configured.</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The Solution (cont.)</a:t>
            </a:r>
          </a:p>
        </p:txBody>
      </p:sp>
      <p:sp>
        <p:nvSpPr>
          <p:cNvPr id="3" name="Content Placeholder 2"/>
          <p:cNvSpPr>
            <a:spLocks noGrp="1"/>
          </p:cNvSpPr>
          <p:nvPr>
            <p:ph idx="1"/>
          </p:nvPr>
        </p:nvSpPr>
        <p:spPr/>
        <p:txBody>
          <a:bodyPr/>
          <a:lstStyle/>
          <a:p>
            <a:pPr lvl="0" indent="0" marL="0">
              <a:buNone/>
            </a:pPr>
            <a:r>
              <a:rPr b="1"/>
              <a:t>Prototype Registry (Cache)</a:t>
            </a:r>
            <a:r>
              <a:rPr/>
              <a:t>:</a:t>
            </a:r>
          </a:p>
          <a:p>
            <a:pPr lvl="0" indent="0" marL="0">
              <a:buNone/>
            </a:pPr>
            <a:r>
              <a:rPr/>
              <a:t>An optional addition to the pattern is a </a:t>
            </a:r>
            <a:r>
              <a:rPr b="1"/>
              <a:t>Prototype Registry</a:t>
            </a:r>
            <a:r>
              <a:rPr/>
              <a:t> that provides an easy way to access frequently-used prototypes. It stores a set of pre-built objects that are ready to be copied.</a:t>
            </a:r>
          </a:p>
          <a:p>
            <a:pPr lvl="0" indent="0" marL="0">
              <a:buNone/>
            </a:pPr>
            <a:r>
              <a:rPr/>
              <a:t>The simplest prototype registry is a </a:t>
            </a:r>
            <a:r>
              <a:rPr b="1"/>
              <a:t>name -&gt; prototype</a:t>
            </a:r>
            <a:r>
              <a:rPr/>
              <a:t> hash map. However, if you need better search criteria than a simple name, you can build a much more robust version of the registry.</a:t>
            </a:r>
          </a:p>
          <a:p>
            <a:pPr lvl="0" indent="0">
              <a:buNone/>
            </a:pPr>
            <a:r>
              <a:rPr>
                <a:latin typeface="Courier"/>
              </a:rPr>
              <a:t>PrototypeRegistry
┌─────────────────────────────────┐
│  items: Map&lt;String, Prototype&gt;  │
│                                 │
│  addItem(id, prototype)         │
│  getById(id): Prototype         │
│  getByColor(color): Prototype   │
└─────────────────────────────────┘</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Structure</a:t>
            </a:r>
          </a:p>
        </p:txBody>
      </p:sp>
      <p:sp>
        <p:nvSpPr>
          <p:cNvPr id="3" name="Content Placeholder 2"/>
          <p:cNvSpPr>
            <a:spLocks noGrp="1"/>
          </p:cNvSpPr>
          <p:nvPr>
            <p:ph idx="1"/>
          </p:nvPr>
        </p:nvSpPr>
        <p:spPr/>
        <p:txBody>
          <a:bodyPr/>
          <a:lstStyle/>
          <a:p>
            <a:pPr lvl="0" indent="0" marL="0">
              <a:buNone/>
            </a:pPr>
            <a:r>
              <a:rPr b="1"/>
              <a:t>Basic Implementation:</a:t>
            </a:r>
          </a:p>
          <a:p>
            <a:pPr lvl="0" indent="-342900" marL="342900">
              <a:buAutoNum type="arabicPeriod"/>
            </a:pPr>
            <a:r>
              <a:rPr b="1"/>
              <a:t>Prototype Interface</a:t>
            </a:r>
            <a:r>
              <a:rPr/>
              <a:t> declares the cloning methods. In most cases, it is a single </a:t>
            </a:r>
            <a:r>
              <a:rPr>
                <a:latin typeface="Courier"/>
              </a:rPr>
              <a:t>clone</a:t>
            </a:r>
            <a:r>
              <a:rPr/>
              <a:t> method.</a:t>
            </a:r>
          </a:p>
          <a:p>
            <a:pPr lvl="0" indent="-342900" marL="342900">
              <a:buAutoNum type="arabicPeriod"/>
            </a:pPr>
            <a:r>
              <a:rPr b="1"/>
              <a:t>Concrete Prototype</a:t>
            </a:r>
            <a:r>
              <a:rPr/>
              <a:t> class implements the cloning method. In addition to copying the original object’s data to the clone, this method may also handle some edge cases of the cloning process related to cloning linked objects, untangling recursive dependencies, etc.</a:t>
            </a:r>
          </a:p>
          <a:p>
            <a:pPr lvl="0" indent="-342900" marL="342900">
              <a:buAutoNum type="arabicPeriod"/>
            </a:pPr>
            <a:r>
              <a:rPr b="1"/>
              <a:t>Client</a:t>
            </a:r>
            <a:r>
              <a:rPr/>
              <a:t> can produce a copy of any object that follows the prototype interface.</a:t>
            </a:r>
          </a:p>
          <a:p>
            <a:pPr lvl="0" indent="0" marL="0">
              <a:buNone/>
            </a:pPr>
            <a:r>
              <a:rPr b="1"/>
              <a:t>Registry Implementation (variant):</a:t>
            </a:r>
          </a:p>
          <a:p>
            <a:pPr lvl="0" indent="-342900" marL="342900">
              <a:buAutoNum startAt="4" type="arabicPeriod"/>
            </a:pPr>
            <a:r>
              <a:rPr b="1"/>
              <a:t>Prototype Registry</a:t>
            </a:r>
            <a:r>
              <a:rPr/>
              <a:t> provides an easy way to access frequently-used prototypes. It stores a set of pre-built objects that are ready to be copied. The simplest registry is a </a:t>
            </a:r>
            <a:r>
              <a:rPr>
                <a:latin typeface="Courier"/>
              </a:rPr>
              <a:t>name -&gt; prototype</a:t>
            </a:r>
            <a:r>
              <a:rPr/>
              <a:t> hash map.</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Prototype - Class Diagram</a:t>
            </a:r>
          </a:p>
        </p:txBody>
      </p:sp>
      <p:pic>
        <p:nvPicPr>
          <p:cNvPr descr="assets/prototype-structure.png" id="0" name="Picture 1"/>
          <p:cNvPicPr>
            <a:picLocks noGrp="1" noChangeAspect="1"/>
          </p:cNvPicPr>
          <p:nvPr/>
        </p:nvPicPr>
        <p:blipFill>
          <a:blip r:embed="rId2"/>
          <a:stretch>
            <a:fillRect/>
          </a:stretch>
        </p:blipFill>
        <p:spPr bwMode="auto">
          <a:xfrm>
            <a:off x="3568700" y="241300"/>
            <a:ext cx="5105400" cy="3784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Pseudocode</a:t>
            </a:r>
          </a:p>
        </p:txBody>
      </p:sp>
      <p:sp>
        <p:nvSpPr>
          <p:cNvPr id="3" name="Content Placeholder 2"/>
          <p:cNvSpPr>
            <a:spLocks noGrp="1"/>
          </p:cNvSpPr>
          <p:nvPr>
            <p:ph idx="1"/>
          </p:nvPr>
        </p:nvSpPr>
        <p:spPr/>
        <p:txBody>
          <a:bodyPr/>
          <a:lstStyle/>
          <a:p>
            <a:pPr lvl="0" indent="0" marL="0">
              <a:buNone/>
            </a:pPr>
            <a:r>
              <a:rPr/>
              <a:t>In this example, the Prototype pattern lets you produce exact copies of geometric objects, without coupling the code to their classes.</a:t>
            </a:r>
          </a:p>
          <a:p>
            <a:pPr lvl="0" indent="0">
              <a:buNone/>
            </a:pPr>
            <a:r>
              <a:rPr>
                <a:latin typeface="Courier"/>
              </a:rPr>
              <a:t>// Base prototype
abstract class Shape is
    field X: int
    field Y: int
    field color: string
    // A regular constructor
    constructor Shape() is
        // ...
    // The prototype constructor. A fresh object is
    // initialized with values from the existing object.
    constructor Shape(source: Shape) is
        this()
        this.X = source.X
        this.Y = source.Y
        this.color = source.color
    // The clone operation returns one of the Shape
    // subclasses.
    abstract method clone(): Shape</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Pseudocode (cont.)</a:t>
            </a:r>
          </a:p>
        </p:txBody>
      </p:sp>
      <p:sp>
        <p:nvSpPr>
          <p:cNvPr id="3" name="Content Placeholder 2"/>
          <p:cNvSpPr>
            <a:spLocks noGrp="1"/>
          </p:cNvSpPr>
          <p:nvPr>
            <p:ph idx="1"/>
          </p:nvPr>
        </p:nvSpPr>
        <p:spPr/>
        <p:txBody>
          <a:bodyPr/>
          <a:lstStyle/>
          <a:p>
            <a:pPr lvl="0" indent="0">
              <a:buNone/>
            </a:pPr>
            <a:r>
              <a:rPr>
                <a:latin typeface="Courier"/>
              </a:rPr>
              <a:t>class Rectangle extends Shape is
    field width: int
    field height: int
    constructor Rectangle(source: Rectangle) is
        super(source)
        this.width = source.width
        this.height = source.height
    method clone(): Shape is
        return new Rectangle(this)
class Circle extends Shape is
    field radius: int
    constructor Circle(source: Circle) is
        super(source)
        this.radius = source.radius
    method clone(): Shape is
        return new Circle(this)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Pseudocode (cont.)</a:t>
            </a:r>
          </a:p>
        </p:txBody>
      </p:sp>
      <p:sp>
        <p:nvSpPr>
          <p:cNvPr id="3" name="Content Placeholder 2"/>
          <p:cNvSpPr>
            <a:spLocks noGrp="1"/>
          </p:cNvSpPr>
          <p:nvPr>
            <p:ph idx="1"/>
          </p:nvPr>
        </p:nvSpPr>
        <p:spPr/>
        <p:txBody>
          <a:bodyPr/>
          <a:lstStyle/>
          <a:p>
            <a:pPr lvl="0" indent="0">
              <a:buNone/>
            </a:pPr>
            <a:r>
              <a:rPr>
                <a:latin typeface="Courier"/>
              </a:rPr>
              <a:t>// Somewhere in the client code.
class Application is
    field shapes: array of Shape
    constructor Application() is
        Circle circle = new Circle()
        circle.X = 10
        circle.Y = 10
        circle.radius = 20
        shapes.add(circle)
        Circle anotherCircle = circle.clone()
        shapes.add(anotherCircle)
        // anotherCircle is an exact copy of circle
        Rectangle rect = new Rectangle()
        rect.width = 10
        rect.height = 20
        shapes.add(rect)
    method businessLogic() is
        // Prototype rocks because it lets you produce
        // a copy of an object without knowing anything
        // about its type.
        Array shapesCopy = new Array of Shapes
        foreach (s in shapes) do
            shapesCopy.add(s.clone())
        // shapesCopy contains exact copies of shapes</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Prototype - Sequence Diagram</a:t>
            </a:r>
          </a:p>
        </p:txBody>
      </p:sp>
      <p:pic>
        <p:nvPicPr>
          <p:cNvPr descr="assets/prototype-sequence.png" id="0" name="Picture 1"/>
          <p:cNvPicPr>
            <a:picLocks noGrp="1" noChangeAspect="1"/>
          </p:cNvPicPr>
          <p:nvPr/>
        </p:nvPicPr>
        <p:blipFill>
          <a:blip r:embed="rId2"/>
          <a:stretch>
            <a:fillRect/>
          </a:stretch>
        </p:blipFill>
        <p:spPr bwMode="auto">
          <a:xfrm>
            <a:off x="4610100" y="203200"/>
            <a:ext cx="3022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Applicability</a:t>
            </a:r>
          </a:p>
        </p:txBody>
      </p:sp>
      <p:sp>
        <p:nvSpPr>
          <p:cNvPr id="3" name="Content Placeholder 2"/>
          <p:cNvSpPr>
            <a:spLocks noGrp="1"/>
          </p:cNvSpPr>
          <p:nvPr>
            <p:ph idx="1"/>
          </p:nvPr>
        </p:nvSpPr>
        <p:spPr/>
        <p:txBody>
          <a:bodyPr/>
          <a:lstStyle/>
          <a:p>
            <a:pPr lvl="0" indent="0" marL="0">
              <a:buNone/>
            </a:pPr>
            <a:r>
              <a:rPr/>
              <a:t>Use the Prototype pattern when:</a:t>
            </a:r>
          </a:p>
          <a:p>
            <a:pPr lvl="0" indent="-342900" marL="342900">
              <a:buAutoNum type="arabicPeriod"/>
            </a:pPr>
            <a:r>
              <a:rPr b="1"/>
              <a:t>Your code should not depend on the concrete classes of objects that you need to copy.</a:t>
            </a:r>
          </a:p>
          <a:p>
            <a:pPr lvl="1"/>
            <a:r>
              <a:rPr/>
              <a:t>This happens a lot when your code works with objects passed to you from 3rd-party code via some interface. The concrete classes of these objects are unknown, and you could not depend on them even if you wanted to.</a:t>
            </a:r>
          </a:p>
          <a:p>
            <a:pPr lvl="1"/>
            <a:r>
              <a:rPr/>
              <a:t>The Prototype pattern provides the client code with a general interface for working with all objects that support cloning. This interface makes the client code independent from the concrete classes of objects that it clones.</a:t>
            </a:r>
          </a:p>
          <a:p>
            <a:pPr lvl="0" indent="-342900" marL="342900">
              <a:buAutoNum type="arabicPeriod"/>
            </a:pPr>
            <a:r>
              <a:rPr b="1"/>
              <a:t>You want to reduce the number of subclasses that only differ in the way they initialize their respective objects.</a:t>
            </a:r>
          </a:p>
          <a:p>
            <a:pPr lvl="1"/>
            <a:r>
              <a:rPr/>
              <a:t>Somebody could have created these subclasses to be able to create objects with a specific configuration.</a:t>
            </a:r>
          </a:p>
          <a:p>
            <a:pPr lvl="1"/>
            <a:r>
              <a:rPr/>
              <a:t>The Prototype pattern lets you use a set of pre-built objects configured in various ways as prototypes. Instead of instantiating a subclass that matches some configuration, the client can simply look for an appropriate prototype and clone it.</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How to Implement</a:t>
            </a:r>
          </a:p>
        </p:txBody>
      </p:sp>
      <p:sp>
        <p:nvSpPr>
          <p:cNvPr id="3" name="Content Placeholder 2"/>
          <p:cNvSpPr>
            <a:spLocks noGrp="1"/>
          </p:cNvSpPr>
          <p:nvPr>
            <p:ph idx="1"/>
          </p:nvPr>
        </p:nvSpPr>
        <p:spPr/>
        <p:txBody>
          <a:bodyPr/>
          <a:lstStyle/>
          <a:p>
            <a:pPr lvl="0" indent="-342900" marL="342900">
              <a:buAutoNum type="arabicPeriod"/>
            </a:pPr>
            <a:r>
              <a:rPr b="1"/>
              <a:t>Create the prototype interface</a:t>
            </a:r>
            <a:r>
              <a:rPr/>
              <a:t> and declare the </a:t>
            </a:r>
            <a:r>
              <a:rPr>
                <a:latin typeface="Courier"/>
              </a:rPr>
              <a:t>clone</a:t>
            </a:r>
            <a:r>
              <a:rPr/>
              <a:t> method in it. Or just add the method to all classes of an existing class hierarchy, if you have one.</a:t>
            </a:r>
          </a:p>
          <a:p>
            <a:pPr lvl="0" indent="-342900" marL="342900">
              <a:buAutoNum type="arabicPeriod"/>
            </a:pPr>
            <a:r>
              <a:rPr b="1"/>
              <a:t>A prototype class must define the alternative constructor</a:t>
            </a:r>
            <a:r>
              <a:rPr/>
              <a:t> that accepts an object of that class as an argument. The constructor must copy the values of all fields defined in the class from the passed object into the newly created instance. If you are changing a subclass, you must call the parent constructor to let the superclass handle the cloning of its private fields.</a:t>
            </a:r>
          </a:p>
          <a:p>
            <a:pPr lvl="0" indent="-342900" marL="342900">
              <a:buAutoNum type="arabicPeriod"/>
            </a:pPr>
            <a:r>
              <a:rPr b="1"/>
              <a:t>The cloning method usually consists of just one line</a:t>
            </a:r>
            <a:r>
              <a:rPr/>
              <a:t>: running a </a:t>
            </a:r>
            <a:r>
              <a:rPr>
                <a:latin typeface="Courier"/>
              </a:rPr>
              <a:t>new</a:t>
            </a:r>
            <a:r>
              <a:rPr/>
              <a:t> operator with the prototypical version of the constructor. Note, every class must explicitly override the cloning method and use its own class name along with the </a:t>
            </a:r>
            <a:r>
              <a:rPr>
                <a:latin typeface="Courier"/>
              </a:rPr>
              <a:t>new</a:t>
            </a:r>
            <a:r>
              <a:rPr/>
              <a:t> operator. Otherwise, the cloning method may produce an object of a parent class.</a:t>
            </a:r>
          </a:p>
          <a:p>
            <a:pPr lvl="0" indent="-342900" marL="342900">
              <a:buAutoNum type="arabicPeriod"/>
            </a:pPr>
            <a:r>
              <a:rPr b="1"/>
              <a:t>Optionally, create a centralized prototype registry</a:t>
            </a:r>
            <a:r>
              <a:rPr/>
              <a:t> to store a catalog of frequently used prototypes.</a:t>
            </a:r>
          </a:p>
          <a:p>
            <a:pPr lvl="0" indent="-342900" marL="342900">
              <a:buAutoNum type="arabicPeriod"/>
            </a:pPr>
            <a:r>
              <a:rPr b="1"/>
              <a:t>You can implement the registry as a new factory class</a:t>
            </a:r>
            <a:r>
              <a:rPr/>
              <a:t> or put it in the base prototype class with a static method for fetching the prototype. This method should search for a prototype based on search criteria that the client code passes to the method.</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Pros and Cons</a:t>
            </a:r>
          </a:p>
        </p:txBody>
      </p:sp>
      <p:sp>
        <p:nvSpPr>
          <p:cNvPr id="3" name="Content Placeholder 2"/>
          <p:cNvSpPr>
            <a:spLocks noGrp="1"/>
          </p:cNvSpPr>
          <p:nvPr>
            <p:ph idx="1"/>
          </p:nvPr>
        </p:nvSpPr>
        <p:spPr/>
        <p:txBody>
          <a:bodyPr/>
          <a:lstStyle/>
          <a:p>
            <a:pPr lvl="0" indent="0" marL="0">
              <a:spcBef>
                <a:spcPts val="3000"/>
              </a:spcBef>
              <a:buNone/>
            </a:pPr>
            <a:r>
              <a:rPr b="1"/>
              <a:t>Pros</a:t>
            </a:r>
          </a:p>
          <a:p>
            <a:pPr lvl="0"/>
            <a:r>
              <a:rPr b="1"/>
              <a:t>Clone objects without coupling</a:t>
            </a:r>
            <a:r>
              <a:rPr/>
              <a:t> to their concrete classes.</a:t>
            </a:r>
          </a:p>
          <a:p>
            <a:pPr lvl="0"/>
            <a:r>
              <a:rPr b="1"/>
              <a:t>Get rid of repeated initialization code</a:t>
            </a:r>
            <a:r>
              <a:rPr/>
              <a:t> in favor of cloning pre-built prototypes.</a:t>
            </a:r>
          </a:p>
          <a:p>
            <a:pPr lvl="0"/>
            <a:r>
              <a:rPr b="1"/>
              <a:t>Produce complex objects more conveniently</a:t>
            </a:r>
            <a:r>
              <a:rPr/>
              <a:t>: when objects have complex internal state, cloning is faster and easier than building from scratch.</a:t>
            </a:r>
          </a:p>
          <a:p>
            <a:pPr lvl="0"/>
            <a:r>
              <a:rPr b="1"/>
              <a:t>Alternative to inheritance</a:t>
            </a:r>
            <a:r>
              <a:rPr/>
              <a:t>: You get an alternative for dealing with configuration presets for complex objects. Instead of creating subclasses for each configuration, you can create prototypes with different configurations and clone them.</a:t>
            </a:r>
          </a:p>
          <a:p>
            <a:pPr lvl="0" indent="0" marL="0">
              <a:spcBef>
                <a:spcPts val="3000"/>
              </a:spcBef>
              <a:buNone/>
            </a:pPr>
            <a:r>
              <a:rPr b="1"/>
              <a:t>Cons</a:t>
            </a:r>
          </a:p>
          <a:p>
            <a:pPr lvl="0"/>
            <a:r>
              <a:rPr b="1"/>
              <a:t>Cloning complex objects with circular references</a:t>
            </a:r>
            <a:r>
              <a:rPr/>
              <a:t> might be very tricky. Deep cloning objects that contain references to other objects requires careful handling of circular dependencies.</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Relations with Other Patterns</a:t>
            </a:r>
          </a:p>
        </p:txBody>
      </p:sp>
      <p:sp>
        <p:nvSpPr>
          <p:cNvPr id="3" name="Content Placeholder 2"/>
          <p:cNvSpPr>
            <a:spLocks noGrp="1"/>
          </p:cNvSpPr>
          <p:nvPr>
            <p:ph idx="1"/>
          </p:nvPr>
        </p:nvSpPr>
        <p:spPr/>
        <p:txBody>
          <a:bodyPr/>
          <a:lstStyle/>
          <a:p>
            <a:pPr lvl="0"/>
            <a:r>
              <a:rPr/>
              <a:t>Many designs start by using </a:t>
            </a:r>
            <a:r>
              <a:rPr b="1"/>
              <a:t>Factory Method</a:t>
            </a:r>
            <a:r>
              <a:rPr/>
              <a:t> (less complicated, more customizable via subclasses) and evolve toward </a:t>
            </a:r>
            <a:r>
              <a:rPr b="1"/>
              <a:t>Abstract Factory</a:t>
            </a:r>
            <a:r>
              <a:rPr/>
              <a:t>, </a:t>
            </a:r>
            <a:r>
              <a:rPr b="1"/>
              <a:t>Prototype</a:t>
            </a:r>
            <a:r>
              <a:rPr/>
              <a:t>, or </a:t>
            </a:r>
            <a:r>
              <a:rPr b="1"/>
              <a:t>Builder</a:t>
            </a:r>
            <a:r>
              <a:rPr/>
              <a:t> (more flexible, but more complex).</a:t>
            </a:r>
          </a:p>
          <a:p>
            <a:pPr lvl="0"/>
            <a:r>
              <a:rPr b="1"/>
              <a:t>Abstract Factory</a:t>
            </a:r>
            <a:r>
              <a:rPr/>
              <a:t> classes are often based on a set of </a:t>
            </a:r>
            <a:r>
              <a:rPr b="1"/>
              <a:t>Factory Methods</a:t>
            </a:r>
            <a:r>
              <a:rPr/>
              <a:t>, but you can also use </a:t>
            </a:r>
            <a:r>
              <a:rPr b="1"/>
              <a:t>Prototype</a:t>
            </a:r>
            <a:r>
              <a:rPr/>
              <a:t> to compose the methods on these classes.</a:t>
            </a:r>
          </a:p>
          <a:p>
            <a:pPr lvl="0"/>
            <a:r>
              <a:rPr b="1"/>
              <a:t>Prototype</a:t>
            </a:r>
            <a:r>
              <a:rPr/>
              <a:t> can help when you need to save copies of </a:t>
            </a:r>
            <a:r>
              <a:rPr b="1"/>
              <a:t>Commands</a:t>
            </a:r>
            <a:r>
              <a:rPr/>
              <a:t> into history (Memento pattern alternative).</a:t>
            </a:r>
          </a:p>
          <a:p>
            <a:pPr lvl="0"/>
            <a:r>
              <a:rPr/>
              <a:t>Designs that make heavy use of </a:t>
            </a:r>
            <a:r>
              <a:rPr b="1"/>
              <a:t>Composite</a:t>
            </a:r>
            <a:r>
              <a:rPr/>
              <a:t> and </a:t>
            </a:r>
            <a:r>
              <a:rPr b="1"/>
              <a:t>Decorator</a:t>
            </a:r>
            <a:r>
              <a:rPr/>
              <a:t> can often benefit from using </a:t>
            </a:r>
            <a:r>
              <a:rPr b="1"/>
              <a:t>Prototype</a:t>
            </a:r>
            <a:r>
              <a:rPr/>
              <a:t>. Applying the pattern lets you clone complex structures instead of re-constructing them from scratch.</a:t>
            </a:r>
          </a:p>
          <a:p>
            <a:pPr lvl="0"/>
            <a:r>
              <a:rPr b="1"/>
              <a:t>Prototype</a:t>
            </a:r>
            <a:r>
              <a:rPr/>
              <a:t> is not based on inheritance, so it does not have its drawbacks. On the other hand, Prototype requires a complicated initialization of the cloned object. </a:t>
            </a:r>
            <a:r>
              <a:rPr b="1"/>
              <a:t>Factory Method</a:t>
            </a:r>
            <a:r>
              <a:rPr/>
              <a:t> is based on inheritance but does not require an initialization step.</a:t>
            </a:r>
          </a:p>
          <a:p>
            <a:pPr lvl="0"/>
            <a:r>
              <a:rPr/>
              <a:t>Sometimes </a:t>
            </a:r>
            <a:r>
              <a:rPr b="1"/>
              <a:t>Prototype</a:t>
            </a:r>
            <a:r>
              <a:rPr/>
              <a:t> can be a simpler alternative to </a:t>
            </a:r>
            <a:r>
              <a:rPr b="1"/>
              <a:t>Memento</a:t>
            </a:r>
            <a:r>
              <a:rPr/>
              <a:t>. This works if the object, the state of which you want to store in the history, is fairly straightforward and does not have links to external resources, or the links are easy to re-establish.</a:t>
            </a:r>
          </a:p>
          <a:p>
            <a:pPr lvl="0"/>
            <a:r>
              <a:rPr b="1"/>
              <a:t>Abstract Factories</a:t>
            </a:r>
            <a:r>
              <a:rPr/>
              <a:t>, </a:t>
            </a:r>
            <a:r>
              <a:rPr b="1"/>
              <a:t>Builders</a:t>
            </a:r>
            <a:r>
              <a:rPr/>
              <a:t>, and </a:t>
            </a:r>
            <a:r>
              <a:rPr b="1"/>
              <a:t>Prototypes</a:t>
            </a:r>
            <a:r>
              <a:rPr/>
              <a:t> can all be implemented as </a:t>
            </a:r>
            <a:r>
              <a:rPr b="1"/>
              <a:t>Singletons</a:t>
            </a:r>
            <a:r>
              <a:rPr/>
              <a:t>.</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Java Code Example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Prototype interface</a:t>
            </a:r>
            <a:br/>
            <a:r>
              <a:rPr b="1">
                <a:solidFill>
                  <a:srgbClr val="007020"/>
                </a:solidFill>
                <a:latin typeface="Courier"/>
              </a:rPr>
              <a:t>interface</a:t>
            </a:r>
            <a:r>
              <a:rPr>
                <a:latin typeface="Courier"/>
              </a:rPr>
              <a:t> Prototype </a:t>
            </a:r>
            <a:r>
              <a:rPr>
                <a:solidFill>
                  <a:srgbClr val="666666"/>
                </a:solidFill>
                <a:latin typeface="Courier"/>
              </a:rPr>
              <a:t>{</a:t>
            </a:r>
            <a:br/>
            <a:r>
              <a:rPr>
                <a:latin typeface="Courier"/>
              </a:rPr>
              <a:t>    Prototype </a:t>
            </a:r>
            <a:r>
              <a:rPr>
                <a:solidFill>
                  <a:srgbClr val="06287E"/>
                </a:solidFill>
                <a:latin typeface="Courier"/>
              </a:rPr>
              <a:t>clone</a:t>
            </a:r>
            <a:r>
              <a:rPr>
                <a:solidFill>
                  <a:srgbClr val="666666"/>
                </a:solidFill>
                <a:latin typeface="Courier"/>
              </a:rPr>
              <a:t>();</a:t>
            </a:r>
            <a:br/>
            <a:r>
              <a:rPr>
                <a:solidFill>
                  <a:srgbClr val="666666"/>
                </a:solidFill>
                <a:latin typeface="Courier"/>
              </a:rPr>
              <a:t>}</a:t>
            </a:r>
            <a:br/>
            <a:br/>
            <a:r>
              <a:rPr i="1">
                <a:solidFill>
                  <a:srgbClr val="60A0B0"/>
                </a:solidFill>
                <a:latin typeface="Courier"/>
              </a:rPr>
              <a:t>// Abstract base class</a:t>
            </a:r>
            <a:br/>
            <a:r>
              <a:rPr b="1">
                <a:solidFill>
                  <a:srgbClr val="007020"/>
                </a:solidFill>
                <a:latin typeface="Courier"/>
              </a:rPr>
              <a:t>abstract</a:t>
            </a:r>
            <a:r>
              <a:rPr>
                <a:latin typeface="Courier"/>
              </a:rPr>
              <a:t> </a:t>
            </a:r>
            <a:r>
              <a:rPr b="1">
                <a:solidFill>
                  <a:srgbClr val="007020"/>
                </a:solidFill>
                <a:latin typeface="Courier"/>
              </a:rPr>
              <a:t>class</a:t>
            </a:r>
            <a:r>
              <a:rPr>
                <a:latin typeface="Courier"/>
              </a:rPr>
              <a:t> </a:t>
            </a:r>
            <a:r>
              <a:rPr>
                <a:solidFill>
                  <a:srgbClr val="008000"/>
                </a:solidFill>
                <a:latin typeface="Courier"/>
              </a:rPr>
              <a:t>Shape</a:t>
            </a:r>
            <a:r>
              <a:rPr>
                <a:latin typeface="Courier"/>
              </a:rPr>
              <a:t> </a:t>
            </a:r>
            <a:r>
              <a:rPr b="1">
                <a:solidFill>
                  <a:srgbClr val="007020"/>
                </a:solidFill>
                <a:latin typeface="Courier"/>
              </a:rPr>
              <a:t>implements</a:t>
            </a:r>
            <a:r>
              <a:rPr>
                <a:latin typeface="Courier"/>
              </a:rPr>
              <a:t> Prototype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x</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y</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color</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i="1">
                <a:solidFill>
                  <a:srgbClr val="60A0B0"/>
                </a:solidFill>
                <a:latin typeface="Courier"/>
              </a:rPr>
              <a:t>// Copy constructor</a:t>
            </a: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solidFill>
                  <a:srgbClr val="666666"/>
                </a:solidFill>
                <a:latin typeface="Courier"/>
              </a:rPr>
              <a:t>(</a:t>
            </a:r>
            <a:r>
              <a:rPr>
                <a:solidFill>
                  <a:srgbClr val="008000"/>
                </a:solidFill>
                <a:latin typeface="Courier"/>
              </a:rPr>
              <a:t>Shape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x</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y</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color</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color</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Concrete Prototype - Circle</a:t>
            </a:r>
            <a:br/>
            <a:r>
              <a:rPr b="1">
                <a:solidFill>
                  <a:srgbClr val="007020"/>
                </a:solidFill>
                <a:latin typeface="Courier"/>
              </a:rPr>
              <a:t>class</a:t>
            </a:r>
            <a:r>
              <a:rPr>
                <a:latin typeface="Courier"/>
              </a:rPr>
              <a:t> Circle </a:t>
            </a:r>
            <a:r>
              <a:rPr b="1">
                <a:solidFill>
                  <a:srgbClr val="007020"/>
                </a:solidFill>
                <a:latin typeface="Courier"/>
              </a:rPr>
              <a:t>extends</a:t>
            </a:r>
            <a:r>
              <a:rPr>
                <a:latin typeface="Courier"/>
              </a:rPr>
              <a:t> </a:t>
            </a:r>
            <a:r>
              <a:rPr>
                <a:solidFill>
                  <a:srgbClr val="008000"/>
                </a:solidFill>
                <a:latin typeface="Courier"/>
              </a:rPr>
              <a:t>Shape</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radius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Circle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Circle</a:t>
            </a:r>
            <a:r>
              <a:rPr>
                <a:solidFill>
                  <a:srgbClr val="666666"/>
                </a:solidFill>
                <a:latin typeface="Courier"/>
              </a:rPr>
              <a:t>(</a:t>
            </a:r>
            <a:r>
              <a:rPr>
                <a:latin typeface="Courier"/>
              </a:rPr>
              <a:t>Circle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source</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latin typeface="Courier"/>
              </a:rPr>
              <a:t> </a:t>
            </a:r>
            <a:r>
              <a:rPr>
                <a:solidFill>
                  <a:srgbClr val="06287E"/>
                </a:solidFill>
                <a:latin typeface="Courier"/>
              </a:rPr>
              <a:t>clone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Circle</a:t>
            </a:r>
            <a:r>
              <a:rPr>
                <a:solidFill>
                  <a:srgbClr val="666666"/>
                </a:solidFill>
                <a:latin typeface="Courier"/>
              </a:rPr>
              <a:t>(</a:t>
            </a:r>
            <a:r>
              <a:rPr b="1">
                <a:solidFill>
                  <a:srgbClr val="007020"/>
                </a:solidFill>
                <a:latin typeface="Courier"/>
              </a:rPr>
              <a:t>this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toString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"Circle{x="</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70A0"/>
                </a:solidFill>
                <a:latin typeface="Courier"/>
              </a:rPr>
              <a:t>", y="</a:t>
            </a:r>
            <a:r>
              <a:rPr>
                <a:latin typeface="Courier"/>
              </a:rPr>
              <a:t> </a:t>
            </a:r>
            <a:r>
              <a:rPr>
                <a:solidFill>
                  <a:srgbClr val="666666"/>
                </a:solidFill>
                <a:latin typeface="Courier"/>
              </a:rPr>
              <a:t>+</a:t>
            </a:r>
            <a:r>
              <a:rPr>
                <a:latin typeface="Courier"/>
              </a:rPr>
              <a:t> y</a:t>
            </a:r>
            <a:br/>
            <a:r>
              <a:rPr>
                <a:latin typeface="Courier"/>
              </a:rPr>
              <a:t>            </a:t>
            </a:r>
            <a:r>
              <a:rPr>
                <a:solidFill>
                  <a:srgbClr val="666666"/>
                </a:solidFill>
                <a:latin typeface="Courier"/>
              </a:rPr>
              <a:t>+</a:t>
            </a:r>
            <a:r>
              <a:rPr>
                <a:latin typeface="Courier"/>
              </a:rPr>
              <a:t> </a:t>
            </a:r>
            <a:r>
              <a:rPr>
                <a:solidFill>
                  <a:srgbClr val="4070A0"/>
                </a:solidFill>
                <a:latin typeface="Courier"/>
              </a:rPr>
              <a:t>", color='"</a:t>
            </a:r>
            <a:r>
              <a:rPr>
                <a:latin typeface="Courier"/>
              </a:rPr>
              <a:t> </a:t>
            </a:r>
            <a:r>
              <a:rPr>
                <a:solidFill>
                  <a:srgbClr val="666666"/>
                </a:solidFill>
                <a:latin typeface="Courier"/>
              </a:rPr>
              <a:t>+</a:t>
            </a:r>
            <a:r>
              <a:rPr>
                <a:latin typeface="Courier"/>
              </a:rPr>
              <a:t> color </a:t>
            </a:r>
            <a:r>
              <a:rPr>
                <a:solidFill>
                  <a:srgbClr val="666666"/>
                </a:solidFill>
                <a:latin typeface="Courier"/>
              </a:rPr>
              <a:t>+</a:t>
            </a:r>
            <a:r>
              <a:rPr>
                <a:latin typeface="Courier"/>
              </a:rPr>
              <a:t> </a:t>
            </a:r>
            <a:r>
              <a:rPr>
                <a:solidFill>
                  <a:srgbClr val="4070A0"/>
                </a:solidFill>
                <a:latin typeface="Courier"/>
              </a:rPr>
              <a:t>"'"</a:t>
            </a:r>
            <a:br/>
            <a:r>
              <a:rPr>
                <a:latin typeface="Courier"/>
              </a:rPr>
              <a:t>            </a:t>
            </a:r>
            <a:r>
              <a:rPr>
                <a:solidFill>
                  <a:srgbClr val="666666"/>
                </a:solidFill>
                <a:latin typeface="Courier"/>
              </a:rPr>
              <a:t>+</a:t>
            </a:r>
            <a:r>
              <a:rPr>
                <a:latin typeface="Courier"/>
              </a:rPr>
              <a:t> </a:t>
            </a:r>
            <a:r>
              <a:rPr>
                <a:solidFill>
                  <a:srgbClr val="4070A0"/>
                </a:solidFill>
                <a:latin typeface="Courier"/>
              </a:rPr>
              <a:t>", radius="</a:t>
            </a:r>
            <a:r>
              <a:rPr>
                <a:latin typeface="Courier"/>
              </a:rPr>
              <a:t> </a:t>
            </a:r>
            <a:r>
              <a:rPr>
                <a:solidFill>
                  <a:srgbClr val="666666"/>
                </a:solidFill>
                <a:latin typeface="Courier"/>
              </a:rPr>
              <a:t>+</a:t>
            </a:r>
            <a:r>
              <a:rPr>
                <a:latin typeface="Courier"/>
              </a:rPr>
              <a:t> radius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Concrete Prototype - Rectangle</a:t>
            </a:r>
            <a:br/>
            <a:r>
              <a:rPr b="1">
                <a:solidFill>
                  <a:srgbClr val="007020"/>
                </a:solidFill>
                <a:latin typeface="Courier"/>
              </a:rPr>
              <a:t>class</a:t>
            </a:r>
            <a:r>
              <a:rPr>
                <a:latin typeface="Courier"/>
              </a:rPr>
              <a:t> </a:t>
            </a:r>
            <a:r>
              <a:rPr>
                <a:solidFill>
                  <a:srgbClr val="008000"/>
                </a:solidFill>
                <a:latin typeface="Courier"/>
              </a:rPr>
              <a:t>Rectangle</a:t>
            </a:r>
            <a:r>
              <a:rPr>
                <a:latin typeface="Courier"/>
              </a:rPr>
              <a:t> </a:t>
            </a:r>
            <a:r>
              <a:rPr b="1">
                <a:solidFill>
                  <a:srgbClr val="007020"/>
                </a:solidFill>
                <a:latin typeface="Courier"/>
              </a:rPr>
              <a:t>extends</a:t>
            </a:r>
            <a:r>
              <a:rPr>
                <a:latin typeface="Courier"/>
              </a:rPr>
              <a:t> </a:t>
            </a:r>
            <a:r>
              <a:rPr>
                <a:solidFill>
                  <a:srgbClr val="008000"/>
                </a:solidFill>
                <a:latin typeface="Courier"/>
              </a:rPr>
              <a:t>Shape</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width</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height</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Rectangle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Rectangle</a:t>
            </a:r>
            <a:r>
              <a:rPr>
                <a:solidFill>
                  <a:srgbClr val="666666"/>
                </a:solidFill>
                <a:latin typeface="Courier"/>
              </a:rPr>
              <a:t>(</a:t>
            </a:r>
            <a:r>
              <a:rPr>
                <a:solidFill>
                  <a:srgbClr val="008000"/>
                </a:solidFill>
                <a:latin typeface="Courier"/>
              </a:rPr>
              <a:t>Rectangle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source</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width</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width</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height</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height</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latin typeface="Courier"/>
              </a:rPr>
              <a:t> </a:t>
            </a:r>
            <a:r>
              <a:rPr>
                <a:solidFill>
                  <a:srgbClr val="06287E"/>
                </a:solidFill>
                <a:latin typeface="Courier"/>
              </a:rPr>
              <a:t>clone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08000"/>
                </a:solidFill>
                <a:latin typeface="Courier"/>
              </a:rPr>
              <a:t>Rectangle</a:t>
            </a:r>
            <a:r>
              <a:rPr>
                <a:solidFill>
                  <a:srgbClr val="666666"/>
                </a:solidFill>
                <a:latin typeface="Courier"/>
              </a:rPr>
              <a:t>(</a:t>
            </a:r>
            <a:r>
              <a:rPr b="1">
                <a:solidFill>
                  <a:srgbClr val="007020"/>
                </a:solidFill>
                <a:latin typeface="Courier"/>
              </a:rPr>
              <a:t>this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toString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"Rectangle{x="</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70A0"/>
                </a:solidFill>
                <a:latin typeface="Courier"/>
              </a:rPr>
              <a:t>", y="</a:t>
            </a:r>
            <a:r>
              <a:rPr>
                <a:latin typeface="Courier"/>
              </a:rPr>
              <a:t> </a:t>
            </a:r>
            <a:r>
              <a:rPr>
                <a:solidFill>
                  <a:srgbClr val="666666"/>
                </a:solidFill>
                <a:latin typeface="Courier"/>
              </a:rPr>
              <a:t>+</a:t>
            </a:r>
            <a:r>
              <a:rPr>
                <a:latin typeface="Courier"/>
              </a:rPr>
              <a:t> y</a:t>
            </a:r>
            <a:br/>
            <a:r>
              <a:rPr>
                <a:latin typeface="Courier"/>
              </a:rPr>
              <a:t>            </a:t>
            </a:r>
            <a:r>
              <a:rPr>
                <a:solidFill>
                  <a:srgbClr val="666666"/>
                </a:solidFill>
                <a:latin typeface="Courier"/>
              </a:rPr>
              <a:t>+</a:t>
            </a:r>
            <a:r>
              <a:rPr>
                <a:latin typeface="Courier"/>
              </a:rPr>
              <a:t> </a:t>
            </a:r>
            <a:r>
              <a:rPr>
                <a:solidFill>
                  <a:srgbClr val="4070A0"/>
                </a:solidFill>
                <a:latin typeface="Courier"/>
              </a:rPr>
              <a:t>", color='"</a:t>
            </a:r>
            <a:r>
              <a:rPr>
                <a:latin typeface="Courier"/>
              </a:rPr>
              <a:t> </a:t>
            </a:r>
            <a:r>
              <a:rPr>
                <a:solidFill>
                  <a:srgbClr val="666666"/>
                </a:solidFill>
                <a:latin typeface="Courier"/>
              </a:rPr>
              <a:t>+</a:t>
            </a:r>
            <a:r>
              <a:rPr>
                <a:latin typeface="Courier"/>
              </a:rPr>
              <a:t> color </a:t>
            </a:r>
            <a:r>
              <a:rPr>
                <a:solidFill>
                  <a:srgbClr val="666666"/>
                </a:solidFill>
                <a:latin typeface="Courier"/>
              </a:rPr>
              <a:t>+</a:t>
            </a:r>
            <a:r>
              <a:rPr>
                <a:latin typeface="Courier"/>
              </a:rPr>
              <a:t> </a:t>
            </a:r>
            <a:r>
              <a:rPr>
                <a:solidFill>
                  <a:srgbClr val="4070A0"/>
                </a:solidFill>
                <a:latin typeface="Courier"/>
              </a:rPr>
              <a:t>"'"</a:t>
            </a:r>
            <a:br/>
            <a:r>
              <a:rPr>
                <a:latin typeface="Courier"/>
              </a:rPr>
              <a:t>            </a:t>
            </a:r>
            <a:r>
              <a:rPr>
                <a:solidFill>
                  <a:srgbClr val="666666"/>
                </a:solidFill>
                <a:latin typeface="Courier"/>
              </a:rPr>
              <a:t>+</a:t>
            </a:r>
            <a:r>
              <a:rPr>
                <a:latin typeface="Courier"/>
              </a:rPr>
              <a:t> </a:t>
            </a:r>
            <a:r>
              <a:rPr>
                <a:solidFill>
                  <a:srgbClr val="4070A0"/>
                </a:solidFill>
                <a:latin typeface="Courier"/>
              </a:rPr>
              <a:t>", width="</a:t>
            </a:r>
            <a:r>
              <a:rPr>
                <a:latin typeface="Courier"/>
              </a:rPr>
              <a:t> </a:t>
            </a:r>
            <a:r>
              <a:rPr>
                <a:solidFill>
                  <a:srgbClr val="666666"/>
                </a:solidFill>
                <a:latin typeface="Courier"/>
              </a:rPr>
              <a:t>+</a:t>
            </a:r>
            <a:r>
              <a:rPr>
                <a:latin typeface="Courier"/>
              </a:rPr>
              <a:t> width</a:t>
            </a:r>
            <a:br/>
            <a:r>
              <a:rPr>
                <a:latin typeface="Courier"/>
              </a:rPr>
              <a:t>            </a:t>
            </a:r>
            <a:r>
              <a:rPr>
                <a:solidFill>
                  <a:srgbClr val="666666"/>
                </a:solidFill>
                <a:latin typeface="Courier"/>
              </a:rPr>
              <a:t>+</a:t>
            </a:r>
            <a:r>
              <a:rPr>
                <a:latin typeface="Courier"/>
              </a:rPr>
              <a:t> </a:t>
            </a:r>
            <a:r>
              <a:rPr>
                <a:solidFill>
                  <a:srgbClr val="4070A0"/>
                </a:solidFill>
                <a:latin typeface="Courier"/>
              </a:rPr>
              <a:t>", height="</a:t>
            </a:r>
            <a:r>
              <a:rPr>
                <a:latin typeface="Courier"/>
              </a:rPr>
              <a:t> </a:t>
            </a:r>
            <a:r>
              <a:rPr>
                <a:solidFill>
                  <a:srgbClr val="666666"/>
                </a:solidFill>
                <a:latin typeface="Courier"/>
              </a:rPr>
              <a:t>+</a:t>
            </a:r>
            <a:r>
              <a:rPr>
                <a:latin typeface="Courier"/>
              </a:rPr>
              <a:t> height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Prototype Registry</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HashMap</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Map</a:t>
            </a:r>
            <a:r>
              <a:rPr>
                <a:solidFill>
                  <a:srgbClr val="666666"/>
                </a:solidFill>
                <a:latin typeface="Courier"/>
              </a:rPr>
              <a:t>;</a:t>
            </a:r>
            <a:br/>
            <a:br/>
            <a:r>
              <a:rPr b="1">
                <a:solidFill>
                  <a:srgbClr val="007020"/>
                </a:solidFill>
                <a:latin typeface="Courier"/>
              </a:rPr>
              <a:t>class</a:t>
            </a:r>
            <a:r>
              <a:rPr>
                <a:latin typeface="Courier"/>
              </a:rPr>
              <a:t> PrototypeRegistry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Shape</a:t>
            </a:r>
            <a:r>
              <a:rPr>
                <a:solidFill>
                  <a:srgbClr val="666666"/>
                </a:solidFill>
                <a:latin typeface="Courier"/>
              </a:rPr>
              <a:t>&gt;</a:t>
            </a:r>
            <a:r>
              <a:rPr>
                <a:latin typeface="Courier"/>
              </a:rPr>
              <a:t> items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addItem</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008000"/>
                </a:solidFill>
                <a:latin typeface="Courier"/>
              </a:rPr>
              <a:t>Shape</a:t>
            </a:r>
            <a:r>
              <a:rPr>
                <a:latin typeface="Courier"/>
              </a:rPr>
              <a:t> shape</a:t>
            </a:r>
            <a:r>
              <a:rPr>
                <a:solidFill>
                  <a:srgbClr val="666666"/>
                </a:solidFill>
                <a:latin typeface="Courier"/>
              </a:rPr>
              <a:t>)</a:t>
            </a:r>
            <a:r>
              <a:rPr>
                <a:latin typeface="Courier"/>
              </a:rPr>
              <a:t> </a:t>
            </a:r>
            <a:r>
              <a:rPr>
                <a:solidFill>
                  <a:srgbClr val="666666"/>
                </a:solidFill>
                <a:latin typeface="Courier"/>
              </a:rPr>
              <a:t>{</a:t>
            </a:r>
            <a:br/>
            <a:r>
              <a:rPr>
                <a:latin typeface="Courier"/>
              </a:rPr>
              <a:t>        items</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id</a:t>
            </a:r>
            <a:r>
              <a:rPr>
                <a:solidFill>
                  <a:srgbClr val="666666"/>
                </a:solidFill>
                <a:latin typeface="Courier"/>
              </a:rPr>
              <a:t>,</a:t>
            </a:r>
            <a:r>
              <a:rPr>
                <a:latin typeface="Courier"/>
              </a:rPr>
              <a:t> shape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latin typeface="Courier"/>
              </a:rPr>
              <a:t> </a:t>
            </a:r>
            <a:r>
              <a:rPr>
                <a:solidFill>
                  <a:srgbClr val="06287E"/>
                </a:solidFill>
                <a:latin typeface="Courier"/>
              </a:rPr>
              <a:t>getById</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666666"/>
                </a:solidFill>
                <a:latin typeface="Courier"/>
              </a:rPr>
              <a:t>(</a:t>
            </a:r>
            <a:r>
              <a:rPr>
                <a:solidFill>
                  <a:srgbClr val="008000"/>
                </a:solidFill>
                <a:latin typeface="Courier"/>
              </a:rPr>
              <a:t>Shape</a:t>
            </a:r>
            <a:r>
              <a:rPr>
                <a:solidFill>
                  <a:srgbClr val="666666"/>
                </a:solidFill>
                <a:latin typeface="Courier"/>
              </a:rPr>
              <a:t>)</a:t>
            </a:r>
            <a:r>
              <a:rPr>
                <a:latin typeface="Courier"/>
              </a:rPr>
              <a:t> items</a:t>
            </a:r>
            <a:r>
              <a:rPr>
                <a:solidFill>
                  <a:srgbClr val="666666"/>
                </a:solidFill>
                <a:latin typeface="Courier"/>
              </a:rPr>
              <a:t>.</a:t>
            </a:r>
            <a:r>
              <a:rPr>
                <a:solidFill>
                  <a:srgbClr val="06287E"/>
                </a:solidFill>
                <a:latin typeface="Courier"/>
              </a:rPr>
              <a:t>get</a:t>
            </a:r>
            <a:r>
              <a:rPr>
                <a:solidFill>
                  <a:srgbClr val="666666"/>
                </a:solidFill>
                <a:latin typeface="Courier"/>
              </a:rPr>
              <a:t>(</a:t>
            </a:r>
            <a:r>
              <a:rPr>
                <a:latin typeface="Courier"/>
              </a:rPr>
              <a:t>id</a:t>
            </a:r>
            <a:r>
              <a:rPr>
                <a:solidFill>
                  <a:srgbClr val="666666"/>
                </a:solidFill>
                <a:latin typeface="Courier"/>
              </a:rPr>
              <a:t>).</a:t>
            </a:r>
            <a:r>
              <a:rPr>
                <a:solidFill>
                  <a:srgbClr val="06287E"/>
                </a:solidFill>
                <a:latin typeface="Courier"/>
              </a:rPr>
              <a:t>clone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 Java Code Example (cont.)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Client code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PrototypeDemo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Create original shapes</a:t>
            </a:r>
            <a:br/>
            <a:r>
              <a:rPr>
                <a:latin typeface="Courier"/>
              </a:rPr>
              <a:t>        Circle circle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Circle</a:t>
            </a:r>
            <a:r>
              <a:rPr>
                <a:solidFill>
                  <a:srgbClr val="666666"/>
                </a:solidFill>
                <a:latin typeface="Courier"/>
              </a:rPr>
              <a:t>();</a:t>
            </a:r>
            <a:br/>
            <a:r>
              <a:rPr>
                <a:latin typeface="Courier"/>
              </a:rPr>
              <a:t>        circle</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circle</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a:latin typeface="Courier"/>
              </a:rPr>
              <a:t>        circle</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a:t>
            </a:r>
            <a:r>
              <a:rPr>
                <a:solidFill>
                  <a:srgbClr val="40A070"/>
                </a:solidFill>
                <a:latin typeface="Courier"/>
              </a:rPr>
              <a:t>15</a:t>
            </a:r>
            <a:r>
              <a:rPr>
                <a:solidFill>
                  <a:srgbClr val="666666"/>
                </a:solidFill>
                <a:latin typeface="Courier"/>
              </a:rPr>
              <a:t>;</a:t>
            </a:r>
            <a:br/>
            <a:r>
              <a:rPr>
                <a:latin typeface="Courier"/>
              </a:rPr>
              <a:t>        circle</a:t>
            </a:r>
            <a:r>
              <a:rPr>
                <a:solidFill>
                  <a:srgbClr val="666666"/>
                </a:solidFill>
                <a:latin typeface="Courier"/>
              </a:rPr>
              <a:t>.</a:t>
            </a:r>
            <a:r>
              <a:rPr>
                <a:solidFill>
                  <a:srgbClr val="06287E"/>
                </a:solidFill>
                <a:latin typeface="Courier"/>
              </a:rPr>
              <a:t>color</a:t>
            </a:r>
            <a:r>
              <a:rPr>
                <a:latin typeface="Courier"/>
              </a:rPr>
              <a:t> </a:t>
            </a:r>
            <a:r>
              <a:rPr>
                <a:solidFill>
                  <a:srgbClr val="666666"/>
                </a:solidFill>
                <a:latin typeface="Courier"/>
              </a:rPr>
              <a:t>=</a:t>
            </a:r>
            <a:r>
              <a:rPr>
                <a:latin typeface="Courier"/>
              </a:rPr>
              <a:t> </a:t>
            </a:r>
            <a:r>
              <a:rPr>
                <a:solidFill>
                  <a:srgbClr val="4070A0"/>
                </a:solidFill>
                <a:latin typeface="Courier"/>
              </a:rPr>
              <a:t>"red"</a:t>
            </a:r>
            <a:r>
              <a:rPr>
                <a:solidFill>
                  <a:srgbClr val="666666"/>
                </a:solidFill>
                <a:latin typeface="Courier"/>
              </a:rPr>
              <a:t>;</a:t>
            </a:r>
            <a:br/>
            <a:br/>
            <a:r>
              <a:rPr>
                <a:latin typeface="Courier"/>
              </a:rPr>
              <a:t>        </a:t>
            </a:r>
            <a:r>
              <a:rPr i="1">
                <a:solidFill>
                  <a:srgbClr val="60A0B0"/>
                </a:solidFill>
                <a:latin typeface="Courier"/>
              </a:rPr>
              <a:t>// Clone the circle</a:t>
            </a:r>
            <a:br/>
            <a:r>
              <a:rPr>
                <a:latin typeface="Courier"/>
              </a:rPr>
              <a:t>        Circle clonedCircle </a:t>
            </a:r>
            <a:r>
              <a:rPr>
                <a:solidFill>
                  <a:srgbClr val="666666"/>
                </a:solidFill>
                <a:latin typeface="Courier"/>
              </a:rPr>
              <a:t>=</a:t>
            </a:r>
            <a:r>
              <a:rPr>
                <a:latin typeface="Courier"/>
              </a:rPr>
              <a:t> </a:t>
            </a:r>
            <a:r>
              <a:rPr>
                <a:solidFill>
                  <a:srgbClr val="666666"/>
                </a:solidFill>
                <a:latin typeface="Courier"/>
              </a:rPr>
              <a:t>(</a:t>
            </a:r>
            <a:r>
              <a:rPr>
                <a:latin typeface="Courier"/>
              </a:rPr>
              <a:t>Circle</a:t>
            </a:r>
            <a:r>
              <a:rPr>
                <a:solidFill>
                  <a:srgbClr val="666666"/>
                </a:solidFill>
                <a:latin typeface="Courier"/>
              </a:rPr>
              <a:t>)</a:t>
            </a:r>
            <a:r>
              <a:rPr>
                <a:latin typeface="Courier"/>
              </a:rPr>
              <a:t> circle</a:t>
            </a:r>
            <a:r>
              <a:rPr>
                <a:solidFill>
                  <a:srgbClr val="666666"/>
                </a:solidFill>
                <a:latin typeface="Courier"/>
              </a:rPr>
              <a:t>.</a:t>
            </a:r>
            <a:r>
              <a:rPr>
                <a:solidFill>
                  <a:srgbClr val="06287E"/>
                </a:solidFill>
                <a:latin typeface="Courier"/>
              </a:rPr>
              <a:t>clone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"Original: "</a:t>
            </a:r>
            <a:r>
              <a:rPr>
                <a:latin typeface="Courier"/>
              </a:rPr>
              <a:t> </a:t>
            </a:r>
            <a:r>
              <a:rPr>
                <a:solidFill>
                  <a:srgbClr val="666666"/>
                </a:solidFill>
                <a:latin typeface="Courier"/>
              </a:rPr>
              <a:t>+</a:t>
            </a:r>
            <a:r>
              <a:rPr>
                <a:latin typeface="Courier"/>
              </a:rPr>
              <a:t> circle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"Clone:    "</a:t>
            </a:r>
            <a:r>
              <a:rPr>
                <a:latin typeface="Courier"/>
              </a:rPr>
              <a:t> </a:t>
            </a:r>
            <a:r>
              <a:rPr>
                <a:solidFill>
                  <a:srgbClr val="666666"/>
                </a:solidFill>
                <a:latin typeface="Courier"/>
              </a:rPr>
              <a:t>+</a:t>
            </a:r>
            <a:r>
              <a:rPr>
                <a:latin typeface="Courier"/>
              </a:rPr>
              <a:t> clonedCircle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"Same object? "</a:t>
            </a: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circle </a:t>
            </a:r>
            <a:r>
              <a:rPr>
                <a:solidFill>
                  <a:srgbClr val="666666"/>
                </a:solidFill>
                <a:latin typeface="Courier"/>
              </a:rPr>
              <a:t>==</a:t>
            </a:r>
            <a:r>
              <a:rPr>
                <a:latin typeface="Courier"/>
              </a:rPr>
              <a:t> clonedCircle</a:t>
            </a:r>
            <a:r>
              <a:rPr>
                <a:solidFill>
                  <a:srgbClr val="666666"/>
                </a:solidFill>
                <a:latin typeface="Courier"/>
              </a:rPr>
              <a:t>));</a:t>
            </a:r>
            <a:r>
              <a:rPr>
                <a:latin typeface="Courier"/>
              </a:rPr>
              <a:t> </a:t>
            </a:r>
            <a:r>
              <a:rPr i="1">
                <a:solidFill>
                  <a:srgbClr val="60A0B0"/>
                </a:solidFill>
                <a:latin typeface="Courier"/>
              </a:rPr>
              <a:t>// false</a:t>
            </a:r>
            <a:br/>
            <a:br/>
            <a:r>
              <a:rPr>
                <a:latin typeface="Courier"/>
              </a:rPr>
              <a:t>        </a:t>
            </a:r>
            <a:r>
              <a:rPr i="1">
                <a:solidFill>
                  <a:srgbClr val="60A0B0"/>
                </a:solidFill>
                <a:latin typeface="Courier"/>
              </a:rPr>
              <a:t>// Use prototype registry</a:t>
            </a:r>
            <a:br/>
            <a:r>
              <a:rPr>
                <a:latin typeface="Courier"/>
              </a:rPr>
              <a:t>        PrototypeRegistry registry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PrototypeRegistry</a:t>
            </a:r>
            <a:r>
              <a:rPr>
                <a:solidFill>
                  <a:srgbClr val="666666"/>
                </a:solidFill>
                <a:latin typeface="Courier"/>
              </a:rPr>
              <a:t>();</a:t>
            </a:r>
            <a:br/>
            <a:r>
              <a:rPr>
                <a:latin typeface="Courier"/>
              </a:rPr>
              <a:t>        registry</a:t>
            </a:r>
            <a:r>
              <a:rPr>
                <a:solidFill>
                  <a:srgbClr val="666666"/>
                </a:solidFill>
                <a:latin typeface="Courier"/>
              </a:rPr>
              <a:t>.</a:t>
            </a:r>
            <a:r>
              <a:rPr>
                <a:solidFill>
                  <a:srgbClr val="06287E"/>
                </a:solidFill>
                <a:latin typeface="Courier"/>
              </a:rPr>
              <a:t>addItem</a:t>
            </a:r>
            <a:r>
              <a:rPr>
                <a:solidFill>
                  <a:srgbClr val="666666"/>
                </a:solidFill>
                <a:latin typeface="Courier"/>
              </a:rPr>
              <a:t>(</a:t>
            </a:r>
            <a:r>
              <a:rPr>
                <a:solidFill>
                  <a:srgbClr val="4070A0"/>
                </a:solidFill>
                <a:latin typeface="Courier"/>
              </a:rPr>
              <a:t>"big-red-circle"</a:t>
            </a:r>
            <a:r>
              <a:rPr>
                <a:solidFill>
                  <a:srgbClr val="666666"/>
                </a:solidFill>
                <a:latin typeface="Courier"/>
              </a:rPr>
              <a:t>,</a:t>
            </a:r>
            <a:r>
              <a:rPr>
                <a:latin typeface="Courier"/>
              </a:rPr>
              <a:t> circle</a:t>
            </a:r>
            <a:r>
              <a:rPr>
                <a:solidFill>
                  <a:srgbClr val="666666"/>
                </a:solidFill>
                <a:latin typeface="Courier"/>
              </a:rPr>
              <a:t>);</a:t>
            </a:r>
            <a:br/>
            <a:br/>
            <a:r>
              <a:rPr>
                <a:latin typeface="Courier"/>
              </a:rPr>
              <a:t>        </a:t>
            </a:r>
            <a:r>
              <a:rPr>
                <a:solidFill>
                  <a:srgbClr val="008000"/>
                </a:solidFill>
                <a:latin typeface="Courier"/>
              </a:rPr>
              <a:t>Rectangle</a:t>
            </a:r>
            <a:r>
              <a:rPr>
                <a:latin typeface="Courier"/>
              </a:rPr>
              <a:t> rect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Rectangle</a:t>
            </a:r>
            <a:r>
              <a:rPr>
                <a:solidFill>
                  <a:srgbClr val="666666"/>
                </a:solidFill>
                <a:latin typeface="Courier"/>
              </a:rPr>
              <a:t>();</a:t>
            </a:r>
            <a:br/>
            <a:r>
              <a:rPr>
                <a:latin typeface="Courier"/>
              </a:rPr>
              <a:t>        rect</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rect</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br/>
            <a:r>
              <a:rPr>
                <a:latin typeface="Courier"/>
              </a:rPr>
              <a:t>        rect</a:t>
            </a:r>
            <a:r>
              <a:rPr>
                <a:solidFill>
                  <a:srgbClr val="666666"/>
                </a:solidFill>
                <a:latin typeface="Courier"/>
              </a:rPr>
              <a:t>.</a:t>
            </a:r>
            <a:r>
              <a:rPr>
                <a:solidFill>
                  <a:srgbClr val="06287E"/>
                </a:solidFill>
                <a:latin typeface="Courier"/>
              </a:rPr>
              <a:t>width</a:t>
            </a:r>
            <a:r>
              <a:rPr>
                <a:latin typeface="Courier"/>
              </a:rPr>
              <a:t> </a:t>
            </a:r>
            <a:r>
              <a:rPr>
                <a:solidFill>
                  <a:srgbClr val="666666"/>
                </a:solidFill>
                <a:latin typeface="Courier"/>
              </a:rPr>
              <a:t>=</a:t>
            </a:r>
            <a:r>
              <a:rPr>
                <a:latin typeface="Courier"/>
              </a:rPr>
              <a:t> </a:t>
            </a:r>
            <a:r>
              <a:rPr>
                <a:solidFill>
                  <a:srgbClr val="40A070"/>
                </a:solidFill>
                <a:latin typeface="Courier"/>
              </a:rPr>
              <a:t>100</a:t>
            </a:r>
            <a:r>
              <a:rPr>
                <a:solidFill>
                  <a:srgbClr val="666666"/>
                </a:solidFill>
                <a:latin typeface="Courier"/>
              </a:rPr>
              <a:t>;</a:t>
            </a:r>
            <a:r>
              <a:rPr>
                <a:latin typeface="Courier"/>
              </a:rPr>
              <a:t> rect</a:t>
            </a:r>
            <a:r>
              <a:rPr>
                <a:solidFill>
                  <a:srgbClr val="666666"/>
                </a:solidFill>
                <a:latin typeface="Courier"/>
              </a:rPr>
              <a:t>.</a:t>
            </a:r>
            <a:r>
              <a:rPr>
                <a:solidFill>
                  <a:srgbClr val="06287E"/>
                </a:solidFill>
                <a:latin typeface="Courier"/>
              </a:rPr>
              <a:t>height</a:t>
            </a:r>
            <a:r>
              <a:rPr>
                <a:latin typeface="Courier"/>
              </a:rPr>
              <a:t> </a:t>
            </a:r>
            <a:r>
              <a:rPr>
                <a:solidFill>
                  <a:srgbClr val="666666"/>
                </a:solidFill>
                <a:latin typeface="Courier"/>
              </a:rPr>
              <a:t>=</a:t>
            </a:r>
            <a:r>
              <a:rPr>
                <a:latin typeface="Courier"/>
              </a:rPr>
              <a:t> </a:t>
            </a:r>
            <a:r>
              <a:rPr>
                <a:solidFill>
                  <a:srgbClr val="40A070"/>
                </a:solidFill>
                <a:latin typeface="Courier"/>
              </a:rPr>
              <a:t>50</a:t>
            </a:r>
            <a:r>
              <a:rPr>
                <a:solidFill>
                  <a:srgbClr val="666666"/>
                </a:solidFill>
                <a:latin typeface="Courier"/>
              </a:rPr>
              <a:t>;</a:t>
            </a:r>
            <a:br/>
            <a:r>
              <a:rPr>
                <a:latin typeface="Courier"/>
              </a:rPr>
              <a:t>        rect</a:t>
            </a:r>
            <a:r>
              <a:rPr>
                <a:solidFill>
                  <a:srgbClr val="666666"/>
                </a:solidFill>
                <a:latin typeface="Courier"/>
              </a:rPr>
              <a:t>.</a:t>
            </a:r>
            <a:r>
              <a:rPr>
                <a:solidFill>
                  <a:srgbClr val="06287E"/>
                </a:solidFill>
                <a:latin typeface="Courier"/>
              </a:rPr>
              <a:t>color</a:t>
            </a:r>
            <a:r>
              <a:rPr>
                <a:latin typeface="Courier"/>
              </a:rPr>
              <a:t> </a:t>
            </a:r>
            <a:r>
              <a:rPr>
                <a:solidFill>
                  <a:srgbClr val="666666"/>
                </a:solidFill>
                <a:latin typeface="Courier"/>
              </a:rPr>
              <a:t>=</a:t>
            </a:r>
            <a:r>
              <a:rPr>
                <a:latin typeface="Courier"/>
              </a:rPr>
              <a:t> </a:t>
            </a:r>
            <a:r>
              <a:rPr>
                <a:solidFill>
                  <a:srgbClr val="4070A0"/>
                </a:solidFill>
                <a:latin typeface="Courier"/>
              </a:rPr>
              <a:t>"blue"</a:t>
            </a:r>
            <a:r>
              <a:rPr>
                <a:solidFill>
                  <a:srgbClr val="666666"/>
                </a:solidFill>
                <a:latin typeface="Courier"/>
              </a:rPr>
              <a:t>;</a:t>
            </a:r>
            <a:br/>
            <a:r>
              <a:rPr>
                <a:latin typeface="Courier"/>
              </a:rPr>
              <a:t>        registry</a:t>
            </a:r>
            <a:r>
              <a:rPr>
                <a:solidFill>
                  <a:srgbClr val="666666"/>
                </a:solidFill>
                <a:latin typeface="Courier"/>
              </a:rPr>
              <a:t>.</a:t>
            </a:r>
            <a:r>
              <a:rPr>
                <a:solidFill>
                  <a:srgbClr val="06287E"/>
                </a:solidFill>
                <a:latin typeface="Courier"/>
              </a:rPr>
              <a:t>addItem</a:t>
            </a:r>
            <a:r>
              <a:rPr>
                <a:solidFill>
                  <a:srgbClr val="666666"/>
                </a:solidFill>
                <a:latin typeface="Courier"/>
              </a:rPr>
              <a:t>(</a:t>
            </a:r>
            <a:r>
              <a:rPr>
                <a:solidFill>
                  <a:srgbClr val="4070A0"/>
                </a:solidFill>
                <a:latin typeface="Courier"/>
              </a:rPr>
              <a:t>"blue-rect"</a:t>
            </a:r>
            <a:r>
              <a:rPr>
                <a:solidFill>
                  <a:srgbClr val="666666"/>
                </a:solidFill>
                <a:latin typeface="Courier"/>
              </a:rPr>
              <a:t>,</a:t>
            </a:r>
            <a:r>
              <a:rPr>
                <a:latin typeface="Courier"/>
              </a:rPr>
              <a:t> rect</a:t>
            </a:r>
            <a:r>
              <a:rPr>
                <a:solidFill>
                  <a:srgbClr val="666666"/>
                </a:solidFill>
                <a:latin typeface="Courier"/>
              </a:rPr>
              <a:t>);</a:t>
            </a:r>
            <a:br/>
            <a:br/>
            <a:r>
              <a:rPr>
                <a:latin typeface="Courier"/>
              </a:rPr>
              <a:t>        </a:t>
            </a:r>
            <a:r>
              <a:rPr i="1">
                <a:solidFill>
                  <a:srgbClr val="60A0B0"/>
                </a:solidFill>
                <a:latin typeface="Courier"/>
              </a:rPr>
              <a:t>// Get clones from registry</a:t>
            </a:r>
            <a:br/>
            <a:r>
              <a:rPr>
                <a:latin typeface="Courier"/>
              </a:rPr>
              <a:t>        </a:t>
            </a:r>
            <a:r>
              <a:rPr>
                <a:solidFill>
                  <a:srgbClr val="008000"/>
                </a:solidFill>
                <a:latin typeface="Courier"/>
              </a:rPr>
              <a:t>Shape</a:t>
            </a:r>
            <a:r>
              <a:rPr>
                <a:latin typeface="Courier"/>
              </a:rPr>
              <a:t> s1 </a:t>
            </a:r>
            <a:r>
              <a:rPr>
                <a:solidFill>
                  <a:srgbClr val="666666"/>
                </a:solidFill>
                <a:latin typeface="Courier"/>
              </a:rPr>
              <a:t>=</a:t>
            </a:r>
            <a:r>
              <a:rPr>
                <a:latin typeface="Courier"/>
              </a:rPr>
              <a:t> registry</a:t>
            </a:r>
            <a:r>
              <a:rPr>
                <a:solidFill>
                  <a:srgbClr val="666666"/>
                </a:solidFill>
                <a:latin typeface="Courier"/>
              </a:rPr>
              <a:t>.</a:t>
            </a:r>
            <a:r>
              <a:rPr>
                <a:solidFill>
                  <a:srgbClr val="06287E"/>
                </a:solidFill>
                <a:latin typeface="Courier"/>
              </a:rPr>
              <a:t>getById</a:t>
            </a:r>
            <a:r>
              <a:rPr>
                <a:solidFill>
                  <a:srgbClr val="666666"/>
                </a:solidFill>
                <a:latin typeface="Courier"/>
              </a:rPr>
              <a:t>(</a:t>
            </a:r>
            <a:r>
              <a:rPr>
                <a:solidFill>
                  <a:srgbClr val="4070A0"/>
                </a:solidFill>
                <a:latin typeface="Courier"/>
              </a:rPr>
              <a:t>"big-red-circle"</a:t>
            </a:r>
            <a:r>
              <a:rPr>
                <a:solidFill>
                  <a:srgbClr val="666666"/>
                </a:solidFill>
                <a:latin typeface="Courier"/>
              </a:rPr>
              <a:t>);</a:t>
            </a:r>
            <a:br/>
            <a:r>
              <a:rPr>
                <a:latin typeface="Courier"/>
              </a:rPr>
              <a:t>        </a:t>
            </a:r>
            <a:r>
              <a:rPr>
                <a:solidFill>
                  <a:srgbClr val="008000"/>
                </a:solidFill>
                <a:latin typeface="Courier"/>
              </a:rPr>
              <a:t>Shape</a:t>
            </a:r>
            <a:r>
              <a:rPr>
                <a:latin typeface="Courier"/>
              </a:rPr>
              <a:t> s2 </a:t>
            </a:r>
            <a:r>
              <a:rPr>
                <a:solidFill>
                  <a:srgbClr val="666666"/>
                </a:solidFill>
                <a:latin typeface="Courier"/>
              </a:rPr>
              <a:t>=</a:t>
            </a:r>
            <a:r>
              <a:rPr>
                <a:latin typeface="Courier"/>
              </a:rPr>
              <a:t> registry</a:t>
            </a:r>
            <a:r>
              <a:rPr>
                <a:solidFill>
                  <a:srgbClr val="666666"/>
                </a:solidFill>
                <a:latin typeface="Courier"/>
              </a:rPr>
              <a:t>.</a:t>
            </a:r>
            <a:r>
              <a:rPr>
                <a:solidFill>
                  <a:srgbClr val="06287E"/>
                </a:solidFill>
                <a:latin typeface="Courier"/>
              </a:rPr>
              <a:t>getById</a:t>
            </a:r>
            <a:r>
              <a:rPr>
                <a:solidFill>
                  <a:srgbClr val="666666"/>
                </a:solidFill>
                <a:latin typeface="Courier"/>
              </a:rPr>
              <a:t>(</a:t>
            </a:r>
            <a:r>
              <a:rPr>
                <a:solidFill>
                  <a:srgbClr val="4070A0"/>
                </a:solidFill>
                <a:latin typeface="Courier"/>
              </a:rPr>
              <a:t>"blue-rect"</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"From registry: "</a:t>
            </a:r>
            <a:r>
              <a:rPr>
                <a:latin typeface="Courier"/>
              </a:rPr>
              <a:t> </a:t>
            </a:r>
            <a:r>
              <a:rPr>
                <a:solidFill>
                  <a:srgbClr val="666666"/>
                </a:solidFill>
                <a:latin typeface="Courier"/>
              </a:rPr>
              <a:t>+</a:t>
            </a:r>
            <a:r>
              <a:rPr>
                <a:latin typeface="Courier"/>
              </a:rPr>
              <a:t> s1</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"From registry: "</a:t>
            </a:r>
            <a:r>
              <a:rPr>
                <a:latin typeface="Courier"/>
              </a:rPr>
              <a:t> </a:t>
            </a:r>
            <a:r>
              <a:rPr>
                <a:solidFill>
                  <a:srgbClr val="666666"/>
                </a:solidFill>
                <a:latin typeface="Courier"/>
              </a:rPr>
              <a:t>+</a:t>
            </a:r>
            <a:r>
              <a:rPr>
                <a:latin typeface="Courier"/>
              </a:rPr>
              <a:t> s2</a:t>
            </a:r>
            <a:r>
              <a:rPr>
                <a:solidFill>
                  <a:srgbClr val="666666"/>
                </a:solidFill>
                <a:latin typeface="Courier"/>
              </a:rPr>
              <a:t>);</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Original: Circle[x=10, y=20, radius=15, color=red]</a:t>
            </a:r>
            <a:br/>
            <a:r>
              <a:rPr>
                <a:latin typeface="Courier"/>
              </a:rPr>
              <a:t>        </a:t>
            </a:r>
            <a:r>
              <a:rPr i="1">
                <a:solidFill>
                  <a:srgbClr val="60A0B0"/>
                </a:solidFill>
                <a:latin typeface="Courier"/>
              </a:rPr>
              <a:t>// Clone:    Circle[x=10, y=20, radius=15, color=red]</a:t>
            </a:r>
            <a:br/>
            <a:r>
              <a:rPr>
                <a:latin typeface="Courier"/>
              </a:rPr>
              <a:t>        </a:t>
            </a:r>
            <a:r>
              <a:rPr i="1">
                <a:solidFill>
                  <a:srgbClr val="60A0B0"/>
                </a:solidFill>
                <a:latin typeface="Courier"/>
              </a:rPr>
              <a:t>// Same object? false</a:t>
            </a:r>
            <a:br/>
            <a:r>
              <a:rPr>
                <a:latin typeface="Courier"/>
              </a:rPr>
              <a:t>        </a:t>
            </a:r>
            <a:r>
              <a:rPr i="1">
                <a:solidFill>
                  <a:srgbClr val="60A0B0"/>
                </a:solidFill>
                <a:latin typeface="Courier"/>
              </a:rPr>
              <a:t>// From registry: Circle[x=10, y=20, radius=15, color=red]</a:t>
            </a:r>
            <a:br/>
            <a:r>
              <a:rPr>
                <a:latin typeface="Courier"/>
              </a:rPr>
              <a:t>        </a:t>
            </a:r>
            <a:r>
              <a:rPr i="1">
                <a:solidFill>
                  <a:srgbClr val="60A0B0"/>
                </a:solidFill>
                <a:latin typeface="Courier"/>
              </a:rPr>
              <a:t>// From registry: Rectangle[x=0, y=0, width=100, height=50, color=blue]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E: Takeaways</a:t>
            </a:r>
          </a:p>
        </p:txBody>
      </p:sp>
      <p:sp>
        <p:nvSpPr>
          <p:cNvPr id="3" name="Content Placeholder 2"/>
          <p:cNvSpPr>
            <a:spLocks noGrp="1"/>
          </p:cNvSpPr>
          <p:nvPr>
            <p:ph idx="1"/>
          </p:nvPr>
        </p:nvSpPr>
        <p:spPr/>
        <p:txBody>
          <a:bodyPr/>
          <a:lstStyle/>
          <a:p>
            <a:pPr lvl="0"/>
            <a:r>
              <a:rPr b="1"/>
              <a:t>Prototype</a:t>
            </a:r>
            <a:r>
              <a:rPr/>
              <a:t> (also known as </a:t>
            </a:r>
            <a:r>
              <a:rPr b="1"/>
              <a:t>Clone</a:t>
            </a:r>
            <a:r>
              <a:rPr/>
              <a:t>) lets you copy existing objects without making your code dependent on their classes.</a:t>
            </a:r>
          </a:p>
          <a:p>
            <a:pPr lvl="0"/>
            <a:r>
              <a:rPr/>
              <a:t>It solves the problem of </a:t>
            </a:r>
            <a:r>
              <a:rPr b="1"/>
              <a:t>class dependency</a:t>
            </a:r>
            <a:r>
              <a:rPr/>
              <a:t> when copying objects and handles the issue of </a:t>
            </a:r>
            <a:r>
              <a:rPr b="1"/>
              <a:t>private fields</a:t>
            </a:r>
            <a:r>
              <a:rPr/>
              <a:t> that cannot be accessed from outside.</a:t>
            </a:r>
          </a:p>
          <a:p>
            <a:pPr lvl="0"/>
            <a:r>
              <a:rPr/>
              <a:t>The pattern uses a </a:t>
            </a:r>
            <a:r>
              <a:rPr b="1"/>
              <a:t>clone interface</a:t>
            </a:r>
            <a:r>
              <a:rPr/>
              <a:t>, </a:t>
            </a:r>
            <a:r>
              <a:rPr b="1"/>
              <a:t>concrete prototypes</a:t>
            </a:r>
            <a:r>
              <a:rPr/>
              <a:t> with copy constructors, and an optional </a:t>
            </a:r>
            <a:r>
              <a:rPr b="1"/>
              <a:t>Prototype Registry</a:t>
            </a:r>
            <a:r>
              <a:rPr/>
              <a:t>.</a:t>
            </a:r>
          </a:p>
          <a:p>
            <a:pPr lvl="0"/>
            <a:r>
              <a:rPr/>
              <a:t>Prototype is an </a:t>
            </a:r>
            <a:r>
              <a:rPr b="1"/>
              <a:t>alternative to inheritance</a:t>
            </a:r>
            <a:r>
              <a:rPr/>
              <a:t> for dealing with configuration presets: instead of subclasses, use pre-configured prototypes and clone them.</a:t>
            </a:r>
          </a:p>
          <a:p>
            <a:pPr lvl="0"/>
            <a:r>
              <a:rPr/>
              <a:t>The main challenge is handling </a:t>
            </a:r>
            <a:r>
              <a:rPr b="1"/>
              <a:t>circular references</a:t>
            </a:r>
            <a:r>
              <a:rPr/>
              <a:t> during deep cloning.</a:t>
            </a:r>
          </a:p>
          <a:p>
            <a:pPr lvl="0"/>
            <a:r>
              <a:rPr/>
              <a:t>Prototype can be combined with </a:t>
            </a:r>
            <a:r>
              <a:rPr b="1"/>
              <a:t>Composite</a:t>
            </a:r>
            <a:r>
              <a:rPr/>
              <a:t> and </a:t>
            </a:r>
            <a:r>
              <a:rPr b="1"/>
              <a:t>Decorator</a:t>
            </a:r>
            <a:r>
              <a:rPr/>
              <a:t> patterns to clone complex structures.</a:t>
            </a:r>
          </a:p>
          <a:p>
            <a:pPr lvl="0"/>
            <a:r>
              <a:rPr/>
              <a:t>Unlike </a:t>
            </a:r>
            <a:r>
              <a:rPr b="1"/>
              <a:t>Factory Method</a:t>
            </a:r>
            <a:r>
              <a:rPr/>
              <a:t>, Prototype is </a:t>
            </a:r>
            <a:r>
              <a:rPr b="1"/>
              <a:t>not based on inheritance</a:t>
            </a:r>
            <a:r>
              <a:rPr/>
              <a:t> but requires a proper initialization of the cloned object.</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F: Singleton Pattern</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Pattern - Overview</a:t>
            </a:r>
          </a:p>
        </p:txBody>
      </p:sp>
      <p:sp>
        <p:nvSpPr>
          <p:cNvPr id="3" name="Content Placeholder 2"/>
          <p:cNvSpPr>
            <a:spLocks noGrp="1"/>
          </p:cNvSpPr>
          <p:nvPr>
            <p:ph idx="1"/>
          </p:nvPr>
        </p:nvSpPr>
        <p:spPr/>
        <p:txBody>
          <a:bodyPr/>
          <a:lstStyle/>
          <a:p>
            <a:pPr lvl="0"/>
            <a:r>
              <a:rPr b="1"/>
              <a:t>Category</a:t>
            </a:r>
            <a:r>
              <a:rPr/>
              <a:t>: Creational Pattern</a:t>
            </a:r>
          </a:p>
          <a:p>
            <a:pPr lvl="0"/>
            <a:r>
              <a:rPr b="1"/>
              <a:t>Complexity</a:t>
            </a:r>
            <a:r>
              <a:rPr/>
              <a:t>: Low</a:t>
            </a:r>
          </a:p>
          <a:p>
            <a:pPr lvl="0"/>
            <a:r>
              <a:rPr b="1"/>
              <a:t>Popularity</a:t>
            </a:r>
            <a:r>
              <a:rPr/>
              <a:t>: Very High (also controversial)</a:t>
            </a:r>
          </a:p>
          <a:p>
            <a:pPr lvl="0" indent="0" marL="0">
              <a:buNone/>
            </a:pPr>
            <a:r>
              <a:rPr b="1"/>
              <a:t>Intent</a:t>
            </a:r>
            <a:r>
              <a:rPr/>
              <a:t>: Singleton is a creational design pattern that lets you ensure that a class has only one instance, while providing a global access point to this instance.</a:t>
            </a:r>
          </a:p>
          <a:p>
            <a:pPr lvl="0" indent="0" marL="0">
              <a:buNone/>
            </a:pPr>
            <a:r>
              <a:rPr/>
              <a:t>Reference: </a:t>
            </a:r>
            <a:r>
              <a:rPr>
                <a:hlinkClick r:id="rId2"/>
              </a:rPr>
              <a:t>RefactoringGuru - Singleton</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The Problem</a:t>
            </a:r>
          </a:p>
        </p:txBody>
      </p:sp>
      <p:sp>
        <p:nvSpPr>
          <p:cNvPr id="3" name="Content Placeholder 2"/>
          <p:cNvSpPr>
            <a:spLocks noGrp="1"/>
          </p:cNvSpPr>
          <p:nvPr>
            <p:ph idx="1"/>
          </p:nvPr>
        </p:nvSpPr>
        <p:spPr/>
        <p:txBody>
          <a:bodyPr/>
          <a:lstStyle/>
          <a:p>
            <a:pPr lvl="0" indent="0" marL="0">
              <a:buNone/>
            </a:pPr>
            <a:r>
              <a:rPr/>
              <a:t>The Singleton pattern solves two problems at the same time (violating the Single Responsibility Principle):</a:t>
            </a:r>
          </a:p>
          <a:p>
            <a:pPr lvl="0" indent="0" marL="0">
              <a:buNone/>
            </a:pPr>
            <a:r>
              <a:rPr b="1"/>
              <a:t>1. Ensure that a class has just a single instance.</a:t>
            </a:r>
          </a:p>
          <a:p>
            <a:pPr lvl="0"/>
            <a:r>
              <a:rPr/>
              <a:t>Why would anyone want to control how many instances a class has? The most common reason is to </a:t>
            </a:r>
            <a:r>
              <a:rPr b="1"/>
              <a:t>control access to some shared resource</a:t>
            </a:r>
            <a:r>
              <a:rPr/>
              <a:t> – for example, a database or a file.</a:t>
            </a:r>
          </a:p>
          <a:p>
            <a:pPr lvl="0"/>
            <a:r>
              <a:rPr/>
              <a:t>It works like this: imagine that you created an object, but after a while decided to create a new one. Instead of receiving a fresh object, you get the one that was already created.</a:t>
            </a:r>
          </a:p>
          <a:p>
            <a:pPr lvl="0"/>
            <a:r>
              <a:rPr/>
              <a:t>Note that this behavior is impossible to implement with a regular constructor since a constructor call must always return a new object by design.</a:t>
            </a:r>
          </a:p>
          <a:p>
            <a:pPr lvl="0" indent="0" marL="0">
              <a:buNone/>
            </a:pPr>
            <a:r>
              <a:rPr b="1"/>
              <a:t>2. Provide a global access point to that instance.</a:t>
            </a:r>
          </a:p>
          <a:p>
            <a:pPr lvl="0"/>
            <a:r>
              <a:rPr/>
              <a:t>Remember global variables? While they are very handy, they are also very unsafe because any code can potentially overwrite the contents of those variables and crash the app.</a:t>
            </a:r>
          </a:p>
          <a:p>
            <a:pPr lvl="0"/>
            <a:r>
              <a:rPr/>
              <a:t>Just like a global variable, the Singleton pattern lets you access some object from anywhere in the program. However, it also </a:t>
            </a:r>
            <a:r>
              <a:rPr b="1"/>
              <a:t>protects that instance from being overwritten</a:t>
            </a:r>
            <a:r>
              <a:rPr/>
              <a:t> by other code.</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The Solution</a:t>
            </a:r>
          </a:p>
        </p:txBody>
      </p:sp>
      <p:sp>
        <p:nvSpPr>
          <p:cNvPr id="3" name="Content Placeholder 2"/>
          <p:cNvSpPr>
            <a:spLocks noGrp="1"/>
          </p:cNvSpPr>
          <p:nvPr>
            <p:ph idx="1"/>
          </p:nvPr>
        </p:nvSpPr>
        <p:spPr/>
        <p:txBody>
          <a:bodyPr/>
          <a:lstStyle/>
          <a:p>
            <a:pPr lvl="0" indent="0" marL="0">
              <a:buNone/>
            </a:pPr>
            <a:r>
              <a:rPr/>
              <a:t>All implementations of the Singleton have two common steps:</a:t>
            </a:r>
          </a:p>
          <a:p>
            <a:pPr lvl="0" indent="-342900" marL="342900">
              <a:buAutoNum type="arabicPeriod"/>
            </a:pPr>
            <a:r>
              <a:rPr b="1"/>
              <a:t>Make the default constructor private</a:t>
            </a:r>
            <a:r>
              <a:rPr/>
              <a:t>, to prevent other objects from using the </a:t>
            </a:r>
            <a:r>
              <a:rPr>
                <a:latin typeface="Courier"/>
              </a:rPr>
              <a:t>new</a:t>
            </a:r>
            <a:r>
              <a:rPr/>
              <a:t> operator with the Singleton class.</a:t>
            </a:r>
          </a:p>
          <a:p>
            <a:pPr lvl="0" indent="-342900" marL="342900">
              <a:buAutoNum type="arabicPeriod"/>
            </a:pPr>
            <a:r>
              <a:rPr b="1"/>
              <a:t>Create a static creation method</a:t>
            </a:r>
            <a:r>
              <a:rPr/>
              <a:t> that acts as a constructor. Under the hood, this method calls the private constructor to create an object and saves it in a static field. All following calls to this method return the cached object.</a:t>
            </a:r>
          </a:p>
          <a:p>
            <a:pPr lvl="0" indent="0" marL="0">
              <a:buNone/>
            </a:pPr>
            <a:r>
              <a:rPr/>
              <a:t>If your code has access to the Singleton class, then it is able to call the Singleton’s static method. So whenever that method is called, the same object is always returned.</a:t>
            </a:r>
          </a:p>
          <a:p>
            <a:pPr lvl="0" indent="0">
              <a:buNone/>
            </a:pPr>
            <a:r>
              <a:rPr>
                <a:latin typeface="Courier"/>
              </a:rPr>
              <a:t>Singleton
┌──────────────────────────────────┐
│ - instance: Singleton (static)   │
│ - Singleton() (private)          │
│                                  │
│ + getInstance(): Singleton       │
│ + businessLogic()                │
└──────────────────────────────────┘</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Singleton - Structure</a:t>
            </a:r>
          </a:p>
        </p:txBody>
      </p:sp>
      <p:sp>
        <p:nvSpPr>
          <p:cNvPr id="4" name="Text Placeholder 3"/>
          <p:cNvSpPr>
            <a:spLocks noGrp="1"/>
          </p:cNvSpPr>
          <p:nvPr>
            <p:ph idx="2" sz="half" type="body"/>
          </p:nvPr>
        </p:nvSpPr>
        <p:spPr/>
        <p:txBody>
          <a:bodyPr/>
          <a:lstStyle/>
          <a:p>
            <a:pPr lvl="0" indent="0" marL="0">
              <a:buNone/>
            </a:pPr>
            <a:r>
              <a:rPr/>
              <a:t>The </a:t>
            </a:r>
            <a:r>
              <a:rPr b="1"/>
              <a:t>Singleton</a:t>
            </a:r>
            <a:r>
              <a:rPr/>
              <a:t> class declares the static method </a:t>
            </a:r>
            <a:r>
              <a:rPr>
                <a:latin typeface="Courier"/>
              </a:rPr>
              <a:t>getInstance</a:t>
            </a:r>
            <a:r>
              <a:rPr/>
              <a:t> that returns the same instance of its own class.</a:t>
            </a:r>
          </a:p>
          <a:p>
            <a:pPr lvl="0"/>
            <a:r>
              <a:rPr/>
              <a:t>The Singleton’s constructor should be hidden from the client code.</a:t>
            </a:r>
          </a:p>
          <a:p>
            <a:pPr lvl="0"/>
            <a:r>
              <a:rPr/>
              <a:t>Calling the </a:t>
            </a:r>
            <a:r>
              <a:rPr>
                <a:latin typeface="Courier"/>
              </a:rPr>
              <a:t>getInstance</a:t>
            </a:r>
            <a:r>
              <a:rPr/>
              <a:t> method should be the only way of getting the Singleton object.</a:t>
            </a:r>
          </a:p>
          <a:p>
            <a:pPr lvl="0" indent="0" marL="0">
              <a:buNone/>
            </a:pPr>
            <a:r>
              <a:rPr b="1"/>
              <a:t>Key structural elements: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082800"/>
                <a:gridCol w="3022600"/>
              </a:tblGrid>
              <a:tr h="0">
                <a:tc>
                  <a:txBody>
                    <a:bodyPr/>
                    <a:lstStyle/>
                    <a:p>
                      <a:pPr lvl="0" indent="0" marL="0">
                        <a:buNone/>
                      </a:pPr>
                      <a:r>
                        <a:rPr/>
                        <a:t>Element</a:t>
                      </a:r>
                    </a:p>
                  </a:txBody>
                  <a:tcPr/>
                </a:tc>
                <a:tc>
                  <a:txBody>
                    <a:bodyPr/>
                    <a:lstStyle/>
                    <a:p>
                      <a:pPr lvl="0" indent="0" marL="0">
                        <a:buNone/>
                      </a:pPr>
                      <a:r>
                        <a:rPr/>
                        <a:t>Description</a:t>
                      </a:r>
                    </a:p>
                  </a:txBody>
                  <a:tcPr/>
                </a:tc>
              </a:tr>
              <a:tr h="0">
                <a:tc>
                  <a:txBody>
                    <a:bodyPr/>
                    <a:lstStyle/>
                    <a:p>
                      <a:pPr lvl="0" indent="0" marL="0">
                        <a:buNone/>
                      </a:pPr>
                      <a:r>
                        <a:rPr>
                          <a:latin typeface="Courier"/>
                        </a:rPr>
                        <a:t>- instance: Singleton</a:t>
                      </a:r>
                    </a:p>
                  </a:txBody>
                </a:tc>
                <a:tc>
                  <a:txBody>
                    <a:bodyPr/>
                    <a:lstStyle/>
                    <a:p>
                      <a:pPr lvl="0" indent="0" marL="0">
                        <a:buNone/>
                      </a:pPr>
                      <a:r>
                        <a:rPr/>
                        <a:t>Static field holding the single instance</a:t>
                      </a:r>
                    </a:p>
                  </a:txBody>
                </a:tc>
              </a:tr>
              <a:tr h="0">
                <a:tc>
                  <a:txBody>
                    <a:bodyPr/>
                    <a:lstStyle/>
                    <a:p>
                      <a:pPr lvl="0" indent="0" marL="0">
                        <a:buNone/>
                      </a:pPr>
                      <a:r>
                        <a:rPr>
                          <a:latin typeface="Courier"/>
                        </a:rPr>
                        <a:t>- Singleton()</a:t>
                      </a:r>
                    </a:p>
                  </a:txBody>
                </a:tc>
                <a:tc>
                  <a:txBody>
                    <a:bodyPr/>
                    <a:lstStyle/>
                    <a:p>
                      <a:pPr lvl="0" indent="0" marL="0">
                        <a:buNone/>
                      </a:pPr>
                      <a:r>
                        <a:rPr/>
                        <a:t>Private constructor preventing external instantiation</a:t>
                      </a:r>
                    </a:p>
                  </a:txBody>
                </a:tc>
              </a:tr>
              <a:tr h="0">
                <a:tc>
                  <a:txBody>
                    <a:bodyPr/>
                    <a:lstStyle/>
                    <a:p>
                      <a:pPr lvl="0" indent="0" marL="0">
                        <a:buNone/>
                      </a:pPr>
                      <a:r>
                        <a:rPr>
                          <a:latin typeface="Courier"/>
                        </a:rPr>
                        <a:t>+ getInstance()</a:t>
                      </a:r>
                    </a:p>
                  </a:txBody>
                </a:tc>
                <a:tc>
                  <a:txBody>
                    <a:bodyPr/>
                    <a:lstStyle/>
                    <a:p>
                      <a:pPr lvl="0" indent="0" marL="0">
                        <a:buNone/>
                      </a:pPr>
                      <a:r>
                        <a:rPr/>
                        <a:t>Public static method returning the single instance</a:t>
                      </a:r>
                    </a:p>
                  </a:txBody>
                </a:tc>
              </a:tr>
              <a:tr h="0">
                <a:tc>
                  <a:txBody>
                    <a:bodyPr/>
                    <a:lstStyle/>
                    <a:p>
                      <a:pPr lvl="0" indent="0" marL="0">
                        <a:buNone/>
                      </a:pPr>
                      <a:r>
                        <a:rPr/>
                        <a:t>Business methods</a:t>
                      </a:r>
                    </a:p>
                  </a:txBody>
                </a:tc>
                <a:tc>
                  <a:txBody>
                    <a:bodyPr/>
                    <a:lstStyle/>
                    <a:p>
                      <a:pPr lvl="0" indent="0" marL="0">
                        <a:buNone/>
                      </a:pPr>
                      <a:r>
                        <a:rPr/>
                        <a:t>Any methods the Singleton class needs to provide</a:t>
                      </a:r>
                    </a:p>
                  </a:txBody>
                </a:tc>
              </a:tr>
            </a:tbl>
          </a:graphicData>
        </a:graphic>
      </p:graphicFrame>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Singleton - Class Diagram</a:t>
            </a:r>
          </a:p>
        </p:txBody>
      </p:sp>
      <p:pic>
        <p:nvPicPr>
          <p:cNvPr descr="assets/singleton-structure.png" id="0" name="Picture 1"/>
          <p:cNvPicPr>
            <a:picLocks noGrp="1" noChangeAspect="1"/>
          </p:cNvPicPr>
          <p:nvPr/>
        </p:nvPicPr>
        <p:blipFill>
          <a:blip r:embed="rId2"/>
          <a:stretch>
            <a:fillRect/>
          </a:stretch>
        </p:blipFill>
        <p:spPr bwMode="auto">
          <a:xfrm>
            <a:off x="3568700" y="1104900"/>
            <a:ext cx="5105400" cy="207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Pseudocode</a:t>
            </a:r>
          </a:p>
        </p:txBody>
      </p:sp>
      <p:sp>
        <p:nvSpPr>
          <p:cNvPr id="3" name="Content Placeholder 2"/>
          <p:cNvSpPr>
            <a:spLocks noGrp="1"/>
          </p:cNvSpPr>
          <p:nvPr>
            <p:ph idx="1"/>
          </p:nvPr>
        </p:nvSpPr>
        <p:spPr/>
        <p:txBody>
          <a:bodyPr/>
          <a:lstStyle/>
          <a:p>
            <a:pPr lvl="0" indent="0" marL="0">
              <a:buNone/>
            </a:pPr>
            <a:r>
              <a:rPr/>
              <a:t>In this example, the database connection class acts as a Singleton. This class does not have a public constructor, so the only way to get its object is to call the </a:t>
            </a:r>
            <a:r>
              <a:rPr>
                <a:latin typeface="Courier"/>
              </a:rPr>
              <a:t>getInstance</a:t>
            </a:r>
            <a:r>
              <a:rPr/>
              <a:t> method. This method caches the first created object and returns it in all subsequent calls.</a:t>
            </a:r>
          </a:p>
          <a:p>
            <a:pPr lvl="0" indent="0">
              <a:buNone/>
            </a:pPr>
            <a:r>
              <a:rPr>
                <a:latin typeface="Courier"/>
              </a:rPr>
              <a:t>class Database is
    // The field for storing the singleton instance
    // should be declared static.
    private static field instance: Database
    // The singleton's constructor should always be
    // private to prevent direct construction calls
    // with the `new` operator.
    private constructor Database() is
        // Some initialization code, such as the actual
        // connection to a database server.
    // The static method that controls the access to
    // the singleton instance.
    public static method getInstance() is
        if (Database.instance == null) then
            acquireThreadLock() and then
                // Ensure that the instance has not yet been
                // initialized by another thread.
                if (Database.instance == null) then
                    Database.instance = new Database()
        return Database.instance
    public method query(sql) is
        // All database queries go through this method.</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Singleton - Sequence Diagram</a:t>
            </a:r>
          </a:p>
        </p:txBody>
      </p:sp>
      <p:pic>
        <p:nvPicPr>
          <p:cNvPr descr="assets/singleton-sequence.png" id="0" name="Picture 1"/>
          <p:cNvPicPr>
            <a:picLocks noGrp="1" noChangeAspect="1"/>
          </p:cNvPicPr>
          <p:nvPr/>
        </p:nvPicPr>
        <p:blipFill>
          <a:blip r:embed="rId2"/>
          <a:stretch>
            <a:fillRect/>
          </a:stretch>
        </p:blipFill>
        <p:spPr bwMode="auto">
          <a:xfrm>
            <a:off x="4572000" y="203200"/>
            <a:ext cx="3098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Singleton - Thread Safety Issue</a:t>
            </a:r>
          </a:p>
        </p:txBody>
      </p:sp>
      <p:sp>
        <p:nvSpPr>
          <p:cNvPr id="4" name="Text Placeholder 3"/>
          <p:cNvSpPr>
            <a:spLocks noGrp="1"/>
          </p:cNvSpPr>
          <p:nvPr>
            <p:ph idx="2" sz="half" type="body"/>
          </p:nvPr>
        </p:nvSpPr>
        <p:spPr/>
        <p:txBody>
          <a:bodyPr/>
          <a:lstStyle/>
          <a:p>
            <a:pPr lvl="0" indent="0" marL="0">
              <a:buNone/>
            </a:pPr>
            <a:r>
              <a:rPr b="1"/>
              <a:t>Naive implementation is NOT thread-safe:</a:t>
            </a:r>
          </a:p>
          <a:p>
            <a:pPr lvl="0" indent="0">
              <a:buNone/>
            </a:pPr>
            <a:r>
              <a:rPr>
                <a:latin typeface="Courier"/>
              </a:rPr>
              <a:t>// BROKEN: Race condition possible
public static Singleton getInstance() {
    if (instance == null) {          // Thread A checks
        // Thread B also checks - both see null!
        instance = new Singleton();  // Both create instances!
    }
    return instance;
}</a:t>
            </a:r>
          </a:p>
          <a:p>
            <a:pPr lvl="0" indent="0" marL="0">
              <a:buNone/>
            </a:pPr>
            <a:r>
              <a:rPr b="1"/>
              <a:t>Timeline of the race condition: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Time</a:t>
                      </a:r>
                    </a:p>
                  </a:txBody>
                  <a:tcPr/>
                </a:tc>
                <a:tc>
                  <a:txBody>
                    <a:bodyPr/>
                    <a:lstStyle/>
                    <a:p>
                      <a:pPr lvl="0" indent="0" marL="0">
                        <a:buNone/>
                      </a:pPr>
                      <a:r>
                        <a:rPr/>
                        <a:t>Thread A</a:t>
                      </a:r>
                    </a:p>
                  </a:txBody>
                  <a:tcPr/>
                </a:tc>
                <a:tc>
                  <a:txBody>
                    <a:bodyPr/>
                    <a:lstStyle/>
                    <a:p>
                      <a:pPr lvl="0" indent="0" marL="0">
                        <a:buNone/>
                      </a:pPr>
                      <a:r>
                        <a:rPr/>
                        <a:t>Thread B</a:t>
                      </a:r>
                    </a:p>
                  </a:txBody>
                  <a:tcPr/>
                </a:tc>
              </a:tr>
              <a:tr h="0">
                <a:tc>
                  <a:txBody>
                    <a:bodyPr/>
                    <a:lstStyle/>
                    <a:p>
                      <a:pPr lvl="0" indent="0" marL="0">
                        <a:buNone/>
                      </a:pPr>
                      <a:r>
                        <a:rPr/>
                        <a:t>T1</a:t>
                      </a:r>
                    </a:p>
                  </a:txBody>
                </a:tc>
                <a:tc>
                  <a:txBody>
                    <a:bodyPr/>
                    <a:lstStyle/>
                    <a:p>
                      <a:pPr lvl="0" indent="0" marL="0">
                        <a:buNone/>
                      </a:pPr>
                      <a:r>
                        <a:rPr/>
                        <a:t>Checks </a:t>
                      </a:r>
                      <a:r>
                        <a:rPr>
                          <a:latin typeface="Courier"/>
                        </a:rPr>
                        <a:t>instance == null</a:t>
                      </a:r>
                      <a:r>
                        <a:rPr/>
                        <a:t> (true)</a:t>
                      </a:r>
                    </a:p>
                  </a:txBody>
                </a:tc>
                <a:tc>
                  <a:txBody>
                    <a:bodyPr/>
                    <a:lstStyle/>
                    <a:p>
                      <a:pPr lvl="0" indent="0" marL="0">
                        <a:buNone/>
                      </a:pPr>
                      <a:r>
                        <a:rPr/>
                        <a:t>–</a:t>
                      </a:r>
                    </a:p>
                  </a:txBody>
                </a:tc>
              </a:tr>
              <a:tr h="0">
                <a:tc>
                  <a:txBody>
                    <a:bodyPr/>
                    <a:lstStyle/>
                    <a:p>
                      <a:pPr lvl="0" indent="0" marL="0">
                        <a:buNone/>
                      </a:pPr>
                      <a:r>
                        <a:rPr/>
                        <a:t>T2</a:t>
                      </a:r>
                    </a:p>
                  </a:txBody>
                </a:tc>
                <a:tc>
                  <a:txBody>
                    <a:bodyPr/>
                    <a:lstStyle/>
                    <a:p>
                      <a:pPr lvl="0" indent="0" marL="0">
                        <a:buNone/>
                      </a:pPr>
                      <a:r>
                        <a:rPr/>
                        <a:t>–</a:t>
                      </a:r>
                    </a:p>
                  </a:txBody>
                </a:tc>
                <a:tc>
                  <a:txBody>
                    <a:bodyPr/>
                    <a:lstStyle/>
                    <a:p>
                      <a:pPr lvl="0" indent="0" marL="0">
                        <a:buNone/>
                      </a:pPr>
                      <a:r>
                        <a:rPr/>
                        <a:t>Checks </a:t>
                      </a:r>
                      <a:r>
                        <a:rPr>
                          <a:latin typeface="Courier"/>
                        </a:rPr>
                        <a:t>instance == null</a:t>
                      </a:r>
                      <a:r>
                        <a:rPr/>
                        <a:t> (true)</a:t>
                      </a:r>
                    </a:p>
                  </a:txBody>
                </a:tc>
              </a:tr>
              <a:tr h="0">
                <a:tc>
                  <a:txBody>
                    <a:bodyPr/>
                    <a:lstStyle/>
                    <a:p>
                      <a:pPr lvl="0" indent="0" marL="0">
                        <a:buNone/>
                      </a:pPr>
                      <a:r>
                        <a:rPr/>
                        <a:t>T3</a:t>
                      </a:r>
                    </a:p>
                  </a:txBody>
                </a:tc>
                <a:tc>
                  <a:txBody>
                    <a:bodyPr/>
                    <a:lstStyle/>
                    <a:p>
                      <a:pPr lvl="0" indent="0" marL="0">
                        <a:buNone/>
                      </a:pPr>
                      <a:r>
                        <a:rPr/>
                        <a:t>Creates new instance</a:t>
                      </a:r>
                    </a:p>
                  </a:txBody>
                </a:tc>
                <a:tc>
                  <a:txBody>
                    <a:bodyPr/>
                    <a:lstStyle/>
                    <a:p>
                      <a:pPr lvl="0" indent="0" marL="0">
                        <a:buNone/>
                      </a:pPr>
                      <a:r>
                        <a:rPr/>
                        <a:t>–</a:t>
                      </a:r>
                    </a:p>
                  </a:txBody>
                </a:tc>
              </a:tr>
              <a:tr h="0">
                <a:tc>
                  <a:txBody>
                    <a:bodyPr/>
                    <a:lstStyle/>
                    <a:p>
                      <a:pPr lvl="0" indent="0" marL="0">
                        <a:buNone/>
                      </a:pPr>
                      <a:r>
                        <a:rPr/>
                        <a:t>T4</a:t>
                      </a:r>
                    </a:p>
                  </a:txBody>
                </a:tc>
                <a:tc>
                  <a:txBody>
                    <a:bodyPr/>
                    <a:lstStyle/>
                    <a:p>
                      <a:pPr lvl="0" indent="0" marL="0">
                        <a:buNone/>
                      </a:pPr>
                      <a:r>
                        <a:rPr/>
                        <a:t>–</a:t>
                      </a:r>
                    </a:p>
                  </a:txBody>
                </a:tc>
                <a:tc>
                  <a:txBody>
                    <a:bodyPr/>
                    <a:lstStyle/>
                    <a:p>
                      <a:pPr lvl="0" indent="0" marL="0">
                        <a:buNone/>
                      </a:pPr>
                      <a:r>
                        <a:rPr/>
                        <a:t>Creates ANOTHER new instance</a:t>
                      </a:r>
                    </a:p>
                  </a:txBody>
                </a:tc>
              </a:tr>
              <a:tr h="0">
                <a:tc>
                  <a:txBody>
                    <a:bodyPr/>
                    <a:lstStyle/>
                    <a:p>
                      <a:pPr lvl="0" indent="0" marL="0">
                        <a:buNone/>
                      </a:pPr>
                      <a:r>
                        <a:rPr/>
                        <a:t>T5</a:t>
                      </a:r>
                    </a:p>
                  </a:txBody>
                </a:tc>
                <a:tc>
                  <a:txBody>
                    <a:bodyPr/>
                    <a:lstStyle/>
                    <a:p>
                      <a:pPr lvl="0" indent="0" marL="0">
                        <a:buNone/>
                      </a:pPr>
                      <a:r>
                        <a:rPr/>
                        <a:t>Two different instances exist!</a:t>
                      </a:r>
                    </a:p>
                  </a:txBody>
                </a:tc>
                <a:tc>
                  <a:txBody>
                    <a:bodyPr/>
                    <a:lstStyle/>
                    <a:p>
                      <a:pPr lvl="0" indent="0" marL="0">
                        <a:buNone/>
                      </a:pPr>
                      <a:r>
                        <a:rPr/>
                        <a:t>Singleton violated!</a:t>
                      </a:r>
                    </a:p>
                  </a:txBody>
                </a:tc>
              </a:tr>
            </a:tbl>
          </a:graphicData>
        </a:graphic>
      </p:graphicFrame>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Applicability</a:t>
            </a:r>
          </a:p>
        </p:txBody>
      </p:sp>
      <p:sp>
        <p:nvSpPr>
          <p:cNvPr id="3" name="Content Placeholder 2"/>
          <p:cNvSpPr>
            <a:spLocks noGrp="1"/>
          </p:cNvSpPr>
          <p:nvPr>
            <p:ph idx="1"/>
          </p:nvPr>
        </p:nvSpPr>
        <p:spPr/>
        <p:txBody>
          <a:bodyPr/>
          <a:lstStyle/>
          <a:p>
            <a:pPr lvl="0" indent="0" marL="0">
              <a:buNone/>
            </a:pPr>
            <a:r>
              <a:rPr/>
              <a:t>Use the Singleton pattern when:</a:t>
            </a:r>
          </a:p>
          <a:p>
            <a:pPr lvl="0" indent="-342900" marL="342900">
              <a:buAutoNum type="arabicPeriod"/>
            </a:pPr>
            <a:r>
              <a:rPr b="1"/>
              <a:t>A class in your program should have just a single instance</a:t>
            </a:r>
            <a:r>
              <a:rPr/>
              <a:t> available to all clients; for example, a single database object shared by different parts of the program.</a:t>
            </a:r>
          </a:p>
          <a:p>
            <a:pPr lvl="1"/>
            <a:r>
              <a:rPr/>
              <a:t>The Singleton pattern disables all other means of creating objects of a class except for the special creation method. This method either creates a new object or returns an existing one if it has already been created.</a:t>
            </a:r>
          </a:p>
          <a:p>
            <a:pPr lvl="0" indent="-342900" marL="342900">
              <a:buAutoNum type="arabicPeriod"/>
            </a:pPr>
            <a:r>
              <a:rPr b="1"/>
              <a:t>You need stricter control over global variables.</a:t>
            </a:r>
          </a:p>
          <a:p>
            <a:pPr lvl="1"/>
            <a:r>
              <a:rPr/>
              <a:t>Unlike global variables, the Singleton pattern guarantees that there is just one instance of a class. Nothing, except for the Singleton class itself, can replace the cached instance.</a:t>
            </a:r>
          </a:p>
          <a:p>
            <a:pPr lvl="1"/>
            <a:r>
              <a:rPr/>
              <a:t>Note that you can always adjust this limitation and allow creating any number of Singleton instances. The only piece of code that needs changing is the body of the </a:t>
            </a:r>
            <a:r>
              <a:rPr>
                <a:latin typeface="Courier"/>
              </a:rPr>
              <a:t>getInstance</a:t>
            </a:r>
            <a:r>
              <a:rPr/>
              <a:t> method.</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How to Implement</a:t>
            </a:r>
          </a:p>
        </p:txBody>
      </p:sp>
      <p:sp>
        <p:nvSpPr>
          <p:cNvPr id="3" name="Content Placeholder 2"/>
          <p:cNvSpPr>
            <a:spLocks noGrp="1"/>
          </p:cNvSpPr>
          <p:nvPr>
            <p:ph idx="1"/>
          </p:nvPr>
        </p:nvSpPr>
        <p:spPr/>
        <p:txBody>
          <a:bodyPr/>
          <a:lstStyle/>
          <a:p>
            <a:pPr lvl="0" indent="-342900" marL="342900">
              <a:buAutoNum type="arabicPeriod"/>
            </a:pPr>
            <a:r>
              <a:rPr b="1"/>
              <a:t>Add a private static field</a:t>
            </a:r>
            <a:r>
              <a:rPr/>
              <a:t> to the class for storing the singleton instance.</a:t>
            </a:r>
          </a:p>
          <a:p>
            <a:pPr lvl="0" indent="-342900" marL="342900">
              <a:buAutoNum type="arabicPeriod"/>
            </a:pPr>
            <a:r>
              <a:rPr b="1"/>
              <a:t>Declare a public static creation method</a:t>
            </a:r>
            <a:r>
              <a:rPr/>
              <a:t> for getting the singleton instance.</a:t>
            </a:r>
          </a:p>
          <a:p>
            <a:pPr lvl="0" indent="-342900" marL="342900">
              <a:buAutoNum type="arabicPeriod"/>
            </a:pPr>
            <a:r>
              <a:rPr b="1"/>
              <a:t>Implement “lazy initialization”</a:t>
            </a:r>
            <a:r>
              <a:rPr/>
              <a:t> inside the static method. It should create a new object on its first call and put it into the static field. The method should always return that instance on all subsequent calls.</a:t>
            </a:r>
          </a:p>
          <a:p>
            <a:pPr lvl="0" indent="-342900" marL="342900">
              <a:buAutoNum type="arabicPeriod"/>
            </a:pPr>
            <a:r>
              <a:rPr b="1"/>
              <a:t>Make the constructor of the class private.</a:t>
            </a:r>
            <a:r>
              <a:rPr/>
              <a:t> The static method of the class will still be able to call the constructor, but not the other objects.</a:t>
            </a:r>
          </a:p>
          <a:p>
            <a:pPr lvl="0" indent="-342900" marL="342900">
              <a:buAutoNum type="arabicPeriod"/>
            </a:pPr>
            <a:r>
              <a:rPr b="1"/>
              <a:t>Go over the client code</a:t>
            </a:r>
            <a:r>
              <a:rPr/>
              <a:t> and replace all direct calls to the singleton’s constructor with calls to its static creation method.</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Pros and Cons</a:t>
            </a:r>
          </a:p>
        </p:txBody>
      </p:sp>
      <p:sp>
        <p:nvSpPr>
          <p:cNvPr id="3" name="Content Placeholder 2"/>
          <p:cNvSpPr>
            <a:spLocks noGrp="1"/>
          </p:cNvSpPr>
          <p:nvPr>
            <p:ph idx="1"/>
          </p:nvPr>
        </p:nvSpPr>
        <p:spPr/>
        <p:txBody>
          <a:bodyPr/>
          <a:lstStyle/>
          <a:p>
            <a:pPr lvl="0" indent="0" marL="0">
              <a:spcBef>
                <a:spcPts val="3000"/>
              </a:spcBef>
              <a:buNone/>
            </a:pPr>
            <a:r>
              <a:rPr b="1"/>
              <a:t>Pros</a:t>
            </a:r>
          </a:p>
          <a:p>
            <a:pPr lvl="0"/>
            <a:r>
              <a:rPr b="1"/>
              <a:t>Single instance guarantee</a:t>
            </a:r>
            <a:r>
              <a:rPr/>
              <a:t>: You can be sure that a class has only a single instance.</a:t>
            </a:r>
          </a:p>
          <a:p>
            <a:pPr lvl="0"/>
            <a:r>
              <a:rPr b="1"/>
              <a:t>Global access point</a:t>
            </a:r>
            <a:r>
              <a:rPr/>
              <a:t>: You gain a global access point to that instance.</a:t>
            </a:r>
          </a:p>
          <a:p>
            <a:pPr lvl="0"/>
            <a:r>
              <a:rPr b="1"/>
              <a:t>Lazy initialization</a:t>
            </a:r>
            <a:r>
              <a:rPr/>
              <a:t>: The singleton object is initialized only when it is requested for the first time, saving resources if it is never used.</a:t>
            </a:r>
          </a:p>
          <a:p>
            <a:pPr lvl="0" indent="0" marL="0">
              <a:spcBef>
                <a:spcPts val="3000"/>
              </a:spcBef>
              <a:buNone/>
            </a:pPr>
            <a:r>
              <a:rPr b="1"/>
              <a:t>Cons</a:t>
            </a:r>
          </a:p>
          <a:p>
            <a:pPr lvl="0"/>
            <a:r>
              <a:rPr b="1"/>
              <a:t>Violates the Single Responsibility Principle (SRP)</a:t>
            </a:r>
            <a:r>
              <a:rPr/>
              <a:t>: The pattern solves two problems at the same time (single instance + global access).</a:t>
            </a:r>
          </a:p>
          <a:p>
            <a:pPr lvl="0"/>
            <a:r>
              <a:rPr b="1"/>
              <a:t>Can mask bad design</a:t>
            </a:r>
            <a:r>
              <a:rPr/>
              <a:t>: For instance, when the components of the program know too much about each other.</a:t>
            </a:r>
          </a:p>
          <a:p>
            <a:pPr lvl="0"/>
            <a:r>
              <a:rPr b="1"/>
              <a:t>Requires special treatment in a multithreaded environment</a:t>
            </a:r>
            <a:r>
              <a:rPr/>
              <a:t>: so that multiple threads will not create a singleton object several times.</a:t>
            </a:r>
          </a:p>
          <a:p>
            <a:pPr lvl="0"/>
            <a:r>
              <a:rPr b="1"/>
              <a:t>Difficult to unit test</a:t>
            </a:r>
            <a:r>
              <a:rPr/>
              <a:t>: The Singleton’s constructor is private and overriding static methods is impossible in most languages. You need to think of a creative way to mock the singleton. Or just don’t write the tests. Or don’t use the Singleton pattern.</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Relations with Other Patterns</a:t>
            </a:r>
          </a:p>
        </p:txBody>
      </p:sp>
      <p:sp>
        <p:nvSpPr>
          <p:cNvPr id="3" name="Content Placeholder 2"/>
          <p:cNvSpPr>
            <a:spLocks noGrp="1"/>
          </p:cNvSpPr>
          <p:nvPr>
            <p:ph idx="1"/>
          </p:nvPr>
        </p:nvSpPr>
        <p:spPr/>
        <p:txBody>
          <a:bodyPr/>
          <a:lstStyle/>
          <a:p>
            <a:pPr lvl="0"/>
            <a:r>
              <a:rPr/>
              <a:t>A </a:t>
            </a:r>
            <a:r>
              <a:rPr b="1"/>
              <a:t>Facade</a:t>
            </a:r>
            <a:r>
              <a:rPr/>
              <a:t> class can often be transformed into a </a:t>
            </a:r>
            <a:r>
              <a:rPr b="1"/>
              <a:t>Singleton</a:t>
            </a:r>
            <a:r>
              <a:rPr/>
              <a:t> since a single facade object is sufficient in most cases.</a:t>
            </a:r>
          </a:p>
          <a:p>
            <a:pPr lvl="0"/>
            <a:r>
              <a:rPr b="1"/>
              <a:t>Flyweight</a:t>
            </a:r>
            <a:r>
              <a:rPr/>
              <a:t> would resemble </a:t>
            </a:r>
            <a:r>
              <a:rPr b="1"/>
              <a:t>Singleton</a:t>
            </a:r>
            <a:r>
              <a:rPr/>
              <a:t> if you somehow managed to reduce all shared states of the objects to just one flyweight object. But there are two fundamental differences:</a:t>
            </a:r>
          </a:p>
          <a:p>
            <a:pPr lvl="1" indent="-342900" marL="685800">
              <a:buAutoNum type="arabicPeriod"/>
            </a:pPr>
            <a:r>
              <a:rPr/>
              <a:t>There should be only one Singleton instance, whereas a Flyweight class can have multiple instances with different intrinsic states.</a:t>
            </a:r>
          </a:p>
          <a:p>
            <a:pPr lvl="1" indent="-342900" marL="685800">
              <a:buAutoNum type="arabicPeriod"/>
            </a:pPr>
            <a:r>
              <a:rPr/>
              <a:t>The Singleton object can be mutable. Flyweight objects are immutable.</a:t>
            </a:r>
          </a:p>
          <a:p>
            <a:pPr lvl="0"/>
            <a:r>
              <a:rPr b="1"/>
              <a:t>Abstract Factories</a:t>
            </a:r>
            <a:r>
              <a:rPr/>
              <a:t>, </a:t>
            </a:r>
            <a:r>
              <a:rPr b="1"/>
              <a:t>Builders</a:t>
            </a:r>
            <a:r>
              <a:rPr/>
              <a:t>, and </a:t>
            </a:r>
            <a:r>
              <a:rPr b="1"/>
              <a:t>Prototypes</a:t>
            </a:r>
            <a:r>
              <a:rPr/>
              <a:t> can all be implemented as </a:t>
            </a:r>
            <a:r>
              <a:rPr b="1"/>
              <a:t>Singletons</a:t>
            </a:r>
            <a:r>
              <a:rPr/>
              <a:t>.</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Java Code Example (Naive)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Simple but NOT thread-safe Singleton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NaiveSingleton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static</a:t>
            </a:r>
            <a:r>
              <a:rPr>
                <a:latin typeface="Courier"/>
              </a:rPr>
              <a:t> NaiveSingleton instance</a:t>
            </a:r>
            <a:r>
              <a:rPr>
                <a:solidFill>
                  <a:srgbClr val="666666"/>
                </a:solidFill>
                <a:latin typeface="Courier"/>
              </a:rPr>
              <a:t>;</a:t>
            </a:r>
            <a:br/>
            <a:br/>
            <a:r>
              <a:rPr>
                <a:latin typeface="Courier"/>
              </a:rPr>
              <a:t>    </a:t>
            </a:r>
            <a:r>
              <a:rPr i="1">
                <a:solidFill>
                  <a:srgbClr val="60A0B0"/>
                </a:solidFill>
                <a:latin typeface="Courier"/>
              </a:rPr>
              <a:t>// Private constructor</a:t>
            </a:r>
            <a:br/>
            <a:r>
              <a:rPr>
                <a:latin typeface="Courier"/>
              </a:rPr>
              <a:t>    </a:t>
            </a:r>
            <a:r>
              <a:rPr b="1">
                <a:solidFill>
                  <a:srgbClr val="007020"/>
                </a:solidFill>
                <a:latin typeface="Courier"/>
              </a:rPr>
              <a:t>private</a:t>
            </a:r>
            <a:r>
              <a:rPr>
                <a:latin typeface="Courier"/>
              </a:rPr>
              <a:t> </a:t>
            </a:r>
            <a:r>
              <a:rPr>
                <a:solidFill>
                  <a:srgbClr val="06287E"/>
                </a:solidFill>
                <a:latin typeface="Courier"/>
              </a:rPr>
              <a:t>NaiveSingleton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Initialization code</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"Singleton instance created."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Static accessor method</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NaiveSingleton </a:t>
            </a:r>
            <a:r>
              <a:rPr>
                <a:solidFill>
                  <a:srgbClr val="06287E"/>
                </a:solidFill>
                <a:latin typeface="Courier"/>
              </a:rPr>
              <a:t>getInstance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instance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instance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NaiveSingleton</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instance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doSomething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"Singleton is working."</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a:p>
            <a:pPr lvl="0" indent="0" marL="0">
              <a:buNone/>
            </a:pPr>
            <a:r>
              <a:rPr b="1"/>
              <a:t>Warning</a:t>
            </a:r>
            <a:r>
              <a:rPr/>
              <a:t>: This implementation is NOT thread-safe. Multiple threads may create multiple instances.</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Java Code Example (Thread-Safe)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Thread-safe Singleton with double-checked locking</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ThreadSafeSingleton </a:t>
            </a:r>
            <a:r>
              <a:rPr>
                <a:solidFill>
                  <a:srgbClr val="666666"/>
                </a:solidFill>
                <a:latin typeface="Courier"/>
              </a:rPr>
              <a:t>{</a:t>
            </a:r>
            <a:br/>
            <a:r>
              <a:rPr>
                <a:latin typeface="Courier"/>
              </a:rPr>
              <a:t>    </a:t>
            </a:r>
            <a:r>
              <a:rPr i="1">
                <a:solidFill>
                  <a:srgbClr val="60A0B0"/>
                </a:solidFill>
                <a:latin typeface="Courier"/>
              </a:rPr>
              <a:t>// volatile ensures visibility across threads</a:t>
            </a:r>
            <a:br/>
            <a:r>
              <a:rPr>
                <a:latin typeface="Courier"/>
              </a:rPr>
              <a:t>    </a:t>
            </a:r>
            <a:r>
              <a:rPr b="1">
                <a:solidFill>
                  <a:srgbClr val="007020"/>
                </a:solidFill>
                <a:latin typeface="Courier"/>
              </a:rPr>
              <a:t>private</a:t>
            </a:r>
            <a:r>
              <a:rPr>
                <a:latin typeface="Courier"/>
              </a:rPr>
              <a:t> </a:t>
            </a:r>
            <a:r>
              <a:rPr>
                <a:solidFill>
                  <a:srgbClr val="902000"/>
                </a:solidFill>
                <a:latin typeface="Courier"/>
              </a:rPr>
              <a:t>static</a:t>
            </a:r>
            <a:r>
              <a:rPr>
                <a:latin typeface="Courier"/>
              </a:rPr>
              <a:t> </a:t>
            </a:r>
            <a:r>
              <a:rPr b="1">
                <a:solidFill>
                  <a:srgbClr val="007020"/>
                </a:solidFill>
                <a:latin typeface="Courier"/>
              </a:rPr>
              <a:t>volatile</a:t>
            </a:r>
            <a:r>
              <a:rPr>
                <a:latin typeface="Courier"/>
              </a:rPr>
              <a:t> ThreadSafeSingleton instance</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data</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6287E"/>
                </a:solidFill>
                <a:latin typeface="Courier"/>
              </a:rPr>
              <a:t>ThreadSafeSingleton</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data</a:t>
            </a:r>
            <a:r>
              <a:rPr>
                <a:latin typeface="Courier"/>
              </a:rPr>
              <a:t> </a:t>
            </a:r>
            <a:r>
              <a:rPr>
                <a:solidFill>
                  <a:srgbClr val="666666"/>
                </a:solidFill>
                <a:latin typeface="Courier"/>
              </a:rPr>
              <a:t>=</a:t>
            </a:r>
            <a:r>
              <a:rPr>
                <a:latin typeface="Courier"/>
              </a:rPr>
              <a:t> data</a:t>
            </a:r>
            <a:r>
              <a:rPr>
                <a:solidFill>
                  <a:srgbClr val="666666"/>
                </a:solidFill>
                <a:latin typeface="Courier"/>
              </a:rPr>
              <a:t>;</a:t>
            </a:r>
            <a:br/>
            <a:r>
              <a:rPr>
                <a:latin typeface="Courier"/>
              </a:rPr>
              <a:t>        </a:t>
            </a:r>
            <a:r>
              <a:rPr i="1">
                <a:solidFill>
                  <a:srgbClr val="60A0B0"/>
                </a:solidFill>
                <a:latin typeface="Courier"/>
              </a:rPr>
              <a:t>// Simulate slow initialization</a:t>
            </a:r>
            <a:br/>
            <a:r>
              <a:rPr>
                <a:latin typeface="Courier"/>
              </a:rPr>
              <a:t>        </a:t>
            </a:r>
            <a:r>
              <a:rPr b="1">
                <a:solidFill>
                  <a:srgbClr val="007020"/>
                </a:solidFill>
                <a:latin typeface="Courier"/>
              </a:rPr>
              <a:t>try</a:t>
            </a:r>
            <a:r>
              <a:rPr>
                <a:latin typeface="Courier"/>
              </a:rPr>
              <a:t> </a:t>
            </a:r>
            <a:r>
              <a:rPr>
                <a:solidFill>
                  <a:srgbClr val="666666"/>
                </a:solidFill>
                <a:latin typeface="Courier"/>
              </a:rPr>
              <a:t>{</a:t>
            </a:r>
            <a:br/>
            <a:r>
              <a:rPr>
                <a:latin typeface="Courier"/>
              </a:rPr>
              <a:t>            </a:t>
            </a:r>
            <a:r>
              <a:rPr>
                <a:solidFill>
                  <a:srgbClr val="008000"/>
                </a:solidFill>
                <a:latin typeface="Courier"/>
              </a:rPr>
              <a:t>Thread</a:t>
            </a:r>
            <a:r>
              <a:rPr>
                <a:solidFill>
                  <a:srgbClr val="666666"/>
                </a:solidFill>
                <a:latin typeface="Courier"/>
              </a:rPr>
              <a:t>.</a:t>
            </a:r>
            <a:r>
              <a:rPr>
                <a:solidFill>
                  <a:srgbClr val="06287E"/>
                </a:solidFill>
                <a:latin typeface="Courier"/>
              </a:rPr>
              <a:t>sleep</a:t>
            </a:r>
            <a:r>
              <a:rPr>
                <a:solidFill>
                  <a:srgbClr val="666666"/>
                </a:solidFill>
                <a:latin typeface="Courier"/>
              </a:rPr>
              <a:t>(</a:t>
            </a:r>
            <a:r>
              <a:rPr>
                <a:solidFill>
                  <a:srgbClr val="40A070"/>
                </a:solidFill>
                <a:latin typeface="Courier"/>
              </a:rPr>
              <a:t>1000</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catch</a:t>
            </a:r>
            <a:r>
              <a:rPr>
                <a:latin typeface="Courier"/>
              </a:rPr>
              <a:t> </a:t>
            </a:r>
            <a:r>
              <a:rPr>
                <a:solidFill>
                  <a:srgbClr val="666666"/>
                </a:solidFill>
                <a:latin typeface="Courier"/>
              </a:rPr>
              <a:t>(</a:t>
            </a:r>
            <a:r>
              <a:rPr>
                <a:solidFill>
                  <a:srgbClr val="008000"/>
                </a:solidFill>
                <a:latin typeface="Courier"/>
              </a:rPr>
              <a:t>InterruptedException</a:t>
            </a:r>
            <a:r>
              <a:rPr>
                <a:latin typeface="Courier"/>
              </a:rPr>
              <a:t> e</a:t>
            </a:r>
            <a:r>
              <a:rPr>
                <a:solidFill>
                  <a:srgbClr val="666666"/>
                </a:solidFill>
                <a:latin typeface="Courier"/>
              </a:rPr>
              <a:t>)</a:t>
            </a:r>
            <a:r>
              <a:rPr>
                <a:latin typeface="Courier"/>
              </a:rPr>
              <a:t> </a:t>
            </a:r>
            <a:r>
              <a:rPr>
                <a:solidFill>
                  <a:srgbClr val="666666"/>
                </a:solidFill>
                <a:latin typeface="Courier"/>
              </a:rPr>
              <a:t>{</a:t>
            </a:r>
            <a:br/>
            <a:r>
              <a:rPr>
                <a:latin typeface="Courier"/>
              </a:rPr>
              <a:t>            e</a:t>
            </a:r>
            <a:r>
              <a:rPr>
                <a:solidFill>
                  <a:srgbClr val="666666"/>
                </a:solidFill>
                <a:latin typeface="Courier"/>
              </a:rPr>
              <a:t>.</a:t>
            </a:r>
            <a:r>
              <a:rPr>
                <a:solidFill>
                  <a:srgbClr val="06287E"/>
                </a:solidFill>
                <a:latin typeface="Courier"/>
              </a:rPr>
              <a:t>printStackTrace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Double-checked locking</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ThreadSafeSingleton </a:t>
            </a:r>
            <a:r>
              <a:rPr>
                <a:solidFill>
                  <a:srgbClr val="06287E"/>
                </a:solidFill>
                <a:latin typeface="Courier"/>
              </a:rPr>
              <a:t>getInstance</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ThreadSafeSingleton result </a:t>
            </a:r>
            <a:r>
              <a:rPr>
                <a:solidFill>
                  <a:srgbClr val="666666"/>
                </a:solidFill>
                <a:latin typeface="Courier"/>
              </a:rPr>
              <a:t>=</a:t>
            </a:r>
            <a:r>
              <a:rPr>
                <a:latin typeface="Courier"/>
              </a:rPr>
              <a:t> instance</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result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result</a:t>
            </a:r>
            <a:r>
              <a:rPr>
                <a:solidFill>
                  <a:srgbClr val="666666"/>
                </a:solidFill>
                <a:latin typeface="Courier"/>
              </a:rPr>
              <a:t>;</a:t>
            </a:r>
            <a:r>
              <a:rPr>
                <a:latin typeface="Courier"/>
              </a:rPr>
              <a:t>  </a:t>
            </a:r>
            <a:r>
              <a:rPr i="1">
                <a:solidFill>
                  <a:srgbClr val="60A0B0"/>
                </a:solidFill>
                <a:latin typeface="Courier"/>
              </a:rPr>
              <a:t>// Fast path: no locking needed</a:t>
            </a:r>
            <a:br/>
            <a:r>
              <a:rPr>
                <a:latin typeface="Courier"/>
              </a:rPr>
              <a:t>        </a:t>
            </a:r>
            <a:r>
              <a:rPr>
                <a:solidFill>
                  <a:srgbClr val="666666"/>
                </a:solidFill>
                <a:latin typeface="Courier"/>
              </a:rPr>
              <a:t>}</a:t>
            </a:r>
            <a:br/>
            <a:r>
              <a:rPr>
                <a:latin typeface="Courier"/>
              </a:rPr>
              <a:t>        </a:t>
            </a:r>
            <a:r>
              <a:rPr b="1">
                <a:solidFill>
                  <a:srgbClr val="007020"/>
                </a:solidFill>
                <a:latin typeface="Courier"/>
              </a:rPr>
              <a:t>synchronized</a:t>
            </a:r>
            <a:r>
              <a:rPr>
                <a:latin typeface="Courier"/>
              </a:rPr>
              <a:t> </a:t>
            </a:r>
            <a:r>
              <a:rPr>
                <a:solidFill>
                  <a:srgbClr val="666666"/>
                </a:solidFill>
                <a:latin typeface="Courier"/>
              </a:rPr>
              <a:t>(</a:t>
            </a:r>
            <a:r>
              <a:rPr>
                <a:latin typeface="Courier"/>
              </a:rPr>
              <a:t>ThreadSafeSingleton</a:t>
            </a:r>
            <a:r>
              <a:rPr>
                <a:solidFill>
                  <a:srgbClr val="666666"/>
                </a:solidFill>
                <a:latin typeface="Courier"/>
              </a:rPr>
              <a:t>.</a:t>
            </a:r>
            <a:r>
              <a:rPr>
                <a:solidFill>
                  <a:srgbClr val="06287E"/>
                </a:solidFill>
                <a:latin typeface="Courier"/>
              </a:rPr>
              <a:t>class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instance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instance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ThreadSafeSingleton</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instance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getData</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Java Code Example (Enum-Based)</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simplest and most effective Singleton in Java</a:t>
            </a:r>
            <a:br/>
            <a:r>
              <a:rPr i="1">
                <a:solidFill>
                  <a:srgbClr val="60A0B0"/>
                </a:solidFill>
                <a:latin typeface="Courier"/>
              </a:rPr>
              <a:t>// Joshua Bloch recommends this approach in Effective Java</a:t>
            </a:r>
            <a:br/>
            <a:r>
              <a:rPr b="1">
                <a:solidFill>
                  <a:srgbClr val="007020"/>
                </a:solidFill>
                <a:latin typeface="Courier"/>
              </a:rPr>
              <a:t>public</a:t>
            </a:r>
            <a:r>
              <a:rPr>
                <a:latin typeface="Courier"/>
              </a:rPr>
              <a:t> </a:t>
            </a:r>
            <a:r>
              <a:rPr b="1">
                <a:solidFill>
                  <a:srgbClr val="007020"/>
                </a:solidFill>
                <a:latin typeface="Courier"/>
              </a:rPr>
              <a:t>enum</a:t>
            </a:r>
            <a:r>
              <a:rPr>
                <a:latin typeface="Courier"/>
              </a:rPr>
              <a:t> DatabaseConnection </a:t>
            </a:r>
            <a:r>
              <a:rPr>
                <a:solidFill>
                  <a:srgbClr val="666666"/>
                </a:solidFill>
                <a:latin typeface="Courier"/>
              </a:rPr>
              <a:t>{</a:t>
            </a:r>
            <a:br/>
            <a:r>
              <a:rPr>
                <a:latin typeface="Courier"/>
              </a:rPr>
              <a:t>    INSTANCE</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connectionString</a:t>
            </a:r>
            <a:r>
              <a:rPr>
                <a:solidFill>
                  <a:srgbClr val="666666"/>
                </a:solidFill>
                <a:latin typeface="Courier"/>
              </a:rPr>
              <a:t>;</a:t>
            </a:r>
            <a:br/>
            <a:br/>
            <a:r>
              <a:rPr>
                <a:latin typeface="Courier"/>
              </a:rPr>
              <a:t>    </a:t>
            </a:r>
            <a:r>
              <a:rPr>
                <a:solidFill>
                  <a:srgbClr val="06287E"/>
                </a:solidFill>
                <a:latin typeface="Courier"/>
              </a:rPr>
              <a:t>DatabaseConnection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Initialization happens once, guaranteed by JVM</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connectionString</a:t>
            </a:r>
            <a:r>
              <a:rPr>
                <a:latin typeface="Courier"/>
              </a:rPr>
              <a:t> </a:t>
            </a:r>
            <a:r>
              <a:rPr>
                <a:solidFill>
                  <a:srgbClr val="666666"/>
                </a:solidFill>
                <a:latin typeface="Courier"/>
              </a:rPr>
              <a:t>=</a:t>
            </a:r>
            <a:r>
              <a:rPr>
                <a:latin typeface="Courier"/>
              </a:rPr>
              <a:t> </a:t>
            </a:r>
            <a:r>
              <a:rPr>
                <a:solidFill>
                  <a:srgbClr val="4070A0"/>
                </a:solidFill>
                <a:latin typeface="Courier"/>
              </a:rPr>
              <a:t>"jdbc:mysql://localhost:3306/mydb"</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"Database connection initialized."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query</a:t>
            </a:r>
            <a:r>
              <a:rPr>
                <a:solidFill>
                  <a:srgbClr val="666666"/>
                </a:solidFill>
                <a:latin typeface="Courier"/>
              </a:rPr>
              <a:t>(</a:t>
            </a:r>
            <a:r>
              <a:rPr>
                <a:solidFill>
                  <a:srgbClr val="008000"/>
                </a:solidFill>
                <a:latin typeface="Courier"/>
              </a:rPr>
              <a:t>String</a:t>
            </a:r>
            <a:r>
              <a:rPr>
                <a:latin typeface="Courier"/>
              </a:rPr>
              <a:t> sql</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"Executing query: "</a:t>
            </a:r>
            <a:r>
              <a:rPr>
                <a:latin typeface="Courier"/>
              </a:rPr>
              <a:t> </a:t>
            </a:r>
            <a:r>
              <a:rPr>
                <a:solidFill>
                  <a:srgbClr val="666666"/>
                </a:solidFill>
                <a:latin typeface="Courier"/>
              </a:rPr>
              <a:t>+</a:t>
            </a:r>
            <a:r>
              <a:rPr>
                <a:latin typeface="Courier"/>
              </a:rPr>
              <a:t> sql</a:t>
            </a:r>
            <a:br/>
            <a:r>
              <a:rPr>
                <a:latin typeface="Courier"/>
              </a:rPr>
              <a:t>            </a:t>
            </a:r>
            <a:r>
              <a:rPr>
                <a:solidFill>
                  <a:srgbClr val="666666"/>
                </a:solidFill>
                <a:latin typeface="Courier"/>
              </a:rPr>
              <a:t>+</a:t>
            </a:r>
            <a:r>
              <a:rPr>
                <a:latin typeface="Courier"/>
              </a:rPr>
              <a:t> </a:t>
            </a:r>
            <a:r>
              <a:rPr>
                <a:solidFill>
                  <a:srgbClr val="4070A0"/>
                </a:solidFill>
                <a:latin typeface="Courier"/>
              </a:rPr>
              <a:t>" on "</a:t>
            </a:r>
            <a:r>
              <a:rPr>
                <a:latin typeface="Courier"/>
              </a:rPr>
              <a:t> </a:t>
            </a:r>
            <a:r>
              <a:rPr>
                <a:solidFill>
                  <a:srgbClr val="666666"/>
                </a:solidFill>
                <a:latin typeface="Courier"/>
              </a:rPr>
              <a:t>+</a:t>
            </a:r>
            <a:r>
              <a:rPr>
                <a:latin typeface="Courier"/>
              </a:rPr>
              <a:t> connectionString</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setConnectionString</a:t>
            </a:r>
            <a:r>
              <a:rPr>
                <a:solidFill>
                  <a:srgbClr val="666666"/>
                </a:solidFill>
                <a:latin typeface="Courier"/>
              </a:rPr>
              <a:t>(</a:t>
            </a:r>
            <a:r>
              <a:rPr>
                <a:solidFill>
                  <a:srgbClr val="008000"/>
                </a:solidFill>
                <a:latin typeface="Courier"/>
              </a:rPr>
              <a:t>String</a:t>
            </a:r>
            <a:r>
              <a:rPr>
                <a:latin typeface="Courier"/>
              </a:rPr>
              <a:t> conn</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connectionString</a:t>
            </a:r>
            <a:r>
              <a:rPr>
                <a:latin typeface="Courier"/>
              </a:rPr>
              <a:t> </a:t>
            </a:r>
            <a:r>
              <a:rPr>
                <a:solidFill>
                  <a:srgbClr val="666666"/>
                </a:solidFill>
                <a:latin typeface="Courier"/>
              </a:rPr>
              <a:t>=</a:t>
            </a:r>
            <a:r>
              <a:rPr>
                <a:latin typeface="Courier"/>
              </a:rPr>
              <a:t> conn</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Usage</a:t>
            </a:r>
            <a:br/>
            <a:r>
              <a:rPr b="1">
                <a:solidFill>
                  <a:srgbClr val="007020"/>
                </a:solidFill>
                <a:latin typeface="Courier"/>
              </a:rPr>
              <a:t>class</a:t>
            </a:r>
            <a:r>
              <a:rPr>
                <a:latin typeface="Courier"/>
              </a:rPr>
              <a:t> EnumSingletonDemo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DatabaseConnection db </a:t>
            </a:r>
            <a:r>
              <a:rPr>
                <a:solidFill>
                  <a:srgbClr val="666666"/>
                </a:solidFill>
                <a:latin typeface="Courier"/>
              </a:rPr>
              <a:t>=</a:t>
            </a:r>
            <a:r>
              <a:rPr>
                <a:latin typeface="Courier"/>
              </a:rPr>
              <a:t> DatabaseConnection</a:t>
            </a:r>
            <a:r>
              <a:rPr>
                <a:solidFill>
                  <a:srgbClr val="666666"/>
                </a:solidFill>
                <a:latin typeface="Courier"/>
              </a:rPr>
              <a:t>.</a:t>
            </a:r>
            <a:r>
              <a:rPr>
                <a:solidFill>
                  <a:srgbClr val="06287E"/>
                </a:solidFill>
                <a:latin typeface="Courier"/>
              </a:rPr>
              <a:t>INSTANCE</a:t>
            </a:r>
            <a:r>
              <a:rPr>
                <a:solidFill>
                  <a:srgbClr val="666666"/>
                </a:solidFill>
                <a:latin typeface="Courier"/>
              </a:rPr>
              <a:t>;</a:t>
            </a:r>
            <a:br/>
            <a:r>
              <a:rPr>
                <a:latin typeface="Courier"/>
              </a:rPr>
              <a:t>        db</a:t>
            </a:r>
            <a:r>
              <a:rPr>
                <a:solidFill>
                  <a:srgbClr val="666666"/>
                </a:solidFill>
                <a:latin typeface="Courier"/>
              </a:rPr>
              <a:t>.</a:t>
            </a:r>
            <a:r>
              <a:rPr>
                <a:solidFill>
                  <a:srgbClr val="06287E"/>
                </a:solidFill>
                <a:latin typeface="Courier"/>
              </a:rPr>
              <a:t>query</a:t>
            </a:r>
            <a:r>
              <a:rPr>
                <a:solidFill>
                  <a:srgbClr val="666666"/>
                </a:solidFill>
                <a:latin typeface="Courier"/>
              </a:rPr>
              <a:t>(</a:t>
            </a:r>
            <a:r>
              <a:rPr>
                <a:solidFill>
                  <a:srgbClr val="4070A0"/>
                </a:solidFill>
                <a:latin typeface="Courier"/>
              </a:rPr>
              <a:t>"SELECT * FROM users"</a:t>
            </a:r>
            <a:r>
              <a:rPr>
                <a:solidFill>
                  <a:srgbClr val="666666"/>
                </a:solidFill>
                <a:latin typeface="Courier"/>
              </a:rPr>
              <a:t>);</a:t>
            </a:r>
            <a:br/>
            <a:br/>
            <a:r>
              <a:rPr>
                <a:latin typeface="Courier"/>
              </a:rPr>
              <a:t>        </a:t>
            </a:r>
            <a:r>
              <a:rPr i="1">
                <a:solidFill>
                  <a:srgbClr val="60A0B0"/>
                </a:solidFill>
                <a:latin typeface="Courier"/>
              </a:rPr>
              <a:t>// Same instance everywhere</a:t>
            </a:r>
            <a:br/>
            <a:r>
              <a:rPr>
                <a:latin typeface="Courier"/>
              </a:rPr>
              <a:t>        DatabaseConnection db2 </a:t>
            </a:r>
            <a:r>
              <a:rPr>
                <a:solidFill>
                  <a:srgbClr val="666666"/>
                </a:solidFill>
                <a:latin typeface="Courier"/>
              </a:rPr>
              <a:t>=</a:t>
            </a:r>
            <a:r>
              <a:rPr>
                <a:latin typeface="Courier"/>
              </a:rPr>
              <a:t> DatabaseConnection</a:t>
            </a:r>
            <a:r>
              <a:rPr>
                <a:solidFill>
                  <a:srgbClr val="666666"/>
                </a:solidFill>
                <a:latin typeface="Courier"/>
              </a:rPr>
              <a:t>.</a:t>
            </a:r>
            <a:r>
              <a:rPr>
                <a:solidFill>
                  <a:srgbClr val="06287E"/>
                </a:solidFill>
                <a:latin typeface="Courier"/>
              </a:rPr>
              <a:t>INSTANCE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"Same? "</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db </a:t>
            </a:r>
            <a:r>
              <a:rPr>
                <a:solidFill>
                  <a:srgbClr val="666666"/>
                </a:solidFill>
                <a:latin typeface="Courier"/>
              </a:rPr>
              <a:t>==</a:t>
            </a:r>
            <a:r>
              <a:rPr>
                <a:latin typeface="Courier"/>
              </a:rPr>
              <a:t> db2</a:t>
            </a:r>
            <a:r>
              <a:rPr>
                <a:solidFill>
                  <a:srgbClr val="666666"/>
                </a:solidFill>
                <a:latin typeface="Courier"/>
              </a:rPr>
              <a:t>));</a:t>
            </a:r>
            <a:r>
              <a:rPr>
                <a:latin typeface="Courier"/>
              </a:rPr>
              <a:t> </a:t>
            </a:r>
            <a:r>
              <a:rPr i="1">
                <a:solidFill>
                  <a:srgbClr val="60A0B0"/>
                </a:solidFill>
                <a:latin typeface="Courier"/>
              </a:rPr>
              <a:t>// true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Java Code Example (Complete Demo)</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Comprehensive Singleton demonstration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SingletonDemo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Test thread-safe singleton</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 Thread-Safe Singleton ---"</a:t>
            </a:r>
            <a:r>
              <a:rPr>
                <a:solidFill>
                  <a:srgbClr val="666666"/>
                </a:solidFill>
                <a:latin typeface="Courier"/>
              </a:rPr>
              <a:t>);</a:t>
            </a:r>
            <a:br/>
            <a:br/>
            <a:r>
              <a:rPr>
                <a:latin typeface="Courier"/>
              </a:rPr>
              <a:t>        </a:t>
            </a:r>
            <a:r>
              <a:rPr>
                <a:solidFill>
                  <a:srgbClr val="008000"/>
                </a:solidFill>
                <a:latin typeface="Courier"/>
              </a:rPr>
              <a:t>Thread</a:t>
            </a:r>
            <a:r>
              <a:rPr>
                <a:latin typeface="Courier"/>
              </a:rPr>
              <a:t> t1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Thread</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br/>
            <a:r>
              <a:rPr>
                <a:latin typeface="Courier"/>
              </a:rPr>
              <a:t>            ThreadSafeSingleton s </a:t>
            </a:r>
            <a:r>
              <a:rPr>
                <a:solidFill>
                  <a:srgbClr val="666666"/>
                </a:solidFill>
                <a:latin typeface="Courier"/>
              </a:rPr>
              <a:t>=</a:t>
            </a:r>
            <a:br/>
            <a:r>
              <a:rPr>
                <a:latin typeface="Courier"/>
              </a:rPr>
              <a:t>                ThreadSafeSingleton</a:t>
            </a:r>
            <a:r>
              <a:rPr>
                <a:solidFill>
                  <a:srgbClr val="666666"/>
                </a:solidFill>
                <a:latin typeface="Courier"/>
              </a:rPr>
              <a:t>.</a:t>
            </a:r>
            <a:r>
              <a:rPr>
                <a:solidFill>
                  <a:srgbClr val="06287E"/>
                </a:solidFill>
                <a:latin typeface="Courier"/>
              </a:rPr>
              <a:t>getInstance</a:t>
            </a:r>
            <a:r>
              <a:rPr>
                <a:solidFill>
                  <a:srgbClr val="666666"/>
                </a:solidFill>
                <a:latin typeface="Courier"/>
              </a:rPr>
              <a:t>(</a:t>
            </a:r>
            <a:r>
              <a:rPr>
                <a:solidFill>
                  <a:srgbClr val="4070A0"/>
                </a:solidFill>
                <a:latin typeface="Courier"/>
              </a:rPr>
              <a:t>"Thread-1"</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"T1 data: "</a:t>
            </a:r>
            <a:r>
              <a:rPr>
                <a:latin typeface="Courier"/>
              </a:rPr>
              <a:t> </a:t>
            </a:r>
            <a:r>
              <a:rPr>
                <a:solidFill>
                  <a:srgbClr val="666666"/>
                </a:solidFill>
                <a:latin typeface="Courier"/>
              </a:rPr>
              <a:t>+</a:t>
            </a:r>
            <a:r>
              <a:rPr>
                <a:latin typeface="Courier"/>
              </a:rPr>
              <a:t> s</a:t>
            </a:r>
            <a:r>
              <a:rPr>
                <a:solidFill>
                  <a:srgbClr val="666666"/>
                </a:solidFill>
                <a:latin typeface="Courier"/>
              </a:rPr>
              <a:t>.</a:t>
            </a:r>
            <a:r>
              <a:rPr>
                <a:solidFill>
                  <a:srgbClr val="06287E"/>
                </a:solidFill>
                <a:latin typeface="Courier"/>
              </a:rPr>
              <a:t>getData</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008000"/>
                </a:solidFill>
                <a:latin typeface="Courier"/>
              </a:rPr>
              <a:t>Thread</a:t>
            </a:r>
            <a:r>
              <a:rPr>
                <a:latin typeface="Courier"/>
              </a:rPr>
              <a:t> t2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Thread</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br/>
            <a:r>
              <a:rPr>
                <a:latin typeface="Courier"/>
              </a:rPr>
              <a:t>            ThreadSafeSingleton s </a:t>
            </a:r>
            <a:r>
              <a:rPr>
                <a:solidFill>
                  <a:srgbClr val="666666"/>
                </a:solidFill>
                <a:latin typeface="Courier"/>
              </a:rPr>
              <a:t>=</a:t>
            </a:r>
            <a:br/>
            <a:r>
              <a:rPr>
                <a:latin typeface="Courier"/>
              </a:rPr>
              <a:t>                ThreadSafeSingleton</a:t>
            </a:r>
            <a:r>
              <a:rPr>
                <a:solidFill>
                  <a:srgbClr val="666666"/>
                </a:solidFill>
                <a:latin typeface="Courier"/>
              </a:rPr>
              <a:t>.</a:t>
            </a:r>
            <a:r>
              <a:rPr>
                <a:solidFill>
                  <a:srgbClr val="06287E"/>
                </a:solidFill>
                <a:latin typeface="Courier"/>
              </a:rPr>
              <a:t>getInstance</a:t>
            </a:r>
            <a:r>
              <a:rPr>
                <a:solidFill>
                  <a:srgbClr val="666666"/>
                </a:solidFill>
                <a:latin typeface="Courier"/>
              </a:rPr>
              <a:t>(</a:t>
            </a:r>
            <a:r>
              <a:rPr>
                <a:solidFill>
                  <a:srgbClr val="4070A0"/>
                </a:solidFill>
                <a:latin typeface="Courier"/>
              </a:rPr>
              <a:t>"Thread-2"</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"T2 data: "</a:t>
            </a:r>
            <a:r>
              <a:rPr>
                <a:latin typeface="Courier"/>
              </a:rPr>
              <a:t> </a:t>
            </a:r>
            <a:r>
              <a:rPr>
                <a:solidFill>
                  <a:srgbClr val="666666"/>
                </a:solidFill>
                <a:latin typeface="Courier"/>
              </a:rPr>
              <a:t>+</a:t>
            </a:r>
            <a:r>
              <a:rPr>
                <a:latin typeface="Courier"/>
              </a:rPr>
              <a:t> s</a:t>
            </a:r>
            <a:r>
              <a:rPr>
                <a:solidFill>
                  <a:srgbClr val="666666"/>
                </a:solidFill>
                <a:latin typeface="Courier"/>
              </a:rPr>
              <a:t>.</a:t>
            </a:r>
            <a:r>
              <a:rPr>
                <a:solidFill>
                  <a:srgbClr val="06287E"/>
                </a:solidFill>
                <a:latin typeface="Courier"/>
              </a:rPr>
              <a:t>getData</a:t>
            </a:r>
            <a:r>
              <a:rPr>
                <a:solidFill>
                  <a:srgbClr val="666666"/>
                </a:solidFill>
                <a:latin typeface="Courier"/>
              </a:rPr>
              <a:t>());</a:t>
            </a:r>
            <a:br/>
            <a:r>
              <a:rPr>
                <a:latin typeface="Courier"/>
              </a:rPr>
              <a:t>        </a:t>
            </a:r>
            <a:r>
              <a:rPr>
                <a:solidFill>
                  <a:srgbClr val="666666"/>
                </a:solidFill>
                <a:latin typeface="Courier"/>
              </a:rPr>
              <a:t>});</a:t>
            </a:r>
            <a:br/>
            <a:br/>
            <a:r>
              <a:rPr>
                <a:latin typeface="Courier"/>
              </a:rPr>
              <a:t>        t1</a:t>
            </a:r>
            <a:r>
              <a:rPr>
                <a:solidFill>
                  <a:srgbClr val="666666"/>
                </a:solidFill>
                <a:latin typeface="Courier"/>
              </a:rPr>
              <a:t>.</a:t>
            </a:r>
            <a:r>
              <a:rPr>
                <a:solidFill>
                  <a:srgbClr val="06287E"/>
                </a:solidFill>
                <a:latin typeface="Courier"/>
              </a:rPr>
              <a:t>start</a:t>
            </a:r>
            <a:r>
              <a:rPr>
                <a:solidFill>
                  <a:srgbClr val="666666"/>
                </a:solidFill>
                <a:latin typeface="Courier"/>
              </a:rPr>
              <a:t>();</a:t>
            </a:r>
            <a:br/>
            <a:r>
              <a:rPr>
                <a:latin typeface="Courier"/>
              </a:rPr>
              <a:t>        t2</a:t>
            </a:r>
            <a:r>
              <a:rPr>
                <a:solidFill>
                  <a:srgbClr val="666666"/>
                </a:solidFill>
                <a:latin typeface="Courier"/>
              </a:rPr>
              <a:t>.</a:t>
            </a:r>
            <a:r>
              <a:rPr>
                <a:solidFill>
                  <a:srgbClr val="06287E"/>
                </a:solidFill>
                <a:latin typeface="Courier"/>
              </a:rPr>
              <a:t>start</a:t>
            </a:r>
            <a:r>
              <a:rPr>
                <a:solidFill>
                  <a:srgbClr val="666666"/>
                </a:solidFill>
                <a:latin typeface="Courier"/>
              </a:rPr>
              <a:t>();</a:t>
            </a:r>
            <a:br/>
            <a:br/>
            <a:r>
              <a:rPr>
                <a:latin typeface="Courier"/>
              </a:rPr>
              <a:t>        </a:t>
            </a:r>
            <a:r>
              <a:rPr i="1">
                <a:solidFill>
                  <a:srgbClr val="60A0B0"/>
                </a:solidFill>
                <a:latin typeface="Courier"/>
              </a:rPr>
              <a:t>// Both threads get the SAME instance</a:t>
            </a:r>
            <a:br/>
            <a:r>
              <a:rPr>
                <a:latin typeface="Courier"/>
              </a:rPr>
              <a:t>        </a:t>
            </a:r>
            <a:r>
              <a:rPr i="1">
                <a:solidFill>
                  <a:srgbClr val="60A0B0"/>
                </a:solidFill>
                <a:latin typeface="Courier"/>
              </a:rPr>
              <a:t>// Only one of "Thread-1" or "Thread-2" will be</a:t>
            </a:r>
            <a:br/>
            <a:r>
              <a:rPr>
                <a:latin typeface="Courier"/>
              </a:rPr>
              <a:t>        </a:t>
            </a:r>
            <a:r>
              <a:rPr i="1">
                <a:solidFill>
                  <a:srgbClr val="60A0B0"/>
                </a:solidFill>
                <a:latin typeface="Courier"/>
              </a:rPr>
              <a:t>// the data value, depending on which thread</a:t>
            </a:r>
            <a:br/>
            <a:r>
              <a:rPr>
                <a:latin typeface="Courier"/>
              </a:rPr>
              <a:t>        </a:t>
            </a:r>
            <a:r>
              <a:rPr i="1">
                <a:solidFill>
                  <a:srgbClr val="60A0B0"/>
                </a:solidFill>
                <a:latin typeface="Courier"/>
              </a:rPr>
              <a:t>// created the instance first.</a:t>
            </a:r>
            <a:b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"\n--- Enum Singleton ---"</a:t>
            </a:r>
            <a:r>
              <a:rPr>
                <a:solidFill>
                  <a:srgbClr val="666666"/>
                </a:solidFill>
                <a:latin typeface="Courier"/>
              </a:rPr>
              <a:t>);</a:t>
            </a:r>
            <a:br/>
            <a:r>
              <a:rPr>
                <a:latin typeface="Courier"/>
              </a:rPr>
              <a:t>        DatabaseConnection</a:t>
            </a:r>
            <a:r>
              <a:rPr>
                <a:solidFill>
                  <a:srgbClr val="666666"/>
                </a:solidFill>
                <a:latin typeface="Courier"/>
              </a:rPr>
              <a:t>.</a:t>
            </a:r>
            <a:r>
              <a:rPr>
                <a:solidFill>
                  <a:srgbClr val="06287E"/>
                </a:solidFill>
                <a:latin typeface="Courier"/>
              </a:rPr>
              <a:t>INSTANCE</a:t>
            </a:r>
            <a:r>
              <a:rPr>
                <a:solidFill>
                  <a:srgbClr val="666666"/>
                </a:solidFill>
                <a:latin typeface="Courier"/>
              </a:rPr>
              <a:t>.</a:t>
            </a:r>
            <a:r>
              <a:rPr>
                <a:solidFill>
                  <a:srgbClr val="06287E"/>
                </a:solidFill>
                <a:latin typeface="Courier"/>
              </a:rPr>
              <a:t>query</a:t>
            </a:r>
            <a:r>
              <a:rPr>
                <a:solidFill>
                  <a:srgbClr val="666666"/>
                </a:solidFill>
                <a:latin typeface="Courier"/>
              </a:rPr>
              <a:t>(</a:t>
            </a:r>
            <a:r>
              <a:rPr>
                <a:solidFill>
                  <a:srgbClr val="4070A0"/>
                </a:solidFill>
                <a:latin typeface="Courier"/>
              </a:rPr>
              <a:t>"SELECT 1"</a:t>
            </a:r>
            <a:r>
              <a:rPr>
                <a:solidFill>
                  <a:srgbClr val="666666"/>
                </a:solidFill>
                <a:latin typeface="Courier"/>
              </a:rPr>
              <a:t>);</a:t>
            </a:r>
            <a:br/>
            <a:br/>
            <a:r>
              <a:rPr>
                <a:latin typeface="Courier"/>
              </a:rPr>
              <a:t>        </a:t>
            </a:r>
            <a:r>
              <a:rPr i="1">
                <a:solidFill>
                  <a:srgbClr val="60A0B0"/>
                </a:solidFill>
                <a:latin typeface="Courier"/>
              </a:rPr>
              <a:t>// Expected Output (thread order may vary):</a:t>
            </a:r>
            <a:br/>
            <a:r>
              <a:rPr>
                <a:latin typeface="Courier"/>
              </a:rPr>
              <a:t>        </a:t>
            </a:r>
            <a:r>
              <a:rPr i="1">
                <a:solidFill>
                  <a:srgbClr val="60A0B0"/>
                </a:solidFill>
                <a:latin typeface="Courier"/>
              </a:rPr>
              <a:t>// --- Thread-Safe Singleton ---</a:t>
            </a:r>
            <a:br/>
            <a:r>
              <a:rPr>
                <a:latin typeface="Courier"/>
              </a:rPr>
              <a:t>        </a:t>
            </a:r>
            <a:r>
              <a:rPr i="1">
                <a:solidFill>
                  <a:srgbClr val="60A0B0"/>
                </a:solidFill>
                <a:latin typeface="Courier"/>
              </a:rPr>
              <a:t>// T1 data: Thread-1</a:t>
            </a:r>
            <a:br/>
            <a:r>
              <a:rPr>
                <a:latin typeface="Courier"/>
              </a:rPr>
              <a:t>        </a:t>
            </a:r>
            <a:r>
              <a:rPr i="1">
                <a:solidFill>
                  <a:srgbClr val="60A0B0"/>
                </a:solidFill>
                <a:latin typeface="Courier"/>
              </a:rPr>
              <a:t>// T2 data: Thread-1</a:t>
            </a:r>
            <a:br/>
            <a:r>
              <a:rPr>
                <a:latin typeface="Courier"/>
              </a:rPr>
              <a:t>        </a:t>
            </a:r>
            <a:r>
              <a:rPr i="1">
                <a:solidFill>
                  <a:srgbClr val="60A0B0"/>
                </a:solidFill>
                <a:latin typeface="Courier"/>
              </a:rPr>
              <a:t>//</a:t>
            </a:r>
            <a:br/>
            <a:r>
              <a:rPr>
                <a:latin typeface="Courier"/>
              </a:rPr>
              <a:t>        </a:t>
            </a:r>
            <a:r>
              <a:rPr i="1">
                <a:solidFill>
                  <a:srgbClr val="60A0B0"/>
                </a:solidFill>
                <a:latin typeface="Courier"/>
              </a:rPr>
              <a:t>// --- Enum Singleton ---</a:t>
            </a:r>
            <a:br/>
            <a:r>
              <a:rPr>
                <a:latin typeface="Courier"/>
              </a:rPr>
              <a:t>        </a:t>
            </a:r>
            <a:r>
              <a:rPr i="1">
                <a:solidFill>
                  <a:srgbClr val="60A0B0"/>
                </a:solidFill>
                <a:latin typeface="Courier"/>
              </a:rPr>
              <a:t>// Executing query: SELECT 1 on jdbc:default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 Comparison of Implementations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55700"/>
                <a:gridCol w="1511300"/>
                <a:gridCol w="1270000"/>
                <a:gridCol w="2324100"/>
                <a:gridCol w="1968500"/>
              </a:tblGrid>
              <a:tr h="0">
                <a:tc>
                  <a:txBody>
                    <a:bodyPr/>
                    <a:lstStyle/>
                    <a:p>
                      <a:pPr lvl="0" indent="0" marL="0">
                        <a:buNone/>
                      </a:pPr>
                      <a:r>
                        <a:rPr/>
                        <a:t>Approach</a:t>
                      </a:r>
                    </a:p>
                  </a:txBody>
                  <a:tcPr/>
                </a:tc>
                <a:tc>
                  <a:txBody>
                    <a:bodyPr/>
                    <a:lstStyle/>
                    <a:p>
                      <a:pPr lvl="0" indent="0" marL="0" algn="ctr">
                        <a:buNone/>
                      </a:pPr>
                      <a:r>
                        <a:rPr/>
                        <a:t>Thread Safe</a:t>
                      </a:r>
                    </a:p>
                  </a:txBody>
                  <a:tcPr/>
                </a:tc>
                <a:tc>
                  <a:txBody>
                    <a:bodyPr/>
                    <a:lstStyle/>
                    <a:p>
                      <a:pPr lvl="0" indent="0" marL="0" algn="ctr">
                        <a:buNone/>
                      </a:pPr>
                      <a:r>
                        <a:rPr/>
                        <a:t>Lazy Init</a:t>
                      </a:r>
                    </a:p>
                  </a:txBody>
                  <a:tcPr/>
                </a:tc>
                <a:tc>
                  <a:txBody>
                    <a:bodyPr/>
                    <a:lstStyle/>
                    <a:p>
                      <a:pPr lvl="0" indent="0" marL="0" algn="ctr">
                        <a:buNone/>
                      </a:pPr>
                      <a:r>
                        <a:rPr/>
                        <a:t>Serialization Safe</a:t>
                      </a:r>
                    </a:p>
                  </a:txBody>
                  <a:tcPr/>
                </a:tc>
                <a:tc>
                  <a:txBody>
                    <a:bodyPr/>
                    <a:lstStyle/>
                    <a:p>
                      <a:pPr lvl="0" indent="0" marL="0" algn="ctr">
                        <a:buNone/>
                      </a:pPr>
                      <a:r>
                        <a:rPr/>
                        <a:t>Reflection Safe</a:t>
                      </a:r>
                    </a:p>
                  </a:txBody>
                  <a:tcPr/>
                </a:tc>
              </a:tr>
              <a:tr h="0">
                <a:tc>
                  <a:txBody>
                    <a:bodyPr/>
                    <a:lstStyle/>
                    <a:p>
                      <a:pPr lvl="0" indent="0" marL="0">
                        <a:buNone/>
                      </a:pPr>
                      <a:r>
                        <a:rPr/>
                        <a:t>Naive</a:t>
                      </a:r>
                    </a:p>
                  </a:txBody>
                </a:tc>
                <a:tc>
                  <a:txBody>
                    <a:bodyPr/>
                    <a:lstStyle/>
                    <a:p>
                      <a:pPr lvl="0" indent="0" marL="0" algn="ctr">
                        <a:buNone/>
                      </a:pPr>
                      <a:r>
                        <a:rPr/>
                        <a:t>No</a:t>
                      </a:r>
                    </a:p>
                  </a:txBody>
                </a:tc>
                <a:tc>
                  <a:txBody>
                    <a:bodyPr/>
                    <a:lstStyle/>
                    <a:p>
                      <a:pPr lvl="0" indent="0" marL="0" algn="ctr">
                        <a:buNone/>
                      </a:pPr>
                      <a:r>
                        <a:rPr/>
                        <a:t>Yes</a:t>
                      </a:r>
                    </a:p>
                  </a:txBody>
                </a:tc>
                <a:tc>
                  <a:txBody>
                    <a:bodyPr/>
                    <a:lstStyle/>
                    <a:p>
                      <a:pPr lvl="0" indent="0" marL="0" algn="ctr">
                        <a:buNone/>
                      </a:pPr>
                      <a:r>
                        <a:rPr/>
                        <a:t>No</a:t>
                      </a:r>
                    </a:p>
                  </a:txBody>
                </a:tc>
                <a:tc>
                  <a:txBody>
                    <a:bodyPr/>
                    <a:lstStyle/>
                    <a:p>
                      <a:pPr lvl="0" indent="0" marL="0" algn="ctr">
                        <a:buNone/>
                      </a:pPr>
                      <a:r>
                        <a:rPr/>
                        <a:t>No</a:t>
                      </a:r>
                    </a:p>
                  </a:txBody>
                </a:tc>
              </a:tr>
              <a:tr h="0">
                <a:tc>
                  <a:txBody>
                    <a:bodyPr/>
                    <a:lstStyle/>
                    <a:p>
                      <a:pPr lvl="0" indent="0" marL="0">
                        <a:buNone/>
                      </a:pPr>
                      <a:r>
                        <a:rPr/>
                        <a:t>Synchronized method</a:t>
                      </a:r>
                    </a:p>
                  </a:txBody>
                </a:tc>
                <a:tc>
                  <a:txBody>
                    <a:bodyPr/>
                    <a:lstStyle/>
                    <a:p>
                      <a:pPr lvl="0" indent="0" marL="0" algn="ctr">
                        <a:buNone/>
                      </a:pPr>
                      <a:r>
                        <a:rPr/>
                        <a:t>Yes</a:t>
                      </a:r>
                    </a:p>
                  </a:txBody>
                </a:tc>
                <a:tc>
                  <a:txBody>
                    <a:bodyPr/>
                    <a:lstStyle/>
                    <a:p>
                      <a:pPr lvl="0" indent="0" marL="0" algn="ctr">
                        <a:buNone/>
                      </a:pPr>
                      <a:r>
                        <a:rPr/>
                        <a:t>Yes</a:t>
                      </a:r>
                    </a:p>
                  </a:txBody>
                </a:tc>
                <a:tc>
                  <a:txBody>
                    <a:bodyPr/>
                    <a:lstStyle/>
                    <a:p>
                      <a:pPr lvl="0" indent="0" marL="0" algn="ctr">
                        <a:buNone/>
                      </a:pPr>
                      <a:r>
                        <a:rPr/>
                        <a:t>No</a:t>
                      </a:r>
                    </a:p>
                  </a:txBody>
                </a:tc>
                <a:tc>
                  <a:txBody>
                    <a:bodyPr/>
                    <a:lstStyle/>
                    <a:p>
                      <a:pPr lvl="0" indent="0" marL="0" algn="ctr">
                        <a:buNone/>
                      </a:pPr>
                      <a:r>
                        <a:rPr/>
                        <a:t>No</a:t>
                      </a:r>
                    </a:p>
                  </a:txBody>
                </a:tc>
              </a:tr>
              <a:tr h="0">
                <a:tc>
                  <a:txBody>
                    <a:bodyPr/>
                    <a:lstStyle/>
                    <a:p>
                      <a:pPr lvl="0" indent="0" marL="0">
                        <a:buNone/>
                      </a:pPr>
                      <a:r>
                        <a:rPr/>
                        <a:t>Double-checked locking</a:t>
                      </a:r>
                    </a:p>
                  </a:txBody>
                </a:tc>
                <a:tc>
                  <a:txBody>
                    <a:bodyPr/>
                    <a:lstStyle/>
                    <a:p>
                      <a:pPr lvl="0" indent="0" marL="0" algn="ctr">
                        <a:buNone/>
                      </a:pPr>
                      <a:r>
                        <a:rPr/>
                        <a:t>Yes</a:t>
                      </a:r>
                    </a:p>
                  </a:txBody>
                </a:tc>
                <a:tc>
                  <a:txBody>
                    <a:bodyPr/>
                    <a:lstStyle/>
                    <a:p>
                      <a:pPr lvl="0" indent="0" marL="0" algn="ctr">
                        <a:buNone/>
                      </a:pPr>
                      <a:r>
                        <a:rPr/>
                        <a:t>Yes</a:t>
                      </a:r>
                    </a:p>
                  </a:txBody>
                </a:tc>
                <a:tc>
                  <a:txBody>
                    <a:bodyPr/>
                    <a:lstStyle/>
                    <a:p>
                      <a:pPr lvl="0" indent="0" marL="0" algn="ctr">
                        <a:buNone/>
                      </a:pPr>
                      <a:r>
                        <a:rPr/>
                        <a:t>No</a:t>
                      </a:r>
                    </a:p>
                  </a:txBody>
                </a:tc>
                <a:tc>
                  <a:txBody>
                    <a:bodyPr/>
                    <a:lstStyle/>
                    <a:p>
                      <a:pPr lvl="0" indent="0" marL="0" algn="ctr">
                        <a:buNone/>
                      </a:pPr>
                      <a:r>
                        <a:rPr/>
                        <a:t>No</a:t>
                      </a:r>
                    </a:p>
                  </a:txBody>
                </a:tc>
              </a:tr>
              <a:tr h="0">
                <a:tc>
                  <a:txBody>
                    <a:bodyPr/>
                    <a:lstStyle/>
                    <a:p>
                      <a:pPr lvl="0" indent="0" marL="0">
                        <a:buNone/>
                      </a:pPr>
                      <a:r>
                        <a:rPr/>
                        <a:t>Bill Pugh (Inner class)</a:t>
                      </a:r>
                    </a:p>
                  </a:txBody>
                </a:tc>
                <a:tc>
                  <a:txBody>
                    <a:bodyPr/>
                    <a:lstStyle/>
                    <a:p>
                      <a:pPr lvl="0" indent="0" marL="0" algn="ctr">
                        <a:buNone/>
                      </a:pPr>
                      <a:r>
                        <a:rPr/>
                        <a:t>Yes</a:t>
                      </a:r>
                    </a:p>
                  </a:txBody>
                </a:tc>
                <a:tc>
                  <a:txBody>
                    <a:bodyPr/>
                    <a:lstStyle/>
                    <a:p>
                      <a:pPr lvl="0" indent="0" marL="0" algn="ctr">
                        <a:buNone/>
                      </a:pPr>
                      <a:r>
                        <a:rPr/>
                        <a:t>Yes</a:t>
                      </a:r>
                    </a:p>
                  </a:txBody>
                </a:tc>
                <a:tc>
                  <a:txBody>
                    <a:bodyPr/>
                    <a:lstStyle/>
                    <a:p>
                      <a:pPr lvl="0" indent="0" marL="0" algn="ctr">
                        <a:buNone/>
                      </a:pPr>
                      <a:r>
                        <a:rPr/>
                        <a:t>No</a:t>
                      </a:r>
                    </a:p>
                  </a:txBody>
                </a:tc>
                <a:tc>
                  <a:txBody>
                    <a:bodyPr/>
                    <a:lstStyle/>
                    <a:p>
                      <a:pPr lvl="0" indent="0" marL="0" algn="ctr">
                        <a:buNone/>
                      </a:pPr>
                      <a:r>
                        <a:rPr/>
                        <a:t>No</a:t>
                      </a:r>
                    </a:p>
                  </a:txBody>
                </a:tc>
              </a:tr>
              <a:tr h="0">
                <a:tc>
                  <a:txBody>
                    <a:bodyPr/>
                    <a:lstStyle/>
                    <a:p>
                      <a:pPr lvl="0" indent="0" marL="0">
                        <a:buNone/>
                      </a:pPr>
                      <a:r>
                        <a:rPr b="1"/>
                        <a:t>Enum</a:t>
                      </a:r>
                    </a:p>
                  </a:txBody>
                </a:tc>
                <a:tc>
                  <a:txBody>
                    <a:bodyPr/>
                    <a:lstStyle/>
                    <a:p>
                      <a:pPr lvl="0" indent="0" marL="0" algn="ctr">
                        <a:buNone/>
                      </a:pPr>
                      <a:r>
                        <a:rPr b="1"/>
                        <a:t>Yes</a:t>
                      </a:r>
                    </a:p>
                  </a:txBody>
                </a:tc>
                <a:tc>
                  <a:txBody>
                    <a:bodyPr/>
                    <a:lstStyle/>
                    <a:p>
                      <a:pPr lvl="0" indent="0" marL="0" algn="ctr">
                        <a:buNone/>
                      </a:pPr>
                      <a:r>
                        <a:rPr b="1"/>
                        <a:t>No</a:t>
                      </a:r>
                    </a:p>
                  </a:txBody>
                </a:tc>
                <a:tc>
                  <a:txBody>
                    <a:bodyPr/>
                    <a:lstStyle/>
                    <a:p>
                      <a:pPr lvl="0" indent="0" marL="0" algn="ctr">
                        <a:buNone/>
                      </a:pPr>
                      <a:r>
                        <a:rPr b="1"/>
                        <a:t>Yes</a:t>
                      </a:r>
                    </a:p>
                  </a:txBody>
                </a:tc>
                <a:tc>
                  <a:txBody>
                    <a:bodyPr/>
                    <a:lstStyle/>
                    <a:p>
                      <a:pPr lvl="0" indent="0" marL="0" algn="ctr">
                        <a:buNone/>
                      </a:pPr>
                      <a:r>
                        <a:rPr b="1"/>
                        <a:t>Yes</a:t>
                      </a:r>
                    </a:p>
                  </a:txBody>
                </a:tc>
              </a:tr>
            </a:tbl>
          </a:graphicData>
        </a:graphic>
      </p:graphicFrame>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The </a:t>
            </a:r>
            <a:r>
              <a:rPr b="1"/>
              <a:t>Enum-based</a:t>
            </a:r>
            <a:r>
              <a:rPr/>
              <a:t> approach is the recommended way in Java (Effective Java by Joshua Bloch).</a:t>
            </a:r>
          </a:p>
          <a:p>
            <a:pPr lvl="0"/>
            <a:r>
              <a:rPr/>
              <a:t>It provides serialization safety (JVM handles it) and reflection safety (cannot create enum instances via reflection).</a:t>
            </a:r>
          </a:p>
          <a:p>
            <a:pPr lvl="0"/>
            <a:r>
              <a:rPr/>
              <a:t>The only drawback is that it does not support lazy initialization (enum instances are created when the enum class is loaded).</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F: Takeaways</a:t>
            </a:r>
          </a:p>
        </p:txBody>
      </p:sp>
      <p:sp>
        <p:nvSpPr>
          <p:cNvPr id="3" name="Content Placeholder 2"/>
          <p:cNvSpPr>
            <a:spLocks noGrp="1"/>
          </p:cNvSpPr>
          <p:nvPr>
            <p:ph idx="1"/>
          </p:nvPr>
        </p:nvSpPr>
        <p:spPr/>
        <p:txBody>
          <a:bodyPr/>
          <a:lstStyle/>
          <a:p>
            <a:pPr lvl="0"/>
            <a:r>
              <a:rPr b="1"/>
              <a:t>Singleton</a:t>
            </a:r>
            <a:r>
              <a:rPr/>
              <a:t> ensures a class has only one instance and provides a global access point to it.</a:t>
            </a:r>
          </a:p>
          <a:p>
            <a:pPr lvl="0"/>
            <a:r>
              <a:rPr/>
              <a:t>It solves </a:t>
            </a:r>
            <a:r>
              <a:rPr b="1"/>
              <a:t>two problems</a:t>
            </a:r>
            <a:r>
              <a:rPr/>
              <a:t>: controlling the number of instances and providing global access.</a:t>
            </a:r>
          </a:p>
          <a:p>
            <a:pPr lvl="0"/>
            <a:r>
              <a:rPr/>
              <a:t>The pattern requires a </a:t>
            </a:r>
            <a:r>
              <a:rPr b="1"/>
              <a:t>private constructor</a:t>
            </a:r>
            <a:r>
              <a:rPr/>
              <a:t> and a </a:t>
            </a:r>
            <a:r>
              <a:rPr b="1"/>
              <a:t>static getInstance() method</a:t>
            </a:r>
            <a:r>
              <a:rPr/>
              <a:t>.</a:t>
            </a:r>
          </a:p>
          <a:p>
            <a:pPr lvl="0"/>
            <a:r>
              <a:rPr b="1"/>
              <a:t>Thread safety</a:t>
            </a:r>
            <a:r>
              <a:rPr/>
              <a:t> is a critical concern; naive implementations can break under concurrent access.</a:t>
            </a:r>
          </a:p>
          <a:p>
            <a:pPr lvl="0"/>
            <a:r>
              <a:rPr/>
              <a:t>Java offers multiple Singleton implementations: naive, synchronized, double-checked locking, inner class (Bill Pugh), and </a:t>
            </a:r>
            <a:r>
              <a:rPr b="1"/>
              <a:t>enum</a:t>
            </a:r>
            <a:r>
              <a:rPr/>
              <a:t> (recommended).</a:t>
            </a:r>
          </a:p>
          <a:p>
            <a:pPr lvl="0"/>
            <a:r>
              <a:rPr/>
              <a:t>Singleton is </a:t>
            </a:r>
            <a:r>
              <a:rPr b="1"/>
              <a:t>controversial</a:t>
            </a:r>
            <a:r>
              <a:rPr/>
              <a:t>: it violates SRP, can mask bad design, and makes testing difficult.</a:t>
            </a:r>
          </a:p>
          <a:p>
            <a:pPr lvl="0"/>
            <a:r>
              <a:rPr/>
              <a:t>Abstract Factories, Builders, and Prototypes can all be implemented as </a:t>
            </a:r>
            <a:r>
              <a:rPr b="1"/>
              <a:t>Singletons</a:t>
            </a:r>
            <a:r>
              <a:rPr/>
              <a:t>.</a:t>
            </a:r>
          </a:p>
          <a:p>
            <a:pPr lvl="0"/>
            <a:r>
              <a:rPr/>
              <a:t>The </a:t>
            </a:r>
            <a:r>
              <a:rPr b="1"/>
              <a:t>Enum-based Singleton</a:t>
            </a:r>
            <a:r>
              <a:rPr/>
              <a:t> is the gold standard in Java: thread-safe, serialization-safe, and reflection-safe.</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342900" marL="342900">
              <a:buAutoNum type="arabicPeriod"/>
            </a:pPr>
            <a:r>
              <a:rPr>
                <a:hlinkClick r:id="rId2"/>
              </a:rPr>
              <a:t>RefactoringGuru - Design Patterns</a:t>
            </a:r>
            <a:r>
              <a:rPr/>
              <a:t> - Comprehensive guide to design patterns with examples in multiple languages.</a:t>
            </a:r>
          </a:p>
          <a:p>
            <a:pPr lvl="0" indent="-342900" marL="342900">
              <a:buAutoNum type="arabicPeriod"/>
            </a:pPr>
            <a:r>
              <a:rPr>
                <a:hlinkClick r:id="rId3"/>
              </a:rPr>
              <a:t>RefactoringGuru - Factory Method</a:t>
            </a:r>
            <a:r>
              <a:rPr/>
              <a:t> - Factory Method pattern: intent, structure, pseudocode, applicability, and implementation.</a:t>
            </a:r>
          </a:p>
          <a:p>
            <a:pPr lvl="0" indent="-342900" marL="342900">
              <a:buAutoNum type="arabicPeriod"/>
            </a:pPr>
            <a:r>
              <a:rPr>
                <a:hlinkClick r:id="rId4"/>
              </a:rPr>
              <a:t>RefactoringGuru - Abstract Factory</a:t>
            </a:r>
            <a:r>
              <a:rPr/>
              <a:t> - Abstract Factory pattern: producing families of related objects.</a:t>
            </a:r>
          </a:p>
          <a:p>
            <a:pPr lvl="0" indent="-342900" marL="342900">
              <a:buAutoNum type="arabicPeriod"/>
            </a:pPr>
            <a:r>
              <a:rPr>
                <a:hlinkClick r:id="rId5"/>
              </a:rPr>
              <a:t>RefactoringGuru - Builder</a:t>
            </a:r>
            <a:r>
              <a:rPr/>
              <a:t> - Builder pattern: constructing complex objects step by step.</a:t>
            </a:r>
          </a:p>
          <a:p>
            <a:pPr lvl="0" indent="-342900" marL="342900">
              <a:buAutoNum type="arabicPeriod"/>
            </a:pPr>
            <a:r>
              <a:rPr>
                <a:hlinkClick r:id="rId6"/>
              </a:rPr>
              <a:t>RefactoringGuru - Prototype</a:t>
            </a:r>
            <a:r>
              <a:rPr/>
              <a:t> - Prototype pattern: copying existing objects without class dependency.</a:t>
            </a:r>
          </a:p>
          <a:p>
            <a:pPr lvl="0" indent="-342900" marL="342900">
              <a:buAutoNum type="arabicPeriod"/>
            </a:pPr>
            <a:r>
              <a:rPr>
                <a:hlinkClick r:id="rId7"/>
              </a:rPr>
              <a:t>RefactoringGuru - Singleton</a:t>
            </a:r>
            <a:r>
              <a:rPr/>
              <a:t> - Singleton pattern: ensuring single instance with global access.</a:t>
            </a:r>
          </a:p>
          <a:p>
            <a:pPr lvl="0" indent="-342900" marL="342900">
              <a:buAutoNum type="arabicPeriod"/>
            </a:pPr>
            <a:r>
              <a:rPr/>
              <a:t>Gamma, E., Helm, R., Johnson, R., &amp; Vlissides, J. (1994). </a:t>
            </a:r>
            <a:r>
              <a:rPr i="1"/>
              <a:t>Design Patterns: Elements of Reusable Object-Oriented Software</a:t>
            </a:r>
            <a:r>
              <a:rPr/>
              <a:t>. Addison-Wesley.</a:t>
            </a:r>
          </a:p>
          <a:p>
            <a:pPr lvl="0" indent="-342900" marL="342900">
              <a:buAutoNum type="arabicPeriod"/>
            </a:pPr>
            <a:r>
              <a:rPr/>
              <a:t>Bloch, J. (2018). </a:t>
            </a:r>
            <a:r>
              <a:rPr i="1"/>
              <a:t>Effective Java</a:t>
            </a:r>
            <a:r>
              <a:rPr/>
              <a:t> (3rd ed.). Addison-Wesley. - Recommended Singleton implementation using Enum.</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9</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Ugur CORUH</dc:creator>
  <cp:keywords/>
  <dcterms:created xsi:type="dcterms:W3CDTF">2026-03-03T13:35:15Z</dcterms:created>
  <dcterms:modified xsi:type="dcterms:W3CDTF">2026-03-03T13:35:15Z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Week-9</vt:lpwstr>
  </property>
  <property fmtid="{D5CDD505-2E9C-101B-9397-08002B2CF9AE}" pid="8" name="footer-center">
    <vt:lpwstr>© Copyright 2025-2026</vt:lpwstr>
  </property>
  <property fmtid="{D5CDD505-2E9C-101B-9397-08002B2CF9AE}" pid="9" name="footer-left">
    <vt:lpwstr>© Copyright 2025-2026 Asst. Prof. Dr. Ugur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Design Patterns Introduction &amp; Creational Patterns</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